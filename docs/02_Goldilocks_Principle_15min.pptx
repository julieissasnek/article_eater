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93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00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66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Goldilocks Principle extended to architecture. The core idea: there's an optimal level of environmental complexity — not too boring, not too overwhelming — and it operates independently across multiple sensory channels with inner and outer modulating factors. This is a 15-minute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state this as simply as I can. Your brain is a prediction machine. It's constantly predicting what will happen next — the next sound, the next visual pattern, the next temperature change. When predictions are always right, there's nothing to learn — boredom. When predictions are always wrong, the system is overwhelmed — anxiety. In between is the Goldilocks zone — engagement, learning, flow. Berlyne established the basic inverted-U in 1971 with his aesthetics work. Kidd and colleagues confirmed it beautifully in 2012 with infant looking data — 7-month-olds look away from events that are too predictable AND too surprising, and maximize attention to intermediate complexity. We extend this to architecture: the building IS the complexity signal your brain is predicting.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Kidd data is beautiful. 7-8 month old infants watch visual events varying in complexity. They look away from events that are too predictable AND too surprising, and maximize attention at intermediate complexity — about 1.25 bits, computed relative to each infant's own inferred knowledge state. This is not a population average — each individual infant shows the pattern. It works in audition too, and rhesus monkeys show it spontaneously. This is phylogenetically deep and domain-general. But — and this is crucial — the Kidd experiment measures single-level parameter estimation within a known model. Real cognition is multi-level. We need to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extension: the inverted-U operates INDEPENDENTLY on multiple sensory channels. Visual complexity, acoustics, thermal, light, spatial scale, social density, olfaction — each has its own Goldilocks zone. A room can be perfectly complex visually but too quiet acoustically. The channels are independent — and this matters enormously for design because it means you have to get ALL of them right, not just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the channels aren't completely independent — they interact through the LC-NE arousal pathway. All prediction error from all channels converges on the locus coeruleus, which sets overall arousal. This means channels can compensate. A quiet room needs MORE visual complexity to hit the Goldilocks arousal level. A noisy room needs LESS. This is cross-modal compensation, and it has huge implications for design — acoustic and visual design are not independent. Change one, you must recalibrate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a critical nuance: the Goldilocks zone moves with the task. Creative tasks prefer higher PE — more surprise, more exploration. The zone shifts right. Focused tasks prefer lower PE — more stability, less distraction. The zone shifts left. The same room can be Goldilocks-optimal for brainstorming and completely wrong for code review. This means a single room can't serve both purposes well. You need activity-specific zones, not 'flexible' spaces that compromise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from our India fieldwork. In Varanasi and Ahmedabad, environments that would overwhelm a Stockholm resident are experienced as normal — even preferred. But here's the striking finding: the set-point elevation is CORRELATED across all modalities simultaneously. It's not just 'used to noise' — visual complexity tolerance, thermal tolerance, social density tolerance, olfactory tolerance — everything shifts together. PP predicts modality-specific shifts (each prior updates independently). We observe correlated shift — suggesting a single underlying parameter. Our hypothesis: cultural niche construction shapes the GAIN of the LC-NE system itself, not just individual sensory priors. Varanasi calibrates the entire arousal system differently than Stockholm. Andy — this connects directly to your cultural niche construction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me connect Goldilocks to PP explicitly. PP explains WHY the inverted-U exists. Zero PE means models are perfect — nothing to learn — boredom. This is the dark room problem — PP seems to predict organisms should minimize PE by hiding in a dark room. But they don't. Moderate PE means models are being usefully updated — engagement. Excessive PE means models are failing — anxiety. Clark's solution to the dark room involves evolved priors, epistemic foraging through expected free energy, and cultural designer environments. The Goldilocks framework operationalizes this for architecture — it tells you exactly what 'moderate' means for each sensory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five things PP doesn't yet explain about Goldilocks. These aren't meant as attacks on PP — they're gaps. First, the normative gap: PP says minimize PE, but Goldilocks says optimize. Second, task-specific optima — PP doesn't predict creative and focused tasks have different optimal PE. Third, multi-channel structure — PP operates within modalities and doesn't naturally predict cross-modal compensation. Fourth, the correlated cultural shift in India. Fifth, the prospect-refuge anomaly — PP predicts monotonic maximization of both prospect and refuge, but there's actually an inverted-U. These are gaps that need filling. Goldilocks fills some; the implicit/explicit distinction fills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Critically, the Goldilocks zone is modulated by inner factors. Circadian phase — the zone shifts across the day, wider in the morning, narrower during the post-lunch trough. Allostatic state — hunger, fatigue, and discomfort narrow the zone. Expertise — experts have wider zones in their domain. Individual differences — neuroticism and sensory processing sensitivity modulate the zone width and position. Current task state — in flow, the zone narrows to protect the workspace. The Goldilocks zone is a MOVING TARGET. Good architecture accommodates this movement, usually through personal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outer side — what the environment provides. PE Mean determines WHERE you fall on the curve — too low is boredom, too high is overwhelm. This is the architect's primary tool. PE Variance determines how STABLE your position is — high variance means unpredictable spikes that force regime switching. This is the critical insight we develop in the next talk: mean and variance are DIFFERENT design variables. Cross-modal balance — channels compensate, so the architect must balance across channels. And personal control — the mechanism that lets occupants calibrate for their own inner factors.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implications. Moderate complexity on every channel — not minimal, not maximal. Cross-modal balance — design channels together. Activity-specific zones — don't compromise with 'flexible' spaces. Personal control — accommodate individual variation. Temporal alignment — design for circadian variation. Spatial gradients — support transitions between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summarize the extended Goldilocks: the inverted-U is real and multi-channel. Channels interact through shared arousal. The zone moves with many factors. Cultural niche construction shifts everything together. PP explains the why but has specific limitations. And critically — mean PE and PE variance are different design variables. That distinction is the bridge to the next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916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Goldilocks Principle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7BA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Too Simple, Not Too Complex: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7BA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Prediction Error in the Built Environment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Kirsh | UC San Diego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 Lab — February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Simplest Version: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brain is a prediction machine. When predictions are always right → boredom.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predictions are always wrong → anxiety. In between → engagement.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7315200" cy="2560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 (environmental complexity)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 rot="16200000">
            <a:off x="457200" y="2560320"/>
            <a:ext cx="457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0" y="3200400"/>
            <a:ext cx="1828800" cy="822960"/>
          </a:xfrm>
          <a:prstGeom prst="rect">
            <a:avLst/>
          </a:prstGeom>
          <a:solidFill>
            <a:srgbClr val="E8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3200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PREDICTABLE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Boredom, mind-wandering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room problem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2011680"/>
            <a:ext cx="1828800" cy="822960"/>
          </a:xfrm>
          <a:prstGeom prst="rect">
            <a:avLst/>
          </a:prstGeom>
          <a:solidFill>
            <a:srgbClr val="7BA3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0" y="20116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GOLDILOCKS ZONE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Engagement, flow,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learning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3200400"/>
            <a:ext cx="1828800" cy="822960"/>
          </a:xfrm>
          <a:prstGeom prst="rect">
            <a:avLst/>
          </a:prstGeom>
          <a:solidFill>
            <a:srgbClr val="E8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26480" y="32004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SURPRISING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Anxiety, overwhelm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overload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2A6F7A"/>
                </a:solidFill>
              </a:rPr>
              <a:t>↗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486400" y="2560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2A6F7A"/>
                </a:solidFill>
              </a:rPr>
              <a:t>↘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Berlyne (1971) established this. Kidd et al. (2012) confirmed it in infants.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extend it to architecture: the building IS the complexity signal your brain is predicting.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Kidd et al. (2012): Infants Seek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Intermediate Complexity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023360" cy="2834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 month old infants watch visual events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vary in complexity (measured as negative log probability from ideal Bayesian learner)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U-shaped look-away probability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attention at ~1.25 bits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relative to infant's own knowledge state — the zone MOVES as the infant learns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657600" cy="28346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5087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722114"/>
            <a:ext cx="3291840" cy="24217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Cross-modal: Works in visual AND auditory (Kidd et al., 2014)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Within-individual: Each infant shows the pattern (Piantadosi et al., 2014)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Cross-species: Rhesus monkeys show it spontaneously (Wu et al., in prep)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BA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Phylogenetically deep, domain-general, not cultural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fundamental feature of how brains allocate attention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66955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— and this is the key extension — the Kidd data captures only single-level parameter estimation.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cognition is multi-level. We need to extend the Goldilocks framework.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INDEPENDENCE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Independent Channels,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with Its Own Inverted-U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411480"/>
          </a:xfrm>
          <a:prstGeom prst="rect">
            <a:avLst/>
          </a:prstGeom>
          <a:solidFill>
            <a:srgbClr val="E8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complexity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1417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dimension D ≈ 1.3 optimal (Taylor, 2006)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Nature, wood grain, textured stone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texture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1874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~50dB steady-state for focus (Mehta et al., 2012)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1874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Birdsong, water sounds, cafe babble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331720"/>
            <a:ext cx="7863840" cy="411480"/>
          </a:xfrm>
          <a:prstGeom prst="rect">
            <a:avLst/>
          </a:prstGeom>
          <a:solidFill>
            <a:srgbClr val="E8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2331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variation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3317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21-22°C ± 1°C (Seppänen et al., 2006)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52160" y="2331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natural fluctuation, not HVAC cycling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78892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dynamics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0" y="2788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natural light, not steady fluorescent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shadows, foliage-filtered light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246120"/>
            <a:ext cx="7863840" cy="411480"/>
          </a:xfrm>
          <a:prstGeom prst="rect">
            <a:avLst/>
          </a:prstGeom>
          <a:solidFill>
            <a:srgbClr val="E8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height / spatial scale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0" y="3246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2.7m focus / 3m+ creative (Meyers-Levy &amp; Zhu, 2007)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52160" y="32461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spatial volumes across a building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703320"/>
            <a:ext cx="78638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3703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density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7033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occupancy, predictable encounters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0" y="3703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empty, not crowded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solidFill>
            <a:srgbClr val="E8E4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Olfactory transitions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0" y="4160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Scent at thresholds, not steady-state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4160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Entry, transitions between activity zones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" y="4641275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Each channel has its own Goldilocks zone, and the zones are independent.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room can be in the zone on one channel and out of zone on another.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COMPENSATION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Channels Interact Through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Arousal Pathways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channels are independently tuned but interact through a shared arousal system: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LC-NE (locus coeruleus / norepinephrine) system integrates prediction error across all channels into a single arousal signal.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means channels can COMPENSATE for each other: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3749040" cy="10972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room → needs MORE visual complexity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acoustic PE → compensate with richer visual environment to maintain Goldilocks arousal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926080"/>
            <a:ext cx="3749040" cy="1097280"/>
          </a:xfrm>
          <a:prstGeom prst="rect">
            <a:avLst/>
          </a:prstGeom>
          <a:solidFill>
            <a:srgbClr val="2A6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room → needs LESS visual complexity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333756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acoustic PE → reduce visual complexity to prevent total PE from exceeding Goldilocks zone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implication: Acoustic and visual design are not independent.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one, you must recalibrate the other.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DEPENDENCE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Room Can Be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and Anti-Optimal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749040" cy="2261062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TASKS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3383280" cy="18495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Brainstorming, ideation, exploration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HIGHER PE — more surprise, more exploratory processing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~70dB ambient noise (Mehta et al., 2012), higher visual complexity, social stimulation, variable spaces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Goldilocks zone is SHIFTED RIGHT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19"/>
            <a:ext cx="3931920" cy="2261061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TASKS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0574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Analysis, writing, code review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LOWER PE — less surprise, more stability for sustained attention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~50dB or below, lower visual complexity, minimal social intrusion, enclosed spaces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BA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Goldilocks zone is SHIFTED LEFT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3205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A single room cannot be Goldilocks-optimal for both modes.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need activity-specific zones — not 'flexible' spaces that compromise both.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SET-POINTS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Fieldwork: Cultural Niches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Shift ALL Channels Together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Varanasi and Ahmedabad: environments that would overwhelm a Stockholm resident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experienced as normal — even preferred — by local inhabitants.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observation: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Set-point elevation is CORRELATED across ALL modalities simultaneously.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'used to noise' — also higher visual complexity tolerance, higher thermal tolerance, higher social density tolerance, higher olfactory tolerance. Everything shifts together.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PP predicts: </a:t>
            </a: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modality should shift independently (priors are modality-specific).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observe: </a:t>
            </a: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shift across ALL modalities → suggests a single underlying parameter.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Cultural niche construction shapes the GAIN of the LC-NE system itself,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individual sensory priors. Varanasi calibrates the entire arousal system differently.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2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(Andy — this connects directly to your cultural niche construction work)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AND GOLDILOCKS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PP Explains Well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explains WHY the inverted-U exists: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 = models are perfect = nothing to learn = boredom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'dark room problem' — PP seems to predict organisms should minimize PE by finding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predictable environment possible. But they don’t because </a:t>
            </a:r>
            <a:r>
              <a:rPr lang="en-US" sz="140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is valued.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PE = models are being updated = learning occurring = engagement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getting useful prediction errors that improve its generative models.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PE = models are failing = world is unlearnable = anxiety/overwhelm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errors are too large and too frequent to be informative.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Clark's solution to dark room: evolved priors (homeostatic), epistemic foraging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(expected free energy), and cultural designer environments. The Goldilocks framework</a:t>
            </a:r>
            <a:endParaRPr lang="en-US" sz="1600" dirty="0"/>
          </a:p>
          <a:p>
            <a:pPr marL="0" indent="0"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operationalizes this for architecture.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Kirsh — Goldilocks | Clark Lab, 8/14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LIMITATIONS FOR GOLDILOCKS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Things PP Doesn't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(Yet) Explain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411480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Normative gap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1463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says MINIMIZE PE. Goldilocks says OPTIMIZE. PP needs a normative extension to predict the inverted-U rather than monotonic minimization.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411480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optima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10312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doesn't predict that creative and focused tasks have different optimal PE levels. The explore/exploit distinction is ad hoc in PP.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743200"/>
            <a:ext cx="411480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structure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74320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operates within modalities. It doesn't naturally predict cross-modal compensation (quiet room needs more visual complexity).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411480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3832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cultural shift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38328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predicts modality-specific prior updating. The India data shows ALL modalities shift together — suggesting a parameter PP doesn't specify.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411480" cy="50292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Prospect-refuge anomaly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402336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predicts monotonic: maximize prospect AND refuge. But Dosen &amp; Ostwald (2016) find an inverted-U — some enclosure is good, too much is bad.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fatal to PP — they're gaps that need filling. The Goldilocks framework fills some.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implicit/explicit distinction (next talk) fills others.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Kirsh — Goldilocks | Clark Lab, 9/14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MODULATING FACTORS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Inner Factors That Shift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Goldilocks Zone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3152" cy="5486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Circadian phase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146304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Goldilocks zone shifts across the day. Morning peak: zone is wider, more tolerance for complexity. Post-lunch trough: zone narrows, vulnerability increases. (Aston-Jones &amp; Cohen, 2005)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73152" cy="5486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Allostatic state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10312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Hunger, sleep deprivation, thermal discomfort all narrow the zone by reducing the metabolic budget available for PE processing. Barrett's allostatic account. (Barrett &amp; Simmons, 2015)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73152" cy="5486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274320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have wider zones in their domain of expertise — they can handle more complexity because their generative models are better. A novice's overwhelming PE is an expert's moderate PE.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73152" cy="5486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differences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338328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Neuroticism, sensory processing sensitivity (SPS), intolerance of uncertainty all modulate the zone. High-SPS individuals have narrower, lower-set zones. (Aron &amp; Aron, 1997)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73152" cy="5486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task state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4023360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person's zone shifts with task engagement. Deep in flow: zone is narrow and low (protect the workspace). Between tasks: zone is wider (explore).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Goldilocks zone is not fixed — it's a moving target defined by the interaction of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body, expertise, task, and time of day.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Kirsh — Goldilocks | Clark Lab, 10/14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MODULATING FACTORS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Outer Factors: What the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 Provides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determines WHERE the person falls on the inverted-U: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Mean (average complexity)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position on the Goldilocks curve. Too low = boredom, too high = overwhelm.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Architect's primary tool: biophilic elements, spatial variety, material richness, acoustic design.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2A6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Variance (predictability of complexity)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STABILITY on the curve. High variance = unpredictable PE spikes → forced regime switching.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critical insight: mean and variance are DIFFERENT design variables.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D4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balance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compensate through shared arousal. The architect must balance ACROSS channels,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optimize each independently.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600" b="1" dirty="0">
                <a:solidFill>
                  <a:srgbClr val="7BA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control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occupants to calibrate their own position. Serves BOTH inner factor variation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outer factor optimization simultaneously.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Kirsh — Goldilocks | Clark Lab, 11/14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IMPLICATIONS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Architectural Design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Goldilocks Framework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73152" cy="411480"/>
          </a:xfrm>
          <a:prstGeom prst="rect">
            <a:avLst/>
          </a:prstGeom>
          <a:solidFill>
            <a:srgbClr val="2A6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complexity on every channel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0" y="15087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minimal, not maximal. Nature views, wood, varied spatial volumes, acoustic texture — each in its Goldilocks zone.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73152" cy="411480"/>
          </a:xfrm>
          <a:prstGeom prst="rect">
            <a:avLst/>
          </a:prstGeom>
          <a:solidFill>
            <a:srgbClr val="2A6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balance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0116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rooms need more visual richness. Visually stimulating spaces need less acoustic input. Design channels TOGETHER.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14600"/>
            <a:ext cx="73152" cy="411480"/>
          </a:xfrm>
          <a:prstGeom prst="rect">
            <a:avLst/>
          </a:prstGeom>
          <a:solidFill>
            <a:srgbClr val="2A6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514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Activity-specific zones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5146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zones: shifted-right Goldilocks (higher PE). Focus zones: shifted-left (lower PE). Don't compromise with 'flexible' space.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73152" cy="411480"/>
          </a:xfrm>
          <a:prstGeom prst="rect">
            <a:avLst/>
          </a:prstGeom>
          <a:solidFill>
            <a:srgbClr val="2A6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017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environmental control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30175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 windows, adjustable lighting, acoustic control. Accommodates individual Goldilocks variation. Reduces PE variance.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73152" cy="411480"/>
          </a:xfrm>
          <a:prstGeom prst="rect">
            <a:avLst/>
          </a:prstGeom>
          <a:solidFill>
            <a:srgbClr val="2A6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alignment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520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circadian variation. More protection during post-lunch trough. More stimulation during morning peak.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023360"/>
            <a:ext cx="73152" cy="411480"/>
          </a:xfrm>
          <a:prstGeom prst="rect">
            <a:avLst/>
          </a:prstGeom>
          <a:solidFill>
            <a:srgbClr val="2A6F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023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gradients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4023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from high-stimulation to low-stimulation. Support transitions between creative and focused modes.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Kirsh — Goldilocks | Clark Lab, 12/14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Extended Goldilocks Principle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7498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4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inverted-U is real, multi-channel, and independently tuned per modality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4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interact through shared LC-NE arousal → cross-modal compensation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4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zone moves with task, expertise, circadian phase, and allostatic state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4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niche construction shifts ALL channels together (single parameter?)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4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explains WHY the inverted-U exists but has five specific limitations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49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500" dirty="0">
                <a:solidFill>
                  <a:srgbClr val="7BA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PE and PE variance are DIFFERENT design variables → next talk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Kirsh — Goldilocks | Clark Lab, 13/14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91640"/>
          </a:xfrm>
          <a:prstGeom prst="rect">
            <a:avLst/>
          </a:prstGeom>
          <a:solidFill>
            <a:srgbClr val="D4A8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7BA3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Implicit vs. Explicit Processing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7BA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Challenge for Classical PP —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7BA3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It Means for Architecture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Goldilocks principle captures IMPLICIT processing beautifully.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what about EXPLICIT processing — deliberate thought, sustained reasoning?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requires a different framework. →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3105</Words>
  <Application>Microsoft Macintosh PowerPoint</Application>
  <PresentationFormat>On-screen Show (16:9)</PresentationFormat>
  <Paragraphs>266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Goldilocks Principle: Optimal Complexity in the Built Environment</dc:title>
  <dc:subject>PptxGenJS Presentation</dc:subject>
  <dc:creator>David Kirsh</dc:creator>
  <cp:lastModifiedBy>David Kirsh</cp:lastModifiedBy>
  <cp:revision>2</cp:revision>
  <dcterms:created xsi:type="dcterms:W3CDTF">2026-02-19T14:11:10Z</dcterms:created>
  <dcterms:modified xsi:type="dcterms:W3CDTF">2026-02-19T18:06:09Z</dcterms:modified>
</cp:coreProperties>
</file>