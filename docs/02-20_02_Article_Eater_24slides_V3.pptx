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8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48" d="100"/>
          <a:sy n="148" d="100"/>
        </p:scale>
        <p:origin x="-216"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324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 you Andy for hosting. I want to share a project that connects directly to several things your lab is working on. Article Eater is a system for turning what the field of neuroarchitecture knows — scattered across thousands of papers — into something computationally rigorous. A web of belief, in the Quinean sense, that makes the implicit knowledge of environmental psychology and neuroscience explicit and actionable.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an example. Open offices. The environmental psychology literature on this is ENORMOUS — hundreds of papers, multiple systematic reviews, data from over 42,000 workers. Bernstein and Turban in 2018 wired up a real company with wearable sensors before and after the transition — face-to-face interaction dropped SEVENTY PERCENT. Email went UP 50%. Kim and de Dear analyzed 42,000 workers across 303 buildings and found that private offices outperform open-plan on EVERY measure. Multiple systematic reviews — James, De Croon, Oommen — covering hundreds of papers, 90% showing negative effects. This is rock-solid, replicated science. But NONE of it explains WHY. That's the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what happens when you compose four independently established neuroscience findings. ONE: Bregman showed that language processing is obligatory through semantic access. You CANNOT not parse speech in your native language. TWO: Corbetta and Shulman showed that moving objects in peripheral vision trigger mandatory orienting. THREE: Frith and Frith showed that theory of mind is never background processing. FOUR: open offices eliminate all personal environmental control. Each is rock-solid neuroscience established independently. But COMPOSING them gives you the most complete mechanistic explanation for why open offices fail — and it's an explanation no single study could provide. That's what Article Eater does.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16 Tier 1 theories — foundational frameworks on the left, neuroscience engines on the right. Each generates multiple Tier 2 templates — over 75 so far. But how does a theory BECOME a template? The worked example on the right shows the derivation. Predictive processing says prediction errors drive attention, with precision weighting determining which errors matter. Template T4 instantiates this: high-precision PE from unexpected motion or speech triggers mandatory orienting. The theory says something general; the template specifies exactly WHICH errors, from WHICH features, with WHAT design consequences. And one theory generates MANY templates — predictive processing alone gives us T1 through T28.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 finding everyone knows and show what the system does with it. Heschong's 1999 daylighting study found that daylight improves learning by 21% — it launched a thousand design guidelines. But WHAT is 'daylight' actually doing? When Article Eater decomposes the finding through its template framework, it discovers TWO independent pathways that were conflated. The non-visual pathway — melanopsin-driven circadian photoentrainment — needs bright blue-enriched light but does NOT need a window. The image-forming pathway — visual complexity, nature content — NEEDS a window with a view. When you compose these: a windowless room with LEDs gives circadian support but zero restoration. A small window gives a view but insufficient circadian signal. These require DIFFERENT design specifications. Heschong conflated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Bayesian networks — and for good reason. A BN is a directed acyclic graph where nodes represent variables and edges represent causal or probabilistic dependencies. Each node has a conditional probability table. BNs are brilliant at what they do. Observe one variable, and belief propagation updates beliefs about every other variable. Pearl's do-calculus lets you reason about interventions. They've been enormously successful. So we built our first prototype as a BN. And it worked — for isolated findings. But then we tried to add THEORIES — and that's where everything broke.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where BNs break. FIRST: theories restructure the graph. When you adopt predictive processing, 'prediction error' becomes a node that DIDN'T EXIST under behaviorism. The graph itself changes. SECOND: theories create non-local dependencies that violate the Markov property. THIRD: expert reasoning is model selection, not parameter estimation. FOURTH: BNs have no representation of explanatory scope. We needed a formalism that represents theories AS theories.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Quinean web is a radical departure from Bayesian networks. Belief is justified by COHERENCE — how well it fits with everything else we believe. The web operates through reflective equilibrium: new evidence enters, the system checks coherence, connections strengthen or weaken, and a new equilibrium emerges. Key properties: no belief is foundational — even PP could be revised. Revision is holistic — change one central belief and consequences propagate. And disagreements are REPRESENTED, not suppressed. When ART and SRT conflict, both positions are maintained with their coherence scores. The computational backbone is Thagard's ECHO — constraint satisfaction that computes global coherence. Haack's foundherentism adds empirical anchors — experimental results that prevent the web from floating free of reality. This is what lets us represent 16 theories, their interactions, their evidence, and their disagreements as a single computable 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decomposition in detail. The image-forming pathway — rods and cones, visual cortex, scene perception — provides visual complexity and biophilic stimulation. The Ulrich effect operates here. The non-image-forming pathway through melanopsin-containing retinal ganglion cells provides circadian regulation. These are DIFFERENT mechanisms with DIFFERENT design implications. A windowless room with tunable LEDs gives circadian support without any view. A tiny window gives a view but may have insufficient circadian signal.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prediction no one has made outside this framework. Architects love translucent glass. But the neuroscience says they're WORSE than no barrier. With no barrier, you habituate. With opaque — zero cost. With translucent? Blurred movement too weak for full orienting, too strong to ignore. Conflict monitoring fires continuously. Botvinick and Shenhav showed conflict monitoring has a metabolic cost per event, even when suppression succeeds. Twenty subthreshold near-misses per hour exhaust cognitive control faster than five actual interruptions.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Exposed wood consistently outperforms other materials on wellbeing measures. When we decompose it through templates, wood engages FIVE sensory channels simultaneously. Visually: fractal grain patterns near optimal D of 1.3. Olfactorily: terpenes activating parasympathetic response. Tactilely: thermal neutrality. Acoustically: natural absorption. Semantically: cultural associations with nature. This led us to a general principle: multi-channel convergence. Natural stimuli are special because they engage multiple prediction channels for super-additive benefits.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dramatic examples of compositional reasoning. A south-facing window is not one thing — it is FIVE independent mechanisms firing simultaneously. Four are beneficial; the fifth (thermal discomfort and glare from solar heat gain) is conditionally harmful. The system predicts a seasonal crossover: the same window produces net positive effect in winter and net negative in midsummer, unless shading and ventilation neutralize T028. This has immediate implications for building orientation and adaptive facade design. No single study in the literature makes this prediction — it emerges from composing five templates that come from four different theories.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the explanatory power of mechanism decomposition. Kahn et al. (2008) found that plasma display windows showing real-time nature views did NOT produce the same benefits as real windows. The standard literature just notes this as a fact. The template system EXPLAINS it: photographs capture T041 (content-mediated stress reduction through scene recognition, which processes photos and real views similarly) but miss T014 (real light for circadian alertness — melanopsin needs actual photons) and T016 (temporal information — sky changes, cloud movement). This is not just a story — it generates specific predictions about WHICH benefits transfer to photographs and which don't, and by how much. A student trained this way develops mechanistic thinking about environmental psychology.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Goldilocks Theory of Environmental Design — arguably the most architecturally significant prediction the system produces. The inverted-U appears everywhere: wood at 45%, sound in a narrow band, fractal D near 1.3, temperature in a comfort band. The key theoretical move is recognizing that these channels interact through shared LC-NE arousal pathways. That means total prediction error load matters, distributed across channels, and within limits the channels COMPENSATE. A quiet room needs more visual complexity. A visually rich room needs less sound. This is a specific, testable, architectural prediction that visual and acoustic design must be jointly optimized — they are NOT independent parameters. The three commitments beyond PP: normative (optimal PE levels exist), multi-channel profile (not a single number), and contextually relative (shifts with task, culture, individual differences). The India fieldwork demonstrates the cultural relativity dramatically — elevated sensory preferences across ALL modalities simultaneously in Varanasi.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practical power of the system. An architect wants to argue for biophilic design in a hospital. Instead of vague appeals to 'nature is good,' the system provides four independently motivated mechanisms, each with specific effect sizes and study counts. The compound prediction — d ≈ 0.6–0.9 for coordinated multi-channel intervention — is substantially larger than any single intervention because the mechanisms enter the autonomic nervous system through independent gates. Critically, the system also identifies the GAP: acoustics (T055) has the highest credence at 0.88 and is usually the most powerful channel (d = 0.4–0.7), but the renovation proposal doesn't address it. This is argumentation with teeth — here are four mechanisms, here are the numbers, here is the compound prediction, here are the gaps, and here is what you lose by not addressing the acoustic channel.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organizational schemes connected by a cross-referencing layer. Mechanism-first for scientists, attribute-first for designers. Ceiling height connects to at least four mechanisms: LC-NE arousal, prospect-refuge, spatial scale, and thermal stratification. This dual organization lets both scientists and designers enter the web from their natural starting point.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a template actually looks like. This is T3 — prospect-refuge. The mechanism: an evolved threat-assessment system with reduced amygdala activation from open sightlines and reduced hypervigilance from enclosure. Environmental trigger: the ratio of visual openness to rear enclosure. Prediction: lower cortisol and heart rate. Evidence with citations and Google Scholar counts. And calibration parameters — specific numbers an architect can use. This is ONE template. We have 52 across 10 domains.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prediction that ONLY comes from the template framework. Olfactory receptors adapt in 2-3 minutes — smell encodes ARRIVALS, not steady states. Olfaction has direct limbic access without thalamic relay — unique among senses. And it's tightly coupled to hippocampal place cells for context encoding. The architectural prediction: design smell for THRESHOLDS. Use it at building entries, room transitions, activity-zone boundaries.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 domains have reached four-star coverage — every major mechanism has at least one calibrated template. 52 templates across domains, plus 17 in music/acoustic interaction and 6 cross-modal templates.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we're doing is a kind of theory reduction that is genuinely novel in philosophy of science. PP is a theory of everything — but it doesn't directly tell an architect what ceiling height to use. The template reduction takes PP and derives specific, falsifiable, actionable claims. This is analogous to the reduction from quantum field theory to materials science to engineering in physics. We're building the materials science of the mind-environment interface.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payoff: the system can evaluate real buildings. You give it a building description and it evaluates against every relevant template. The output isn't 'improve acoustics' — it's 'reduce speech intelligibility index below 0.20 in focus zones to prevent obligatory semantic processing.' Every recommendation has a citation trail.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we're going: VR validation to test predictions in controlled environments. Goldilocks integration as a meta-template domain. Explicit cognition as a new template domain. India fieldwork on cultural set-point variation. And long-term — release the web as an open resource.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Connections to Andy's lab: the extended mind thesis — architecture as cognitive infrastructure. Radical PP as the unifying framework, pushed into new territory. Happily Entangled formalized through hedonic tagging templates. And cultural niche construction tested through the India fieldwork.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6"/>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Article Eater</a:t>
            </a:r>
            <a:endParaRPr lang="en-US" sz="4400" dirty="0"/>
          </a:p>
        </p:txBody>
      </p:sp>
      <p:sp>
        <p:nvSpPr>
          <p:cNvPr id="3" name="Text 1"/>
          <p:cNvSpPr/>
          <p:nvPr/>
        </p:nvSpPr>
        <p:spPr>
          <a:xfrm>
            <a:off x="731520" y="2011680"/>
            <a:ext cx="7680960" cy="82296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Computational Epistemology for</a:t>
            </a:r>
            <a:endParaRPr lang="en-US" sz="2200" dirty="0"/>
          </a:p>
          <a:p>
            <a:pPr marL="0" indent="0">
              <a:buNone/>
            </a:pPr>
            <a:r>
              <a:rPr lang="en-US" sz="2200" dirty="0">
                <a:solidFill>
                  <a:srgbClr val="CADCFC"/>
                </a:solidFill>
                <a:latin typeface="Calibri" pitchFamily="34" charset="0"/>
                <a:ea typeface="Calibri" pitchFamily="34" charset="-122"/>
                <a:cs typeface="Calibri" pitchFamily="34" charset="-120"/>
              </a:rPr>
              <a:t>Neuroarchitecture</a:t>
            </a:r>
            <a:endParaRPr lang="en-US" sz="2200" dirty="0"/>
          </a:p>
        </p:txBody>
      </p:sp>
      <p:sp>
        <p:nvSpPr>
          <p:cNvPr id="4" name="Shape 2"/>
          <p:cNvSpPr/>
          <p:nvPr/>
        </p:nvSpPr>
        <p:spPr>
          <a:xfrm>
            <a:off x="731520" y="3108960"/>
            <a:ext cx="2286000" cy="27432"/>
          </a:xfrm>
          <a:prstGeom prst="rect">
            <a:avLst/>
          </a:prstGeom>
          <a:solidFill>
            <a:srgbClr val="CADCFC"/>
          </a:solidFill>
          <a:ln/>
        </p:spPr>
        <p:txBody>
          <a:bodyPr/>
          <a:lstStyle/>
          <a:p>
            <a:endParaRPr lang="en-US"/>
          </a:p>
        </p:txBody>
      </p:sp>
      <p:sp>
        <p:nvSpPr>
          <p:cNvPr id="5" name="Text 3"/>
          <p:cNvSpPr/>
          <p:nvPr/>
        </p:nvSpPr>
        <p:spPr>
          <a:xfrm>
            <a:off x="731520" y="3383280"/>
            <a:ext cx="4572000" cy="914400"/>
          </a:xfrm>
          <a:prstGeom prst="rect">
            <a:avLst/>
          </a:prstGeom>
          <a:noFill/>
          <a:ln/>
        </p:spPr>
        <p:txBody>
          <a:bodyPr wrap="square" lIns="0" tIns="0" rIns="0" bIns="0" rtlCol="0" anchor="ctr"/>
          <a:lstStyle/>
          <a:p>
            <a:pPr marL="0" indent="0">
              <a:lnSpc>
                <a:spcPct val="140000"/>
              </a:lnSpc>
              <a:buNone/>
            </a:pPr>
            <a:r>
              <a:rPr lang="en-US" sz="1400" dirty="0">
                <a:solidFill>
                  <a:srgbClr val="8899BB"/>
                </a:solidFill>
                <a:latin typeface="Calibri" pitchFamily="34" charset="0"/>
                <a:ea typeface="Calibri" pitchFamily="34" charset="-122"/>
                <a:cs typeface="Calibri" pitchFamily="34" charset="-120"/>
              </a:rPr>
              <a:t>David Kirsh</a:t>
            </a:r>
            <a:endParaRPr lang="en-US" sz="1400" dirty="0"/>
          </a:p>
          <a:p>
            <a:pPr marL="0" indent="0">
              <a:lnSpc>
                <a:spcPct val="140000"/>
              </a:lnSpc>
              <a:buNone/>
            </a:pPr>
            <a:r>
              <a:rPr lang="en-US" sz="1400" dirty="0">
                <a:solidFill>
                  <a:srgbClr val="8899BB"/>
                </a:solidFill>
                <a:latin typeface="Calibri" pitchFamily="34" charset="0"/>
                <a:ea typeface="Calibri" pitchFamily="34" charset="-122"/>
                <a:cs typeface="Calibri" pitchFamily="34" charset="-120"/>
              </a:rPr>
              <a:t>Cognitive Science, UC San Diego</a:t>
            </a:r>
            <a:endParaRPr lang="en-US" sz="1400" dirty="0"/>
          </a:p>
          <a:p>
            <a:pPr marL="0" indent="0">
              <a:lnSpc>
                <a:spcPct val="140000"/>
              </a:lnSpc>
              <a:buNone/>
            </a:pPr>
            <a:r>
              <a:rPr lang="en-US" sz="1400" dirty="0">
                <a:solidFill>
                  <a:srgbClr val="8899BB"/>
                </a:solidFill>
                <a:latin typeface="Calibri" pitchFamily="34" charset="0"/>
                <a:ea typeface="Calibri" pitchFamily="34" charset="-122"/>
                <a:cs typeface="Calibri" pitchFamily="34" charset="-120"/>
              </a:rPr>
              <a:t>Clark Lab Visit — February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website&#10;&#10;AI-generated content may be incorrect.">
            <a:extLst>
              <a:ext uri="{FF2B5EF4-FFF2-40B4-BE49-F238E27FC236}">
                <a16:creationId xmlns:a16="http://schemas.microsoft.com/office/drawing/2014/main" id="{30C5D8C7-A08E-7CC5-AD6C-5CDBAEDE7C5E}"/>
              </a:ext>
            </a:extLst>
          </p:cNvPr>
          <p:cNvPicPr>
            <a:picLocks noChangeAspect="1"/>
          </p:cNvPicPr>
          <p:nvPr/>
        </p:nvPicPr>
        <p:blipFill>
          <a:blip r:embed="rId2"/>
          <a:stretch>
            <a:fillRect/>
          </a:stretch>
        </p:blipFill>
        <p:spPr>
          <a:xfrm>
            <a:off x="611960" y="0"/>
            <a:ext cx="7772400" cy="5047592"/>
          </a:xfrm>
          <a:prstGeom prst="rect">
            <a:avLst/>
          </a:prstGeom>
        </p:spPr>
      </p:pic>
    </p:spTree>
    <p:extLst>
      <p:ext uri="{BB962C8B-B14F-4D97-AF65-F5344CB8AC3E}">
        <p14:creationId xmlns:p14="http://schemas.microsoft.com/office/powerpoint/2010/main" val="4096655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WHAT CAN THE THEORY SAY?</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Open Offices Were Designed</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to Increase Collaboration</a:t>
            </a:r>
            <a:endParaRPr lang="en-US" sz="2600" dirty="0"/>
          </a:p>
        </p:txBody>
      </p:sp>
      <p:sp>
        <p:nvSpPr>
          <p:cNvPr id="4" name="Text 2"/>
          <p:cNvSpPr/>
          <p:nvPr/>
        </p:nvSpPr>
        <p:spPr>
          <a:xfrm>
            <a:off x="548640" y="123444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THE ENVIRONMENTAL PSYCHOLOGY FINDINGS</a:t>
            </a:r>
            <a:endParaRPr lang="en-US" sz="1400" dirty="0"/>
          </a:p>
        </p:txBody>
      </p:sp>
      <p:sp>
        <p:nvSpPr>
          <p:cNvPr id="5" name="Shape 3"/>
          <p:cNvSpPr/>
          <p:nvPr/>
        </p:nvSpPr>
        <p:spPr>
          <a:xfrm>
            <a:off x="548640" y="1645920"/>
            <a:ext cx="8046720" cy="74980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645920"/>
            <a:ext cx="54864" cy="749808"/>
          </a:xfrm>
          <a:prstGeom prst="rect">
            <a:avLst/>
          </a:prstGeom>
          <a:solidFill>
            <a:srgbClr val="2B5A8C"/>
          </a:solidFill>
          <a:ln/>
        </p:spPr>
        <p:txBody>
          <a:bodyPr/>
          <a:lstStyle/>
          <a:p>
            <a:endParaRPr lang="en-US"/>
          </a:p>
        </p:txBody>
      </p:sp>
      <p:sp>
        <p:nvSpPr>
          <p:cNvPr id="7" name="Text 5"/>
          <p:cNvSpPr/>
          <p:nvPr/>
        </p:nvSpPr>
        <p:spPr>
          <a:xfrm>
            <a:off x="777240" y="1719072"/>
            <a:ext cx="1097280" cy="320040"/>
          </a:xfrm>
          <a:prstGeom prst="rect">
            <a:avLst/>
          </a:prstGeom>
          <a:noFill/>
          <a:ln/>
        </p:spPr>
        <p:txBody>
          <a:bodyPr wrap="square" lIns="0" tIns="0" rIns="0" bIns="0" rtlCol="0" anchor="ctr"/>
          <a:lstStyle/>
          <a:p>
            <a:pPr marL="0" indent="0">
              <a:buNone/>
            </a:pPr>
            <a:r>
              <a:rPr lang="en-US" sz="2000" b="1" dirty="0">
                <a:solidFill>
                  <a:srgbClr val="2B5A8C"/>
                </a:solidFill>
                <a:latin typeface="Georgia" pitchFamily="34" charset="0"/>
                <a:ea typeface="Georgia" pitchFamily="34" charset="-122"/>
                <a:cs typeface="Georgia" pitchFamily="34" charset="-120"/>
              </a:rPr>
              <a:t>70%</a:t>
            </a:r>
            <a:endParaRPr lang="en-US" sz="2000" dirty="0"/>
          </a:p>
        </p:txBody>
      </p:sp>
      <p:sp>
        <p:nvSpPr>
          <p:cNvPr id="8" name="Text 6"/>
          <p:cNvSpPr/>
          <p:nvPr/>
        </p:nvSpPr>
        <p:spPr>
          <a:xfrm>
            <a:off x="1828800" y="1719072"/>
            <a:ext cx="6583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Face-to-face interaction dropped</a:t>
            </a:r>
            <a:endParaRPr lang="en-US" sz="1300" dirty="0"/>
          </a:p>
        </p:txBody>
      </p:sp>
      <p:sp>
        <p:nvSpPr>
          <p:cNvPr id="9" name="Text 7"/>
          <p:cNvSpPr/>
          <p:nvPr/>
        </p:nvSpPr>
        <p:spPr>
          <a:xfrm>
            <a:off x="1828800" y="2029968"/>
            <a:ext cx="6583680" cy="274320"/>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Bernstein &amp; Turban (2018) — wearable sensors, before/after relocation</a:t>
            </a:r>
            <a:endParaRPr lang="en-US" sz="1050" dirty="0"/>
          </a:p>
        </p:txBody>
      </p:sp>
      <p:sp>
        <p:nvSpPr>
          <p:cNvPr id="10" name="Shape 8"/>
          <p:cNvSpPr/>
          <p:nvPr/>
        </p:nvSpPr>
        <p:spPr>
          <a:xfrm>
            <a:off x="548640" y="2514600"/>
            <a:ext cx="8046720" cy="74980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1" name="Shape 9"/>
          <p:cNvSpPr/>
          <p:nvPr/>
        </p:nvSpPr>
        <p:spPr>
          <a:xfrm>
            <a:off x="548640" y="2514600"/>
            <a:ext cx="54864" cy="749808"/>
          </a:xfrm>
          <a:prstGeom prst="rect">
            <a:avLst/>
          </a:prstGeom>
          <a:solidFill>
            <a:srgbClr val="8C4B2B"/>
          </a:solidFill>
          <a:ln/>
        </p:spPr>
        <p:txBody>
          <a:bodyPr/>
          <a:lstStyle/>
          <a:p>
            <a:endParaRPr lang="en-US"/>
          </a:p>
        </p:txBody>
      </p:sp>
      <p:sp>
        <p:nvSpPr>
          <p:cNvPr id="12" name="Text 10"/>
          <p:cNvSpPr/>
          <p:nvPr/>
        </p:nvSpPr>
        <p:spPr>
          <a:xfrm>
            <a:off x="777240" y="2587752"/>
            <a:ext cx="1097280" cy="320040"/>
          </a:xfrm>
          <a:prstGeom prst="rect">
            <a:avLst/>
          </a:prstGeom>
          <a:noFill/>
          <a:ln/>
        </p:spPr>
        <p:txBody>
          <a:bodyPr wrap="square" lIns="0" tIns="0" rIns="0" bIns="0" rtlCol="0" anchor="ctr"/>
          <a:lstStyle/>
          <a:p>
            <a:pPr marL="0" indent="0">
              <a:buNone/>
            </a:pPr>
            <a:r>
              <a:rPr lang="en-US" sz="2000" b="1" dirty="0">
                <a:solidFill>
                  <a:srgbClr val="8C4B2B"/>
                </a:solidFill>
                <a:latin typeface="Georgia" pitchFamily="34" charset="0"/>
                <a:ea typeface="Georgia" pitchFamily="34" charset="-122"/>
                <a:cs typeface="Georgia" pitchFamily="34" charset="-120"/>
              </a:rPr>
              <a:t>42,000</a:t>
            </a:r>
            <a:endParaRPr lang="en-US" sz="2000" dirty="0"/>
          </a:p>
        </p:txBody>
      </p:sp>
      <p:sp>
        <p:nvSpPr>
          <p:cNvPr id="13" name="Text 11"/>
          <p:cNvSpPr/>
          <p:nvPr/>
        </p:nvSpPr>
        <p:spPr>
          <a:xfrm>
            <a:off x="1828800" y="2587752"/>
            <a:ext cx="6583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workers: private offices outperform open-plan on ALL measures</a:t>
            </a:r>
            <a:endParaRPr lang="en-US" sz="1300" dirty="0"/>
          </a:p>
        </p:txBody>
      </p:sp>
      <p:sp>
        <p:nvSpPr>
          <p:cNvPr id="14" name="Text 12"/>
          <p:cNvSpPr/>
          <p:nvPr/>
        </p:nvSpPr>
        <p:spPr>
          <a:xfrm>
            <a:off x="1828800" y="2898648"/>
            <a:ext cx="6583680" cy="274320"/>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Kim &amp; de Dear (2013) — CBE database, 303 buildings</a:t>
            </a:r>
            <a:endParaRPr lang="en-US" sz="1050" dirty="0"/>
          </a:p>
        </p:txBody>
      </p:sp>
      <p:sp>
        <p:nvSpPr>
          <p:cNvPr id="15" name="Shape 13"/>
          <p:cNvSpPr/>
          <p:nvPr/>
        </p:nvSpPr>
        <p:spPr>
          <a:xfrm>
            <a:off x="548640" y="3383280"/>
            <a:ext cx="8046720" cy="74980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6" name="Shape 14"/>
          <p:cNvSpPr/>
          <p:nvPr/>
        </p:nvSpPr>
        <p:spPr>
          <a:xfrm>
            <a:off x="548640" y="3383280"/>
            <a:ext cx="54864" cy="749808"/>
          </a:xfrm>
          <a:prstGeom prst="rect">
            <a:avLst/>
          </a:prstGeom>
          <a:solidFill>
            <a:srgbClr val="8C2B5A"/>
          </a:solidFill>
          <a:ln/>
        </p:spPr>
        <p:txBody>
          <a:bodyPr/>
          <a:lstStyle/>
          <a:p>
            <a:endParaRPr lang="en-US"/>
          </a:p>
        </p:txBody>
      </p:sp>
      <p:sp>
        <p:nvSpPr>
          <p:cNvPr id="17" name="Text 15"/>
          <p:cNvSpPr/>
          <p:nvPr/>
        </p:nvSpPr>
        <p:spPr>
          <a:xfrm>
            <a:off x="777240" y="3456432"/>
            <a:ext cx="1097280" cy="320040"/>
          </a:xfrm>
          <a:prstGeom prst="rect">
            <a:avLst/>
          </a:prstGeom>
          <a:noFill/>
          <a:ln/>
        </p:spPr>
        <p:txBody>
          <a:bodyPr wrap="square" lIns="0" tIns="0" rIns="0" bIns="0" rtlCol="0" anchor="ctr"/>
          <a:lstStyle/>
          <a:p>
            <a:pPr marL="0" indent="0">
              <a:buNone/>
            </a:pPr>
            <a:r>
              <a:rPr lang="en-US" sz="2000" b="1" dirty="0">
                <a:solidFill>
                  <a:srgbClr val="8C2B5A"/>
                </a:solidFill>
                <a:latin typeface="Georgia" pitchFamily="34" charset="0"/>
                <a:ea typeface="Georgia" pitchFamily="34" charset="-122"/>
                <a:cs typeface="Georgia" pitchFamily="34" charset="-120"/>
              </a:rPr>
              <a:t>90%</a:t>
            </a:r>
            <a:endParaRPr lang="en-US" sz="2000" dirty="0"/>
          </a:p>
        </p:txBody>
      </p:sp>
      <p:sp>
        <p:nvSpPr>
          <p:cNvPr id="18" name="Text 16"/>
          <p:cNvSpPr/>
          <p:nvPr/>
        </p:nvSpPr>
        <p:spPr>
          <a:xfrm>
            <a:off x="1828800" y="3456432"/>
            <a:ext cx="658368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of 429 papers show negative effects</a:t>
            </a:r>
            <a:endParaRPr lang="en-US" sz="1300" dirty="0"/>
          </a:p>
        </p:txBody>
      </p:sp>
      <p:sp>
        <p:nvSpPr>
          <p:cNvPr id="19" name="Text 17"/>
          <p:cNvSpPr/>
          <p:nvPr/>
        </p:nvSpPr>
        <p:spPr>
          <a:xfrm>
            <a:off x="1828800" y="3767328"/>
            <a:ext cx="6583680" cy="274320"/>
          </a:xfrm>
          <a:prstGeom prst="rect">
            <a:avLst/>
          </a:prstGeom>
          <a:noFill/>
          <a:ln/>
        </p:spPr>
        <p:txBody>
          <a:bodyPr wrap="square" lIns="0" tIns="0" rIns="0" bIns="0"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James et al. (2021), De Croon et al. (2005), Oommen et al. (2008)</a:t>
            </a:r>
            <a:endParaRPr lang="en-US" sz="1050" dirty="0"/>
          </a:p>
        </p:txBody>
      </p:sp>
      <p:sp>
        <p:nvSpPr>
          <p:cNvPr id="20" name="Text 18"/>
          <p:cNvSpPr/>
          <p:nvPr/>
        </p:nvSpPr>
        <p:spPr>
          <a:xfrm>
            <a:off x="548640" y="4297680"/>
            <a:ext cx="8046720" cy="548640"/>
          </a:xfrm>
          <a:prstGeom prst="rect">
            <a:avLst/>
          </a:prstGeom>
          <a:noFill/>
          <a:ln/>
        </p:spPr>
        <p:txBody>
          <a:bodyPr wrap="square" lIns="0" tIns="0" rIns="0" bIns="0" rtlCol="0" anchor="ctr"/>
          <a:lstStyle/>
          <a:p>
            <a:pPr marL="0" indent="0">
              <a:lnSpc>
                <a:spcPct val="130000"/>
              </a:lnSpc>
              <a:buNone/>
            </a:pPr>
            <a:r>
              <a:rPr lang="en-US" sz="1400" i="1" dirty="0">
                <a:solidFill>
                  <a:srgbClr val="B85042"/>
                </a:solidFill>
                <a:latin typeface="Georgia" pitchFamily="34" charset="0"/>
                <a:ea typeface="Georgia" pitchFamily="34" charset="-122"/>
                <a:cs typeface="Georgia" pitchFamily="34" charset="-120"/>
              </a:rPr>
              <a:t>Decades of research. Massive samples. Replicated worldwide.</a:t>
            </a:r>
            <a:endParaRPr lang="en-US" sz="1400" dirty="0"/>
          </a:p>
          <a:p>
            <a:pPr marL="0" indent="0">
              <a:lnSpc>
                <a:spcPct val="130000"/>
              </a:lnSpc>
              <a:buNone/>
            </a:pPr>
            <a:r>
              <a:rPr lang="en-US" sz="1400" i="1" dirty="0">
                <a:solidFill>
                  <a:srgbClr val="B85042"/>
                </a:solidFill>
                <a:latin typeface="Georgia" pitchFamily="34" charset="0"/>
                <a:ea typeface="Georgia" pitchFamily="34" charset="-122"/>
                <a:cs typeface="Georgia" pitchFamily="34" charset="-120"/>
              </a:rPr>
              <a:t>But NO mechanistic explanation. Why do they fail?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COMPOSING ACROSS NEUROSCIENCE</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Four Independent Mechanisms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Explain the Failure</a:t>
            </a:r>
            <a:endParaRPr lang="en-US" sz="2600" dirty="0"/>
          </a:p>
        </p:txBody>
      </p:sp>
      <p:sp>
        <p:nvSpPr>
          <p:cNvPr id="4" name="Shape 2"/>
          <p:cNvSpPr/>
          <p:nvPr/>
        </p:nvSpPr>
        <p:spPr>
          <a:xfrm>
            <a:off x="548640" y="128016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80160"/>
            <a:ext cx="54864" cy="777240"/>
          </a:xfrm>
          <a:prstGeom prst="rect">
            <a:avLst/>
          </a:prstGeom>
          <a:solidFill>
            <a:srgbClr val="2B5A8C"/>
          </a:solidFill>
          <a:ln/>
        </p:spPr>
        <p:txBody>
          <a:bodyPr/>
          <a:lstStyle/>
          <a:p>
            <a:endParaRPr lang="en-US"/>
          </a:p>
        </p:txBody>
      </p:sp>
      <p:sp>
        <p:nvSpPr>
          <p:cNvPr id="6" name="Shape 4"/>
          <p:cNvSpPr/>
          <p:nvPr/>
        </p:nvSpPr>
        <p:spPr>
          <a:xfrm>
            <a:off x="713232" y="1481328"/>
            <a:ext cx="365760" cy="365760"/>
          </a:xfrm>
          <a:prstGeom prst="ellipse">
            <a:avLst/>
          </a:prstGeom>
          <a:solidFill>
            <a:srgbClr val="2B5A8C"/>
          </a:solidFill>
          <a:ln/>
        </p:spPr>
        <p:txBody>
          <a:bodyPr/>
          <a:lstStyle/>
          <a:p>
            <a:endParaRPr lang="en-US"/>
          </a:p>
        </p:txBody>
      </p:sp>
      <p:sp>
        <p:nvSpPr>
          <p:cNvPr id="7" name="Text 5"/>
          <p:cNvSpPr/>
          <p:nvPr/>
        </p:nvSpPr>
        <p:spPr>
          <a:xfrm>
            <a:off x="713232" y="148132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34440" y="1335024"/>
            <a:ext cx="411480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Obligatory speech processing</a:t>
            </a:r>
            <a:r>
              <a:rPr lang="en-US" sz="1000" i="1" dirty="0">
                <a:solidFill>
                  <a:srgbClr val="475569"/>
                </a:solidFill>
                <a:latin typeface="Calibri" pitchFamily="34" charset="0"/>
                <a:ea typeface="Calibri" pitchFamily="34" charset="-122"/>
                <a:cs typeface="Calibri" pitchFamily="34" charset="-120"/>
              </a:rPr>
              <a:t>  Bregman (1990)</a:t>
            </a:r>
            <a:endParaRPr lang="en-US" sz="1250" dirty="0"/>
          </a:p>
        </p:txBody>
      </p:sp>
      <p:sp>
        <p:nvSpPr>
          <p:cNvPr id="9" name="Text 7"/>
          <p:cNvSpPr/>
          <p:nvPr/>
        </p:nvSpPr>
        <p:spPr>
          <a:xfrm>
            <a:off x="1234440" y="1572768"/>
            <a:ext cx="4114800"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Language is parsed pre-attentively through semantic access. Cannot be suppressed.</a:t>
            </a:r>
            <a:endParaRPr lang="en-US" sz="1000" dirty="0"/>
          </a:p>
        </p:txBody>
      </p:sp>
      <p:sp>
        <p:nvSpPr>
          <p:cNvPr id="10" name="Text 8"/>
          <p:cNvSpPr/>
          <p:nvPr/>
        </p:nvSpPr>
        <p:spPr>
          <a:xfrm>
            <a:off x="5394960" y="1417320"/>
            <a:ext cx="320040" cy="365760"/>
          </a:xfrm>
          <a:prstGeom prst="rect">
            <a:avLst/>
          </a:prstGeom>
          <a:noFill/>
          <a:ln/>
        </p:spPr>
        <p:txBody>
          <a:bodyPr wrap="square" rtlCol="0" anchor="ctr"/>
          <a:lstStyle/>
          <a:p>
            <a:pPr marL="0" indent="0" algn="ctr">
              <a:buNone/>
            </a:pPr>
            <a:r>
              <a:rPr lang="en-US" sz="1800" dirty="0">
                <a:solidFill>
                  <a:srgbClr val="2B5A8C"/>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5760720" y="1389888"/>
            <a:ext cx="274320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Every conversation within earshot competes for workspace.</a:t>
            </a:r>
            <a:endParaRPr lang="en-US" sz="1000" dirty="0"/>
          </a:p>
        </p:txBody>
      </p:sp>
      <p:sp>
        <p:nvSpPr>
          <p:cNvPr id="12" name="Shape 10"/>
          <p:cNvSpPr/>
          <p:nvPr/>
        </p:nvSpPr>
        <p:spPr>
          <a:xfrm>
            <a:off x="548640" y="214884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2148840"/>
            <a:ext cx="54864" cy="777240"/>
          </a:xfrm>
          <a:prstGeom prst="rect">
            <a:avLst/>
          </a:prstGeom>
          <a:solidFill>
            <a:srgbClr val="3B7A4C"/>
          </a:solidFill>
          <a:ln/>
        </p:spPr>
        <p:txBody>
          <a:bodyPr/>
          <a:lstStyle/>
          <a:p>
            <a:endParaRPr lang="en-US"/>
          </a:p>
        </p:txBody>
      </p:sp>
      <p:sp>
        <p:nvSpPr>
          <p:cNvPr id="14" name="Shape 12"/>
          <p:cNvSpPr/>
          <p:nvPr/>
        </p:nvSpPr>
        <p:spPr>
          <a:xfrm>
            <a:off x="713232" y="2350008"/>
            <a:ext cx="365760" cy="365760"/>
          </a:xfrm>
          <a:prstGeom prst="ellipse">
            <a:avLst/>
          </a:prstGeom>
          <a:solidFill>
            <a:srgbClr val="3B7A4C"/>
          </a:solidFill>
          <a:ln/>
        </p:spPr>
        <p:txBody>
          <a:bodyPr/>
          <a:lstStyle/>
          <a:p>
            <a:endParaRPr lang="en-US"/>
          </a:p>
        </p:txBody>
      </p:sp>
      <p:sp>
        <p:nvSpPr>
          <p:cNvPr id="15" name="Text 13"/>
          <p:cNvSpPr/>
          <p:nvPr/>
        </p:nvSpPr>
        <p:spPr>
          <a:xfrm>
            <a:off x="713232" y="235000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234440" y="2203704"/>
            <a:ext cx="411480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Peripheral motion capture</a:t>
            </a:r>
            <a:r>
              <a:rPr lang="en-US" sz="1000" i="1" dirty="0">
                <a:solidFill>
                  <a:srgbClr val="475569"/>
                </a:solidFill>
                <a:latin typeface="Calibri" pitchFamily="34" charset="0"/>
                <a:ea typeface="Calibri" pitchFamily="34" charset="-122"/>
                <a:cs typeface="Calibri" pitchFamily="34" charset="-120"/>
              </a:rPr>
              <a:t>  Corbetta &amp; Shulman (2002)</a:t>
            </a:r>
            <a:endParaRPr lang="en-US" sz="1250" dirty="0"/>
          </a:p>
        </p:txBody>
      </p:sp>
      <p:sp>
        <p:nvSpPr>
          <p:cNvPr id="17" name="Text 15"/>
          <p:cNvSpPr/>
          <p:nvPr/>
        </p:nvSpPr>
        <p:spPr>
          <a:xfrm>
            <a:off x="1234440" y="2441448"/>
            <a:ext cx="4114800"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Moving objects in peripheral vision trigger mandatory orienting via superior colliculus.</a:t>
            </a:r>
            <a:endParaRPr lang="en-US" sz="1000" dirty="0"/>
          </a:p>
        </p:txBody>
      </p:sp>
      <p:sp>
        <p:nvSpPr>
          <p:cNvPr id="18" name="Text 16"/>
          <p:cNvSpPr/>
          <p:nvPr/>
        </p:nvSpPr>
        <p:spPr>
          <a:xfrm>
            <a:off x="5394960" y="2286000"/>
            <a:ext cx="320040" cy="365760"/>
          </a:xfrm>
          <a:prstGeom prst="rect">
            <a:avLst/>
          </a:prstGeom>
          <a:noFill/>
          <a:ln/>
        </p:spPr>
        <p:txBody>
          <a:bodyPr wrap="square" rtlCol="0" anchor="ctr"/>
          <a:lstStyle/>
          <a:p>
            <a:pPr marL="0" indent="0" algn="ctr">
              <a:buNone/>
            </a:pPr>
            <a:r>
              <a:rPr lang="en-US" sz="1800" dirty="0">
                <a:solidFill>
                  <a:srgbClr val="3B7A4C"/>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5760720" y="2258568"/>
            <a:ext cx="274320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30 walk-bys/hour = 30 involuntary saccades you didn't choose.</a:t>
            </a:r>
            <a:endParaRPr lang="en-US" sz="1000" dirty="0"/>
          </a:p>
        </p:txBody>
      </p:sp>
      <p:sp>
        <p:nvSpPr>
          <p:cNvPr id="20" name="Shape 18"/>
          <p:cNvSpPr/>
          <p:nvPr/>
        </p:nvSpPr>
        <p:spPr>
          <a:xfrm>
            <a:off x="548640" y="301752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548640" y="3017520"/>
            <a:ext cx="54864" cy="777240"/>
          </a:xfrm>
          <a:prstGeom prst="rect">
            <a:avLst/>
          </a:prstGeom>
          <a:solidFill>
            <a:srgbClr val="6B3B8C"/>
          </a:solidFill>
          <a:ln/>
        </p:spPr>
        <p:txBody>
          <a:bodyPr/>
          <a:lstStyle/>
          <a:p>
            <a:endParaRPr lang="en-US"/>
          </a:p>
        </p:txBody>
      </p:sp>
      <p:sp>
        <p:nvSpPr>
          <p:cNvPr id="22" name="Shape 20"/>
          <p:cNvSpPr/>
          <p:nvPr/>
        </p:nvSpPr>
        <p:spPr>
          <a:xfrm>
            <a:off x="713232" y="3218688"/>
            <a:ext cx="365760" cy="365760"/>
          </a:xfrm>
          <a:prstGeom prst="ellipse">
            <a:avLst/>
          </a:prstGeom>
          <a:solidFill>
            <a:srgbClr val="6B3B8C"/>
          </a:solidFill>
          <a:ln/>
        </p:spPr>
        <p:txBody>
          <a:bodyPr/>
          <a:lstStyle/>
          <a:p>
            <a:endParaRPr lang="en-US"/>
          </a:p>
        </p:txBody>
      </p:sp>
      <p:sp>
        <p:nvSpPr>
          <p:cNvPr id="23" name="Text 21"/>
          <p:cNvSpPr/>
          <p:nvPr/>
        </p:nvSpPr>
        <p:spPr>
          <a:xfrm>
            <a:off x="713232" y="321868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p:nvPr/>
        </p:nvSpPr>
        <p:spPr>
          <a:xfrm>
            <a:off x="1234440" y="3072384"/>
            <a:ext cx="411480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Mandatory social processing</a:t>
            </a:r>
            <a:r>
              <a:rPr lang="en-US" sz="1000" i="1" dirty="0">
                <a:solidFill>
                  <a:srgbClr val="475569"/>
                </a:solidFill>
                <a:latin typeface="Calibri" pitchFamily="34" charset="0"/>
                <a:ea typeface="Calibri" pitchFamily="34" charset="-122"/>
                <a:cs typeface="Calibri" pitchFamily="34" charset="-120"/>
              </a:rPr>
              <a:t>  Frith &amp; Frith (2006)</a:t>
            </a:r>
            <a:endParaRPr lang="en-US" sz="1250" dirty="0"/>
          </a:p>
        </p:txBody>
      </p:sp>
      <p:sp>
        <p:nvSpPr>
          <p:cNvPr id="25" name="Text 23"/>
          <p:cNvSpPr/>
          <p:nvPr/>
        </p:nvSpPr>
        <p:spPr>
          <a:xfrm>
            <a:off x="1234440" y="3310128"/>
            <a:ext cx="4114800"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Conspecific behavior receives forced high-precision attention. ToM is never 'background.'</a:t>
            </a:r>
            <a:endParaRPr lang="en-US" sz="1000" dirty="0"/>
          </a:p>
        </p:txBody>
      </p:sp>
      <p:sp>
        <p:nvSpPr>
          <p:cNvPr id="26" name="Text 24"/>
          <p:cNvSpPr/>
          <p:nvPr/>
        </p:nvSpPr>
        <p:spPr>
          <a:xfrm>
            <a:off x="5394960" y="3154680"/>
            <a:ext cx="320040" cy="365760"/>
          </a:xfrm>
          <a:prstGeom prst="rect">
            <a:avLst/>
          </a:prstGeom>
          <a:noFill/>
          <a:ln/>
        </p:spPr>
        <p:txBody>
          <a:bodyPr wrap="square" rtlCol="0" anchor="ctr"/>
          <a:lstStyle/>
          <a:p>
            <a:pPr marL="0" indent="0" algn="ctr">
              <a:buNone/>
            </a:pPr>
            <a:r>
              <a:rPr lang="en-US" sz="1800" dirty="0">
                <a:solidFill>
                  <a:srgbClr val="6B3B8C"/>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5760720" y="3127248"/>
            <a:ext cx="274320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Visible colleagues aren't furniture — constant cognitive load.</a:t>
            </a:r>
            <a:endParaRPr lang="en-US" sz="1000" dirty="0"/>
          </a:p>
        </p:txBody>
      </p:sp>
      <p:sp>
        <p:nvSpPr>
          <p:cNvPr id="28" name="Shape 26"/>
          <p:cNvSpPr/>
          <p:nvPr/>
        </p:nvSpPr>
        <p:spPr>
          <a:xfrm>
            <a:off x="548640" y="388620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9" name="Shape 27"/>
          <p:cNvSpPr/>
          <p:nvPr/>
        </p:nvSpPr>
        <p:spPr>
          <a:xfrm>
            <a:off x="548640" y="3886200"/>
            <a:ext cx="54864" cy="777240"/>
          </a:xfrm>
          <a:prstGeom prst="rect">
            <a:avLst/>
          </a:prstGeom>
          <a:solidFill>
            <a:srgbClr val="8C4B2B"/>
          </a:solidFill>
          <a:ln/>
        </p:spPr>
        <p:txBody>
          <a:bodyPr/>
          <a:lstStyle/>
          <a:p>
            <a:endParaRPr lang="en-US"/>
          </a:p>
        </p:txBody>
      </p:sp>
      <p:sp>
        <p:nvSpPr>
          <p:cNvPr id="30" name="Shape 28"/>
          <p:cNvSpPr/>
          <p:nvPr/>
        </p:nvSpPr>
        <p:spPr>
          <a:xfrm>
            <a:off x="713232" y="4087368"/>
            <a:ext cx="365760" cy="365760"/>
          </a:xfrm>
          <a:prstGeom prst="ellipse">
            <a:avLst/>
          </a:prstGeom>
          <a:solidFill>
            <a:srgbClr val="8C4B2B"/>
          </a:solidFill>
          <a:ln/>
        </p:spPr>
        <p:txBody>
          <a:bodyPr/>
          <a:lstStyle/>
          <a:p>
            <a:endParaRPr lang="en-US"/>
          </a:p>
        </p:txBody>
      </p:sp>
      <p:sp>
        <p:nvSpPr>
          <p:cNvPr id="31" name="Text 29"/>
          <p:cNvSpPr/>
          <p:nvPr/>
        </p:nvSpPr>
        <p:spPr>
          <a:xfrm>
            <a:off x="713232" y="408736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1234440" y="3941064"/>
            <a:ext cx="4114800" cy="274320"/>
          </a:xfrm>
          <a:prstGeom prst="rect">
            <a:avLst/>
          </a:prstGeom>
          <a:noFill/>
          <a:ln/>
        </p:spPr>
        <p:txBody>
          <a:bodyPr wrap="square" lIns="0" tIns="0" rIns="0" bIns="0" rtlCol="0" anchor="ctr"/>
          <a:lstStyle/>
          <a:p>
            <a:pPr marL="0" indent="0">
              <a:buNone/>
            </a:pPr>
            <a:r>
              <a:rPr lang="en-US" sz="1250" b="1" dirty="0">
                <a:solidFill>
                  <a:srgbClr val="1E293B"/>
                </a:solidFill>
                <a:latin typeface="Calibri" pitchFamily="34" charset="0"/>
                <a:ea typeface="Calibri" pitchFamily="34" charset="-122"/>
                <a:cs typeface="Calibri" pitchFamily="34" charset="-120"/>
              </a:rPr>
              <a:t>Zero personal control</a:t>
            </a:r>
            <a:r>
              <a:rPr lang="en-US" sz="1000" i="1" dirty="0">
                <a:solidFill>
                  <a:srgbClr val="475569"/>
                </a:solidFill>
                <a:latin typeface="Calibri" pitchFamily="34" charset="0"/>
                <a:ea typeface="Calibri" pitchFamily="34" charset="-122"/>
                <a:cs typeface="Calibri" pitchFamily="34" charset="-120"/>
              </a:rPr>
              <a:t>  Prediction error framework</a:t>
            </a:r>
            <a:endParaRPr lang="en-US" sz="1250" dirty="0"/>
          </a:p>
        </p:txBody>
      </p:sp>
      <p:sp>
        <p:nvSpPr>
          <p:cNvPr id="33" name="Text 31"/>
          <p:cNvSpPr/>
          <p:nvPr/>
        </p:nvSpPr>
        <p:spPr>
          <a:xfrm>
            <a:off x="1234440" y="4178808"/>
            <a:ext cx="4114800" cy="2286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All parameters externally imposed. Self-generated changes ≈ zero PE; imposed = maximum PE.</a:t>
            </a:r>
            <a:endParaRPr lang="en-US" sz="1000" dirty="0"/>
          </a:p>
        </p:txBody>
      </p:sp>
      <p:sp>
        <p:nvSpPr>
          <p:cNvPr id="34" name="Text 32"/>
          <p:cNvSpPr/>
          <p:nvPr/>
        </p:nvSpPr>
        <p:spPr>
          <a:xfrm>
            <a:off x="5394960" y="4023360"/>
            <a:ext cx="320040" cy="365760"/>
          </a:xfrm>
          <a:prstGeom prst="rect">
            <a:avLst/>
          </a:prstGeom>
          <a:noFill/>
          <a:ln/>
        </p:spPr>
        <p:txBody>
          <a:bodyPr wrap="square" rtlCol="0" anchor="ctr"/>
          <a:lstStyle/>
          <a:p>
            <a:pPr marL="0" indent="0" algn="ctr">
              <a:buNone/>
            </a:pPr>
            <a:r>
              <a:rPr lang="en-US" sz="1800" dirty="0">
                <a:solidFill>
                  <a:srgbClr val="8C4B2B"/>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5760720" y="3995928"/>
            <a:ext cx="2743200" cy="50292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Every change is a surprise. The system never learns to predict.</a:t>
            </a:r>
            <a:endParaRPr lang="en-US" sz="1000" dirty="0"/>
          </a:p>
        </p:txBody>
      </p:sp>
      <p:sp>
        <p:nvSpPr>
          <p:cNvPr id="36" name="Text 34"/>
          <p:cNvSpPr/>
          <p:nvPr/>
        </p:nvSpPr>
        <p:spPr>
          <a:xfrm>
            <a:off x="312821" y="4800600"/>
            <a:ext cx="8518358" cy="274320"/>
          </a:xfrm>
          <a:prstGeom prst="rect">
            <a:avLst/>
          </a:prstGeom>
          <a:noFill/>
          <a:ln/>
        </p:spPr>
        <p:txBody>
          <a:bodyPr wrap="square" lIns="0" tIns="0" rIns="0" bIns="0" rtlCol="0" anchor="ctr"/>
          <a:lstStyle/>
          <a:p>
            <a:pPr marL="0" indent="0">
              <a:buNone/>
            </a:pPr>
            <a:r>
              <a:rPr lang="en-US" sz="1200" i="1" dirty="0">
                <a:solidFill>
                  <a:srgbClr val="2B5A8C"/>
                </a:solidFill>
                <a:latin typeface="Georgia" pitchFamily="34" charset="0"/>
                <a:ea typeface="Georgia" pitchFamily="34" charset="-122"/>
                <a:cs typeface="Georgia" pitchFamily="34" charset="-120"/>
              </a:rPr>
              <a:t>No single study gives this explanation. </a:t>
            </a:r>
            <a:r>
              <a:rPr lang="en-US" sz="1200" b="1" i="1" dirty="0">
                <a:solidFill>
                  <a:srgbClr val="2B5A8C"/>
                </a:solidFill>
                <a:latin typeface="Georgia" pitchFamily="34" charset="0"/>
                <a:ea typeface="Georgia" pitchFamily="34" charset="-122"/>
                <a:cs typeface="Georgia" pitchFamily="34" charset="-120"/>
              </a:rPr>
              <a:t>It comes from composing across domains. That is what Article Eater does</a:t>
            </a:r>
            <a:r>
              <a:rPr lang="en-US" sz="1200" i="1" dirty="0">
                <a:solidFill>
                  <a:srgbClr val="2B5A8C"/>
                </a:solidFill>
                <a:latin typeface="Georgia" pitchFamily="34" charset="0"/>
                <a:ea typeface="Georgia" pitchFamily="34" charset="-122"/>
                <a:cs typeface="Georgia" pitchFamily="34" charset="-120"/>
              </a:rPr>
              <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THEORIES AND DERIVATION</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16 Theories, 75+ Templates:</a:t>
            </a:r>
            <a:endParaRPr lang="en-US" sz="2400" dirty="0"/>
          </a:p>
          <a:p>
            <a:pPr marL="0" indent="0">
              <a:buNone/>
            </a:pPr>
            <a:r>
              <a:rPr lang="en-US" sz="2400" b="1" dirty="0">
                <a:solidFill>
                  <a:srgbClr val="1E293B"/>
                </a:solidFill>
                <a:latin typeface="Georgia" pitchFamily="34" charset="0"/>
                <a:ea typeface="Georgia" pitchFamily="34" charset="-122"/>
                <a:cs typeface="Georgia" pitchFamily="34" charset="-120"/>
              </a:rPr>
              <a:t>How a Theory Becomes a Mechanism</a:t>
            </a:r>
            <a:endParaRPr lang="en-US" sz="2400" dirty="0"/>
          </a:p>
        </p:txBody>
      </p:sp>
      <p:sp>
        <p:nvSpPr>
          <p:cNvPr id="4" name="Text 2"/>
          <p:cNvSpPr/>
          <p:nvPr/>
        </p:nvSpPr>
        <p:spPr>
          <a:xfrm>
            <a:off x="548640" y="1234440"/>
            <a:ext cx="3840480" cy="228600"/>
          </a:xfrm>
          <a:prstGeom prst="rect">
            <a:avLst/>
          </a:prstGeom>
          <a:noFill/>
          <a:ln/>
        </p:spPr>
        <p:txBody>
          <a:bodyPr wrap="square" lIns="0" tIns="0" rIns="0" bIns="0" rtlCol="0" anchor="ctr"/>
          <a:lstStyle/>
          <a:p>
            <a:pPr marL="0" indent="0">
              <a:buNone/>
            </a:pPr>
            <a:r>
              <a:rPr lang="en-US" sz="900" b="1" kern="0" spc="200" dirty="0">
                <a:solidFill>
                  <a:srgbClr val="2B5A8C"/>
                </a:solidFill>
                <a:latin typeface="Calibri" pitchFamily="34" charset="0"/>
                <a:ea typeface="Calibri" pitchFamily="34" charset="-122"/>
                <a:cs typeface="Calibri" pitchFamily="34" charset="-120"/>
              </a:rPr>
              <a:t>TIER 1 THEORIES</a:t>
            </a:r>
            <a:endParaRPr lang="en-US" sz="900" dirty="0"/>
          </a:p>
        </p:txBody>
      </p:sp>
      <p:sp>
        <p:nvSpPr>
          <p:cNvPr id="5" name="Shape 3"/>
          <p:cNvSpPr/>
          <p:nvPr/>
        </p:nvSpPr>
        <p:spPr>
          <a:xfrm>
            <a:off x="548640" y="1463040"/>
            <a:ext cx="1828800" cy="23317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63040"/>
            <a:ext cx="54864" cy="2331720"/>
          </a:xfrm>
          <a:prstGeom prst="rect">
            <a:avLst/>
          </a:prstGeom>
          <a:solidFill>
            <a:srgbClr val="3B7A4C"/>
          </a:solidFill>
          <a:ln/>
        </p:spPr>
        <p:txBody>
          <a:bodyPr/>
          <a:lstStyle/>
          <a:p>
            <a:endParaRPr lang="en-US"/>
          </a:p>
        </p:txBody>
      </p:sp>
      <p:sp>
        <p:nvSpPr>
          <p:cNvPr id="7" name="Text 5"/>
          <p:cNvSpPr/>
          <p:nvPr/>
        </p:nvSpPr>
        <p:spPr>
          <a:xfrm>
            <a:off x="713232" y="1508760"/>
            <a:ext cx="1554480" cy="182880"/>
          </a:xfrm>
          <a:prstGeom prst="rect">
            <a:avLst/>
          </a:prstGeom>
          <a:noFill/>
          <a:ln/>
        </p:spPr>
        <p:txBody>
          <a:bodyPr wrap="square" lIns="0" tIns="0" rIns="0" bIns="0" rtlCol="0" anchor="ctr"/>
          <a:lstStyle/>
          <a:p>
            <a:pPr marL="0" indent="0">
              <a:buNone/>
            </a:pPr>
            <a:r>
              <a:rPr lang="en-US" sz="750" b="1" kern="0" spc="150" dirty="0">
                <a:solidFill>
                  <a:srgbClr val="3B7A4C"/>
                </a:solidFill>
                <a:latin typeface="Calibri" pitchFamily="34" charset="0"/>
                <a:ea typeface="Calibri" pitchFamily="34" charset="-122"/>
                <a:cs typeface="Calibri" pitchFamily="34" charset="-120"/>
              </a:rPr>
              <a:t>FOUNDATIONAL</a:t>
            </a:r>
            <a:endParaRPr lang="en-US" sz="750" dirty="0"/>
          </a:p>
        </p:txBody>
      </p:sp>
      <p:sp>
        <p:nvSpPr>
          <p:cNvPr id="8" name="Text 6"/>
          <p:cNvSpPr/>
          <p:nvPr/>
        </p:nvSpPr>
        <p:spPr>
          <a:xfrm>
            <a:off x="713232" y="1691640"/>
            <a:ext cx="1627632" cy="2011680"/>
          </a:xfrm>
          <a:prstGeom prst="rect">
            <a:avLst/>
          </a:prstGeom>
          <a:noFill/>
          <a:ln/>
        </p:spPr>
        <p:txBody>
          <a:bodyPr wrap="square" lIns="0" tIns="0" rIns="0" bIns="0" rtlCol="0" anchor="ctr"/>
          <a:lstStyle/>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Predictive Processing (Friston, Clark)</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Attention Restoration (Kaplan)</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Stress Recovery (Ulrich)</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Prospect-Refuge (Appleton)</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Biophilia (Wilson, Kellert)</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Arousal / Complexity (Berlyne)</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Allostatic Regulation (Sterling)</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Embodied Cognition (Clark, Kirsh)</a:t>
            </a:r>
          </a:p>
          <a:p>
            <a:pPr marL="0" indent="0">
              <a:lnSpc>
                <a:spcPct val="125000"/>
              </a:lnSpc>
              <a:buNone/>
            </a:pPr>
            <a:r>
              <a:rPr lang="en-US" sz="850" dirty="0">
                <a:solidFill>
                  <a:srgbClr val="1E293B"/>
                </a:solidFill>
                <a:latin typeface="Calibri" pitchFamily="34" charset="0"/>
                <a:cs typeface="Calibri" pitchFamily="34" charset="-120"/>
              </a:rPr>
              <a:t> … + 8 and now 9 more</a:t>
            </a:r>
            <a:endParaRPr lang="en-US" sz="850" dirty="0"/>
          </a:p>
        </p:txBody>
      </p:sp>
      <p:sp>
        <p:nvSpPr>
          <p:cNvPr id="9" name="Shape 7"/>
          <p:cNvSpPr/>
          <p:nvPr/>
        </p:nvSpPr>
        <p:spPr>
          <a:xfrm>
            <a:off x="2468880" y="1463040"/>
            <a:ext cx="1920240" cy="23317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2468880" y="1463040"/>
            <a:ext cx="54864" cy="2331720"/>
          </a:xfrm>
          <a:prstGeom prst="rect">
            <a:avLst/>
          </a:prstGeom>
          <a:solidFill>
            <a:srgbClr val="6B3B8C"/>
          </a:solidFill>
          <a:ln/>
        </p:spPr>
        <p:txBody>
          <a:bodyPr/>
          <a:lstStyle/>
          <a:p>
            <a:endParaRPr lang="en-US"/>
          </a:p>
        </p:txBody>
      </p:sp>
      <p:sp>
        <p:nvSpPr>
          <p:cNvPr id="11" name="Text 9"/>
          <p:cNvSpPr/>
          <p:nvPr/>
        </p:nvSpPr>
        <p:spPr>
          <a:xfrm>
            <a:off x="2633472" y="1508760"/>
            <a:ext cx="1645920" cy="182880"/>
          </a:xfrm>
          <a:prstGeom prst="rect">
            <a:avLst/>
          </a:prstGeom>
          <a:noFill/>
          <a:ln/>
        </p:spPr>
        <p:txBody>
          <a:bodyPr wrap="square" lIns="0" tIns="0" rIns="0" bIns="0" rtlCol="0" anchor="ctr"/>
          <a:lstStyle/>
          <a:p>
            <a:pPr marL="0" indent="0">
              <a:buNone/>
            </a:pPr>
            <a:r>
              <a:rPr lang="en-US" sz="750" b="1" kern="0" spc="150" dirty="0">
                <a:solidFill>
                  <a:srgbClr val="6B3B8C"/>
                </a:solidFill>
                <a:latin typeface="Calibri" pitchFamily="34" charset="0"/>
                <a:ea typeface="Calibri" pitchFamily="34" charset="-122"/>
                <a:cs typeface="Calibri" pitchFamily="34" charset="-120"/>
              </a:rPr>
              <a:t>NEUROSCIENCE ENGINES</a:t>
            </a:r>
            <a:endParaRPr lang="en-US" sz="750" dirty="0"/>
          </a:p>
        </p:txBody>
      </p:sp>
      <p:sp>
        <p:nvSpPr>
          <p:cNvPr id="12" name="Text 10"/>
          <p:cNvSpPr/>
          <p:nvPr/>
        </p:nvSpPr>
        <p:spPr>
          <a:xfrm>
            <a:off x="2633472" y="1691640"/>
            <a:ext cx="1645920" cy="2011680"/>
          </a:xfrm>
          <a:prstGeom prst="rect">
            <a:avLst/>
          </a:prstGeom>
          <a:noFill/>
          <a:ln/>
        </p:spPr>
        <p:txBody>
          <a:bodyPr wrap="square" lIns="0" tIns="0" rIns="0" bIns="0" rtlCol="0" anchor="ctr"/>
          <a:lstStyle/>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Global Workspace (Baars, Dehaene)</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LC-NE Adaptive Gain (Aston-Jones)</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Conflict Monitoring (Botvinick)</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PFC-BG Gating (Frank, O'Reilly)</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Circadian Photoentrainment (Berson)</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Auditory Scene Analysis (Bregman)</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Dual-Pathway Architectures</a:t>
            </a:r>
            <a:endParaRPr lang="en-US" sz="850" dirty="0"/>
          </a:p>
          <a:p>
            <a:pPr marL="0" indent="0">
              <a:lnSpc>
                <a:spcPct val="125000"/>
              </a:lnSpc>
              <a:buNone/>
            </a:pPr>
            <a:r>
              <a:rPr lang="en-US" sz="850" dirty="0">
                <a:solidFill>
                  <a:srgbClr val="1E293B"/>
                </a:solidFill>
                <a:latin typeface="Calibri" pitchFamily="34" charset="0"/>
                <a:ea typeface="Calibri" pitchFamily="34" charset="-122"/>
                <a:cs typeface="Calibri" pitchFamily="34" charset="-120"/>
              </a:rPr>
              <a:t>Affective Touch / C-Tactile (Olausson)</a:t>
            </a:r>
            <a:endParaRPr lang="en-US" sz="850" dirty="0"/>
          </a:p>
        </p:txBody>
      </p:sp>
      <p:sp>
        <p:nvSpPr>
          <p:cNvPr id="13" name="Text 11"/>
          <p:cNvSpPr/>
          <p:nvPr/>
        </p:nvSpPr>
        <p:spPr>
          <a:xfrm>
            <a:off x="548640" y="3840480"/>
            <a:ext cx="3840480" cy="22860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16 Tier 1 theories → 75+ Tier 2 mechanistic templates</a:t>
            </a:r>
            <a:endParaRPr lang="en-US" sz="900" dirty="0"/>
          </a:p>
        </p:txBody>
      </p:sp>
      <p:sp>
        <p:nvSpPr>
          <p:cNvPr id="14" name="Text 12"/>
          <p:cNvSpPr/>
          <p:nvPr/>
        </p:nvSpPr>
        <p:spPr>
          <a:xfrm>
            <a:off x="4754880" y="1234440"/>
            <a:ext cx="4023360" cy="228600"/>
          </a:xfrm>
          <a:prstGeom prst="rect">
            <a:avLst/>
          </a:prstGeom>
          <a:noFill/>
          <a:ln/>
        </p:spPr>
        <p:txBody>
          <a:bodyPr wrap="square" lIns="0" tIns="0" rIns="0" bIns="0" rtlCol="0" anchor="ctr"/>
          <a:lstStyle/>
          <a:p>
            <a:pPr marL="0" indent="0">
              <a:buNone/>
            </a:pPr>
            <a:r>
              <a:rPr lang="en-US" sz="900" b="1" kern="0" spc="200" dirty="0">
                <a:solidFill>
                  <a:srgbClr val="8C4B2B"/>
                </a:solidFill>
                <a:latin typeface="Calibri" pitchFamily="34" charset="0"/>
                <a:ea typeface="Calibri" pitchFamily="34" charset="-122"/>
                <a:cs typeface="Calibri" pitchFamily="34" charset="-120"/>
              </a:rPr>
              <a:t>WORKED EXAMPLE: THEORY → TEMPLATE</a:t>
            </a:r>
            <a:endParaRPr lang="en-US" sz="900" dirty="0"/>
          </a:p>
        </p:txBody>
      </p:sp>
      <p:sp>
        <p:nvSpPr>
          <p:cNvPr id="15" name="Shape 13"/>
          <p:cNvSpPr/>
          <p:nvPr/>
        </p:nvSpPr>
        <p:spPr>
          <a:xfrm>
            <a:off x="4754880" y="1463040"/>
            <a:ext cx="4023360" cy="9601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6" name="Shape 14"/>
          <p:cNvSpPr/>
          <p:nvPr/>
        </p:nvSpPr>
        <p:spPr>
          <a:xfrm>
            <a:off x="4754880" y="1463040"/>
            <a:ext cx="54864" cy="960120"/>
          </a:xfrm>
          <a:prstGeom prst="rect">
            <a:avLst/>
          </a:prstGeom>
          <a:solidFill>
            <a:srgbClr val="6B3B8C"/>
          </a:solidFill>
          <a:ln/>
        </p:spPr>
        <p:txBody>
          <a:bodyPr/>
          <a:lstStyle/>
          <a:p>
            <a:endParaRPr lang="en-US"/>
          </a:p>
        </p:txBody>
      </p:sp>
      <p:sp>
        <p:nvSpPr>
          <p:cNvPr id="17" name="Text 15"/>
          <p:cNvSpPr/>
          <p:nvPr/>
        </p:nvSpPr>
        <p:spPr>
          <a:xfrm>
            <a:off x="4937760" y="1508760"/>
            <a:ext cx="3657600" cy="822960"/>
          </a:xfrm>
          <a:prstGeom prst="rect">
            <a:avLst/>
          </a:prstGeom>
          <a:noFill/>
          <a:ln/>
        </p:spPr>
        <p:txBody>
          <a:bodyPr wrap="square" lIns="0" tIns="0" rIns="0" bIns="0" rtlCol="0" anchor="ctr"/>
          <a:lstStyle/>
          <a:p>
            <a:pPr marL="0" indent="0">
              <a:lnSpc>
                <a:spcPct val="120000"/>
              </a:lnSpc>
              <a:buNone/>
            </a:pPr>
            <a:r>
              <a:rPr lang="en-US" sz="1000" b="1" dirty="0">
                <a:solidFill>
                  <a:srgbClr val="6B3B8C"/>
                </a:solidFill>
                <a:latin typeface="Calibri" pitchFamily="34" charset="0"/>
                <a:ea typeface="Calibri" pitchFamily="34" charset="-122"/>
                <a:cs typeface="Calibri" pitchFamily="34" charset="-120"/>
              </a:rPr>
              <a:t>THEORY: Predictive Processing
</a:t>
            </a:r>
            <a:endParaRPr lang="en-US" sz="1000" dirty="0"/>
          </a:p>
          <a:p>
            <a:pPr marL="0" indent="0">
              <a:lnSpc>
                <a:spcPct val="120000"/>
              </a:lnSpc>
              <a:buNone/>
            </a:pPr>
            <a:r>
              <a:rPr lang="en-US" sz="900" dirty="0">
                <a:solidFill>
                  <a:srgbClr val="475569"/>
                </a:solidFill>
                <a:latin typeface="Calibri" pitchFamily="34" charset="0"/>
                <a:ea typeface="Calibri" pitchFamily="34" charset="-122"/>
                <a:cs typeface="Calibri" pitchFamily="34" charset="-120"/>
              </a:rPr>
              <a:t>The brain generates predictions about sensory input.</a:t>
            </a:r>
            <a:endParaRPr lang="en-US" sz="1000" dirty="0"/>
          </a:p>
          <a:p>
            <a:pPr marL="0" indent="0">
              <a:lnSpc>
                <a:spcPct val="120000"/>
              </a:lnSpc>
              <a:buNone/>
            </a:pPr>
            <a:r>
              <a:rPr lang="en-US" sz="900" dirty="0">
                <a:solidFill>
                  <a:srgbClr val="475569"/>
                </a:solidFill>
                <a:latin typeface="Calibri" pitchFamily="34" charset="0"/>
                <a:ea typeface="Calibri" pitchFamily="34" charset="-122"/>
                <a:cs typeface="Calibri" pitchFamily="34" charset="-120"/>
              </a:rPr>
              <a:t>Prediction errors drive attention, learning, emotion.</a:t>
            </a:r>
            <a:endParaRPr lang="en-US" sz="1000" dirty="0"/>
          </a:p>
          <a:p>
            <a:pPr marL="0" indent="0">
              <a:lnSpc>
                <a:spcPct val="120000"/>
              </a:lnSpc>
              <a:buNone/>
            </a:pPr>
            <a:r>
              <a:rPr lang="en-US" sz="900" dirty="0">
                <a:solidFill>
                  <a:srgbClr val="475569"/>
                </a:solidFill>
                <a:latin typeface="Calibri" pitchFamily="34" charset="0"/>
                <a:ea typeface="Calibri" pitchFamily="34" charset="-122"/>
                <a:cs typeface="Calibri" pitchFamily="34" charset="-120"/>
              </a:rPr>
              <a:t>Precision weighting determines which errors matter.</a:t>
            </a:r>
            <a:endParaRPr lang="en-US" sz="1000" dirty="0"/>
          </a:p>
        </p:txBody>
      </p:sp>
      <p:sp>
        <p:nvSpPr>
          <p:cNvPr id="18" name="Text 16"/>
          <p:cNvSpPr/>
          <p:nvPr/>
        </p:nvSpPr>
        <p:spPr>
          <a:xfrm>
            <a:off x="4754880" y="2434590"/>
            <a:ext cx="3105860" cy="274320"/>
          </a:xfrm>
          <a:prstGeom prst="rect">
            <a:avLst/>
          </a:prstGeom>
          <a:noFill/>
          <a:ln/>
        </p:spPr>
        <p:txBody>
          <a:bodyPr wrap="square" lIns="0" tIns="0" rIns="0" bIns="0" rtlCol="0" anchor="ctr"/>
          <a:lstStyle/>
          <a:p>
            <a:pPr marL="0" indent="0" algn="ctr">
              <a:buNone/>
            </a:pPr>
            <a:r>
              <a:rPr lang="en-US" sz="1000" b="1" dirty="0">
                <a:solidFill>
                  <a:srgbClr val="8C4B2B"/>
                </a:solidFill>
                <a:latin typeface="Calibri" pitchFamily="34" charset="0"/>
                <a:ea typeface="Calibri" pitchFamily="34" charset="-122"/>
                <a:cs typeface="Calibri" pitchFamily="34" charset="-120"/>
              </a:rPr>
              <a:t>↓  derives  ↓</a:t>
            </a:r>
          </a:p>
          <a:p>
            <a:pPr algn="ctr"/>
            <a:r>
              <a:rPr lang="en-US" sz="1000" b="1" dirty="0">
                <a:solidFill>
                  <a:srgbClr val="8C4B2B"/>
                </a:solidFill>
                <a:latin typeface="Calibri" pitchFamily="34" charset="0"/>
                <a:ea typeface="Calibri" pitchFamily="34" charset="-122"/>
                <a:cs typeface="Calibri" pitchFamily="34" charset="-120"/>
              </a:rPr>
              <a:t>TEMPLATE T4: Attentional Capture.</a:t>
            </a:r>
            <a:endParaRPr lang="en-US" sz="1000" dirty="0"/>
          </a:p>
        </p:txBody>
      </p:sp>
      <p:sp>
        <p:nvSpPr>
          <p:cNvPr id="19" name="Shape 17"/>
          <p:cNvSpPr/>
          <p:nvPr/>
        </p:nvSpPr>
        <p:spPr>
          <a:xfrm>
            <a:off x="4754880" y="2743200"/>
            <a:ext cx="4023360" cy="15087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0" name="Shape 18"/>
          <p:cNvSpPr/>
          <p:nvPr/>
        </p:nvSpPr>
        <p:spPr>
          <a:xfrm>
            <a:off x="4754880" y="2743200"/>
            <a:ext cx="54864" cy="1508760"/>
          </a:xfrm>
          <a:prstGeom prst="rect">
            <a:avLst/>
          </a:prstGeom>
          <a:solidFill>
            <a:srgbClr val="8C4B2B"/>
          </a:solidFill>
          <a:ln/>
        </p:spPr>
        <p:txBody>
          <a:bodyPr/>
          <a:lstStyle/>
          <a:p>
            <a:endParaRPr lang="en-US"/>
          </a:p>
        </p:txBody>
      </p:sp>
      <p:sp>
        <p:nvSpPr>
          <p:cNvPr id="21" name="Text 19"/>
          <p:cNvSpPr/>
          <p:nvPr/>
        </p:nvSpPr>
        <p:spPr>
          <a:xfrm>
            <a:off x="4937760" y="2788920"/>
            <a:ext cx="3657600" cy="1371600"/>
          </a:xfrm>
          <a:prstGeom prst="rect">
            <a:avLst/>
          </a:prstGeom>
          <a:noFill/>
          <a:ln/>
        </p:spPr>
        <p:txBody>
          <a:bodyPr wrap="square" lIns="0" tIns="0" rIns="0" bIns="0" rtlCol="0" anchor="ctr"/>
          <a:lstStyle/>
          <a:p>
            <a:pPr marL="0" indent="0">
              <a:lnSpc>
                <a:spcPct val="125000"/>
              </a:lnSpc>
              <a:buNone/>
            </a:pPr>
            <a:r>
              <a:rPr lang="en-US" sz="1000" b="1" dirty="0">
                <a:solidFill>
                  <a:srgbClr val="8C4B2B"/>
                </a:solidFill>
                <a:latin typeface="Calibri" pitchFamily="34" charset="0"/>
                <a:ea typeface="Calibri" pitchFamily="34" charset="-122"/>
                <a:cs typeface="Calibri" pitchFamily="34" charset="-120"/>
              </a:rPr>
              <a:t>
</a:t>
            </a:r>
            <a:endParaRPr lang="en-US" sz="1000" dirty="0"/>
          </a:p>
          <a:p>
            <a:pPr marL="0" indent="0">
              <a:lnSpc>
                <a:spcPct val="125000"/>
              </a:lnSpc>
              <a:buNone/>
            </a:pPr>
            <a:r>
              <a:rPr lang="en-US" sz="900" b="1" dirty="0">
                <a:solidFill>
                  <a:srgbClr val="1E293B"/>
                </a:solidFill>
                <a:latin typeface="Calibri" pitchFamily="34" charset="0"/>
                <a:ea typeface="Calibri" pitchFamily="34" charset="-122"/>
                <a:cs typeface="Calibri" pitchFamily="34" charset="-120"/>
              </a:rPr>
              <a:t>Mechanism: </a:t>
            </a:r>
            <a:r>
              <a:rPr lang="en-US" sz="900" dirty="0">
                <a:solidFill>
                  <a:srgbClr val="475569"/>
                </a:solidFill>
                <a:latin typeface="Calibri" pitchFamily="34" charset="0"/>
                <a:ea typeface="Calibri" pitchFamily="34" charset="-122"/>
                <a:cs typeface="Calibri" pitchFamily="34" charset="-120"/>
              </a:rPr>
              <a:t>High-precision PE from unexpected motion/speech triggers mandatory orienting.
</a:t>
            </a:r>
            <a:endParaRPr lang="en-US" sz="1000" dirty="0"/>
          </a:p>
          <a:p>
            <a:pPr marL="0" indent="0">
              <a:lnSpc>
                <a:spcPct val="125000"/>
              </a:lnSpc>
              <a:buNone/>
            </a:pPr>
            <a:r>
              <a:rPr lang="en-US" sz="900" b="1" dirty="0">
                <a:solidFill>
                  <a:srgbClr val="1E293B"/>
                </a:solidFill>
                <a:latin typeface="Calibri" pitchFamily="34" charset="0"/>
                <a:ea typeface="Calibri" pitchFamily="34" charset="-122"/>
                <a:cs typeface="Calibri" pitchFamily="34" charset="-120"/>
              </a:rPr>
              <a:t>Trigger: </a:t>
            </a:r>
            <a:r>
              <a:rPr lang="en-US" sz="900" dirty="0">
                <a:solidFill>
                  <a:srgbClr val="475569"/>
                </a:solidFill>
                <a:latin typeface="Calibri" pitchFamily="34" charset="0"/>
                <a:ea typeface="Calibri" pitchFamily="34" charset="-122"/>
                <a:cs typeface="Calibri" pitchFamily="34" charset="-120"/>
              </a:rPr>
              <a:t>Peripheral movement, intelligible speech, social signals in open environments.
</a:t>
            </a:r>
            <a:endParaRPr lang="en-US" sz="1000" dirty="0"/>
          </a:p>
          <a:p>
            <a:pPr marL="0" indent="0">
              <a:lnSpc>
                <a:spcPct val="125000"/>
              </a:lnSpc>
              <a:buNone/>
            </a:pPr>
            <a:r>
              <a:rPr lang="en-US" sz="900" b="1" dirty="0">
                <a:solidFill>
                  <a:srgbClr val="1E293B"/>
                </a:solidFill>
                <a:latin typeface="Calibri" pitchFamily="34" charset="0"/>
                <a:ea typeface="Calibri" pitchFamily="34" charset="-122"/>
                <a:cs typeface="Calibri" pitchFamily="34" charset="-120"/>
              </a:rPr>
              <a:t>Prediction: </a:t>
            </a:r>
            <a:r>
              <a:rPr lang="en-US" sz="900" dirty="0">
                <a:solidFill>
                  <a:srgbClr val="475569"/>
                </a:solidFill>
                <a:latin typeface="Calibri" pitchFamily="34" charset="0"/>
                <a:ea typeface="Calibri" pitchFamily="34" charset="-122"/>
                <a:cs typeface="Calibri" pitchFamily="34" charset="-120"/>
              </a:rPr>
              <a:t>Uncontrollable high-precision signals degrade sustained attention.
</a:t>
            </a:r>
            <a:endParaRPr lang="en-US" sz="1000" dirty="0"/>
          </a:p>
          <a:p>
            <a:pPr marL="0" indent="0">
              <a:lnSpc>
                <a:spcPct val="125000"/>
              </a:lnSpc>
              <a:buNone/>
            </a:pPr>
            <a:r>
              <a:rPr lang="en-US" sz="900" b="1" dirty="0">
                <a:solidFill>
                  <a:srgbClr val="1E293B"/>
                </a:solidFill>
                <a:latin typeface="Calibri" pitchFamily="34" charset="0"/>
                <a:ea typeface="Calibri" pitchFamily="34" charset="-122"/>
                <a:cs typeface="Calibri" pitchFamily="34" charset="-120"/>
              </a:rPr>
              <a:t>Design: </a:t>
            </a:r>
            <a:r>
              <a:rPr lang="en-US" sz="900" dirty="0">
                <a:solidFill>
                  <a:srgbClr val="475569"/>
                </a:solidFill>
                <a:latin typeface="Calibri" pitchFamily="34" charset="0"/>
                <a:ea typeface="Calibri" pitchFamily="34" charset="-122"/>
                <a:cs typeface="Calibri" pitchFamily="34" charset="-120"/>
              </a:rPr>
              <a:t>Partition or eliminate high-PE channels; mere attenuation fails.</a:t>
            </a:r>
            <a:endParaRPr lang="en-US" sz="1000" dirty="0"/>
          </a:p>
        </p:txBody>
      </p:sp>
      <p:sp>
        <p:nvSpPr>
          <p:cNvPr id="22" name="Text 20"/>
          <p:cNvSpPr/>
          <p:nvPr/>
        </p:nvSpPr>
        <p:spPr>
          <a:xfrm>
            <a:off x="548640" y="4434840"/>
            <a:ext cx="8229600" cy="45720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One theory generates many templates: </a:t>
            </a:r>
            <a:r>
              <a:rPr lang="en-US" sz="900" b="1" dirty="0">
                <a:solidFill>
                  <a:srgbClr val="2B5A8C"/>
                </a:solidFill>
                <a:latin typeface="Calibri" pitchFamily="34" charset="0"/>
                <a:ea typeface="Calibri" pitchFamily="34" charset="-122"/>
                <a:cs typeface="Calibri" pitchFamily="34" charset="-120"/>
              </a:rPr>
              <a:t>T1 </a:t>
            </a:r>
            <a:r>
              <a:rPr lang="en-US" sz="800" dirty="0">
                <a:solidFill>
                  <a:srgbClr val="475569"/>
                </a:solidFill>
                <a:latin typeface="Calibri" pitchFamily="34" charset="0"/>
                <a:ea typeface="Calibri" pitchFamily="34" charset="-122"/>
                <a:cs typeface="Calibri" pitchFamily="34" charset="-120"/>
              </a:rPr>
              <a:t>Precision-weighted PE   </a:t>
            </a:r>
            <a:r>
              <a:rPr lang="en-US" sz="900" b="1" dirty="0">
                <a:solidFill>
                  <a:srgbClr val="2B5A8C"/>
                </a:solidFill>
                <a:latin typeface="Calibri" pitchFamily="34" charset="0"/>
                <a:ea typeface="Calibri" pitchFamily="34" charset="-122"/>
                <a:cs typeface="Calibri" pitchFamily="34" charset="-120"/>
              </a:rPr>
              <a:t>T4 </a:t>
            </a:r>
            <a:r>
              <a:rPr lang="en-US" sz="800" dirty="0">
                <a:solidFill>
                  <a:srgbClr val="475569"/>
                </a:solidFill>
                <a:latin typeface="Calibri" pitchFamily="34" charset="0"/>
                <a:ea typeface="Calibri" pitchFamily="34" charset="-122"/>
                <a:cs typeface="Calibri" pitchFamily="34" charset="-120"/>
              </a:rPr>
              <a:t>Attentional capture   </a:t>
            </a:r>
            <a:r>
              <a:rPr lang="en-US" sz="900" b="1" dirty="0">
                <a:solidFill>
                  <a:srgbClr val="2B5A8C"/>
                </a:solidFill>
                <a:latin typeface="Calibri" pitchFamily="34" charset="0"/>
                <a:ea typeface="Calibri" pitchFamily="34" charset="-122"/>
                <a:cs typeface="Calibri" pitchFamily="34" charset="-120"/>
              </a:rPr>
              <a:t>T15 </a:t>
            </a:r>
            <a:r>
              <a:rPr lang="en-US" sz="800" dirty="0">
                <a:solidFill>
                  <a:srgbClr val="475569"/>
                </a:solidFill>
                <a:latin typeface="Calibri" pitchFamily="34" charset="0"/>
                <a:ea typeface="Calibri" pitchFamily="34" charset="-122"/>
                <a:cs typeface="Calibri" pitchFamily="34" charset="-120"/>
              </a:rPr>
              <a:t>Personal control   </a:t>
            </a:r>
            <a:r>
              <a:rPr lang="en-US" sz="900" b="1" dirty="0">
                <a:solidFill>
                  <a:srgbClr val="2B5A8C"/>
                </a:solidFill>
                <a:latin typeface="Calibri" pitchFamily="34" charset="0"/>
                <a:ea typeface="Calibri" pitchFamily="34" charset="-122"/>
                <a:cs typeface="Calibri" pitchFamily="34" charset="-120"/>
              </a:rPr>
              <a:t>T23 </a:t>
            </a:r>
            <a:r>
              <a:rPr lang="en-US" sz="800" dirty="0">
                <a:solidFill>
                  <a:srgbClr val="475569"/>
                </a:solidFill>
                <a:latin typeface="Calibri" pitchFamily="34" charset="0"/>
                <a:ea typeface="Calibri" pitchFamily="34" charset="-122"/>
                <a:cs typeface="Calibri" pitchFamily="34" charset="-120"/>
              </a:rPr>
              <a:t>Wayfinding   </a:t>
            </a:r>
            <a:r>
              <a:rPr lang="en-US" sz="900" b="1" dirty="0">
                <a:solidFill>
                  <a:srgbClr val="2B5A8C"/>
                </a:solidFill>
                <a:latin typeface="Calibri" pitchFamily="34" charset="0"/>
                <a:ea typeface="Calibri" pitchFamily="34" charset="-122"/>
                <a:cs typeface="Calibri" pitchFamily="34" charset="-120"/>
              </a:rPr>
              <a:t>T28 </a:t>
            </a:r>
            <a:r>
              <a:rPr lang="en-US" sz="800" dirty="0">
                <a:solidFill>
                  <a:srgbClr val="475569"/>
                </a:solidFill>
                <a:latin typeface="Calibri" pitchFamily="34" charset="0"/>
                <a:ea typeface="Calibri" pitchFamily="34" charset="-122"/>
                <a:cs typeface="Calibri" pitchFamily="34" charset="-120"/>
              </a:rPr>
              <a:t>Allostatic prediction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THEORY COMPOSITION</a:t>
            </a:r>
            <a:endParaRPr lang="en-US" sz="900" dirty="0"/>
          </a:p>
        </p:txBody>
      </p:sp>
      <p:sp>
        <p:nvSpPr>
          <p:cNvPr id="3" name="Text 1"/>
          <p:cNvSpPr/>
          <p:nvPr/>
        </p:nvSpPr>
        <p:spPr>
          <a:xfrm>
            <a:off x="548640" y="438912"/>
            <a:ext cx="8046720" cy="594360"/>
          </a:xfrm>
          <a:prstGeom prst="rect">
            <a:avLst/>
          </a:prstGeom>
          <a:noFill/>
          <a:ln/>
        </p:spPr>
        <p:txBody>
          <a:bodyPr wrap="square" lIns="0" tIns="0" rIns="0" bIns="0" rtlCol="0" anchor="ctr"/>
          <a:lstStyle/>
          <a:p>
            <a:pPr marL="0" indent="0">
              <a:buNone/>
            </a:pPr>
            <a:r>
              <a:rPr lang="en-US" sz="2000" b="1" dirty="0">
                <a:solidFill>
                  <a:srgbClr val="1E293B"/>
                </a:solidFill>
                <a:latin typeface="Georgia" pitchFamily="34" charset="0"/>
                <a:ea typeface="Georgia" pitchFamily="34" charset="-122"/>
                <a:cs typeface="Georgia" pitchFamily="34" charset="-120"/>
              </a:rPr>
              <a:t>Daylight Improves Learning (Heschong, 1999).</a:t>
            </a:r>
            <a:endParaRPr lang="en-US" sz="2000" dirty="0"/>
          </a:p>
          <a:p>
            <a:pPr marL="0" indent="0">
              <a:buNone/>
            </a:pPr>
            <a:r>
              <a:rPr lang="en-US" sz="2000" b="1" dirty="0">
                <a:solidFill>
                  <a:srgbClr val="1E293B"/>
                </a:solidFill>
                <a:latin typeface="Georgia" pitchFamily="34" charset="0"/>
                <a:ea typeface="Georgia" pitchFamily="34" charset="-122"/>
                <a:cs typeface="Georgia" pitchFamily="34" charset="-120"/>
              </a:rPr>
              <a:t>But What Is 'Daylight' Actually Doing?</a:t>
            </a:r>
            <a:endParaRPr lang="en-US" sz="2000" dirty="0"/>
          </a:p>
        </p:txBody>
      </p:sp>
      <p:sp>
        <p:nvSpPr>
          <p:cNvPr id="4" name="Text 2"/>
          <p:cNvSpPr/>
          <p:nvPr/>
        </p:nvSpPr>
        <p:spPr>
          <a:xfrm>
            <a:off x="548640" y="1234440"/>
            <a:ext cx="8046720" cy="22860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The finding conflates TWO independent mechanisms. Article Eater decomposes it:</a:t>
            </a:r>
            <a:endParaRPr lang="en-US" sz="1100" dirty="0"/>
          </a:p>
        </p:txBody>
      </p:sp>
      <p:sp>
        <p:nvSpPr>
          <p:cNvPr id="5" name="Shape 3"/>
          <p:cNvSpPr/>
          <p:nvPr/>
        </p:nvSpPr>
        <p:spPr>
          <a:xfrm>
            <a:off x="548640" y="1554480"/>
            <a:ext cx="3794760" cy="14630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554480"/>
            <a:ext cx="54864" cy="1463040"/>
          </a:xfrm>
          <a:prstGeom prst="rect">
            <a:avLst/>
          </a:prstGeom>
          <a:solidFill>
            <a:srgbClr val="2B5A8C"/>
          </a:solidFill>
          <a:ln/>
        </p:spPr>
        <p:txBody>
          <a:bodyPr/>
          <a:lstStyle/>
          <a:p>
            <a:endParaRPr lang="en-US"/>
          </a:p>
        </p:txBody>
      </p:sp>
      <p:sp>
        <p:nvSpPr>
          <p:cNvPr id="7" name="Text 5"/>
          <p:cNvSpPr/>
          <p:nvPr/>
        </p:nvSpPr>
        <p:spPr>
          <a:xfrm>
            <a:off x="777240" y="1627632"/>
            <a:ext cx="3383280" cy="164592"/>
          </a:xfrm>
          <a:prstGeom prst="rect">
            <a:avLst/>
          </a:prstGeom>
          <a:noFill/>
          <a:ln/>
        </p:spPr>
        <p:txBody>
          <a:bodyPr wrap="square" lIns="0" tIns="0" rIns="0" bIns="0" rtlCol="0" anchor="ctr"/>
          <a:lstStyle/>
          <a:p>
            <a:pPr marL="0" indent="0">
              <a:buNone/>
            </a:pPr>
            <a:r>
              <a:rPr lang="en-US" sz="800" b="1" kern="0" spc="200" dirty="0">
                <a:solidFill>
                  <a:srgbClr val="2B5A8C"/>
                </a:solidFill>
                <a:latin typeface="Calibri" pitchFamily="34" charset="0"/>
                <a:ea typeface="Calibri" pitchFamily="34" charset="-122"/>
                <a:cs typeface="Calibri" pitchFamily="34" charset="-120"/>
              </a:rPr>
              <a:t>CIRCADIAN PHOTOENTRAINMENT</a:t>
            </a:r>
            <a:endParaRPr lang="en-US" sz="800" dirty="0"/>
          </a:p>
        </p:txBody>
      </p:sp>
      <p:sp>
        <p:nvSpPr>
          <p:cNvPr id="8" name="Text 6"/>
          <p:cNvSpPr/>
          <p:nvPr/>
        </p:nvSpPr>
        <p:spPr>
          <a:xfrm>
            <a:off x="777240" y="1874520"/>
            <a:ext cx="3383280" cy="1051560"/>
          </a:xfrm>
          <a:prstGeom prst="rect">
            <a:avLst/>
          </a:prstGeom>
          <a:noFill/>
          <a:ln/>
        </p:spPr>
        <p:txBody>
          <a:bodyPr wrap="square" lIns="0" tIns="0" rIns="0" bIns="0" rtlCol="0" anchor="ctr"/>
          <a:lstStyle/>
          <a:p>
            <a:pPr marL="0" indent="0">
              <a:lnSpc>
                <a:spcPct val="120000"/>
              </a:lnSpc>
              <a:buNone/>
            </a:pPr>
            <a:r>
              <a:rPr lang="en-US" sz="1000" dirty="0">
                <a:solidFill>
                  <a:srgbClr val="1E293B"/>
                </a:solidFill>
                <a:latin typeface="Calibri" pitchFamily="34" charset="0"/>
                <a:ea typeface="Calibri" pitchFamily="34" charset="-122"/>
                <a:cs typeface="Calibri" pitchFamily="34" charset="-120"/>
              </a:rPr>
              <a:t>Melanopsin-driven non-visual pathway.
</a:t>
            </a:r>
            <a:endParaRPr lang="en-US" sz="1000" dirty="0"/>
          </a:p>
          <a:p>
            <a:pPr marL="0" indent="0">
              <a:lnSpc>
                <a:spcPct val="120000"/>
              </a:lnSpc>
              <a:buNone/>
            </a:pPr>
            <a:r>
              <a:rPr lang="en-US" sz="950" dirty="0">
                <a:solidFill>
                  <a:srgbClr val="475569"/>
                </a:solidFill>
                <a:latin typeface="Calibri" pitchFamily="34" charset="0"/>
                <a:ea typeface="Calibri" pitchFamily="34" charset="-122"/>
                <a:cs typeface="Calibri" pitchFamily="34" charset="-120"/>
              </a:rPr>
              <a:t>Needs bright, blue-enriched light at retinal ganglion cells.
</a:t>
            </a:r>
            <a:endParaRPr lang="en-US" sz="1000" dirty="0"/>
          </a:p>
          <a:p>
            <a:pPr marL="0" indent="0">
              <a:lnSpc>
                <a:spcPct val="120000"/>
              </a:lnSpc>
              <a:buNone/>
            </a:pPr>
            <a:r>
              <a:rPr lang="en-US" sz="1000" b="1" dirty="0">
                <a:solidFill>
                  <a:srgbClr val="B85042"/>
                </a:solidFill>
                <a:latin typeface="Calibri" pitchFamily="34" charset="0"/>
                <a:ea typeface="Calibri" pitchFamily="34" charset="-122"/>
                <a:cs typeface="Calibri" pitchFamily="34" charset="-120"/>
              </a:rPr>
              <a:t>Does NOT need a window.
</a:t>
            </a:r>
            <a:endParaRPr lang="en-US" sz="1000" dirty="0"/>
          </a:p>
          <a:p>
            <a:pPr marL="0" indent="0">
              <a:lnSpc>
                <a:spcPct val="120000"/>
              </a:lnSpc>
              <a:buNone/>
            </a:pPr>
            <a:r>
              <a:rPr lang="en-US" sz="900" b="1" dirty="0">
                <a:solidFill>
                  <a:srgbClr val="2B5A8C"/>
                </a:solidFill>
                <a:latin typeface="Calibri" pitchFamily="34" charset="0"/>
                <a:ea typeface="Calibri" pitchFamily="34" charset="-122"/>
                <a:cs typeface="Calibri" pitchFamily="34" charset="-120"/>
              </a:rPr>
              <a:t>Design: LIGHT SPECTRUM, TIMING, INTENSITY</a:t>
            </a:r>
            <a:endParaRPr lang="en-US" sz="1000" dirty="0"/>
          </a:p>
        </p:txBody>
      </p:sp>
      <p:sp>
        <p:nvSpPr>
          <p:cNvPr id="9" name="Text 7"/>
          <p:cNvSpPr/>
          <p:nvPr/>
        </p:nvSpPr>
        <p:spPr>
          <a:xfrm>
            <a:off x="4343400" y="1965960"/>
            <a:ext cx="457200" cy="457200"/>
          </a:xfrm>
          <a:prstGeom prst="rect">
            <a:avLst/>
          </a:prstGeom>
          <a:noFill/>
          <a:ln/>
        </p:spPr>
        <p:txBody>
          <a:bodyPr wrap="square" rtlCol="0" anchor="ctr"/>
          <a:lstStyle/>
          <a:p>
            <a:pPr marL="0" indent="0" algn="ctr">
              <a:buNone/>
            </a:pPr>
            <a:r>
              <a:rPr lang="en-US" sz="2800" b="1" dirty="0">
                <a:solidFill>
                  <a:srgbClr val="94A3B8"/>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4800600" y="1554480"/>
            <a:ext cx="3794760" cy="14630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1" name="Shape 9"/>
          <p:cNvSpPr/>
          <p:nvPr/>
        </p:nvSpPr>
        <p:spPr>
          <a:xfrm>
            <a:off x="4800600" y="1554480"/>
            <a:ext cx="54864" cy="1463040"/>
          </a:xfrm>
          <a:prstGeom prst="rect">
            <a:avLst/>
          </a:prstGeom>
          <a:solidFill>
            <a:srgbClr val="3B7A4C"/>
          </a:solidFill>
          <a:ln/>
        </p:spPr>
        <p:txBody>
          <a:bodyPr/>
          <a:lstStyle/>
          <a:p>
            <a:endParaRPr lang="en-US"/>
          </a:p>
        </p:txBody>
      </p:sp>
      <p:sp>
        <p:nvSpPr>
          <p:cNvPr id="12" name="Text 10"/>
          <p:cNvSpPr/>
          <p:nvPr/>
        </p:nvSpPr>
        <p:spPr>
          <a:xfrm>
            <a:off x="5029200" y="1627632"/>
            <a:ext cx="3383280" cy="164592"/>
          </a:xfrm>
          <a:prstGeom prst="rect">
            <a:avLst/>
          </a:prstGeom>
          <a:noFill/>
          <a:ln/>
        </p:spPr>
        <p:txBody>
          <a:bodyPr wrap="square" lIns="0" tIns="0" rIns="0" bIns="0" rtlCol="0" anchor="ctr"/>
          <a:lstStyle/>
          <a:p>
            <a:pPr marL="0" indent="0">
              <a:buNone/>
            </a:pPr>
            <a:r>
              <a:rPr lang="en-US" sz="800" b="1" kern="0" spc="200" dirty="0">
                <a:solidFill>
                  <a:srgbClr val="3B7A4C"/>
                </a:solidFill>
                <a:latin typeface="Calibri" pitchFamily="34" charset="0"/>
                <a:ea typeface="Calibri" pitchFamily="34" charset="-122"/>
                <a:cs typeface="Calibri" pitchFamily="34" charset="-120"/>
              </a:rPr>
              <a:t>ATTENTION RESTORATION / PP</a:t>
            </a:r>
            <a:endParaRPr lang="en-US" sz="800" dirty="0"/>
          </a:p>
        </p:txBody>
      </p:sp>
      <p:sp>
        <p:nvSpPr>
          <p:cNvPr id="13" name="Text 11"/>
          <p:cNvSpPr/>
          <p:nvPr/>
        </p:nvSpPr>
        <p:spPr>
          <a:xfrm>
            <a:off x="5029200" y="1874520"/>
            <a:ext cx="3383280" cy="1051560"/>
          </a:xfrm>
          <a:prstGeom prst="rect">
            <a:avLst/>
          </a:prstGeom>
          <a:noFill/>
          <a:ln/>
        </p:spPr>
        <p:txBody>
          <a:bodyPr wrap="square" lIns="0" tIns="0" rIns="0" bIns="0" rtlCol="0" anchor="ctr"/>
          <a:lstStyle/>
          <a:p>
            <a:pPr marL="0" indent="0">
              <a:lnSpc>
                <a:spcPct val="120000"/>
              </a:lnSpc>
              <a:buNone/>
            </a:pPr>
            <a:r>
              <a:rPr lang="en-US" sz="1000" dirty="0">
                <a:solidFill>
                  <a:srgbClr val="1E293B"/>
                </a:solidFill>
                <a:latin typeface="Calibri" pitchFamily="34" charset="0"/>
                <a:ea typeface="Calibri" pitchFamily="34" charset="-122"/>
                <a:cs typeface="Calibri" pitchFamily="34" charset="-120"/>
              </a:rPr>
              <a:t>Image-forming pathway via rods/cones.
</a:t>
            </a:r>
            <a:endParaRPr lang="en-US" sz="1000" dirty="0"/>
          </a:p>
          <a:p>
            <a:pPr marL="0" indent="0">
              <a:lnSpc>
                <a:spcPct val="120000"/>
              </a:lnSpc>
              <a:buNone/>
            </a:pPr>
            <a:r>
              <a:rPr lang="en-US" sz="950" dirty="0">
                <a:solidFill>
                  <a:srgbClr val="475569"/>
                </a:solidFill>
                <a:latin typeface="Calibri" pitchFamily="34" charset="0"/>
                <a:ea typeface="Calibri" pitchFamily="34" charset="-122"/>
                <a:cs typeface="Calibri" pitchFamily="34" charset="-120"/>
              </a:rPr>
              <a:t>View complexity, depth cues, nature content reduce prediction load.
</a:t>
            </a:r>
            <a:endParaRPr lang="en-US" sz="1000" dirty="0"/>
          </a:p>
          <a:p>
            <a:pPr marL="0" indent="0">
              <a:lnSpc>
                <a:spcPct val="120000"/>
              </a:lnSpc>
              <a:buNone/>
            </a:pPr>
            <a:r>
              <a:rPr lang="en-US" sz="1000" b="1" dirty="0">
                <a:solidFill>
                  <a:srgbClr val="B85042"/>
                </a:solidFill>
                <a:latin typeface="Calibri" pitchFamily="34" charset="0"/>
                <a:ea typeface="Calibri" pitchFamily="34" charset="-122"/>
                <a:cs typeface="Calibri" pitchFamily="34" charset="-120"/>
              </a:rPr>
              <a:t>NEEDS a window with a view.
</a:t>
            </a:r>
            <a:endParaRPr lang="en-US" sz="1000" dirty="0"/>
          </a:p>
          <a:p>
            <a:pPr marL="0" indent="0">
              <a:lnSpc>
                <a:spcPct val="120000"/>
              </a:lnSpc>
              <a:buNone/>
            </a:pPr>
            <a:r>
              <a:rPr lang="en-US" sz="900" b="1" dirty="0">
                <a:solidFill>
                  <a:srgbClr val="3B7A4C"/>
                </a:solidFill>
                <a:latin typeface="Calibri" pitchFamily="34" charset="0"/>
                <a:ea typeface="Calibri" pitchFamily="34" charset="-122"/>
                <a:cs typeface="Calibri" pitchFamily="34" charset="-120"/>
              </a:rPr>
              <a:t>Design: WINDOW SIZE, VIEW CONTENT</a:t>
            </a:r>
            <a:endParaRPr lang="en-US" sz="1000" dirty="0"/>
          </a:p>
        </p:txBody>
      </p:sp>
      <p:sp>
        <p:nvSpPr>
          <p:cNvPr id="14" name="Shape 12"/>
          <p:cNvSpPr/>
          <p:nvPr/>
        </p:nvSpPr>
        <p:spPr>
          <a:xfrm>
            <a:off x="548640" y="3200400"/>
            <a:ext cx="8046720" cy="10972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5" name="Shape 13"/>
          <p:cNvSpPr/>
          <p:nvPr/>
        </p:nvSpPr>
        <p:spPr>
          <a:xfrm>
            <a:off x="548640" y="3200400"/>
            <a:ext cx="54864" cy="1097280"/>
          </a:xfrm>
          <a:prstGeom prst="rect">
            <a:avLst/>
          </a:prstGeom>
          <a:solidFill>
            <a:srgbClr val="B85042"/>
          </a:solidFill>
          <a:ln/>
        </p:spPr>
        <p:txBody>
          <a:bodyPr/>
          <a:lstStyle/>
          <a:p>
            <a:endParaRPr lang="en-US"/>
          </a:p>
        </p:txBody>
      </p:sp>
      <p:sp>
        <p:nvSpPr>
          <p:cNvPr id="16" name="Text 14"/>
          <p:cNvSpPr/>
          <p:nvPr/>
        </p:nvSpPr>
        <p:spPr>
          <a:xfrm>
            <a:off x="777240" y="3246120"/>
            <a:ext cx="7589520" cy="137160"/>
          </a:xfrm>
          <a:prstGeom prst="rect">
            <a:avLst/>
          </a:prstGeom>
          <a:noFill/>
          <a:ln/>
        </p:spPr>
        <p:txBody>
          <a:bodyPr wrap="square" lIns="0" tIns="0" rIns="0" bIns="0" rtlCol="0" anchor="ctr"/>
          <a:lstStyle/>
          <a:p>
            <a:pPr marL="0" indent="0">
              <a:buNone/>
            </a:pPr>
            <a:r>
              <a:rPr lang="en-US" sz="900" b="1" dirty="0">
                <a:solidFill>
                  <a:srgbClr val="B85042"/>
                </a:solidFill>
                <a:latin typeface="Calibri" pitchFamily="34" charset="0"/>
                <a:ea typeface="Calibri" pitchFamily="34" charset="-122"/>
                <a:cs typeface="Calibri" pitchFamily="34" charset="-120"/>
              </a:rPr>
              <a:t>COMPOSED PREDICTION (not in any single paper):</a:t>
            </a:r>
            <a:endParaRPr lang="en-US" sz="900" dirty="0"/>
          </a:p>
        </p:txBody>
      </p:sp>
      <p:sp>
        <p:nvSpPr>
          <p:cNvPr id="17" name="Text 15"/>
          <p:cNvSpPr/>
          <p:nvPr/>
        </p:nvSpPr>
        <p:spPr>
          <a:xfrm>
            <a:off x="777240" y="3520440"/>
            <a:ext cx="7589520" cy="685800"/>
          </a:xfrm>
          <a:prstGeom prst="rect">
            <a:avLst/>
          </a:prstGeom>
          <a:noFill/>
          <a:ln/>
        </p:spPr>
        <p:txBody>
          <a:bodyPr wrap="square" lIns="0" tIns="0" rIns="0" bIns="0" rtlCol="0" anchor="ctr"/>
          <a:lstStyle/>
          <a:p>
            <a:pPr marL="0" indent="0">
              <a:lnSpc>
                <a:spcPct val="135000"/>
              </a:lnSpc>
              <a:buNone/>
            </a:pPr>
            <a:r>
              <a:rPr lang="en-US" sz="1050" dirty="0">
                <a:solidFill>
                  <a:srgbClr val="1E293B"/>
                </a:solidFill>
                <a:latin typeface="Calibri" pitchFamily="34" charset="0"/>
                <a:ea typeface="Calibri" pitchFamily="34" charset="-122"/>
                <a:cs typeface="Calibri" pitchFamily="34" charset="-120"/>
              </a:rPr>
              <a:t>A windowless room with tuned LEDs provides circadian support but no restoration.
</a:t>
            </a:r>
            <a:endParaRPr lang="en-US" sz="1050" dirty="0"/>
          </a:p>
          <a:p>
            <a:pPr marL="0" indent="0">
              <a:lnSpc>
                <a:spcPct val="135000"/>
              </a:lnSpc>
              <a:buNone/>
            </a:pPr>
            <a:r>
              <a:rPr lang="en-US" sz="1050" dirty="0">
                <a:solidFill>
                  <a:srgbClr val="1E293B"/>
                </a:solidFill>
                <a:latin typeface="Calibri" pitchFamily="34" charset="0"/>
                <a:ea typeface="Calibri" pitchFamily="34" charset="-122"/>
                <a:cs typeface="Calibri" pitchFamily="34" charset="-120"/>
              </a:rPr>
              <a:t>A small window provides a view but insufficient circadian signal.
</a:t>
            </a:r>
            <a:endParaRPr lang="en-US" sz="1050" dirty="0"/>
          </a:p>
          <a:p>
            <a:pPr marL="0" indent="0">
              <a:lnSpc>
                <a:spcPct val="135000"/>
              </a:lnSpc>
              <a:buNone/>
            </a:pPr>
            <a:r>
              <a:rPr lang="en-US" sz="1050" b="1" dirty="0">
                <a:solidFill>
                  <a:srgbClr val="1E293B"/>
                </a:solidFill>
                <a:latin typeface="Calibri" pitchFamily="34" charset="0"/>
                <a:ea typeface="Calibri" pitchFamily="34" charset="-122"/>
                <a:cs typeface="Calibri" pitchFamily="34" charset="-120"/>
              </a:rPr>
              <a:t>These require DIFFERENT design specifications. Heschong conflated them.</a:t>
            </a:r>
            <a:endParaRPr lang="en-US" sz="1050" dirty="0"/>
          </a:p>
        </p:txBody>
      </p:sp>
      <p:sp>
        <p:nvSpPr>
          <p:cNvPr id="18" name="Text 16"/>
          <p:cNvSpPr/>
          <p:nvPr/>
        </p:nvSpPr>
        <p:spPr>
          <a:xfrm>
            <a:off x="548640" y="4572000"/>
            <a:ext cx="8046720" cy="274320"/>
          </a:xfrm>
          <a:prstGeom prst="rect">
            <a:avLst/>
          </a:prstGeom>
          <a:noFill/>
          <a:ln/>
        </p:spPr>
        <p:txBody>
          <a:bodyPr wrap="square" lIns="0" tIns="0" rIns="0" bIns="0" rtlCol="0" anchor="ctr"/>
          <a:lstStyle/>
          <a:p>
            <a:pPr marL="0" indent="0">
              <a:buNone/>
            </a:pPr>
            <a:r>
              <a:rPr lang="en-US" sz="1100" i="1" dirty="0">
                <a:solidFill>
                  <a:srgbClr val="2B5A8C"/>
                </a:solidFill>
                <a:latin typeface="Georgia" pitchFamily="34" charset="0"/>
                <a:ea typeface="Georgia" pitchFamily="34" charset="-122"/>
                <a:cs typeface="Georgia" pitchFamily="34" charset="-120"/>
              </a:rPr>
              <a:t>But representing these interactions computationally requires the right formalism. The obvious choice — Bayesian networks — fails.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COMPUTATIONAL FORMALISM</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Bayesian Networks: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What They Are and How They Work</a:t>
            </a:r>
            <a:endParaRPr lang="en-US" sz="2600" dirty="0"/>
          </a:p>
        </p:txBody>
      </p:sp>
      <p:sp>
        <p:nvSpPr>
          <p:cNvPr id="4" name="Text 2"/>
          <p:cNvSpPr/>
          <p:nvPr/>
        </p:nvSpPr>
        <p:spPr>
          <a:xfrm>
            <a:off x="548640" y="114300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Our first formalism. The standard tool for representing uncertain knowledge.</a:t>
            </a:r>
            <a:endParaRPr lang="en-US" sz="1400" dirty="0"/>
          </a:p>
        </p:txBody>
      </p:sp>
      <p:sp>
        <p:nvSpPr>
          <p:cNvPr id="5" name="Shape 3"/>
          <p:cNvSpPr/>
          <p:nvPr/>
        </p:nvSpPr>
        <p:spPr>
          <a:xfrm>
            <a:off x="603504" y="1811892"/>
            <a:ext cx="4197096" cy="249053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508760"/>
            <a:ext cx="54864" cy="2286000"/>
          </a:xfrm>
          <a:prstGeom prst="rect">
            <a:avLst/>
          </a:prstGeom>
          <a:solidFill>
            <a:srgbClr val="6B3B8C"/>
          </a:solidFill>
          <a:ln/>
        </p:spPr>
        <p:txBody>
          <a:bodyPr/>
          <a:lstStyle/>
          <a:p>
            <a:endParaRPr lang="en-US"/>
          </a:p>
        </p:txBody>
      </p:sp>
      <p:sp>
        <p:nvSpPr>
          <p:cNvPr id="7" name="Text 5"/>
          <p:cNvSpPr/>
          <p:nvPr/>
        </p:nvSpPr>
        <p:spPr>
          <a:xfrm>
            <a:off x="777240" y="1572768"/>
            <a:ext cx="3749040" cy="201168"/>
          </a:xfrm>
          <a:prstGeom prst="rect">
            <a:avLst/>
          </a:prstGeom>
          <a:noFill/>
          <a:ln/>
        </p:spPr>
        <p:txBody>
          <a:bodyPr wrap="square" lIns="0" tIns="0" rIns="0" bIns="0" rtlCol="0" anchor="ctr"/>
          <a:lstStyle/>
          <a:p>
            <a:pPr marL="0" indent="0">
              <a:buNone/>
            </a:pPr>
            <a:r>
              <a:rPr lang="en-US" sz="850" b="1" kern="0" spc="200" dirty="0">
                <a:solidFill>
                  <a:srgbClr val="6B3B8C"/>
                </a:solidFill>
                <a:latin typeface="Calibri" pitchFamily="34" charset="0"/>
                <a:ea typeface="Calibri" pitchFamily="34" charset="-122"/>
                <a:cs typeface="Calibri" pitchFamily="34" charset="-120"/>
              </a:rPr>
              <a:t>THE STRUCTURE</a:t>
            </a:r>
            <a:endParaRPr lang="en-US" sz="850" dirty="0"/>
          </a:p>
        </p:txBody>
      </p:sp>
      <p:sp>
        <p:nvSpPr>
          <p:cNvPr id="8" name="Text 6"/>
          <p:cNvSpPr/>
          <p:nvPr/>
        </p:nvSpPr>
        <p:spPr>
          <a:xfrm>
            <a:off x="786815" y="1766172"/>
            <a:ext cx="3749040" cy="1983040"/>
          </a:xfrm>
          <a:prstGeom prst="rect">
            <a:avLst/>
          </a:prstGeom>
          <a:noFill/>
          <a:ln/>
        </p:spPr>
        <p:txBody>
          <a:bodyPr wrap="square" lIns="0" tIns="0" rIns="0" bIns="0" rtlCol="0" anchor="ctr"/>
          <a:lstStyle/>
          <a:p>
            <a:pPr>
              <a:lnSpc>
                <a:spcPct val="105000"/>
              </a:lnSpc>
            </a:pPr>
            <a:r>
              <a:rPr lang="en-US" sz="1050" b="1" dirty="0">
                <a:solidFill>
                  <a:srgbClr val="1E293B"/>
                </a:solidFill>
                <a:latin typeface="Calibri" pitchFamily="34" charset="0"/>
                <a:ea typeface="Calibri" pitchFamily="34" charset="-122"/>
                <a:cs typeface="Calibri" pitchFamily="34" charset="-120"/>
              </a:rPr>
              <a:t>A directed acyclic graph (DAG)</a:t>
            </a:r>
          </a:p>
          <a:p>
            <a:pPr marL="0" indent="0">
              <a:lnSpc>
                <a:spcPct val="105000"/>
              </a:lnSpc>
              <a:buNone/>
            </a:pP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Nodes = variables (e.g., 'noise level,' 'satisfaction,' 'productivity').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Edges = direct causal or probabilistic dependencies.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Each node has a conditional probability table (CPT) — P(child | parents).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You specify the graph, then learn or set the probabilities from data.</a:t>
            </a:r>
            <a:endParaRPr lang="en-US" sz="1050" dirty="0"/>
          </a:p>
        </p:txBody>
      </p:sp>
      <p:sp>
        <p:nvSpPr>
          <p:cNvPr id="9" name="Shape 7"/>
          <p:cNvSpPr/>
          <p:nvPr/>
        </p:nvSpPr>
        <p:spPr>
          <a:xfrm>
            <a:off x="4800600" y="1819656"/>
            <a:ext cx="3917600" cy="2528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4800600" y="1508760"/>
            <a:ext cx="54864" cy="2286000"/>
          </a:xfrm>
          <a:prstGeom prst="rect">
            <a:avLst/>
          </a:prstGeom>
          <a:solidFill>
            <a:srgbClr val="3B7A4C"/>
          </a:solidFill>
          <a:ln/>
        </p:spPr>
        <p:txBody>
          <a:bodyPr/>
          <a:lstStyle/>
          <a:p>
            <a:endParaRPr lang="en-US"/>
          </a:p>
        </p:txBody>
      </p:sp>
      <p:sp>
        <p:nvSpPr>
          <p:cNvPr id="11" name="Text 9"/>
          <p:cNvSpPr/>
          <p:nvPr/>
        </p:nvSpPr>
        <p:spPr>
          <a:xfrm>
            <a:off x="5029200" y="1572768"/>
            <a:ext cx="3566160" cy="201168"/>
          </a:xfrm>
          <a:prstGeom prst="rect">
            <a:avLst/>
          </a:prstGeom>
          <a:noFill/>
          <a:ln/>
        </p:spPr>
        <p:txBody>
          <a:bodyPr wrap="square" lIns="0" tIns="0" rIns="0" bIns="0" rtlCol="0" anchor="ctr"/>
          <a:lstStyle/>
          <a:p>
            <a:pPr marL="0" indent="0">
              <a:buNone/>
            </a:pPr>
            <a:r>
              <a:rPr lang="en-US" sz="850" b="1" kern="0" spc="200" dirty="0">
                <a:solidFill>
                  <a:srgbClr val="3B7A4C"/>
                </a:solidFill>
                <a:latin typeface="Calibri" pitchFamily="34" charset="0"/>
                <a:ea typeface="Calibri" pitchFamily="34" charset="-122"/>
                <a:cs typeface="Calibri" pitchFamily="34" charset="-120"/>
              </a:rPr>
              <a:t>WHAT THEY DO WELL</a:t>
            </a:r>
            <a:endParaRPr lang="en-US" sz="850" dirty="0"/>
          </a:p>
        </p:txBody>
      </p:sp>
      <p:sp>
        <p:nvSpPr>
          <p:cNvPr id="12" name="Text 10"/>
          <p:cNvSpPr/>
          <p:nvPr/>
        </p:nvSpPr>
        <p:spPr>
          <a:xfrm>
            <a:off x="5033772" y="2651760"/>
            <a:ext cx="3566160" cy="999629"/>
          </a:xfrm>
          <a:prstGeom prst="rect">
            <a:avLst/>
          </a:prstGeom>
          <a:noFill/>
          <a:ln/>
        </p:spPr>
        <p:txBody>
          <a:bodyPr wrap="square" lIns="0" tIns="0" rIns="0" bIns="0" rtlCol="0" anchor="ctr"/>
          <a:lstStyle/>
          <a:p>
            <a:pPr marL="0" indent="0">
              <a:lnSpc>
                <a:spcPct val="105000"/>
              </a:lnSpc>
              <a:buNone/>
            </a:pPr>
            <a:r>
              <a:rPr lang="en-US" sz="1050" b="1" dirty="0">
                <a:solidFill>
                  <a:srgbClr val="1E293B"/>
                </a:solidFill>
                <a:latin typeface="Calibri" pitchFamily="34" charset="0"/>
                <a:ea typeface="Calibri" pitchFamily="34" charset="-122"/>
                <a:cs typeface="Calibri" pitchFamily="34" charset="-120"/>
              </a:rPr>
              <a:t>Principled probability propagation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Observe one node → update beliefs everywhere</a:t>
            </a:r>
          </a:p>
          <a:p>
            <a:pPr marL="0" indent="0">
              <a:lnSpc>
                <a:spcPct val="105000"/>
              </a:lnSpc>
              <a:buNone/>
            </a:pPr>
            <a:endParaRPr lang="en-US" sz="1050" b="1" dirty="0">
              <a:solidFill>
                <a:srgbClr val="1E293B"/>
              </a:solidFill>
              <a:latin typeface="Calibri" pitchFamily="34" charset="0"/>
              <a:ea typeface="Calibri" pitchFamily="34" charset="-122"/>
              <a:cs typeface="Calibri" pitchFamily="34" charset="-120"/>
            </a:endParaRPr>
          </a:p>
          <a:p>
            <a:pPr marL="0" indent="0">
              <a:lnSpc>
                <a:spcPct val="105000"/>
              </a:lnSpc>
              <a:buNone/>
            </a:pPr>
            <a:r>
              <a:rPr lang="en-US" sz="1050" b="1" dirty="0">
                <a:solidFill>
                  <a:srgbClr val="1E293B"/>
                </a:solidFill>
                <a:latin typeface="Calibri" pitchFamily="34" charset="0"/>
                <a:ea typeface="Calibri" pitchFamily="34" charset="-122"/>
                <a:cs typeface="Calibri" pitchFamily="34" charset="-120"/>
              </a:rPr>
              <a:t>Causal reasoning and intervention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Pearl's do-calculus: what happens if we SET a variable?
</a:t>
            </a:r>
            <a:endParaRPr lang="en-US" sz="1050" dirty="0"/>
          </a:p>
          <a:p>
            <a:pPr marL="0" indent="0">
              <a:lnSpc>
                <a:spcPct val="105000"/>
              </a:lnSpc>
              <a:buNone/>
            </a:pPr>
            <a:r>
              <a:rPr lang="en-US" sz="1050" b="1" dirty="0">
                <a:solidFill>
                  <a:srgbClr val="1E293B"/>
                </a:solidFill>
                <a:latin typeface="Calibri" pitchFamily="34" charset="0"/>
                <a:ea typeface="Calibri" pitchFamily="34" charset="-122"/>
                <a:cs typeface="Calibri" pitchFamily="34" charset="-120"/>
              </a:rPr>
              <a:t>Handling missing data and uncertainty
</a:t>
            </a: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Marginalise over unknowns gracefully.</a:t>
            </a:r>
          </a:p>
          <a:p>
            <a:pPr marL="0" indent="0">
              <a:lnSpc>
                <a:spcPct val="105000"/>
              </a:lnSpc>
              <a:buNone/>
            </a:pPr>
            <a:endParaRPr lang="en-US" sz="1050" dirty="0"/>
          </a:p>
          <a:p>
            <a:pPr marL="0" indent="0">
              <a:lnSpc>
                <a:spcPct val="105000"/>
              </a:lnSpc>
              <a:buNone/>
            </a:pPr>
            <a:r>
              <a:rPr lang="en-US" sz="1050" dirty="0">
                <a:solidFill>
                  <a:srgbClr val="1E293B"/>
                </a:solidFill>
                <a:latin typeface="Calibri" pitchFamily="34" charset="0"/>
                <a:ea typeface="Calibri" pitchFamily="34" charset="-122"/>
                <a:cs typeface="Calibri" pitchFamily="34" charset="-120"/>
              </a:rPr>
              <a:t>Enormous success in medical diagnosis, fault detection, bioinformatics (Koller &amp; Friedman, 2009).</a:t>
            </a:r>
            <a:endParaRPr lang="en-US" sz="1050" dirty="0"/>
          </a:p>
        </p:txBody>
      </p:sp>
      <p:sp>
        <p:nvSpPr>
          <p:cNvPr id="13" name="Text 11"/>
          <p:cNvSpPr/>
          <p:nvPr/>
        </p:nvSpPr>
        <p:spPr>
          <a:xfrm>
            <a:off x="522070" y="4348144"/>
            <a:ext cx="7902141" cy="754380"/>
          </a:xfrm>
          <a:prstGeom prst="rect">
            <a:avLst/>
          </a:prstGeom>
          <a:noFill/>
          <a:ln/>
        </p:spPr>
        <p:txBody>
          <a:bodyPr wrap="square" lIns="0" tIns="0" rIns="0" bIns="0" rtlCol="0" anchor="ctr"/>
          <a:lstStyle/>
          <a:p>
            <a:pPr marL="0" indent="0">
              <a:buNone/>
            </a:pPr>
            <a:r>
              <a:rPr lang="en-US" sz="1300" i="1" dirty="0">
                <a:solidFill>
                  <a:srgbClr val="8C4B2B"/>
                </a:solidFill>
                <a:latin typeface="Georgia" pitchFamily="34" charset="0"/>
                <a:ea typeface="Georgia" pitchFamily="34" charset="-122"/>
                <a:cs typeface="Georgia" pitchFamily="34" charset="-120"/>
              </a:rPr>
              <a:t>We built our first Article Eater prototype as a BN. It worked for isolated findings. Then we tried to add theories.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WHERE BNs BREAK</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Why Bayesian Networks Cannot</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Represent Theories</a:t>
            </a:r>
            <a:endParaRPr lang="en-US" sz="2600" dirty="0"/>
          </a:p>
        </p:txBody>
      </p:sp>
      <p:sp>
        <p:nvSpPr>
          <p:cNvPr id="4" name="Shape 2"/>
          <p:cNvSpPr/>
          <p:nvPr/>
        </p:nvSpPr>
        <p:spPr>
          <a:xfrm>
            <a:off x="548640" y="123444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34440"/>
            <a:ext cx="54864" cy="777240"/>
          </a:xfrm>
          <a:prstGeom prst="rect">
            <a:avLst/>
          </a:prstGeom>
          <a:solidFill>
            <a:srgbClr val="2B5A8C"/>
          </a:solidFill>
          <a:ln/>
        </p:spPr>
        <p:txBody>
          <a:bodyPr/>
          <a:lstStyle/>
          <a:p>
            <a:endParaRPr lang="en-US"/>
          </a:p>
        </p:txBody>
      </p:sp>
      <p:sp>
        <p:nvSpPr>
          <p:cNvPr id="6" name="Text 4"/>
          <p:cNvSpPr/>
          <p:nvPr/>
        </p:nvSpPr>
        <p:spPr>
          <a:xfrm>
            <a:off x="777240" y="1307592"/>
            <a:ext cx="7589520" cy="228600"/>
          </a:xfrm>
          <a:prstGeom prst="rect">
            <a:avLst/>
          </a:prstGeom>
          <a:noFill/>
          <a:ln/>
        </p:spPr>
        <p:txBody>
          <a:bodyPr wrap="square" lIns="0" tIns="0" rIns="0" bIns="0" rtlCol="0" anchor="ctr"/>
          <a:lstStyle/>
          <a:p>
            <a:pPr marL="0" indent="0">
              <a:buNone/>
            </a:pPr>
            <a:r>
              <a:rPr lang="en-US" sz="1200" b="1" dirty="0">
                <a:solidFill>
                  <a:srgbClr val="2B5A8C"/>
                </a:solidFill>
                <a:latin typeface="Calibri" pitchFamily="34" charset="0"/>
                <a:ea typeface="Calibri" pitchFamily="34" charset="-122"/>
                <a:cs typeface="Calibri" pitchFamily="34" charset="-120"/>
              </a:rPr>
              <a:t>Theories restructure the graph</a:t>
            </a:r>
            <a:endParaRPr lang="en-US" sz="1200" dirty="0"/>
          </a:p>
        </p:txBody>
      </p:sp>
      <p:sp>
        <p:nvSpPr>
          <p:cNvPr id="7" name="Text 5"/>
          <p:cNvSpPr/>
          <p:nvPr/>
        </p:nvSpPr>
        <p:spPr>
          <a:xfrm>
            <a:off x="777240" y="1554480"/>
            <a:ext cx="758952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 BN requires a fixed graph structure. But adopting predictive processing CHANGES which nodes exist — 'prediction error' wasn't a node under behaviorism. Theories redefine the ontology.</a:t>
            </a:r>
            <a:endParaRPr lang="en-US" sz="1050" dirty="0"/>
          </a:p>
        </p:txBody>
      </p:sp>
      <p:sp>
        <p:nvSpPr>
          <p:cNvPr id="8" name="Shape 6"/>
          <p:cNvSpPr/>
          <p:nvPr/>
        </p:nvSpPr>
        <p:spPr>
          <a:xfrm>
            <a:off x="548640" y="210312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548640" y="2103120"/>
            <a:ext cx="54864" cy="777240"/>
          </a:xfrm>
          <a:prstGeom prst="rect">
            <a:avLst/>
          </a:prstGeom>
          <a:solidFill>
            <a:srgbClr val="3B7A4C"/>
          </a:solidFill>
          <a:ln/>
        </p:spPr>
        <p:txBody>
          <a:bodyPr/>
          <a:lstStyle/>
          <a:p>
            <a:endParaRPr lang="en-US"/>
          </a:p>
        </p:txBody>
      </p:sp>
      <p:sp>
        <p:nvSpPr>
          <p:cNvPr id="10" name="Text 8"/>
          <p:cNvSpPr/>
          <p:nvPr/>
        </p:nvSpPr>
        <p:spPr>
          <a:xfrm>
            <a:off x="777240" y="2176272"/>
            <a:ext cx="7589520" cy="228600"/>
          </a:xfrm>
          <a:prstGeom prst="rect">
            <a:avLst/>
          </a:prstGeom>
          <a:noFill/>
          <a:ln/>
        </p:spPr>
        <p:txBody>
          <a:bodyPr wrap="square" lIns="0" tIns="0" rIns="0" bIns="0" rtlCol="0" anchor="ctr"/>
          <a:lstStyle/>
          <a:p>
            <a:pPr marL="0" indent="0">
              <a:buNone/>
            </a:pPr>
            <a:r>
              <a:rPr lang="en-US" sz="1200" b="1" dirty="0">
                <a:solidFill>
                  <a:srgbClr val="3B7A4C"/>
                </a:solidFill>
                <a:latin typeface="Calibri" pitchFamily="34" charset="0"/>
                <a:ea typeface="Calibri" pitchFamily="34" charset="-122"/>
                <a:cs typeface="Calibri" pitchFamily="34" charset="-120"/>
              </a:rPr>
              <a:t>Theories create non-local dependencies</a:t>
            </a:r>
            <a:endParaRPr lang="en-US" sz="1200" dirty="0"/>
          </a:p>
        </p:txBody>
      </p:sp>
      <p:sp>
        <p:nvSpPr>
          <p:cNvPr id="11" name="Text 9"/>
          <p:cNvSpPr/>
          <p:nvPr/>
        </p:nvSpPr>
        <p:spPr>
          <a:xfrm>
            <a:off x="777240" y="2423160"/>
            <a:ext cx="758952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BNs rely on conditional independence (Markov property). But accepting PP changes beliefs about light, sound, thermal comfort SIMULTANEOUSLY. Holistic dependencies violate this assumption.</a:t>
            </a:r>
            <a:endParaRPr lang="en-US" sz="1050" dirty="0"/>
          </a:p>
        </p:txBody>
      </p:sp>
      <p:sp>
        <p:nvSpPr>
          <p:cNvPr id="12" name="Shape 10"/>
          <p:cNvSpPr/>
          <p:nvPr/>
        </p:nvSpPr>
        <p:spPr>
          <a:xfrm>
            <a:off x="548640" y="297180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2971800"/>
            <a:ext cx="54864" cy="777240"/>
          </a:xfrm>
          <a:prstGeom prst="rect">
            <a:avLst/>
          </a:prstGeom>
          <a:solidFill>
            <a:srgbClr val="6B3B8C"/>
          </a:solidFill>
          <a:ln/>
        </p:spPr>
        <p:txBody>
          <a:bodyPr/>
          <a:lstStyle/>
          <a:p>
            <a:endParaRPr lang="en-US"/>
          </a:p>
        </p:txBody>
      </p:sp>
      <p:sp>
        <p:nvSpPr>
          <p:cNvPr id="14" name="Text 12"/>
          <p:cNvSpPr/>
          <p:nvPr/>
        </p:nvSpPr>
        <p:spPr>
          <a:xfrm>
            <a:off x="777240" y="3044952"/>
            <a:ext cx="7589520" cy="228600"/>
          </a:xfrm>
          <a:prstGeom prst="rect">
            <a:avLst/>
          </a:prstGeom>
          <a:noFill/>
          <a:ln/>
        </p:spPr>
        <p:txBody>
          <a:bodyPr wrap="square" lIns="0" tIns="0" rIns="0" bIns="0" rtlCol="0" anchor="ctr"/>
          <a:lstStyle/>
          <a:p>
            <a:pPr marL="0" indent="0">
              <a:buNone/>
            </a:pPr>
            <a:r>
              <a:rPr lang="en-US" sz="1200" b="1" dirty="0">
                <a:solidFill>
                  <a:srgbClr val="6B3B8C"/>
                </a:solidFill>
                <a:latin typeface="Calibri" pitchFamily="34" charset="0"/>
                <a:ea typeface="Calibri" pitchFamily="34" charset="-122"/>
                <a:cs typeface="Calibri" pitchFamily="34" charset="-120"/>
              </a:rPr>
              <a:t>Expert reasoning is model selection, not parameter estimation</a:t>
            </a:r>
            <a:endParaRPr lang="en-US" sz="1200" dirty="0"/>
          </a:p>
        </p:txBody>
      </p:sp>
      <p:sp>
        <p:nvSpPr>
          <p:cNvPr id="15" name="Text 13"/>
          <p:cNvSpPr/>
          <p:nvPr/>
        </p:nvSpPr>
        <p:spPr>
          <a:xfrm>
            <a:off x="777240" y="3291840"/>
            <a:ext cx="758952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BNs update probabilities within a fixed model. But scientists choose BETWEEN models — 'Is this ART or SRT?' That's a different inferential level entirely.</a:t>
            </a:r>
            <a:endParaRPr lang="en-US" sz="1050" dirty="0"/>
          </a:p>
        </p:txBody>
      </p:sp>
      <p:sp>
        <p:nvSpPr>
          <p:cNvPr id="16" name="Shape 14"/>
          <p:cNvSpPr/>
          <p:nvPr/>
        </p:nvSpPr>
        <p:spPr>
          <a:xfrm>
            <a:off x="548640" y="384048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7" name="Shape 15"/>
          <p:cNvSpPr/>
          <p:nvPr/>
        </p:nvSpPr>
        <p:spPr>
          <a:xfrm>
            <a:off x="548640" y="3840480"/>
            <a:ext cx="54864" cy="777240"/>
          </a:xfrm>
          <a:prstGeom prst="rect">
            <a:avLst/>
          </a:prstGeom>
          <a:solidFill>
            <a:srgbClr val="8C2B5A"/>
          </a:solidFill>
          <a:ln/>
        </p:spPr>
        <p:txBody>
          <a:bodyPr/>
          <a:lstStyle/>
          <a:p>
            <a:endParaRPr lang="en-US"/>
          </a:p>
        </p:txBody>
      </p:sp>
      <p:sp>
        <p:nvSpPr>
          <p:cNvPr id="18" name="Text 16"/>
          <p:cNvSpPr/>
          <p:nvPr/>
        </p:nvSpPr>
        <p:spPr>
          <a:xfrm>
            <a:off x="777240" y="3913632"/>
            <a:ext cx="7589520" cy="228600"/>
          </a:xfrm>
          <a:prstGeom prst="rect">
            <a:avLst/>
          </a:prstGeom>
          <a:noFill/>
          <a:ln/>
        </p:spPr>
        <p:txBody>
          <a:bodyPr wrap="square" lIns="0" tIns="0" rIns="0" bIns="0" rtlCol="0" anchor="ctr"/>
          <a:lstStyle/>
          <a:p>
            <a:pPr marL="0" indent="0">
              <a:buNone/>
            </a:pPr>
            <a:r>
              <a:rPr lang="en-US" sz="1200" b="1" dirty="0">
                <a:solidFill>
                  <a:srgbClr val="8C2B5A"/>
                </a:solidFill>
                <a:latin typeface="Calibri" pitchFamily="34" charset="0"/>
                <a:ea typeface="Calibri" pitchFamily="34" charset="-122"/>
                <a:cs typeface="Calibri" pitchFamily="34" charset="-120"/>
              </a:rPr>
              <a:t>No representation of explanatory scope</a:t>
            </a:r>
            <a:endParaRPr lang="en-US" sz="1200" dirty="0"/>
          </a:p>
        </p:txBody>
      </p:sp>
      <p:sp>
        <p:nvSpPr>
          <p:cNvPr id="19" name="Text 17"/>
          <p:cNvSpPr/>
          <p:nvPr/>
        </p:nvSpPr>
        <p:spPr>
          <a:xfrm>
            <a:off x="777240" y="4160520"/>
            <a:ext cx="7589520" cy="38404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BNs cannot encode that 'PP explains phenomena 1–7 while ART only explains 1–3.' The criterion that makes one theory better is invisible to a BN.</a:t>
            </a:r>
            <a:endParaRPr lang="en-US" sz="1050" dirty="0"/>
          </a:p>
        </p:txBody>
      </p:sp>
      <p:sp>
        <p:nvSpPr>
          <p:cNvPr id="20" name="Text 18"/>
          <p:cNvSpPr/>
          <p:nvPr/>
        </p:nvSpPr>
        <p:spPr>
          <a:xfrm>
            <a:off x="548640" y="4663440"/>
            <a:ext cx="8046720" cy="274320"/>
          </a:xfrm>
          <a:prstGeom prst="rect">
            <a:avLst/>
          </a:prstGeom>
          <a:noFill/>
          <a:ln/>
        </p:spPr>
        <p:txBody>
          <a:bodyPr wrap="square" lIns="0" tIns="0" rIns="0" bIns="0" rtlCol="0" anchor="ctr"/>
          <a:lstStyle/>
          <a:p>
            <a:pPr marL="0" indent="0">
              <a:buNone/>
            </a:pPr>
            <a:r>
              <a:rPr lang="en-US" sz="1300" i="1" dirty="0">
                <a:solidFill>
                  <a:srgbClr val="8C4B2B"/>
                </a:solidFill>
                <a:latin typeface="Georgia" pitchFamily="34" charset="0"/>
                <a:ea typeface="Georgia" pitchFamily="34" charset="-122"/>
                <a:cs typeface="Georgia" pitchFamily="34" charset="-120"/>
              </a:rPr>
              <a:t>We needed a formalism that represents theories AS theories — not as parameters in someone else's graph.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THE QUINEAN WEB</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A Web of Belief That Updates</a:t>
            </a:r>
            <a:endParaRPr lang="en-US" sz="2200" dirty="0"/>
          </a:p>
          <a:p>
            <a:pPr marL="0" indent="0">
              <a:buNone/>
            </a:pPr>
            <a:r>
              <a:rPr lang="en-US" sz="2200" b="1" dirty="0">
                <a:solidFill>
                  <a:srgbClr val="1E293B"/>
                </a:solidFill>
                <a:latin typeface="Georgia" pitchFamily="34" charset="0"/>
                <a:ea typeface="Georgia" pitchFamily="34" charset="-122"/>
                <a:cs typeface="Georgia" pitchFamily="34" charset="-120"/>
              </a:rPr>
              <a:t>Through Reflective Equilibrium</a:t>
            </a:r>
            <a:endParaRPr lang="en-US" sz="2200" dirty="0"/>
          </a:p>
        </p:txBody>
      </p:sp>
      <p:sp>
        <p:nvSpPr>
          <p:cNvPr id="4" name="Shape 2"/>
          <p:cNvSpPr/>
          <p:nvPr/>
        </p:nvSpPr>
        <p:spPr>
          <a:xfrm>
            <a:off x="548640" y="1188720"/>
            <a:ext cx="4160520" cy="18745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188720"/>
            <a:ext cx="54864" cy="1874520"/>
          </a:xfrm>
          <a:prstGeom prst="rect">
            <a:avLst/>
          </a:prstGeom>
          <a:solidFill>
            <a:srgbClr val="8C4B2B"/>
          </a:solidFill>
          <a:ln/>
        </p:spPr>
        <p:txBody>
          <a:bodyPr/>
          <a:lstStyle/>
          <a:p>
            <a:endParaRPr lang="en-US"/>
          </a:p>
        </p:txBody>
      </p:sp>
      <p:sp>
        <p:nvSpPr>
          <p:cNvPr id="6" name="Text 4"/>
          <p:cNvSpPr/>
          <p:nvPr/>
        </p:nvSpPr>
        <p:spPr>
          <a:xfrm>
            <a:off x="777240" y="1234440"/>
            <a:ext cx="3749040" cy="137160"/>
          </a:xfrm>
          <a:prstGeom prst="rect">
            <a:avLst/>
          </a:prstGeom>
          <a:noFill/>
          <a:ln/>
        </p:spPr>
        <p:txBody>
          <a:bodyPr wrap="square" lIns="0" tIns="0" rIns="0" bIns="0" rtlCol="0" anchor="ctr"/>
          <a:lstStyle/>
          <a:p>
            <a:pPr marL="0" indent="0">
              <a:buNone/>
            </a:pPr>
            <a:r>
              <a:rPr lang="en-US" sz="750" b="1" kern="0" spc="200" dirty="0">
                <a:solidFill>
                  <a:srgbClr val="8C4B2B"/>
                </a:solidFill>
                <a:latin typeface="Calibri" pitchFamily="34" charset="0"/>
                <a:ea typeface="Calibri" pitchFamily="34" charset="-122"/>
                <a:cs typeface="Calibri" pitchFamily="34" charset="-120"/>
              </a:rPr>
              <a:t>HOW THE WEB OPERATES</a:t>
            </a:r>
            <a:endParaRPr lang="en-US" sz="750" dirty="0"/>
          </a:p>
        </p:txBody>
      </p:sp>
      <p:sp>
        <p:nvSpPr>
          <p:cNvPr id="7" name="Text 5"/>
          <p:cNvSpPr/>
          <p:nvPr/>
        </p:nvSpPr>
        <p:spPr>
          <a:xfrm>
            <a:off x="777240" y="1531620"/>
            <a:ext cx="3749040" cy="1463040"/>
          </a:xfrm>
          <a:prstGeom prst="rect">
            <a:avLst/>
          </a:prstGeom>
          <a:noFill/>
          <a:ln/>
        </p:spPr>
        <p:txBody>
          <a:bodyPr wrap="square" lIns="0" tIns="0" rIns="0" bIns="0" rtlCol="0" anchor="ctr"/>
          <a:lstStyle/>
          <a:p>
            <a:pPr marL="0" indent="0">
              <a:lnSpc>
                <a:spcPct val="110000"/>
              </a:lnSpc>
              <a:buNone/>
            </a:pPr>
            <a:r>
              <a:rPr lang="en-US" sz="850" dirty="0">
                <a:solidFill>
                  <a:srgbClr val="1E293B"/>
                </a:solidFill>
                <a:latin typeface="Calibri" pitchFamily="34" charset="0"/>
                <a:ea typeface="Calibri" pitchFamily="34" charset="-122"/>
                <a:cs typeface="Calibri" pitchFamily="34" charset="-120"/>
              </a:rPr>
              <a:t>Beliefs justified by COHERENCE, not conditional probability (Quine &amp; Ullian, 1978).
</a:t>
            </a:r>
            <a:endParaRPr lang="en-US" sz="850" dirty="0"/>
          </a:p>
          <a:p>
            <a:pPr marL="0" indent="0">
              <a:lnSpc>
                <a:spcPct val="110000"/>
              </a:lnSpc>
              <a:buNone/>
            </a:pPr>
            <a:r>
              <a:rPr lang="en-US" sz="850" b="1" dirty="0">
                <a:solidFill>
                  <a:srgbClr val="1E293B"/>
                </a:solidFill>
                <a:latin typeface="Calibri" pitchFamily="34" charset="0"/>
                <a:ea typeface="Calibri" pitchFamily="34" charset="-122"/>
                <a:cs typeface="Calibri" pitchFamily="34" charset="-120"/>
              </a:rPr>
              <a:t>Nodes</a:t>
            </a:r>
            <a:r>
              <a:rPr lang="en-US" sz="850" dirty="0">
                <a:solidFill>
                  <a:srgbClr val="1E293B"/>
                </a:solidFill>
                <a:latin typeface="Calibri" pitchFamily="34" charset="0"/>
                <a:ea typeface="Calibri" pitchFamily="34" charset="-122"/>
                <a:cs typeface="Calibri" pitchFamily="34" charset="-120"/>
              </a:rPr>
              <a:t> = theories, templates, empirical findings.
</a:t>
            </a:r>
            <a:endParaRPr lang="en-US" sz="850" dirty="0"/>
          </a:p>
          <a:p>
            <a:pPr marL="0" indent="0">
              <a:lnSpc>
                <a:spcPct val="110000"/>
              </a:lnSpc>
              <a:buNone/>
            </a:pPr>
            <a:r>
              <a:rPr lang="en-US" sz="850" b="1" dirty="0">
                <a:solidFill>
                  <a:srgbClr val="1E293B"/>
                </a:solidFill>
                <a:latin typeface="Calibri" pitchFamily="34" charset="0"/>
                <a:ea typeface="Calibri" pitchFamily="34" charset="-122"/>
                <a:cs typeface="Calibri" pitchFamily="34" charset="-120"/>
              </a:rPr>
              <a:t>Edges</a:t>
            </a:r>
            <a:r>
              <a:rPr lang="en-US" sz="850" dirty="0">
                <a:solidFill>
                  <a:srgbClr val="1E293B"/>
                </a:solidFill>
                <a:latin typeface="Calibri" pitchFamily="34" charset="0"/>
                <a:ea typeface="Calibri" pitchFamily="34" charset="-122"/>
                <a:cs typeface="Calibri" pitchFamily="34" charset="-120"/>
              </a:rPr>
              <a:t> = explanation, contradiction, analogy.
</a:t>
            </a:r>
            <a:endParaRPr lang="en-US" sz="850" dirty="0"/>
          </a:p>
          <a:p>
            <a:pPr marL="0" indent="0">
              <a:lnSpc>
                <a:spcPct val="110000"/>
              </a:lnSpc>
              <a:buNone/>
            </a:pPr>
            <a:r>
              <a:rPr lang="en-US" sz="850" dirty="0">
                <a:solidFill>
                  <a:srgbClr val="1E293B"/>
                </a:solidFill>
                <a:latin typeface="Calibri" pitchFamily="34" charset="0"/>
                <a:ea typeface="Calibri" pitchFamily="34" charset="-122"/>
                <a:cs typeface="Calibri" pitchFamily="34" charset="-120"/>
              </a:rPr>
              <a:t>Evaluation = global coherence via constraint satisfaction (Thagard's ECHO, 1989).
</a:t>
            </a:r>
            <a:endParaRPr lang="en-US" sz="850" dirty="0"/>
          </a:p>
          <a:p>
            <a:pPr marL="0" indent="0">
              <a:lnSpc>
                <a:spcPct val="110000"/>
              </a:lnSpc>
              <a:buNone/>
            </a:pPr>
            <a:r>
              <a:rPr lang="en-US" sz="850" b="1" dirty="0">
                <a:solidFill>
                  <a:srgbClr val="1E293B"/>
                </a:solidFill>
                <a:latin typeface="Calibri" pitchFamily="34" charset="0"/>
                <a:ea typeface="Calibri" pitchFamily="34" charset="-122"/>
                <a:cs typeface="Calibri" pitchFamily="34" charset="-120"/>
              </a:rPr>
              <a:t>Empirical anchors</a:t>
            </a:r>
            <a:r>
              <a:rPr lang="en-US" sz="850" dirty="0">
                <a:solidFill>
                  <a:srgbClr val="1E293B"/>
                </a:solidFill>
                <a:latin typeface="Calibri" pitchFamily="34" charset="0"/>
                <a:ea typeface="Calibri" pitchFamily="34" charset="-122"/>
                <a:cs typeface="Calibri" pitchFamily="34" charset="-120"/>
              </a:rPr>
              <a:t> (Haack, 1993): observation-grounded nodes prevent the web floating free of reality.</a:t>
            </a:r>
            <a:endParaRPr lang="en-US" sz="850" dirty="0"/>
          </a:p>
        </p:txBody>
      </p:sp>
      <p:sp>
        <p:nvSpPr>
          <p:cNvPr id="8" name="Shape 6"/>
          <p:cNvSpPr/>
          <p:nvPr/>
        </p:nvSpPr>
        <p:spPr>
          <a:xfrm>
            <a:off x="4800600" y="1188720"/>
            <a:ext cx="3977640" cy="18745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4800600" y="1188720"/>
            <a:ext cx="54864" cy="1874520"/>
          </a:xfrm>
          <a:prstGeom prst="rect">
            <a:avLst/>
          </a:prstGeom>
          <a:solidFill>
            <a:srgbClr val="6B3B8C"/>
          </a:solidFill>
          <a:ln/>
        </p:spPr>
        <p:txBody>
          <a:bodyPr/>
          <a:lstStyle/>
          <a:p>
            <a:endParaRPr lang="en-US"/>
          </a:p>
        </p:txBody>
      </p:sp>
      <p:sp>
        <p:nvSpPr>
          <p:cNvPr id="10" name="Text 8"/>
          <p:cNvSpPr/>
          <p:nvPr/>
        </p:nvSpPr>
        <p:spPr>
          <a:xfrm>
            <a:off x="5029200" y="1234440"/>
            <a:ext cx="3566160" cy="137160"/>
          </a:xfrm>
          <a:prstGeom prst="rect">
            <a:avLst/>
          </a:prstGeom>
          <a:noFill/>
          <a:ln/>
        </p:spPr>
        <p:txBody>
          <a:bodyPr wrap="square" lIns="0" tIns="0" rIns="0" bIns="0" rtlCol="0" anchor="ctr"/>
          <a:lstStyle/>
          <a:p>
            <a:pPr marL="0" indent="0">
              <a:buNone/>
            </a:pPr>
            <a:r>
              <a:rPr lang="en-US" sz="750" b="1" kern="0" spc="200" dirty="0">
                <a:solidFill>
                  <a:srgbClr val="6B3B8C"/>
                </a:solidFill>
                <a:latin typeface="Calibri" pitchFamily="34" charset="0"/>
                <a:ea typeface="Calibri" pitchFamily="34" charset="-122"/>
                <a:cs typeface="Calibri" pitchFamily="34" charset="-120"/>
              </a:rPr>
              <a:t>REFLECTIVE EQUILIBRIUM LOOP</a:t>
            </a:r>
            <a:endParaRPr lang="en-US" sz="750" dirty="0"/>
          </a:p>
        </p:txBody>
      </p:sp>
      <p:sp>
        <p:nvSpPr>
          <p:cNvPr id="11" name="Text 9"/>
          <p:cNvSpPr/>
          <p:nvPr/>
        </p:nvSpPr>
        <p:spPr>
          <a:xfrm>
            <a:off x="5029200" y="1481328"/>
            <a:ext cx="228600" cy="182880"/>
          </a:xfrm>
          <a:prstGeom prst="rect">
            <a:avLst/>
          </a:prstGeom>
          <a:noFill/>
          <a:ln/>
        </p:spPr>
        <p:txBody>
          <a:bodyPr wrap="square" lIns="0" tIns="0" rIns="0" bIns="0" rtlCol="0" anchor="ctr"/>
          <a:lstStyle/>
          <a:p>
            <a:pPr marL="0" indent="0" algn="ctr">
              <a:buNone/>
            </a:pPr>
            <a:r>
              <a:rPr lang="en-US" sz="900" b="1" dirty="0">
                <a:solidFill>
                  <a:srgbClr val="6B3B8C"/>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5321808" y="1481328"/>
            <a:ext cx="3246120" cy="25603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New evidence enters (e.g., a paper finds translucent partitions increase stress)</a:t>
            </a:r>
            <a:endParaRPr lang="en-US" sz="800" dirty="0"/>
          </a:p>
        </p:txBody>
      </p:sp>
      <p:sp>
        <p:nvSpPr>
          <p:cNvPr id="13" name="Text 11"/>
          <p:cNvSpPr/>
          <p:nvPr/>
        </p:nvSpPr>
        <p:spPr>
          <a:xfrm>
            <a:off x="5029200" y="1773936"/>
            <a:ext cx="228600" cy="182880"/>
          </a:xfrm>
          <a:prstGeom prst="rect">
            <a:avLst/>
          </a:prstGeom>
          <a:noFill/>
          <a:ln/>
        </p:spPr>
        <p:txBody>
          <a:bodyPr wrap="square" lIns="0" tIns="0" rIns="0" bIns="0" rtlCol="0" anchor="ctr"/>
          <a:lstStyle/>
          <a:p>
            <a:pPr marL="0" indent="0" algn="ctr">
              <a:buNone/>
            </a:pPr>
            <a:r>
              <a:rPr lang="en-US" sz="900" b="1" dirty="0">
                <a:solidFill>
                  <a:srgbClr val="6B3B8C"/>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5321808" y="1773936"/>
            <a:ext cx="3246120" cy="25603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Web checks coherence: does this cohere with conflict monitoring templates? With PP?</a:t>
            </a:r>
            <a:endParaRPr lang="en-US" sz="800" dirty="0"/>
          </a:p>
        </p:txBody>
      </p:sp>
      <p:sp>
        <p:nvSpPr>
          <p:cNvPr id="15" name="Text 13"/>
          <p:cNvSpPr/>
          <p:nvPr/>
        </p:nvSpPr>
        <p:spPr>
          <a:xfrm>
            <a:off x="5029200" y="2066544"/>
            <a:ext cx="228600" cy="182880"/>
          </a:xfrm>
          <a:prstGeom prst="rect">
            <a:avLst/>
          </a:prstGeom>
          <a:noFill/>
          <a:ln/>
        </p:spPr>
        <p:txBody>
          <a:bodyPr wrap="square" lIns="0" tIns="0" rIns="0" bIns="0" rtlCol="0" anchor="ctr"/>
          <a:lstStyle/>
          <a:p>
            <a:pPr marL="0" indent="0" algn="ctr">
              <a:buNone/>
            </a:pPr>
            <a:r>
              <a:rPr lang="en-US" sz="900" b="1" dirty="0">
                <a:solidFill>
                  <a:srgbClr val="6B3B8C"/>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5321808" y="2066544"/>
            <a:ext cx="3246120" cy="25603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If coherent → strengthen connections, raise activation of supporting theories</a:t>
            </a:r>
            <a:endParaRPr lang="en-US" sz="800" dirty="0"/>
          </a:p>
        </p:txBody>
      </p:sp>
      <p:sp>
        <p:nvSpPr>
          <p:cNvPr id="17" name="Text 15"/>
          <p:cNvSpPr/>
          <p:nvPr/>
        </p:nvSpPr>
        <p:spPr>
          <a:xfrm>
            <a:off x="5029200" y="2359152"/>
            <a:ext cx="228600" cy="182880"/>
          </a:xfrm>
          <a:prstGeom prst="rect">
            <a:avLst/>
          </a:prstGeom>
          <a:noFill/>
          <a:ln/>
        </p:spPr>
        <p:txBody>
          <a:bodyPr wrap="square" lIns="0" tIns="0" rIns="0" bIns="0" rtlCol="0" anchor="ctr"/>
          <a:lstStyle/>
          <a:p>
            <a:pPr marL="0" indent="0" algn="ctr">
              <a:buNone/>
            </a:pPr>
            <a:r>
              <a:rPr lang="en-US" sz="900" b="1" dirty="0">
                <a:solidFill>
                  <a:srgbClr val="6B3B8C"/>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5321808" y="2359152"/>
            <a:ext cx="3246120" cy="25603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If incoherent → tension propagates; competing explanations lose activation</a:t>
            </a:r>
            <a:endParaRPr lang="en-US" sz="800" dirty="0"/>
          </a:p>
        </p:txBody>
      </p:sp>
      <p:sp>
        <p:nvSpPr>
          <p:cNvPr id="19" name="Text 17"/>
          <p:cNvSpPr/>
          <p:nvPr/>
        </p:nvSpPr>
        <p:spPr>
          <a:xfrm>
            <a:off x="5029200" y="2651760"/>
            <a:ext cx="228600" cy="182880"/>
          </a:xfrm>
          <a:prstGeom prst="rect">
            <a:avLst/>
          </a:prstGeom>
          <a:noFill/>
          <a:ln/>
        </p:spPr>
        <p:txBody>
          <a:bodyPr wrap="square" lIns="0" tIns="0" rIns="0" bIns="0" rtlCol="0" anchor="ctr"/>
          <a:lstStyle/>
          <a:p>
            <a:pPr marL="0" indent="0" algn="ctr">
              <a:buNone/>
            </a:pPr>
            <a:r>
              <a:rPr lang="en-US" sz="900" b="1" dirty="0">
                <a:solidFill>
                  <a:srgbClr val="6B3B8C"/>
                </a:solidFill>
                <a:latin typeface="Calibri" pitchFamily="34" charset="0"/>
                <a:ea typeface="Calibri" pitchFamily="34" charset="-122"/>
                <a:cs typeface="Calibri" pitchFamily="34" charset="-120"/>
              </a:rPr>
              <a:t>5</a:t>
            </a:r>
            <a:endParaRPr lang="en-US" sz="900" dirty="0"/>
          </a:p>
        </p:txBody>
      </p:sp>
      <p:sp>
        <p:nvSpPr>
          <p:cNvPr id="20" name="Text 18"/>
          <p:cNvSpPr/>
          <p:nvPr/>
        </p:nvSpPr>
        <p:spPr>
          <a:xfrm>
            <a:off x="5321808" y="2651760"/>
            <a:ext cx="3246120" cy="256032"/>
          </a:xfrm>
          <a:prstGeom prst="rect">
            <a:avLst/>
          </a:prstGeom>
          <a:noFill/>
          <a:ln/>
        </p:spPr>
        <p:txBody>
          <a:bodyPr wrap="square" lIns="0" tIns="0" rIns="0" bIns="0" rtlCol="0" anchor="ctr"/>
          <a:lstStyle/>
          <a:p>
            <a:pPr marL="0" indent="0">
              <a:buNone/>
            </a:pPr>
            <a:r>
              <a:rPr lang="en-US" sz="800" dirty="0">
                <a:solidFill>
                  <a:srgbClr val="1E293B"/>
                </a:solidFill>
                <a:latin typeface="Calibri" pitchFamily="34" charset="0"/>
                <a:ea typeface="Calibri" pitchFamily="34" charset="-122"/>
                <a:cs typeface="Calibri" pitchFamily="34" charset="-120"/>
              </a:rPr>
              <a:t>Equilibrium reached when global coherence maximized — some beliefs strengthened, some weakened, possibly some revised</a:t>
            </a:r>
            <a:endParaRPr lang="en-US" sz="800" dirty="0"/>
          </a:p>
        </p:txBody>
      </p:sp>
      <p:sp>
        <p:nvSpPr>
          <p:cNvPr id="21" name="Shape 19"/>
          <p:cNvSpPr/>
          <p:nvPr/>
        </p:nvSpPr>
        <p:spPr>
          <a:xfrm>
            <a:off x="548640" y="3246120"/>
            <a:ext cx="8046720" cy="15544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2" name="Shape 20"/>
          <p:cNvSpPr/>
          <p:nvPr/>
        </p:nvSpPr>
        <p:spPr>
          <a:xfrm>
            <a:off x="548640" y="3246120"/>
            <a:ext cx="54864" cy="1554480"/>
          </a:xfrm>
          <a:prstGeom prst="rect">
            <a:avLst/>
          </a:prstGeom>
          <a:solidFill>
            <a:srgbClr val="2B5A8C"/>
          </a:solidFill>
          <a:ln/>
        </p:spPr>
        <p:txBody>
          <a:bodyPr/>
          <a:lstStyle/>
          <a:p>
            <a:endParaRPr lang="en-US"/>
          </a:p>
        </p:txBody>
      </p:sp>
      <p:sp>
        <p:nvSpPr>
          <p:cNvPr id="23" name="Text 21"/>
          <p:cNvSpPr/>
          <p:nvPr/>
        </p:nvSpPr>
        <p:spPr>
          <a:xfrm>
            <a:off x="777240" y="3291840"/>
            <a:ext cx="7589520" cy="137160"/>
          </a:xfrm>
          <a:prstGeom prst="rect">
            <a:avLst/>
          </a:prstGeom>
          <a:noFill/>
          <a:ln/>
        </p:spPr>
        <p:txBody>
          <a:bodyPr wrap="square" lIns="0" tIns="0" rIns="0" bIns="0" rtlCol="0" anchor="ctr"/>
          <a:lstStyle/>
          <a:p>
            <a:pPr marL="0" indent="0">
              <a:buNone/>
            </a:pPr>
            <a:r>
              <a:rPr lang="en-US" sz="750" b="1" kern="0" spc="200" dirty="0">
                <a:solidFill>
                  <a:srgbClr val="2B5A8C"/>
                </a:solidFill>
                <a:latin typeface="Calibri" pitchFamily="34" charset="0"/>
                <a:ea typeface="Calibri" pitchFamily="34" charset="-122"/>
                <a:cs typeface="Calibri" pitchFamily="34" charset="-120"/>
              </a:rPr>
              <a:t>WHY THIS MATTERS: THREE KEY PROPERTIES</a:t>
            </a:r>
            <a:endParaRPr lang="en-US" sz="750" dirty="0"/>
          </a:p>
        </p:txBody>
      </p:sp>
      <p:sp>
        <p:nvSpPr>
          <p:cNvPr id="24" name="Text 22"/>
          <p:cNvSpPr/>
          <p:nvPr/>
        </p:nvSpPr>
        <p:spPr>
          <a:xfrm>
            <a:off x="777240" y="3520440"/>
            <a:ext cx="2468880" cy="18288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No belief is foundational</a:t>
            </a:r>
            <a:endParaRPr lang="en-US" sz="950" dirty="0"/>
          </a:p>
        </p:txBody>
      </p:sp>
      <p:sp>
        <p:nvSpPr>
          <p:cNvPr id="25" name="Text 23"/>
          <p:cNvSpPr/>
          <p:nvPr/>
        </p:nvSpPr>
        <p:spPr>
          <a:xfrm>
            <a:off x="777240" y="3749040"/>
            <a:ext cx="2468880" cy="91440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Even core theories (PP, ART) can be revised if enough evidence accumulates. Core beliefs are more entrenched — harder to revise — but not immune.</a:t>
            </a:r>
            <a:endParaRPr lang="en-US" sz="800" dirty="0"/>
          </a:p>
        </p:txBody>
      </p:sp>
      <p:sp>
        <p:nvSpPr>
          <p:cNvPr id="26" name="Text 24"/>
          <p:cNvSpPr/>
          <p:nvPr/>
        </p:nvSpPr>
        <p:spPr>
          <a:xfrm>
            <a:off x="3429000" y="3520440"/>
            <a:ext cx="2468880" cy="18288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Revision is holistic</a:t>
            </a:r>
            <a:endParaRPr lang="en-US" sz="950" dirty="0"/>
          </a:p>
        </p:txBody>
      </p:sp>
      <p:sp>
        <p:nvSpPr>
          <p:cNvPr id="27" name="Text 25"/>
          <p:cNvSpPr/>
          <p:nvPr/>
        </p:nvSpPr>
        <p:spPr>
          <a:xfrm>
            <a:off x="3429000" y="3749040"/>
            <a:ext cx="2468880" cy="91440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Change one central belief → consequences propagate through the entire web. This IS how scientific revolutions work (Kuhn described it, Quine formalized it).</a:t>
            </a:r>
            <a:endParaRPr lang="en-US" sz="800" dirty="0"/>
          </a:p>
        </p:txBody>
      </p:sp>
      <p:sp>
        <p:nvSpPr>
          <p:cNvPr id="28" name="Text 26"/>
          <p:cNvSpPr/>
          <p:nvPr/>
        </p:nvSpPr>
        <p:spPr>
          <a:xfrm>
            <a:off x="6080760" y="3520440"/>
            <a:ext cx="2468880" cy="182880"/>
          </a:xfrm>
          <a:prstGeom prst="rect">
            <a:avLst/>
          </a:prstGeom>
          <a:noFill/>
          <a:ln/>
        </p:spPr>
        <p:txBody>
          <a:bodyPr wrap="square" lIns="0" tIns="0" rIns="0" bIns="0" rtlCol="0" anchor="ctr"/>
          <a:lstStyle/>
          <a:p>
            <a:pPr marL="0" indent="0">
              <a:buNone/>
            </a:pPr>
            <a:r>
              <a:rPr lang="en-US" sz="950" b="1" dirty="0">
                <a:solidFill>
                  <a:srgbClr val="1E293B"/>
                </a:solidFill>
                <a:latin typeface="Calibri" pitchFamily="34" charset="0"/>
                <a:ea typeface="Calibri" pitchFamily="34" charset="-122"/>
                <a:cs typeface="Calibri" pitchFamily="34" charset="-120"/>
              </a:rPr>
              <a:t>Disagreements are represented, not suppressed</a:t>
            </a:r>
            <a:endParaRPr lang="en-US" sz="950" dirty="0"/>
          </a:p>
        </p:txBody>
      </p:sp>
      <p:sp>
        <p:nvSpPr>
          <p:cNvPr id="29" name="Text 27"/>
          <p:cNvSpPr/>
          <p:nvPr/>
        </p:nvSpPr>
        <p:spPr>
          <a:xfrm>
            <a:off x="6080760" y="3749040"/>
            <a:ext cx="2468880" cy="914400"/>
          </a:xfrm>
          <a:prstGeom prst="rect">
            <a:avLst/>
          </a:prstGeom>
          <a:noFill/>
          <a:ln/>
        </p:spPr>
        <p:txBody>
          <a:bodyPr wrap="square" lIns="0" tIns="0" rIns="0" bIns="0" rtlCol="0" anchor="ctr"/>
          <a:lstStyle/>
          <a:p>
            <a:pPr marL="0" indent="0">
              <a:buNone/>
            </a:pPr>
            <a:r>
              <a:rPr lang="en-US" sz="800" dirty="0">
                <a:solidFill>
                  <a:srgbClr val="475569"/>
                </a:solidFill>
                <a:latin typeface="Calibri" pitchFamily="34" charset="0"/>
                <a:ea typeface="Calibri" pitchFamily="34" charset="-122"/>
                <a:cs typeface="Calibri" pitchFamily="34" charset="-120"/>
              </a:rPr>
              <a:t>When ART and SRT conflict on a prediction, both positions are maintained with their coherence scores. The web captures the state of the field, not a forced consensus.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NEURO MEETS ENV PSYCH — EXAMPLE 1</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Daylight: Two Pathways,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Two Design Strategies</a:t>
            </a:r>
            <a:endParaRPr lang="en-US" sz="2600" dirty="0"/>
          </a:p>
        </p:txBody>
      </p:sp>
      <p:sp>
        <p:nvSpPr>
          <p:cNvPr id="4" name="Shape 2"/>
          <p:cNvSpPr/>
          <p:nvPr/>
        </p:nvSpPr>
        <p:spPr>
          <a:xfrm>
            <a:off x="548640" y="1280160"/>
            <a:ext cx="3794760" cy="20116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80160"/>
            <a:ext cx="54864" cy="2011680"/>
          </a:xfrm>
          <a:prstGeom prst="rect">
            <a:avLst/>
          </a:prstGeom>
          <a:solidFill>
            <a:srgbClr val="2B5A8C"/>
          </a:solidFill>
          <a:ln/>
        </p:spPr>
        <p:txBody>
          <a:bodyPr/>
          <a:lstStyle/>
          <a:p>
            <a:endParaRPr lang="en-US"/>
          </a:p>
        </p:txBody>
      </p:sp>
      <p:sp>
        <p:nvSpPr>
          <p:cNvPr id="6" name="Text 4"/>
          <p:cNvSpPr/>
          <p:nvPr/>
        </p:nvSpPr>
        <p:spPr>
          <a:xfrm>
            <a:off x="777240" y="1353312"/>
            <a:ext cx="3383280" cy="201168"/>
          </a:xfrm>
          <a:prstGeom prst="rect">
            <a:avLst/>
          </a:prstGeom>
          <a:noFill/>
          <a:ln/>
        </p:spPr>
        <p:txBody>
          <a:bodyPr wrap="square" lIns="0" tIns="0" rIns="0" bIns="0" rtlCol="0" anchor="ctr"/>
          <a:lstStyle/>
          <a:p>
            <a:pPr marL="0" indent="0">
              <a:buNone/>
            </a:pPr>
            <a:r>
              <a:rPr lang="en-US" sz="850" b="1" kern="0" spc="200" dirty="0">
                <a:solidFill>
                  <a:srgbClr val="2B5A8C"/>
                </a:solidFill>
                <a:latin typeface="Calibri" pitchFamily="34" charset="0"/>
                <a:ea typeface="Calibri" pitchFamily="34" charset="-122"/>
                <a:cs typeface="Calibri" pitchFamily="34" charset="-120"/>
              </a:rPr>
              <a:t>IMAGE-FORMING PATHWAY</a:t>
            </a:r>
            <a:endParaRPr lang="en-US" sz="850" dirty="0"/>
          </a:p>
        </p:txBody>
      </p:sp>
      <p:sp>
        <p:nvSpPr>
          <p:cNvPr id="7" name="Text 5"/>
          <p:cNvSpPr/>
          <p:nvPr/>
        </p:nvSpPr>
        <p:spPr>
          <a:xfrm>
            <a:off x="777240" y="1600200"/>
            <a:ext cx="3383280" cy="1554480"/>
          </a:xfrm>
          <a:prstGeom prst="rect">
            <a:avLst/>
          </a:prstGeom>
          <a:noFill/>
          <a:ln/>
        </p:spPr>
        <p:txBody>
          <a:bodyPr wrap="square" lIns="0" tIns="0" rIns="0" bIns="0" rtlCol="0" anchor="ctr"/>
          <a:lstStyle/>
          <a:p>
            <a:pPr marL="0" indent="0">
              <a:lnSpc>
                <a:spcPct val="110000"/>
              </a:lnSpc>
              <a:buNone/>
            </a:pPr>
            <a:r>
              <a:rPr lang="en-US" sz="1050" dirty="0">
                <a:solidFill>
                  <a:srgbClr val="1E293B"/>
                </a:solidFill>
                <a:latin typeface="Calibri" pitchFamily="34" charset="0"/>
                <a:ea typeface="Calibri" pitchFamily="34" charset="-122"/>
                <a:cs typeface="Calibri" pitchFamily="34" charset="-120"/>
              </a:rPr>
              <a:t>Rods/cones → V1 → ventral stream → scene perception
</a:t>
            </a:r>
            <a:endParaRPr lang="en-US" sz="1050" dirty="0"/>
          </a:p>
          <a:p>
            <a:pPr marL="0" indent="0">
              <a:lnSpc>
                <a:spcPct val="110000"/>
              </a:lnSpc>
              <a:buNone/>
            </a:pPr>
            <a:r>
              <a:rPr lang="en-US" sz="1050" b="1" dirty="0">
                <a:solidFill>
                  <a:srgbClr val="1E293B"/>
                </a:solidFill>
                <a:latin typeface="Calibri" pitchFamily="34" charset="0"/>
                <a:ea typeface="Calibri" pitchFamily="34" charset="-122"/>
                <a:cs typeface="Calibri" pitchFamily="34" charset="-120"/>
              </a:rPr>
              <a:t>Provides: </a:t>
            </a:r>
            <a:r>
              <a:rPr lang="en-US" sz="1050" dirty="0">
                <a:solidFill>
                  <a:srgbClr val="1E293B"/>
                </a:solidFill>
                <a:latin typeface="Calibri" pitchFamily="34" charset="0"/>
                <a:ea typeface="Calibri" pitchFamily="34" charset="-122"/>
                <a:cs typeface="Calibri" pitchFamily="34" charset="-120"/>
              </a:rPr>
              <a:t>visual complexity, fractal content, biophilic stimulation
</a:t>
            </a:r>
            <a:endParaRPr lang="en-US" sz="1050" dirty="0"/>
          </a:p>
          <a:p>
            <a:pPr marL="0" indent="0">
              <a:lnSpc>
                <a:spcPct val="110000"/>
              </a:lnSpc>
              <a:buNone/>
            </a:pPr>
            <a:r>
              <a:rPr lang="en-US" sz="1050" b="1" dirty="0">
                <a:solidFill>
                  <a:srgbClr val="1E293B"/>
                </a:solidFill>
                <a:latin typeface="Calibri" pitchFamily="34" charset="0"/>
                <a:ea typeface="Calibri" pitchFamily="34" charset="-122"/>
                <a:cs typeface="Calibri" pitchFamily="34" charset="-120"/>
              </a:rPr>
              <a:t>Design: </a:t>
            </a:r>
            <a:r>
              <a:rPr lang="en-US" sz="1050" dirty="0">
                <a:solidFill>
                  <a:srgbClr val="1E293B"/>
                </a:solidFill>
                <a:latin typeface="Calibri" pitchFamily="34" charset="0"/>
                <a:ea typeface="Calibri" pitchFamily="34" charset="-122"/>
                <a:cs typeface="Calibri" pitchFamily="34" charset="-120"/>
              </a:rPr>
              <a:t>Window SIZE, VIEW CONTENT (nature vs. parking lot)
</a:t>
            </a:r>
            <a:endParaRPr lang="en-US" sz="1050" dirty="0"/>
          </a:p>
          <a:p>
            <a:pPr marL="0" indent="0">
              <a:lnSpc>
                <a:spcPct val="110000"/>
              </a:lnSpc>
              <a:buNone/>
            </a:pPr>
            <a:r>
              <a:rPr lang="en-US" sz="1050" i="1" dirty="0">
                <a:solidFill>
                  <a:srgbClr val="1E293B"/>
                </a:solidFill>
                <a:latin typeface="Calibri" pitchFamily="34" charset="0"/>
                <a:ea typeface="Calibri" pitchFamily="34" charset="-122"/>
                <a:cs typeface="Calibri" pitchFamily="34" charset="-120"/>
              </a:rPr>
              <a:t>The Ulrich effect operates here — it's the image that heals</a:t>
            </a:r>
            <a:endParaRPr lang="en-US" sz="1050" dirty="0"/>
          </a:p>
        </p:txBody>
      </p:sp>
      <p:sp>
        <p:nvSpPr>
          <p:cNvPr id="8" name="Shape 6"/>
          <p:cNvSpPr/>
          <p:nvPr/>
        </p:nvSpPr>
        <p:spPr>
          <a:xfrm>
            <a:off x="4800600" y="1280160"/>
            <a:ext cx="3977640" cy="20116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4800600" y="1280160"/>
            <a:ext cx="54864" cy="2011680"/>
          </a:xfrm>
          <a:prstGeom prst="rect">
            <a:avLst/>
          </a:prstGeom>
          <a:solidFill>
            <a:srgbClr val="6B3B8C"/>
          </a:solidFill>
          <a:ln/>
        </p:spPr>
        <p:txBody>
          <a:bodyPr/>
          <a:lstStyle/>
          <a:p>
            <a:endParaRPr lang="en-US"/>
          </a:p>
        </p:txBody>
      </p:sp>
      <p:sp>
        <p:nvSpPr>
          <p:cNvPr id="10" name="Text 8"/>
          <p:cNvSpPr/>
          <p:nvPr/>
        </p:nvSpPr>
        <p:spPr>
          <a:xfrm>
            <a:off x="5029200" y="1353312"/>
            <a:ext cx="3566160" cy="201168"/>
          </a:xfrm>
          <a:prstGeom prst="rect">
            <a:avLst/>
          </a:prstGeom>
          <a:noFill/>
          <a:ln/>
        </p:spPr>
        <p:txBody>
          <a:bodyPr wrap="square" lIns="0" tIns="0" rIns="0" bIns="0" rtlCol="0" anchor="ctr"/>
          <a:lstStyle/>
          <a:p>
            <a:pPr marL="0" indent="0">
              <a:buNone/>
            </a:pPr>
            <a:r>
              <a:rPr lang="en-US" sz="850" b="1" kern="0" spc="200" dirty="0">
                <a:solidFill>
                  <a:srgbClr val="6B3B8C"/>
                </a:solidFill>
                <a:latin typeface="Calibri" pitchFamily="34" charset="0"/>
                <a:ea typeface="Calibri" pitchFamily="34" charset="-122"/>
                <a:cs typeface="Calibri" pitchFamily="34" charset="-120"/>
              </a:rPr>
              <a:t>NON-IMAGE-FORMING PATHWAY</a:t>
            </a:r>
            <a:endParaRPr lang="en-US" sz="850" dirty="0"/>
          </a:p>
        </p:txBody>
      </p:sp>
      <p:sp>
        <p:nvSpPr>
          <p:cNvPr id="11" name="Text 9"/>
          <p:cNvSpPr/>
          <p:nvPr/>
        </p:nvSpPr>
        <p:spPr>
          <a:xfrm>
            <a:off x="5029200" y="1600200"/>
            <a:ext cx="3566160" cy="1554480"/>
          </a:xfrm>
          <a:prstGeom prst="rect">
            <a:avLst/>
          </a:prstGeom>
          <a:noFill/>
          <a:ln/>
        </p:spPr>
        <p:txBody>
          <a:bodyPr wrap="square" lIns="0" tIns="0" rIns="0" bIns="0" rtlCol="0" anchor="ctr"/>
          <a:lstStyle/>
          <a:p>
            <a:pPr marL="0" indent="0">
              <a:lnSpc>
                <a:spcPct val="110000"/>
              </a:lnSpc>
              <a:buNone/>
            </a:pPr>
            <a:r>
              <a:rPr lang="en-US" sz="1050" dirty="0">
                <a:solidFill>
                  <a:srgbClr val="1E293B"/>
                </a:solidFill>
                <a:latin typeface="Calibri" pitchFamily="34" charset="0"/>
                <a:ea typeface="Calibri" pitchFamily="34" charset="-122"/>
                <a:cs typeface="Calibri" pitchFamily="34" charset="-120"/>
              </a:rPr>
              <a:t>ipRGCs (melanopsin) → SCN → circadian regulation
</a:t>
            </a:r>
            <a:endParaRPr lang="en-US" sz="1050" dirty="0"/>
          </a:p>
          <a:p>
            <a:pPr marL="0" indent="0">
              <a:lnSpc>
                <a:spcPct val="110000"/>
              </a:lnSpc>
              <a:buNone/>
            </a:pPr>
            <a:r>
              <a:rPr lang="en-US" sz="1050" b="1" dirty="0">
                <a:solidFill>
                  <a:srgbClr val="1E293B"/>
                </a:solidFill>
                <a:latin typeface="Calibri" pitchFamily="34" charset="0"/>
                <a:ea typeface="Calibri" pitchFamily="34" charset="-122"/>
                <a:cs typeface="Calibri" pitchFamily="34" charset="-120"/>
              </a:rPr>
              <a:t>Provides: </a:t>
            </a:r>
            <a:r>
              <a:rPr lang="en-US" sz="1050" dirty="0">
                <a:solidFill>
                  <a:srgbClr val="1E293B"/>
                </a:solidFill>
                <a:latin typeface="Calibri" pitchFamily="34" charset="0"/>
                <a:ea typeface="Calibri" pitchFamily="34" charset="-122"/>
                <a:cs typeface="Calibri" pitchFamily="34" charset="-120"/>
              </a:rPr>
              <a:t>circadian entrainment, alertness, melatonin timing
</a:t>
            </a:r>
            <a:endParaRPr lang="en-US" sz="1050" dirty="0"/>
          </a:p>
          <a:p>
            <a:pPr marL="0" indent="0">
              <a:lnSpc>
                <a:spcPct val="110000"/>
              </a:lnSpc>
              <a:buNone/>
            </a:pPr>
            <a:r>
              <a:rPr lang="en-US" sz="1050" b="1" dirty="0">
                <a:solidFill>
                  <a:srgbClr val="1E293B"/>
                </a:solidFill>
                <a:latin typeface="Calibri" pitchFamily="34" charset="0"/>
                <a:ea typeface="Calibri" pitchFamily="34" charset="-122"/>
                <a:cs typeface="Calibri" pitchFamily="34" charset="-120"/>
              </a:rPr>
              <a:t>Design: </a:t>
            </a:r>
            <a:r>
              <a:rPr lang="en-US" sz="1050" dirty="0">
                <a:solidFill>
                  <a:srgbClr val="1E293B"/>
                </a:solidFill>
                <a:latin typeface="Calibri" pitchFamily="34" charset="0"/>
                <a:ea typeface="Calibri" pitchFamily="34" charset="-122"/>
                <a:cs typeface="Calibri" pitchFamily="34" charset="-120"/>
              </a:rPr>
              <a:t>LIGHT SPECTRUM, TIMING, INTENSITY
</a:t>
            </a:r>
            <a:endParaRPr lang="en-US" sz="1050" dirty="0"/>
          </a:p>
          <a:p>
            <a:pPr marL="0" indent="0">
              <a:lnSpc>
                <a:spcPct val="110000"/>
              </a:lnSpc>
              <a:buNone/>
            </a:pPr>
            <a:r>
              <a:rPr lang="en-US" sz="1050" i="1" dirty="0">
                <a:solidFill>
                  <a:srgbClr val="1E293B"/>
                </a:solidFill>
                <a:latin typeface="Calibri" pitchFamily="34" charset="0"/>
                <a:ea typeface="Calibri" pitchFamily="34" charset="-122"/>
                <a:cs typeface="Calibri" pitchFamily="34" charset="-120"/>
              </a:rPr>
              <a:t>Heschong's learning effect includes this — blue light at 10am</a:t>
            </a:r>
            <a:endParaRPr lang="en-US" sz="1050" dirty="0"/>
          </a:p>
        </p:txBody>
      </p:sp>
      <p:sp>
        <p:nvSpPr>
          <p:cNvPr id="12" name="Shape 10"/>
          <p:cNvSpPr/>
          <p:nvPr/>
        </p:nvSpPr>
        <p:spPr>
          <a:xfrm>
            <a:off x="548640" y="3520440"/>
            <a:ext cx="8046720" cy="12344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3520440"/>
            <a:ext cx="54864" cy="1234440"/>
          </a:xfrm>
          <a:prstGeom prst="rect">
            <a:avLst/>
          </a:prstGeom>
          <a:solidFill>
            <a:srgbClr val="B85042"/>
          </a:solidFill>
          <a:ln/>
        </p:spPr>
        <p:txBody>
          <a:bodyPr/>
          <a:lstStyle/>
          <a:p>
            <a:endParaRPr lang="en-US"/>
          </a:p>
        </p:txBody>
      </p:sp>
      <p:sp>
        <p:nvSpPr>
          <p:cNvPr id="14" name="Text 12"/>
          <p:cNvSpPr/>
          <p:nvPr/>
        </p:nvSpPr>
        <p:spPr>
          <a:xfrm>
            <a:off x="777240" y="3584448"/>
            <a:ext cx="7589520" cy="1051560"/>
          </a:xfrm>
          <a:prstGeom prst="rect">
            <a:avLst/>
          </a:prstGeom>
          <a:noFill/>
          <a:ln/>
        </p:spPr>
        <p:txBody>
          <a:bodyPr wrap="square" lIns="0" tIns="0" rIns="0" bIns="0" rtlCol="0" anchor="ctr"/>
          <a:lstStyle/>
          <a:p>
            <a:pPr marL="0" indent="0">
              <a:lnSpc>
                <a:spcPct val="125000"/>
              </a:lnSpc>
              <a:buNone/>
            </a:pPr>
            <a:r>
              <a:rPr lang="en-US" sz="1100" b="1" dirty="0">
                <a:solidFill>
                  <a:srgbClr val="B85042"/>
                </a:solidFill>
                <a:latin typeface="Calibri" pitchFamily="34" charset="0"/>
                <a:ea typeface="Calibri" pitchFamily="34" charset="-122"/>
                <a:cs typeface="Calibri" pitchFamily="34" charset="-120"/>
              </a:rPr>
              <a:t>The insight: </a:t>
            </a:r>
            <a:r>
              <a:rPr lang="en-US" sz="1100" dirty="0">
                <a:solidFill>
                  <a:srgbClr val="1E293B"/>
                </a:solidFill>
                <a:latin typeface="Calibri" pitchFamily="34" charset="0"/>
                <a:ea typeface="Calibri" pitchFamily="34" charset="-122"/>
                <a:cs typeface="Calibri" pitchFamily="34" charset="-120"/>
              </a:rPr>
              <a:t>Heschong's "daylight improves learning" conflates two independent mechanisms.
</a:t>
            </a:r>
            <a:endParaRPr lang="en-US" sz="1100" dirty="0"/>
          </a:p>
          <a:p>
            <a:pPr marL="0" indent="0">
              <a:lnSpc>
                <a:spcPct val="125000"/>
              </a:lnSpc>
              <a:buNone/>
            </a:pPr>
            <a:r>
              <a:rPr lang="en-US" sz="1100" dirty="0">
                <a:solidFill>
                  <a:srgbClr val="1E293B"/>
                </a:solidFill>
                <a:latin typeface="Calibri" pitchFamily="34" charset="0"/>
                <a:ea typeface="Calibri" pitchFamily="34" charset="-122"/>
                <a:cs typeface="Calibri" pitchFamily="34" charset="-120"/>
              </a:rPr>
              <a:t>A windowless room with tunable LEDs can provide pathway 2 (circadian) without pathway 1 (view).
</a:t>
            </a:r>
            <a:endParaRPr lang="en-US" sz="1100" dirty="0"/>
          </a:p>
          <a:p>
            <a:pPr marL="0" indent="0">
              <a:lnSpc>
                <a:spcPct val="125000"/>
              </a:lnSpc>
              <a:buNone/>
            </a:pPr>
            <a:r>
              <a:rPr lang="en-US" sz="1100" dirty="0">
                <a:solidFill>
                  <a:srgbClr val="1E293B"/>
                </a:solidFill>
                <a:latin typeface="Calibri" pitchFamily="34" charset="0"/>
                <a:ea typeface="Calibri" pitchFamily="34" charset="-122"/>
                <a:cs typeface="Calibri" pitchFamily="34" charset="-120"/>
              </a:rPr>
              <a:t>A small window provides a view but insufficient circadian signal.
</a:t>
            </a:r>
            <a:endParaRPr lang="en-US" sz="1100" dirty="0"/>
          </a:p>
          <a:p>
            <a:pPr marL="0" indent="0">
              <a:lnSpc>
                <a:spcPct val="125000"/>
              </a:lnSpc>
              <a:buNone/>
            </a:pPr>
            <a:r>
              <a:rPr lang="en-US" sz="1100" b="1" dirty="0">
                <a:solidFill>
                  <a:srgbClr val="1E293B"/>
                </a:solidFill>
                <a:latin typeface="Calibri" pitchFamily="34" charset="0"/>
                <a:ea typeface="Calibri" pitchFamily="34" charset="-122"/>
                <a:cs typeface="Calibri" pitchFamily="34" charset="-120"/>
              </a:rPr>
              <a:t>The template decomposition generates different architectural specifications for each.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NEURO MEETS ENV PSYCH — EXAMPLE 2</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Why Translucent Partitions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Are Worse Than No Partitions</a:t>
            </a:r>
            <a:endParaRPr lang="en-US" sz="2600" dirty="0"/>
          </a:p>
        </p:txBody>
      </p:sp>
      <p:sp>
        <p:nvSpPr>
          <p:cNvPr id="4" name="Text 2"/>
          <p:cNvSpPr/>
          <p:nvPr/>
        </p:nvSpPr>
        <p:spPr>
          <a:xfrm>
            <a:off x="548640" y="114300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 prediction that ONLY comes from composing conflict monitoring with workspace architecture:</a:t>
            </a:r>
            <a:endParaRPr lang="en-US" sz="1400" dirty="0"/>
          </a:p>
        </p:txBody>
      </p:sp>
      <p:sp>
        <p:nvSpPr>
          <p:cNvPr id="5" name="Shape 3"/>
          <p:cNvSpPr/>
          <p:nvPr/>
        </p:nvSpPr>
        <p:spPr>
          <a:xfrm>
            <a:off x="548640" y="1463040"/>
            <a:ext cx="2697480" cy="1920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63040"/>
            <a:ext cx="54864" cy="1920240"/>
          </a:xfrm>
          <a:prstGeom prst="rect">
            <a:avLst/>
          </a:prstGeom>
          <a:solidFill>
            <a:srgbClr val="2B5A8C"/>
          </a:solidFill>
          <a:ln/>
        </p:spPr>
        <p:txBody>
          <a:bodyPr/>
          <a:lstStyle/>
          <a:p>
            <a:endParaRPr lang="en-US"/>
          </a:p>
        </p:txBody>
      </p:sp>
      <p:sp>
        <p:nvSpPr>
          <p:cNvPr id="7" name="Text 5"/>
          <p:cNvSpPr/>
          <p:nvPr/>
        </p:nvSpPr>
        <p:spPr>
          <a:xfrm>
            <a:off x="731520" y="1536192"/>
            <a:ext cx="2331720" cy="256032"/>
          </a:xfrm>
          <a:prstGeom prst="rect">
            <a:avLst/>
          </a:prstGeom>
          <a:noFill/>
          <a:ln/>
        </p:spPr>
        <p:txBody>
          <a:bodyPr wrap="square" lIns="0" tIns="0" rIns="0" bIns="0" rtlCol="0" anchor="ctr"/>
          <a:lstStyle/>
          <a:p>
            <a:pPr marL="0" indent="0">
              <a:buNone/>
            </a:pPr>
            <a:r>
              <a:rPr lang="en-US" sz="1400" b="1" dirty="0">
                <a:solidFill>
                  <a:srgbClr val="2B5A8C"/>
                </a:solidFill>
                <a:latin typeface="Georgia" pitchFamily="34" charset="0"/>
                <a:ea typeface="Georgia" pitchFamily="34" charset="-122"/>
                <a:cs typeface="Georgia" pitchFamily="34" charset="-120"/>
              </a:rPr>
              <a:t>No barrier</a:t>
            </a:r>
            <a:endParaRPr lang="en-US" sz="1400" dirty="0"/>
          </a:p>
        </p:txBody>
      </p:sp>
      <p:sp>
        <p:nvSpPr>
          <p:cNvPr id="8" name="Text 6"/>
          <p:cNvSpPr/>
          <p:nvPr/>
        </p:nvSpPr>
        <p:spPr>
          <a:xfrm>
            <a:off x="731520" y="1828800"/>
            <a:ext cx="2331720" cy="1005840"/>
          </a:xfrm>
          <a:prstGeom prst="rect">
            <a:avLst/>
          </a:prstGeom>
          <a:noFill/>
          <a:ln/>
        </p:spPr>
        <p:txBody>
          <a:bodyPr wrap="square" lIns="0" tIns="0" rIns="0" bIns="0"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Movement visible → orienting → interruption.</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BUT: you habituate. The system learns</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to down-weight that channel.</a:t>
            </a:r>
            <a:endParaRPr lang="en-US" sz="1000" dirty="0"/>
          </a:p>
        </p:txBody>
      </p:sp>
      <p:sp>
        <p:nvSpPr>
          <p:cNvPr id="9" name="Text 7"/>
          <p:cNvSpPr/>
          <p:nvPr/>
        </p:nvSpPr>
        <p:spPr>
          <a:xfrm>
            <a:off x="731520" y="2926080"/>
            <a:ext cx="2331720" cy="274320"/>
          </a:xfrm>
          <a:prstGeom prst="rect">
            <a:avLst/>
          </a:prstGeom>
          <a:noFill/>
          <a:ln/>
        </p:spPr>
        <p:txBody>
          <a:bodyPr wrap="square" lIns="0" tIns="0" rIns="0" bIns="0" rtlCol="0" anchor="ctr"/>
          <a:lstStyle/>
          <a:p>
            <a:pPr marL="0" indent="0">
              <a:buNone/>
            </a:pPr>
            <a:r>
              <a:rPr lang="en-US" sz="1300" b="1" dirty="0">
                <a:solidFill>
                  <a:srgbClr val="8C4B2B"/>
                </a:solidFill>
                <a:latin typeface="Calibri" pitchFamily="34" charset="0"/>
                <a:ea typeface="Calibri" pitchFamily="34" charset="-122"/>
                <a:cs typeface="Calibri" pitchFamily="34" charset="-120"/>
              </a:rPr>
              <a:t>Moderate cost</a:t>
            </a:r>
            <a:endParaRPr lang="en-US" sz="1300" dirty="0"/>
          </a:p>
        </p:txBody>
      </p:sp>
      <p:sp>
        <p:nvSpPr>
          <p:cNvPr id="10" name="Shape 8"/>
          <p:cNvSpPr/>
          <p:nvPr/>
        </p:nvSpPr>
        <p:spPr>
          <a:xfrm>
            <a:off x="3429000" y="1463040"/>
            <a:ext cx="2697480" cy="1920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1" name="Shape 9"/>
          <p:cNvSpPr/>
          <p:nvPr/>
        </p:nvSpPr>
        <p:spPr>
          <a:xfrm>
            <a:off x="3429000" y="1463040"/>
            <a:ext cx="54864" cy="1920240"/>
          </a:xfrm>
          <a:prstGeom prst="rect">
            <a:avLst/>
          </a:prstGeom>
          <a:solidFill>
            <a:srgbClr val="3B7A4C"/>
          </a:solidFill>
          <a:ln/>
        </p:spPr>
        <p:txBody>
          <a:bodyPr/>
          <a:lstStyle/>
          <a:p>
            <a:endParaRPr lang="en-US"/>
          </a:p>
        </p:txBody>
      </p:sp>
      <p:sp>
        <p:nvSpPr>
          <p:cNvPr id="12" name="Text 10"/>
          <p:cNvSpPr/>
          <p:nvPr/>
        </p:nvSpPr>
        <p:spPr>
          <a:xfrm>
            <a:off x="3611880" y="1536192"/>
            <a:ext cx="2331720" cy="256032"/>
          </a:xfrm>
          <a:prstGeom prst="rect">
            <a:avLst/>
          </a:prstGeom>
          <a:noFill/>
          <a:ln/>
        </p:spPr>
        <p:txBody>
          <a:bodyPr wrap="square" lIns="0" tIns="0" rIns="0" bIns="0" rtlCol="0" anchor="ctr"/>
          <a:lstStyle/>
          <a:p>
            <a:pPr marL="0" indent="0">
              <a:buNone/>
            </a:pPr>
            <a:r>
              <a:rPr lang="en-US" sz="1400" b="1" dirty="0">
                <a:solidFill>
                  <a:srgbClr val="3B7A4C"/>
                </a:solidFill>
                <a:latin typeface="Georgia" pitchFamily="34" charset="0"/>
                <a:ea typeface="Georgia" pitchFamily="34" charset="-122"/>
                <a:cs typeface="Georgia" pitchFamily="34" charset="-120"/>
              </a:rPr>
              <a:t>Opaque barrier</a:t>
            </a:r>
            <a:endParaRPr lang="en-US" sz="1400" dirty="0"/>
          </a:p>
        </p:txBody>
      </p:sp>
      <p:sp>
        <p:nvSpPr>
          <p:cNvPr id="13" name="Text 11"/>
          <p:cNvSpPr/>
          <p:nvPr/>
        </p:nvSpPr>
        <p:spPr>
          <a:xfrm>
            <a:off x="3611880" y="1828800"/>
            <a:ext cx="2331720" cy="1005840"/>
          </a:xfrm>
          <a:prstGeom prst="rect">
            <a:avLst/>
          </a:prstGeom>
          <a:noFill/>
          <a:ln/>
        </p:spPr>
        <p:txBody>
          <a:bodyPr wrap="square" lIns="0" tIns="0" rIns="0" bIns="0"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No movement signal at all.</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No orienting, no conflict, no cost.</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The explicit workspace is fully protected.</a:t>
            </a:r>
            <a:endParaRPr lang="en-US" sz="1000" dirty="0"/>
          </a:p>
        </p:txBody>
      </p:sp>
      <p:sp>
        <p:nvSpPr>
          <p:cNvPr id="14" name="Text 12"/>
          <p:cNvSpPr/>
          <p:nvPr/>
        </p:nvSpPr>
        <p:spPr>
          <a:xfrm>
            <a:off x="3611880" y="2926080"/>
            <a:ext cx="2331720" cy="274320"/>
          </a:xfrm>
          <a:prstGeom prst="rect">
            <a:avLst/>
          </a:prstGeom>
          <a:noFill/>
          <a:ln/>
        </p:spPr>
        <p:txBody>
          <a:bodyPr wrap="square" lIns="0" tIns="0" rIns="0" bIns="0" rtlCol="0" anchor="ctr"/>
          <a:lstStyle/>
          <a:p>
            <a:pPr marL="0" indent="0">
              <a:buNone/>
            </a:pPr>
            <a:r>
              <a:rPr lang="en-US" sz="1300" b="1" dirty="0">
                <a:solidFill>
                  <a:srgbClr val="3B7A4C"/>
                </a:solidFill>
                <a:latin typeface="Calibri" pitchFamily="34" charset="0"/>
                <a:ea typeface="Calibri" pitchFamily="34" charset="-122"/>
                <a:cs typeface="Calibri" pitchFamily="34" charset="-120"/>
              </a:rPr>
              <a:t>Zero cost</a:t>
            </a:r>
            <a:endParaRPr lang="en-US" sz="1300" dirty="0"/>
          </a:p>
        </p:txBody>
      </p:sp>
      <p:sp>
        <p:nvSpPr>
          <p:cNvPr id="15" name="Shape 13"/>
          <p:cNvSpPr/>
          <p:nvPr/>
        </p:nvSpPr>
        <p:spPr>
          <a:xfrm>
            <a:off x="6309360" y="1463040"/>
            <a:ext cx="2697480" cy="1920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6" name="Shape 14"/>
          <p:cNvSpPr/>
          <p:nvPr/>
        </p:nvSpPr>
        <p:spPr>
          <a:xfrm>
            <a:off x="6309360" y="1463040"/>
            <a:ext cx="54864" cy="1920240"/>
          </a:xfrm>
          <a:prstGeom prst="rect">
            <a:avLst/>
          </a:prstGeom>
          <a:solidFill>
            <a:srgbClr val="B85042"/>
          </a:solidFill>
          <a:ln/>
        </p:spPr>
        <p:txBody>
          <a:bodyPr/>
          <a:lstStyle/>
          <a:p>
            <a:endParaRPr lang="en-US"/>
          </a:p>
        </p:txBody>
      </p:sp>
      <p:sp>
        <p:nvSpPr>
          <p:cNvPr id="17" name="Text 15"/>
          <p:cNvSpPr/>
          <p:nvPr/>
        </p:nvSpPr>
        <p:spPr>
          <a:xfrm>
            <a:off x="6492240" y="1536192"/>
            <a:ext cx="2331720" cy="256032"/>
          </a:xfrm>
          <a:prstGeom prst="rect">
            <a:avLst/>
          </a:prstGeom>
          <a:noFill/>
          <a:ln/>
        </p:spPr>
        <p:txBody>
          <a:bodyPr wrap="square" lIns="0" tIns="0" rIns="0" bIns="0" rtlCol="0" anchor="ctr"/>
          <a:lstStyle/>
          <a:p>
            <a:pPr marL="0" indent="0">
              <a:buNone/>
            </a:pPr>
            <a:r>
              <a:rPr lang="en-US" sz="1400" b="1" dirty="0">
                <a:solidFill>
                  <a:srgbClr val="B85042"/>
                </a:solidFill>
                <a:latin typeface="Georgia" pitchFamily="34" charset="0"/>
                <a:ea typeface="Georgia" pitchFamily="34" charset="-122"/>
                <a:cs typeface="Georgia" pitchFamily="34" charset="-120"/>
              </a:rPr>
              <a:t>Translucent barrier</a:t>
            </a:r>
            <a:endParaRPr lang="en-US" sz="1400" dirty="0"/>
          </a:p>
        </p:txBody>
      </p:sp>
      <p:sp>
        <p:nvSpPr>
          <p:cNvPr id="18" name="Text 16"/>
          <p:cNvSpPr/>
          <p:nvPr/>
        </p:nvSpPr>
        <p:spPr>
          <a:xfrm>
            <a:off x="6492240" y="1828800"/>
            <a:ext cx="2331720" cy="1005840"/>
          </a:xfrm>
          <a:prstGeom prst="rect">
            <a:avLst/>
          </a:prstGeom>
          <a:noFill/>
          <a:ln/>
        </p:spPr>
        <p:txBody>
          <a:bodyPr wrap="square" lIns="0" tIns="0" rIns="0" bIns="0" rtlCol="0" anchor="ctr"/>
          <a:lstStyle/>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Blurred movement → subthreshold signal.</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Too weak to trigger full orienting,</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TOO STRONG to be safely ignored.</a:t>
            </a:r>
            <a:endParaRPr lang="en-US" sz="1000" dirty="0"/>
          </a:p>
          <a:p>
            <a:pPr marL="0" indent="0">
              <a:lnSpc>
                <a:spcPct val="120000"/>
              </a:lnSpc>
              <a:buNone/>
            </a:pPr>
            <a:r>
              <a:rPr lang="en-US" sz="1000" dirty="0">
                <a:solidFill>
                  <a:srgbClr val="475569"/>
                </a:solidFill>
                <a:latin typeface="Calibri" pitchFamily="34" charset="0"/>
                <a:ea typeface="Calibri" pitchFamily="34" charset="-122"/>
                <a:cs typeface="Calibri" pitchFamily="34" charset="-120"/>
              </a:rPr>
              <a:t>Conflict monitoring fires continuously.</a:t>
            </a:r>
            <a:endParaRPr lang="en-US" sz="1000" dirty="0"/>
          </a:p>
        </p:txBody>
      </p:sp>
      <p:sp>
        <p:nvSpPr>
          <p:cNvPr id="19" name="Text 17"/>
          <p:cNvSpPr/>
          <p:nvPr/>
        </p:nvSpPr>
        <p:spPr>
          <a:xfrm>
            <a:off x="6492240" y="2926080"/>
            <a:ext cx="2331720" cy="274320"/>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HIGHEST cost</a:t>
            </a:r>
            <a:endParaRPr lang="en-US" sz="1300" dirty="0"/>
          </a:p>
        </p:txBody>
      </p:sp>
      <p:sp>
        <p:nvSpPr>
          <p:cNvPr id="20" name="Shape 18"/>
          <p:cNvSpPr/>
          <p:nvPr/>
        </p:nvSpPr>
        <p:spPr>
          <a:xfrm>
            <a:off x="548640" y="3611880"/>
            <a:ext cx="8046720" cy="10515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548640" y="3611880"/>
            <a:ext cx="54864" cy="1051560"/>
          </a:xfrm>
          <a:prstGeom prst="rect">
            <a:avLst/>
          </a:prstGeom>
          <a:solidFill>
            <a:srgbClr val="8C2B5A"/>
          </a:solidFill>
          <a:ln/>
        </p:spPr>
        <p:txBody>
          <a:bodyPr/>
          <a:lstStyle/>
          <a:p>
            <a:endParaRPr lang="en-US"/>
          </a:p>
        </p:txBody>
      </p:sp>
      <p:sp>
        <p:nvSpPr>
          <p:cNvPr id="22" name="Text 20"/>
          <p:cNvSpPr/>
          <p:nvPr/>
        </p:nvSpPr>
        <p:spPr>
          <a:xfrm>
            <a:off x="777240" y="3675888"/>
            <a:ext cx="7589520" cy="868680"/>
          </a:xfrm>
          <a:prstGeom prst="rect">
            <a:avLst/>
          </a:prstGeom>
          <a:noFill/>
          <a:ln/>
        </p:spPr>
        <p:txBody>
          <a:bodyPr wrap="square" lIns="0" tIns="0" rIns="0" bIns="0" rtlCol="0" anchor="ctr"/>
          <a:lstStyle/>
          <a:p>
            <a:pPr marL="0" indent="0">
              <a:lnSpc>
                <a:spcPct val="130000"/>
              </a:lnSpc>
              <a:buNone/>
            </a:pPr>
            <a:r>
              <a:rPr lang="en-US" sz="1000" b="1" dirty="0">
                <a:solidFill>
                  <a:srgbClr val="1E293B"/>
                </a:solidFill>
                <a:latin typeface="Calibri" pitchFamily="34" charset="0"/>
                <a:ea typeface="Calibri" pitchFamily="34" charset="-122"/>
                <a:cs typeface="Calibri" pitchFamily="34" charset="-120"/>
              </a:rPr>
              <a:t>The mechanism (Botvinick et al., 2001; Shenhav et al., 2017): </a:t>
            </a:r>
            <a:r>
              <a:rPr lang="en-US" sz="1000" dirty="0">
                <a:solidFill>
                  <a:srgbClr val="475569"/>
                </a:solidFill>
                <a:latin typeface="Calibri" pitchFamily="34" charset="0"/>
                <a:ea typeface="Calibri" pitchFamily="34" charset="-122"/>
                <a:cs typeface="Calibri" pitchFamily="34" charset="-120"/>
              </a:rPr>
              <a:t>dACC conflict monitoring has a METABOLIC COST per event, even when the intrusion is successfully suppressed.
</a:t>
            </a:r>
            <a:endParaRPr lang="en-US" sz="1000" dirty="0"/>
          </a:p>
          <a:p>
            <a:pPr marL="0" indent="0">
              <a:lnSpc>
                <a:spcPct val="130000"/>
              </a:lnSpc>
              <a:buNone/>
            </a:pPr>
            <a:r>
              <a:rPr lang="en-US" sz="1050" b="1" dirty="0">
                <a:solidFill>
                  <a:srgbClr val="B85042"/>
                </a:solidFill>
                <a:latin typeface="Calibri" pitchFamily="34" charset="0"/>
                <a:ea typeface="Calibri" pitchFamily="34" charset="-122"/>
                <a:cs typeface="Calibri" pitchFamily="34" charset="-120"/>
              </a:rPr>
              <a:t>20 subthreshold near-misses per hour exhaust the control budget FASTER than 5 actual interruptions.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NEURO MEETS ENV PSYCH — EXAMPLE 3</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Wood: Multi-Channel Convergence</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as a Design Principle</a:t>
            </a:r>
            <a:endParaRPr lang="en-US" sz="2600" dirty="0"/>
          </a:p>
        </p:txBody>
      </p:sp>
      <p:sp>
        <p:nvSpPr>
          <p:cNvPr id="4" name="Text 2"/>
          <p:cNvSpPr/>
          <p:nvPr/>
        </p:nvSpPr>
        <p:spPr>
          <a:xfrm>
            <a:off x="548640" y="114300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Why does exposed wood consistently outperform other materials in wellbeing studies?</a:t>
            </a:r>
            <a:endParaRPr lang="en-US" sz="1400" dirty="0"/>
          </a:p>
        </p:txBody>
      </p:sp>
      <p:sp>
        <p:nvSpPr>
          <p:cNvPr id="5" name="Shape 3"/>
          <p:cNvSpPr/>
          <p:nvPr/>
        </p:nvSpPr>
        <p:spPr>
          <a:xfrm>
            <a:off x="548640" y="1463040"/>
            <a:ext cx="8046720" cy="475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63040"/>
            <a:ext cx="54864" cy="475488"/>
          </a:xfrm>
          <a:prstGeom prst="rect">
            <a:avLst/>
          </a:prstGeom>
          <a:solidFill>
            <a:srgbClr val="2B5A8C"/>
          </a:solidFill>
          <a:ln/>
        </p:spPr>
        <p:txBody>
          <a:bodyPr/>
          <a:lstStyle/>
          <a:p>
            <a:endParaRPr lang="en-US"/>
          </a:p>
        </p:txBody>
      </p:sp>
      <p:sp>
        <p:nvSpPr>
          <p:cNvPr id="7" name="Text 5"/>
          <p:cNvSpPr/>
          <p:nvPr/>
        </p:nvSpPr>
        <p:spPr>
          <a:xfrm>
            <a:off x="777240" y="1517904"/>
            <a:ext cx="1005840" cy="320040"/>
          </a:xfrm>
          <a:prstGeom prst="rect">
            <a:avLst/>
          </a:prstGeom>
          <a:noFill/>
          <a:ln/>
        </p:spPr>
        <p:txBody>
          <a:bodyPr wrap="square" lIns="0" tIns="0" rIns="0" bIns="0" rtlCol="0" anchor="ctr"/>
          <a:lstStyle/>
          <a:p>
            <a:pPr marL="0" indent="0">
              <a:buNone/>
            </a:pPr>
            <a:r>
              <a:rPr lang="en-US" sz="1300" b="1" dirty="0">
                <a:solidFill>
                  <a:srgbClr val="2B5A8C"/>
                </a:solidFill>
                <a:latin typeface="Georgia" pitchFamily="34" charset="0"/>
                <a:ea typeface="Georgia" pitchFamily="34" charset="-122"/>
                <a:cs typeface="Georgia" pitchFamily="34" charset="-120"/>
              </a:rPr>
              <a:t>Visual</a:t>
            </a:r>
            <a:endParaRPr lang="en-US" sz="1300" dirty="0"/>
          </a:p>
        </p:txBody>
      </p:sp>
      <p:sp>
        <p:nvSpPr>
          <p:cNvPr id="8" name="Text 6"/>
          <p:cNvSpPr/>
          <p:nvPr/>
        </p:nvSpPr>
        <p:spPr>
          <a:xfrm>
            <a:off x="1828800" y="1536192"/>
            <a:ext cx="65836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Fractal patterns (D ≈ 1.3), warm color temperature, grain provides moderate complexity</a:t>
            </a:r>
            <a:endParaRPr lang="en-US" sz="1100" dirty="0"/>
          </a:p>
        </p:txBody>
      </p:sp>
      <p:sp>
        <p:nvSpPr>
          <p:cNvPr id="9" name="Shape 7"/>
          <p:cNvSpPr/>
          <p:nvPr/>
        </p:nvSpPr>
        <p:spPr>
          <a:xfrm>
            <a:off x="548640" y="2029968"/>
            <a:ext cx="8046720" cy="475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548640" y="2029968"/>
            <a:ext cx="54864" cy="475488"/>
          </a:xfrm>
          <a:prstGeom prst="rect">
            <a:avLst/>
          </a:prstGeom>
          <a:solidFill>
            <a:srgbClr val="3B7A4C"/>
          </a:solidFill>
          <a:ln/>
        </p:spPr>
        <p:txBody>
          <a:bodyPr/>
          <a:lstStyle/>
          <a:p>
            <a:endParaRPr lang="en-US"/>
          </a:p>
        </p:txBody>
      </p:sp>
      <p:sp>
        <p:nvSpPr>
          <p:cNvPr id="11" name="Text 9"/>
          <p:cNvSpPr/>
          <p:nvPr/>
        </p:nvSpPr>
        <p:spPr>
          <a:xfrm>
            <a:off x="777240" y="2084832"/>
            <a:ext cx="1005840" cy="320040"/>
          </a:xfrm>
          <a:prstGeom prst="rect">
            <a:avLst/>
          </a:prstGeom>
          <a:noFill/>
          <a:ln/>
        </p:spPr>
        <p:txBody>
          <a:bodyPr wrap="square" lIns="0" tIns="0" rIns="0" bIns="0" rtlCol="0" anchor="ctr"/>
          <a:lstStyle/>
          <a:p>
            <a:pPr marL="0" indent="0">
              <a:buNone/>
            </a:pPr>
            <a:r>
              <a:rPr lang="en-US" sz="1300" b="1" dirty="0">
                <a:solidFill>
                  <a:srgbClr val="3B7A4C"/>
                </a:solidFill>
                <a:latin typeface="Georgia" pitchFamily="34" charset="0"/>
                <a:ea typeface="Georgia" pitchFamily="34" charset="-122"/>
                <a:cs typeface="Georgia" pitchFamily="34" charset="-120"/>
              </a:rPr>
              <a:t>Olfactory</a:t>
            </a:r>
            <a:endParaRPr lang="en-US" sz="1300" dirty="0"/>
          </a:p>
        </p:txBody>
      </p:sp>
      <p:sp>
        <p:nvSpPr>
          <p:cNvPr id="12" name="Text 10"/>
          <p:cNvSpPr/>
          <p:nvPr/>
        </p:nvSpPr>
        <p:spPr>
          <a:xfrm>
            <a:off x="1828800" y="2103120"/>
            <a:ext cx="65836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Terpenes activate parasympathetic response; phytoncides reduce cortisol (Li, 2010)</a:t>
            </a:r>
            <a:endParaRPr lang="en-US" sz="1100" dirty="0"/>
          </a:p>
        </p:txBody>
      </p:sp>
      <p:sp>
        <p:nvSpPr>
          <p:cNvPr id="13" name="Shape 11"/>
          <p:cNvSpPr/>
          <p:nvPr/>
        </p:nvSpPr>
        <p:spPr>
          <a:xfrm>
            <a:off x="548640" y="2596896"/>
            <a:ext cx="8046720" cy="475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4" name="Shape 12"/>
          <p:cNvSpPr/>
          <p:nvPr/>
        </p:nvSpPr>
        <p:spPr>
          <a:xfrm>
            <a:off x="548640" y="2596896"/>
            <a:ext cx="54864" cy="475488"/>
          </a:xfrm>
          <a:prstGeom prst="rect">
            <a:avLst/>
          </a:prstGeom>
          <a:solidFill>
            <a:srgbClr val="6B3B8C"/>
          </a:solidFill>
          <a:ln/>
        </p:spPr>
        <p:txBody>
          <a:bodyPr/>
          <a:lstStyle/>
          <a:p>
            <a:endParaRPr lang="en-US"/>
          </a:p>
        </p:txBody>
      </p:sp>
      <p:sp>
        <p:nvSpPr>
          <p:cNvPr id="15" name="Text 13"/>
          <p:cNvSpPr/>
          <p:nvPr/>
        </p:nvSpPr>
        <p:spPr>
          <a:xfrm>
            <a:off x="777240" y="2651760"/>
            <a:ext cx="1005840" cy="320040"/>
          </a:xfrm>
          <a:prstGeom prst="rect">
            <a:avLst/>
          </a:prstGeom>
          <a:noFill/>
          <a:ln/>
        </p:spPr>
        <p:txBody>
          <a:bodyPr wrap="square" lIns="0" tIns="0" rIns="0" bIns="0" rtlCol="0" anchor="ctr"/>
          <a:lstStyle/>
          <a:p>
            <a:pPr marL="0" indent="0">
              <a:buNone/>
            </a:pPr>
            <a:r>
              <a:rPr lang="en-US" sz="1300" b="1" dirty="0">
                <a:solidFill>
                  <a:srgbClr val="6B3B8C"/>
                </a:solidFill>
                <a:latin typeface="Georgia" pitchFamily="34" charset="0"/>
                <a:ea typeface="Georgia" pitchFamily="34" charset="-122"/>
                <a:cs typeface="Georgia" pitchFamily="34" charset="-120"/>
              </a:rPr>
              <a:t>Tactile</a:t>
            </a:r>
            <a:endParaRPr lang="en-US" sz="1300" dirty="0"/>
          </a:p>
        </p:txBody>
      </p:sp>
      <p:sp>
        <p:nvSpPr>
          <p:cNvPr id="16" name="Text 14"/>
          <p:cNvSpPr/>
          <p:nvPr/>
        </p:nvSpPr>
        <p:spPr>
          <a:xfrm>
            <a:off x="1828800" y="2670048"/>
            <a:ext cx="65836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Thermal neutrality; activates C-tactile afferents (doesn't feel cold like metal/stone)</a:t>
            </a:r>
            <a:endParaRPr lang="en-US" sz="1100" dirty="0"/>
          </a:p>
        </p:txBody>
      </p:sp>
      <p:sp>
        <p:nvSpPr>
          <p:cNvPr id="17" name="Shape 15"/>
          <p:cNvSpPr/>
          <p:nvPr/>
        </p:nvSpPr>
        <p:spPr>
          <a:xfrm>
            <a:off x="548640" y="3163824"/>
            <a:ext cx="8046720" cy="475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8" name="Shape 16"/>
          <p:cNvSpPr/>
          <p:nvPr/>
        </p:nvSpPr>
        <p:spPr>
          <a:xfrm>
            <a:off x="548640" y="3163824"/>
            <a:ext cx="54864" cy="475488"/>
          </a:xfrm>
          <a:prstGeom prst="rect">
            <a:avLst/>
          </a:prstGeom>
          <a:solidFill>
            <a:srgbClr val="8C4B2B"/>
          </a:solidFill>
          <a:ln/>
        </p:spPr>
        <p:txBody>
          <a:bodyPr/>
          <a:lstStyle/>
          <a:p>
            <a:endParaRPr lang="en-US"/>
          </a:p>
        </p:txBody>
      </p:sp>
      <p:sp>
        <p:nvSpPr>
          <p:cNvPr id="19" name="Text 17"/>
          <p:cNvSpPr/>
          <p:nvPr/>
        </p:nvSpPr>
        <p:spPr>
          <a:xfrm>
            <a:off x="777240" y="3218688"/>
            <a:ext cx="1005840" cy="320040"/>
          </a:xfrm>
          <a:prstGeom prst="rect">
            <a:avLst/>
          </a:prstGeom>
          <a:noFill/>
          <a:ln/>
        </p:spPr>
        <p:txBody>
          <a:bodyPr wrap="square" lIns="0" tIns="0" rIns="0" bIns="0" rtlCol="0" anchor="ctr"/>
          <a:lstStyle/>
          <a:p>
            <a:pPr marL="0" indent="0">
              <a:buNone/>
            </a:pPr>
            <a:r>
              <a:rPr lang="en-US" sz="1300" b="1" dirty="0">
                <a:solidFill>
                  <a:srgbClr val="8C4B2B"/>
                </a:solidFill>
                <a:latin typeface="Georgia" pitchFamily="34" charset="0"/>
                <a:ea typeface="Georgia" pitchFamily="34" charset="-122"/>
                <a:cs typeface="Georgia" pitchFamily="34" charset="-120"/>
              </a:rPr>
              <a:t>Acoustic</a:t>
            </a:r>
            <a:endParaRPr lang="en-US" sz="1300" dirty="0"/>
          </a:p>
        </p:txBody>
      </p:sp>
      <p:sp>
        <p:nvSpPr>
          <p:cNvPr id="20" name="Text 18"/>
          <p:cNvSpPr/>
          <p:nvPr/>
        </p:nvSpPr>
        <p:spPr>
          <a:xfrm>
            <a:off x="1828800" y="3236976"/>
            <a:ext cx="65836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Natural absorption reduces reverberation; softer impact sounds</a:t>
            </a:r>
            <a:endParaRPr lang="en-US" sz="1100" dirty="0"/>
          </a:p>
        </p:txBody>
      </p:sp>
      <p:sp>
        <p:nvSpPr>
          <p:cNvPr id="21" name="Shape 19"/>
          <p:cNvSpPr/>
          <p:nvPr/>
        </p:nvSpPr>
        <p:spPr>
          <a:xfrm>
            <a:off x="548640" y="3730752"/>
            <a:ext cx="8046720" cy="475488"/>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2" name="Shape 20"/>
          <p:cNvSpPr/>
          <p:nvPr/>
        </p:nvSpPr>
        <p:spPr>
          <a:xfrm>
            <a:off x="548640" y="3730752"/>
            <a:ext cx="54864" cy="475488"/>
          </a:xfrm>
          <a:prstGeom prst="rect">
            <a:avLst/>
          </a:prstGeom>
          <a:solidFill>
            <a:srgbClr val="8C2B5A"/>
          </a:solidFill>
          <a:ln/>
        </p:spPr>
        <p:txBody>
          <a:bodyPr/>
          <a:lstStyle/>
          <a:p>
            <a:endParaRPr lang="en-US"/>
          </a:p>
        </p:txBody>
      </p:sp>
      <p:sp>
        <p:nvSpPr>
          <p:cNvPr id="23" name="Text 21"/>
          <p:cNvSpPr/>
          <p:nvPr/>
        </p:nvSpPr>
        <p:spPr>
          <a:xfrm>
            <a:off x="777240" y="3785616"/>
            <a:ext cx="1005840" cy="320040"/>
          </a:xfrm>
          <a:prstGeom prst="rect">
            <a:avLst/>
          </a:prstGeom>
          <a:noFill/>
          <a:ln/>
        </p:spPr>
        <p:txBody>
          <a:bodyPr wrap="square" lIns="0" tIns="0" rIns="0" bIns="0" rtlCol="0" anchor="ctr"/>
          <a:lstStyle/>
          <a:p>
            <a:pPr marL="0" indent="0">
              <a:buNone/>
            </a:pPr>
            <a:r>
              <a:rPr lang="en-US" sz="1300" b="1" dirty="0">
                <a:solidFill>
                  <a:srgbClr val="8C2B5A"/>
                </a:solidFill>
                <a:latin typeface="Georgia" pitchFamily="34" charset="0"/>
                <a:ea typeface="Georgia" pitchFamily="34" charset="-122"/>
                <a:cs typeface="Georgia" pitchFamily="34" charset="-120"/>
              </a:rPr>
              <a:t>Semantic</a:t>
            </a:r>
            <a:endParaRPr lang="en-US" sz="1300" dirty="0"/>
          </a:p>
        </p:txBody>
      </p:sp>
      <p:sp>
        <p:nvSpPr>
          <p:cNvPr id="24" name="Text 22"/>
          <p:cNvSpPr/>
          <p:nvPr/>
        </p:nvSpPr>
        <p:spPr>
          <a:xfrm>
            <a:off x="1828800" y="3803904"/>
            <a:ext cx="6583680" cy="32004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Cultural association with nature, warmth, shelter — activates biophilic priors</a:t>
            </a:r>
            <a:endParaRPr lang="en-US" sz="1100" dirty="0"/>
          </a:p>
        </p:txBody>
      </p:sp>
      <p:sp>
        <p:nvSpPr>
          <p:cNvPr id="25" name="Shape 23"/>
          <p:cNvSpPr/>
          <p:nvPr/>
        </p:nvSpPr>
        <p:spPr>
          <a:xfrm>
            <a:off x="548640" y="4343400"/>
            <a:ext cx="8046720" cy="5486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6" name="Shape 24"/>
          <p:cNvSpPr/>
          <p:nvPr/>
        </p:nvSpPr>
        <p:spPr>
          <a:xfrm>
            <a:off x="548640" y="4343400"/>
            <a:ext cx="54864" cy="548640"/>
          </a:xfrm>
          <a:prstGeom prst="rect">
            <a:avLst/>
          </a:prstGeom>
          <a:solidFill>
            <a:srgbClr val="B85042"/>
          </a:solidFill>
          <a:ln/>
        </p:spPr>
        <p:txBody>
          <a:bodyPr/>
          <a:lstStyle/>
          <a:p>
            <a:endParaRPr lang="en-US"/>
          </a:p>
        </p:txBody>
      </p:sp>
      <p:sp>
        <p:nvSpPr>
          <p:cNvPr id="27" name="Text 25"/>
          <p:cNvSpPr/>
          <p:nvPr/>
        </p:nvSpPr>
        <p:spPr>
          <a:xfrm>
            <a:off x="777240" y="4407408"/>
            <a:ext cx="7589520" cy="41148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Multi-channel convergence principle: </a:t>
            </a:r>
            <a:r>
              <a:rPr lang="en-US" sz="1200" dirty="0">
                <a:solidFill>
                  <a:srgbClr val="1E293B"/>
                </a:solidFill>
                <a:latin typeface="Calibri" pitchFamily="34" charset="0"/>
                <a:ea typeface="Calibri" pitchFamily="34" charset="-122"/>
                <a:cs typeface="Calibri" pitchFamily="34" charset="-120"/>
              </a:rPr>
              <a:t>stimuli engaging multiple prediction channels simultaneously produce super-additive benefits. Wood, nature, and daylight all do this.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COMPOSED PREDICTIONS</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The Window Paradox:</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One Element Activates Five Templates</a:t>
            </a:r>
            <a:endParaRPr lang="en-US" sz="2600" dirty="0"/>
          </a:p>
        </p:txBody>
      </p:sp>
      <p:sp>
        <p:nvSpPr>
          <p:cNvPr id="4" name="Text 2"/>
          <p:cNvSpPr/>
          <p:nvPr/>
        </p:nvSpPr>
        <p:spPr>
          <a:xfrm>
            <a:off x="548640" y="1115568"/>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 south-facing window simultaneously triggers beneficial AND harmful mechanisms</a:t>
            </a:r>
            <a:endParaRPr lang="en-US" sz="1400" dirty="0"/>
          </a:p>
        </p:txBody>
      </p:sp>
      <p:sp>
        <p:nvSpPr>
          <p:cNvPr id="5" name="Shape 3"/>
          <p:cNvSpPr/>
          <p:nvPr/>
        </p:nvSpPr>
        <p:spPr>
          <a:xfrm>
            <a:off x="548640" y="1417320"/>
            <a:ext cx="26060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17320"/>
            <a:ext cx="54864" cy="822960"/>
          </a:xfrm>
          <a:prstGeom prst="rect">
            <a:avLst/>
          </a:prstGeom>
          <a:solidFill>
            <a:srgbClr val="2B5A8C"/>
          </a:solidFill>
          <a:ln/>
        </p:spPr>
        <p:txBody>
          <a:bodyPr/>
          <a:lstStyle/>
          <a:p>
            <a:endParaRPr lang="en-US"/>
          </a:p>
        </p:txBody>
      </p:sp>
      <p:sp>
        <p:nvSpPr>
          <p:cNvPr id="7" name="Text 5"/>
          <p:cNvSpPr/>
          <p:nvPr/>
        </p:nvSpPr>
        <p:spPr>
          <a:xfrm>
            <a:off x="731520" y="1472184"/>
            <a:ext cx="2240280" cy="182880"/>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T014  +</a:t>
            </a:r>
            <a:endParaRPr lang="en-US" sz="1000" dirty="0"/>
          </a:p>
        </p:txBody>
      </p:sp>
      <p:sp>
        <p:nvSpPr>
          <p:cNvPr id="8" name="Text 6"/>
          <p:cNvSpPr/>
          <p:nvPr/>
        </p:nvSpPr>
        <p:spPr>
          <a:xfrm>
            <a:off x="731520" y="1691640"/>
            <a:ext cx="224028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Natural light → alertness</a:t>
            </a:r>
            <a:endParaRPr lang="en-US" sz="1100" dirty="0"/>
          </a:p>
        </p:txBody>
      </p:sp>
      <p:sp>
        <p:nvSpPr>
          <p:cNvPr id="9" name="Text 7"/>
          <p:cNvSpPr/>
          <p:nvPr/>
        </p:nvSpPr>
        <p:spPr>
          <a:xfrm>
            <a:off x="731520" y="1965960"/>
            <a:ext cx="224028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Circadian</a:t>
            </a:r>
            <a:endParaRPr lang="en-US" sz="900" dirty="0"/>
          </a:p>
        </p:txBody>
      </p:sp>
      <p:sp>
        <p:nvSpPr>
          <p:cNvPr id="10" name="Shape 8"/>
          <p:cNvSpPr/>
          <p:nvPr/>
        </p:nvSpPr>
        <p:spPr>
          <a:xfrm>
            <a:off x="3383280" y="1417320"/>
            <a:ext cx="26060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1" name="Shape 9"/>
          <p:cNvSpPr/>
          <p:nvPr/>
        </p:nvSpPr>
        <p:spPr>
          <a:xfrm>
            <a:off x="3383280" y="1417320"/>
            <a:ext cx="54864" cy="822960"/>
          </a:xfrm>
          <a:prstGeom prst="rect">
            <a:avLst/>
          </a:prstGeom>
          <a:solidFill>
            <a:srgbClr val="3B7A4C"/>
          </a:solidFill>
          <a:ln/>
        </p:spPr>
        <p:txBody>
          <a:bodyPr/>
          <a:lstStyle/>
          <a:p>
            <a:endParaRPr lang="en-US"/>
          </a:p>
        </p:txBody>
      </p:sp>
      <p:sp>
        <p:nvSpPr>
          <p:cNvPr id="12" name="Text 10"/>
          <p:cNvSpPr/>
          <p:nvPr/>
        </p:nvSpPr>
        <p:spPr>
          <a:xfrm>
            <a:off x="3566160" y="1472184"/>
            <a:ext cx="2240280" cy="182880"/>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T041  +</a:t>
            </a:r>
            <a:endParaRPr lang="en-US" sz="1000" dirty="0"/>
          </a:p>
        </p:txBody>
      </p:sp>
      <p:sp>
        <p:nvSpPr>
          <p:cNvPr id="13" name="Text 11"/>
          <p:cNvSpPr/>
          <p:nvPr/>
        </p:nvSpPr>
        <p:spPr>
          <a:xfrm>
            <a:off x="3566160" y="1691640"/>
            <a:ext cx="224028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Nature view → restoration</a:t>
            </a:r>
            <a:endParaRPr lang="en-US" sz="1100" dirty="0"/>
          </a:p>
        </p:txBody>
      </p:sp>
      <p:sp>
        <p:nvSpPr>
          <p:cNvPr id="14" name="Text 12"/>
          <p:cNvSpPr/>
          <p:nvPr/>
        </p:nvSpPr>
        <p:spPr>
          <a:xfrm>
            <a:off x="3566160" y="1965960"/>
            <a:ext cx="224028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ART / SRT</a:t>
            </a:r>
            <a:endParaRPr lang="en-US" sz="900" dirty="0"/>
          </a:p>
        </p:txBody>
      </p:sp>
      <p:sp>
        <p:nvSpPr>
          <p:cNvPr id="15" name="Shape 13"/>
          <p:cNvSpPr/>
          <p:nvPr/>
        </p:nvSpPr>
        <p:spPr>
          <a:xfrm>
            <a:off x="6217920" y="1417320"/>
            <a:ext cx="26060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6" name="Shape 14"/>
          <p:cNvSpPr/>
          <p:nvPr/>
        </p:nvSpPr>
        <p:spPr>
          <a:xfrm>
            <a:off x="6217920" y="1417320"/>
            <a:ext cx="54864" cy="822960"/>
          </a:xfrm>
          <a:prstGeom prst="rect">
            <a:avLst/>
          </a:prstGeom>
          <a:solidFill>
            <a:srgbClr val="6B3B8C"/>
          </a:solidFill>
          <a:ln/>
        </p:spPr>
        <p:txBody>
          <a:bodyPr/>
          <a:lstStyle/>
          <a:p>
            <a:endParaRPr lang="en-US"/>
          </a:p>
        </p:txBody>
      </p:sp>
      <p:sp>
        <p:nvSpPr>
          <p:cNvPr id="17" name="Text 15"/>
          <p:cNvSpPr/>
          <p:nvPr/>
        </p:nvSpPr>
        <p:spPr>
          <a:xfrm>
            <a:off x="6400800" y="1472184"/>
            <a:ext cx="2240280" cy="182880"/>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T016  +</a:t>
            </a:r>
            <a:endParaRPr lang="en-US" sz="1000" dirty="0"/>
          </a:p>
        </p:txBody>
      </p:sp>
      <p:sp>
        <p:nvSpPr>
          <p:cNvPr id="18" name="Text 16"/>
          <p:cNvSpPr/>
          <p:nvPr/>
        </p:nvSpPr>
        <p:spPr>
          <a:xfrm>
            <a:off x="6400800" y="1691640"/>
            <a:ext cx="224028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Temporal info → circadian anchoring</a:t>
            </a:r>
            <a:endParaRPr lang="en-US" sz="1100" dirty="0"/>
          </a:p>
        </p:txBody>
      </p:sp>
      <p:sp>
        <p:nvSpPr>
          <p:cNvPr id="19" name="Text 17"/>
          <p:cNvSpPr/>
          <p:nvPr/>
        </p:nvSpPr>
        <p:spPr>
          <a:xfrm>
            <a:off x="6400800" y="1965960"/>
            <a:ext cx="224028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Entrainment</a:t>
            </a:r>
            <a:endParaRPr lang="en-US" sz="900" dirty="0"/>
          </a:p>
        </p:txBody>
      </p:sp>
      <p:sp>
        <p:nvSpPr>
          <p:cNvPr id="20" name="Shape 18"/>
          <p:cNvSpPr/>
          <p:nvPr/>
        </p:nvSpPr>
        <p:spPr>
          <a:xfrm>
            <a:off x="1463040" y="2423160"/>
            <a:ext cx="30632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1463040" y="2423160"/>
            <a:ext cx="54864" cy="822960"/>
          </a:xfrm>
          <a:prstGeom prst="rect">
            <a:avLst/>
          </a:prstGeom>
          <a:solidFill>
            <a:srgbClr val="8C4B2B"/>
          </a:solidFill>
          <a:ln/>
        </p:spPr>
        <p:txBody>
          <a:bodyPr/>
          <a:lstStyle/>
          <a:p>
            <a:endParaRPr lang="en-US"/>
          </a:p>
        </p:txBody>
      </p:sp>
      <p:sp>
        <p:nvSpPr>
          <p:cNvPr id="22" name="Text 20"/>
          <p:cNvSpPr/>
          <p:nvPr/>
        </p:nvSpPr>
        <p:spPr>
          <a:xfrm>
            <a:off x="1645920" y="2478024"/>
            <a:ext cx="2697480" cy="182880"/>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T033  +</a:t>
            </a:r>
            <a:endParaRPr lang="en-US" sz="1000" dirty="0"/>
          </a:p>
        </p:txBody>
      </p:sp>
      <p:sp>
        <p:nvSpPr>
          <p:cNvPr id="23" name="Text 21"/>
          <p:cNvSpPr/>
          <p:nvPr/>
        </p:nvSpPr>
        <p:spPr>
          <a:xfrm>
            <a:off x="1645920" y="2697480"/>
            <a:ext cx="269748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Spatial depth → extent</a:t>
            </a:r>
            <a:endParaRPr lang="en-US" sz="1100" dirty="0"/>
          </a:p>
        </p:txBody>
      </p:sp>
      <p:sp>
        <p:nvSpPr>
          <p:cNvPr id="24" name="Text 22"/>
          <p:cNvSpPr/>
          <p:nvPr/>
        </p:nvSpPr>
        <p:spPr>
          <a:xfrm>
            <a:off x="1645920" y="2971800"/>
            <a:ext cx="269748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Prospect</a:t>
            </a:r>
            <a:endParaRPr lang="en-US" sz="900" dirty="0"/>
          </a:p>
        </p:txBody>
      </p:sp>
      <p:sp>
        <p:nvSpPr>
          <p:cNvPr id="25" name="Shape 23"/>
          <p:cNvSpPr/>
          <p:nvPr/>
        </p:nvSpPr>
        <p:spPr>
          <a:xfrm>
            <a:off x="4754880" y="2423160"/>
            <a:ext cx="30632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6" name="Shape 24"/>
          <p:cNvSpPr/>
          <p:nvPr/>
        </p:nvSpPr>
        <p:spPr>
          <a:xfrm>
            <a:off x="4754880" y="2423160"/>
            <a:ext cx="54864" cy="822960"/>
          </a:xfrm>
          <a:prstGeom prst="rect">
            <a:avLst/>
          </a:prstGeom>
          <a:solidFill>
            <a:srgbClr val="B85042"/>
          </a:solidFill>
          <a:ln/>
        </p:spPr>
        <p:txBody>
          <a:bodyPr/>
          <a:lstStyle/>
          <a:p>
            <a:endParaRPr lang="en-US"/>
          </a:p>
        </p:txBody>
      </p:sp>
      <p:sp>
        <p:nvSpPr>
          <p:cNvPr id="27" name="Text 25"/>
          <p:cNvSpPr/>
          <p:nvPr/>
        </p:nvSpPr>
        <p:spPr>
          <a:xfrm>
            <a:off x="4937760" y="2478024"/>
            <a:ext cx="2697480" cy="182880"/>
          </a:xfrm>
          <a:prstGeom prst="rect">
            <a:avLst/>
          </a:prstGeom>
          <a:noFill/>
          <a:ln/>
        </p:spPr>
        <p:txBody>
          <a:bodyPr wrap="square" lIns="0" tIns="0" rIns="0" bIns="0" rtlCol="0" anchor="ctr"/>
          <a:lstStyle/>
          <a:p>
            <a:pPr marL="0" indent="0">
              <a:buNone/>
            </a:pPr>
            <a:r>
              <a:rPr lang="en-US" sz="1000" b="1" dirty="0">
                <a:solidFill>
                  <a:srgbClr val="B85042"/>
                </a:solidFill>
                <a:latin typeface="Calibri" pitchFamily="34" charset="0"/>
                <a:ea typeface="Calibri" pitchFamily="34" charset="-122"/>
                <a:cs typeface="Calibri" pitchFamily="34" charset="-120"/>
              </a:rPr>
              <a:t>T028  −</a:t>
            </a:r>
            <a:endParaRPr lang="en-US" sz="1000" dirty="0"/>
          </a:p>
        </p:txBody>
      </p:sp>
      <p:sp>
        <p:nvSpPr>
          <p:cNvPr id="28" name="Text 26"/>
          <p:cNvSpPr/>
          <p:nvPr/>
        </p:nvSpPr>
        <p:spPr>
          <a:xfrm>
            <a:off x="4937760" y="2697480"/>
            <a:ext cx="269748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Solar heat gain + glare</a:t>
            </a:r>
            <a:endParaRPr lang="en-US" sz="1100" dirty="0"/>
          </a:p>
        </p:txBody>
      </p:sp>
      <p:sp>
        <p:nvSpPr>
          <p:cNvPr id="29" name="Text 27"/>
          <p:cNvSpPr/>
          <p:nvPr/>
        </p:nvSpPr>
        <p:spPr>
          <a:xfrm>
            <a:off x="4937760" y="2971800"/>
            <a:ext cx="269748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Thermal / Visual</a:t>
            </a:r>
            <a:endParaRPr lang="en-US" sz="900" dirty="0"/>
          </a:p>
        </p:txBody>
      </p:sp>
      <p:sp>
        <p:nvSpPr>
          <p:cNvPr id="30" name="Text 28"/>
          <p:cNvSpPr/>
          <p:nvPr/>
        </p:nvSpPr>
        <p:spPr>
          <a:xfrm>
            <a:off x="548640" y="3383280"/>
            <a:ext cx="804672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 first four are beneficial. The fifth is conditionally harmful — it depends on season, orientation, shading, and perceived thermal control.</a:t>
            </a:r>
            <a:endParaRPr lang="en-US" sz="1100" dirty="0"/>
          </a:p>
        </p:txBody>
      </p:sp>
      <p:sp>
        <p:nvSpPr>
          <p:cNvPr id="31" name="Shape 29"/>
          <p:cNvSpPr/>
          <p:nvPr/>
        </p:nvSpPr>
        <p:spPr>
          <a:xfrm>
            <a:off x="548640" y="3749040"/>
            <a:ext cx="8046720" cy="9601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32" name="Shape 30"/>
          <p:cNvSpPr/>
          <p:nvPr/>
        </p:nvSpPr>
        <p:spPr>
          <a:xfrm>
            <a:off x="548640" y="3749040"/>
            <a:ext cx="54864" cy="960120"/>
          </a:xfrm>
          <a:prstGeom prst="rect">
            <a:avLst/>
          </a:prstGeom>
          <a:solidFill>
            <a:srgbClr val="B85042"/>
          </a:solidFill>
          <a:ln/>
        </p:spPr>
        <p:txBody>
          <a:bodyPr/>
          <a:lstStyle/>
          <a:p>
            <a:endParaRPr lang="en-US"/>
          </a:p>
        </p:txBody>
      </p:sp>
      <p:sp>
        <p:nvSpPr>
          <p:cNvPr id="33" name="Text 31"/>
          <p:cNvSpPr/>
          <p:nvPr/>
        </p:nvSpPr>
        <p:spPr>
          <a:xfrm>
            <a:off x="777240" y="3794760"/>
            <a:ext cx="7589520" cy="182880"/>
          </a:xfrm>
          <a:prstGeom prst="rect">
            <a:avLst/>
          </a:prstGeom>
          <a:noFill/>
          <a:ln/>
        </p:spPr>
        <p:txBody>
          <a:bodyPr wrap="square" lIns="0" tIns="0" rIns="0" bIns="0" rtlCol="0" anchor="ctr"/>
          <a:lstStyle/>
          <a:p>
            <a:pPr marL="0" indent="0">
              <a:buNone/>
            </a:pPr>
            <a:r>
              <a:rPr lang="en-US" sz="1000" b="1" kern="0" spc="100" dirty="0">
                <a:solidFill>
                  <a:srgbClr val="B85042"/>
                </a:solidFill>
                <a:latin typeface="Calibri" pitchFamily="34" charset="0"/>
                <a:ea typeface="Calibri" pitchFamily="34" charset="-122"/>
                <a:cs typeface="Calibri" pitchFamily="34" charset="-120"/>
              </a:rPr>
              <a:t>PREDICTION 9: The net effect of a window reverses seasonally</a:t>
            </a:r>
            <a:endParaRPr lang="en-US" sz="1000" dirty="0"/>
          </a:p>
        </p:txBody>
      </p:sp>
      <p:sp>
        <p:nvSpPr>
          <p:cNvPr id="34" name="Text 32"/>
          <p:cNvSpPr/>
          <p:nvPr/>
        </p:nvSpPr>
        <p:spPr>
          <a:xfrm>
            <a:off x="777240" y="4023360"/>
            <a:ext cx="7589520" cy="594360"/>
          </a:xfrm>
          <a:prstGeom prst="rect">
            <a:avLst/>
          </a:prstGeom>
          <a:noFill/>
          <a:ln/>
        </p:spPr>
        <p:txBody>
          <a:bodyPr wrap="square" lIns="0" tIns="0" rIns="0" bIns="0" rtlCol="0" anchor="ctr"/>
          <a:lstStyle/>
          <a:p>
            <a:pPr marL="0" indent="0">
              <a:lnSpc>
                <a:spcPct val="125000"/>
              </a:lnSpc>
              <a:buNone/>
            </a:pPr>
            <a:r>
              <a:rPr lang="en-US" sz="1000" b="1" dirty="0">
                <a:solidFill>
                  <a:srgbClr val="1E293B"/>
                </a:solidFill>
                <a:latin typeface="Calibri" pitchFamily="34" charset="0"/>
                <a:ea typeface="Calibri" pitchFamily="34" charset="-122"/>
                <a:cs typeface="Calibri" pitchFamily="34" charset="-120"/>
              </a:rPr>
              <a:t>Winter: </a:t>
            </a:r>
            <a:r>
              <a:rPr lang="en-US" sz="1000" dirty="0">
                <a:solidFill>
                  <a:srgbClr val="1E293B"/>
                </a:solidFill>
                <a:latin typeface="Calibri" pitchFamily="34" charset="0"/>
                <a:ea typeface="Calibri" pitchFamily="34" charset="-122"/>
                <a:cs typeface="Calibri" pitchFamily="34" charset="-120"/>
              </a:rPr>
              <a:t>south-facing window is overwhelmingly positive — strong T014 + T041 + T016 + T033, minimal T028.
</a:t>
            </a:r>
            <a:r>
              <a:rPr lang="en-US" sz="1000" b="1" dirty="0">
                <a:solidFill>
                  <a:srgbClr val="1E293B"/>
                </a:solidFill>
                <a:latin typeface="Calibri" pitchFamily="34" charset="0"/>
                <a:ea typeface="Calibri" pitchFamily="34" charset="-122"/>
                <a:cs typeface="Calibri" pitchFamily="34" charset="-120"/>
              </a:rPr>
              <a:t>Summer: </a:t>
            </a:r>
            <a:r>
              <a:rPr lang="en-US" sz="1000" dirty="0">
                <a:solidFill>
                  <a:srgbClr val="1E293B"/>
                </a:solidFill>
                <a:latin typeface="Calibri" pitchFamily="34" charset="0"/>
                <a:ea typeface="Calibri" pitchFamily="34" charset="-122"/>
                <a:cs typeface="Calibri" pitchFamily="34" charset="-120"/>
              </a:rPr>
              <a:t>T028 (thermal + glare) may negate or reverse the benefits for near-window workstations.
</a:t>
            </a:r>
            <a:r>
              <a:rPr lang="en-US" sz="1000" b="1" dirty="0">
                <a:solidFill>
                  <a:srgbClr val="1E293B"/>
                </a:solidFill>
                <a:latin typeface="Calibri" pitchFamily="34" charset="0"/>
                <a:ea typeface="Calibri" pitchFamily="34" charset="-122"/>
                <a:cs typeface="Calibri" pitchFamily="34" charset="-120"/>
              </a:rPr>
              <a:t>The same window at the same desk produces positive net benefit in winter and negative net benefit in midsummer.</a:t>
            </a:r>
            <a:endParaRPr lang="en-US" sz="1000" dirty="0"/>
          </a:p>
        </p:txBody>
      </p:sp>
      <p:sp>
        <p:nvSpPr>
          <p:cNvPr id="35" name="Text 33"/>
          <p:cNvSpPr/>
          <p:nvPr/>
        </p:nvSpPr>
        <p:spPr>
          <a:xfrm>
            <a:off x="548640" y="4800600"/>
            <a:ext cx="8046720" cy="228600"/>
          </a:xfrm>
          <a:prstGeom prst="rect">
            <a:avLst/>
          </a:prstGeom>
          <a:noFill/>
          <a:ln/>
        </p:spPr>
        <p:txBody>
          <a:bodyPr wrap="square" lIns="0" tIns="0" rIns="0" bIns="0" rtlCol="0" anchor="ctr"/>
          <a:lstStyle/>
          <a:p>
            <a:pPr marL="0" indent="0">
              <a:buNone/>
            </a:pPr>
            <a:r>
              <a:rPr lang="en-US" sz="1100" i="1" dirty="0">
                <a:solidFill>
                  <a:srgbClr val="2B5A8C"/>
                </a:solidFill>
                <a:latin typeface="Georgia" pitchFamily="34" charset="0"/>
                <a:ea typeface="Georgia" pitchFamily="34" charset="-122"/>
                <a:cs typeface="Georgia" pitchFamily="34" charset="-120"/>
              </a:rPr>
              <a:t>Profound implications for building orientation and adaptive facade design. No single study produces this — it requires composing across templates.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EXPLANATORY POWER</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Why Nature Photographs Produce</a:t>
            </a:r>
            <a:endParaRPr lang="en-US" sz="2400" dirty="0"/>
          </a:p>
          <a:p>
            <a:pPr marL="0" indent="0">
              <a:buNone/>
            </a:pPr>
            <a:r>
              <a:rPr lang="en-US" sz="2400" b="1" dirty="0">
                <a:solidFill>
                  <a:srgbClr val="1E293B"/>
                </a:solidFill>
                <a:latin typeface="Georgia" pitchFamily="34" charset="0"/>
                <a:ea typeface="Georgia" pitchFamily="34" charset="-122"/>
                <a:cs typeface="Georgia" pitchFamily="34" charset="-120"/>
              </a:rPr>
              <a:t>Smaller Effects Than Real Nature</a:t>
            </a:r>
            <a:endParaRPr lang="en-US" sz="2400" dirty="0"/>
          </a:p>
        </p:txBody>
      </p:sp>
      <p:sp>
        <p:nvSpPr>
          <p:cNvPr id="4" name="Text 2"/>
          <p:cNvSpPr/>
          <p:nvPr/>
        </p:nvSpPr>
        <p:spPr>
          <a:xfrm>
            <a:off x="548640" y="1170432"/>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Kahn et al. (2008): plasma screens showing real-time nature views ≠ windows. But why?</a:t>
            </a:r>
            <a:endParaRPr lang="en-US" sz="1400" dirty="0"/>
          </a:p>
        </p:txBody>
      </p:sp>
      <p:sp>
        <p:nvSpPr>
          <p:cNvPr id="5" name="Shape 3"/>
          <p:cNvSpPr/>
          <p:nvPr/>
        </p:nvSpPr>
        <p:spPr>
          <a:xfrm>
            <a:off x="548640" y="1508760"/>
            <a:ext cx="3840480" cy="20116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508760"/>
            <a:ext cx="54864" cy="2011680"/>
          </a:xfrm>
          <a:prstGeom prst="rect">
            <a:avLst/>
          </a:prstGeom>
          <a:solidFill>
            <a:srgbClr val="3B7A4C"/>
          </a:solidFill>
          <a:ln/>
        </p:spPr>
        <p:txBody>
          <a:bodyPr/>
          <a:lstStyle/>
          <a:p>
            <a:endParaRPr lang="en-US"/>
          </a:p>
        </p:txBody>
      </p:sp>
      <p:sp>
        <p:nvSpPr>
          <p:cNvPr id="7" name="Text 5"/>
          <p:cNvSpPr/>
          <p:nvPr/>
        </p:nvSpPr>
        <p:spPr>
          <a:xfrm>
            <a:off x="777240" y="1554480"/>
            <a:ext cx="3383280" cy="164592"/>
          </a:xfrm>
          <a:prstGeom prst="rect">
            <a:avLst/>
          </a:prstGeom>
          <a:noFill/>
          <a:ln/>
        </p:spPr>
        <p:txBody>
          <a:bodyPr wrap="square" lIns="0" tIns="0" rIns="0" bIns="0" rtlCol="0" anchor="ctr"/>
          <a:lstStyle/>
          <a:p>
            <a:pPr marL="0" indent="0">
              <a:buNone/>
            </a:pPr>
            <a:r>
              <a:rPr lang="en-US" sz="900" b="1" kern="0" spc="200" dirty="0">
                <a:solidFill>
                  <a:srgbClr val="3B7A4C"/>
                </a:solidFill>
                <a:latin typeface="Calibri" pitchFamily="34" charset="0"/>
                <a:ea typeface="Calibri" pitchFamily="34" charset="-122"/>
                <a:cs typeface="Calibri" pitchFamily="34" charset="-120"/>
              </a:rPr>
              <a:t>WHAT PHOTOGRAPHS CAPTURE</a:t>
            </a:r>
            <a:endParaRPr lang="en-US" sz="900" dirty="0"/>
          </a:p>
        </p:txBody>
      </p:sp>
      <p:sp>
        <p:nvSpPr>
          <p:cNvPr id="8" name="Text 6"/>
          <p:cNvSpPr/>
          <p:nvPr/>
        </p:nvSpPr>
        <p:spPr>
          <a:xfrm>
            <a:off x="777240" y="1874520"/>
            <a:ext cx="3383280" cy="1527048"/>
          </a:xfrm>
          <a:prstGeom prst="rect">
            <a:avLst/>
          </a:prstGeom>
          <a:noFill/>
          <a:ln/>
        </p:spPr>
        <p:txBody>
          <a:bodyPr wrap="square" lIns="0" tIns="0" rIns="0" bIns="0" rtlCol="0" anchor="ctr"/>
          <a:lstStyle/>
          <a:p>
            <a:pPr marL="0" indent="0">
              <a:lnSpc>
                <a:spcPct val="125000"/>
              </a:lnSpc>
              <a:buNone/>
            </a:pPr>
            <a:r>
              <a:rPr lang="en-US" sz="1050" b="1" dirty="0">
                <a:solidFill>
                  <a:srgbClr val="1E293B"/>
                </a:solidFill>
                <a:latin typeface="Calibri" pitchFamily="34" charset="0"/>
                <a:ea typeface="Calibri" pitchFamily="34" charset="-122"/>
                <a:cs typeface="Calibri" pitchFamily="34" charset="-120"/>
              </a:rPr>
              <a:t>T041: Content-mediated stress reduction
</a:t>
            </a:r>
            <a:endParaRPr lang="en-US" sz="1050" dirty="0"/>
          </a:p>
          <a:p>
            <a:pPr marL="0" indent="0">
              <a:lnSpc>
                <a:spcPct val="125000"/>
              </a:lnSpc>
              <a:buNone/>
            </a:pPr>
            <a:r>
              <a:rPr lang="en-US" sz="1050" dirty="0">
                <a:solidFill>
                  <a:srgbClr val="1E293B"/>
                </a:solidFill>
                <a:latin typeface="Calibri" pitchFamily="34" charset="0"/>
                <a:ea typeface="Calibri" pitchFamily="34" charset="-122"/>
                <a:cs typeface="Calibri" pitchFamily="34" charset="-120"/>
              </a:rPr>
              <a:t>Natural scene → PPA/RSC scene recognition →
safety-relevant features detected →
reduced amygdala activation →
HPA downregulation → cortisol decrease
</a:t>
            </a:r>
            <a:r>
              <a:rPr lang="en-US" sz="1050" i="1" dirty="0">
                <a:solidFill>
                  <a:srgbClr val="475569"/>
                </a:solidFill>
                <a:latin typeface="Calibri" pitchFamily="34" charset="0"/>
                <a:ea typeface="Calibri" pitchFamily="34" charset="-122"/>
                <a:cs typeface="Calibri" pitchFamily="34" charset="-120"/>
              </a:rPr>
              <a:t>Photos process through the same visual hierarchy.</a:t>
            </a:r>
            <a:endParaRPr lang="en-US" sz="1050" dirty="0"/>
          </a:p>
          <a:p>
            <a:pPr marL="0" indent="0">
              <a:lnSpc>
                <a:spcPct val="125000"/>
              </a:lnSpc>
              <a:buNone/>
            </a:pPr>
            <a:r>
              <a:rPr lang="en-US" sz="1050" i="1" dirty="0">
                <a:solidFill>
                  <a:srgbClr val="475569"/>
                </a:solidFill>
                <a:latin typeface="Calibri" pitchFamily="34" charset="0"/>
                <a:ea typeface="Calibri" pitchFamily="34" charset="-122"/>
                <a:cs typeface="Calibri" pitchFamily="34" charset="-120"/>
              </a:rPr>
              <a:t>Scene recognition doesn't distinguish photo from view.</a:t>
            </a:r>
            <a:endParaRPr lang="en-US" sz="1050" dirty="0"/>
          </a:p>
        </p:txBody>
      </p:sp>
      <p:sp>
        <p:nvSpPr>
          <p:cNvPr id="9" name="Shape 7"/>
          <p:cNvSpPr/>
          <p:nvPr/>
        </p:nvSpPr>
        <p:spPr>
          <a:xfrm>
            <a:off x="4754880" y="1508760"/>
            <a:ext cx="4206240" cy="20116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4754880" y="1508760"/>
            <a:ext cx="54864" cy="2011680"/>
          </a:xfrm>
          <a:prstGeom prst="rect">
            <a:avLst/>
          </a:prstGeom>
          <a:solidFill>
            <a:srgbClr val="B85042"/>
          </a:solidFill>
          <a:ln/>
        </p:spPr>
        <p:txBody>
          <a:bodyPr/>
          <a:lstStyle/>
          <a:p>
            <a:endParaRPr lang="en-US"/>
          </a:p>
        </p:txBody>
      </p:sp>
      <p:sp>
        <p:nvSpPr>
          <p:cNvPr id="11" name="Text 9"/>
          <p:cNvSpPr/>
          <p:nvPr/>
        </p:nvSpPr>
        <p:spPr>
          <a:xfrm>
            <a:off x="4983480" y="1554480"/>
            <a:ext cx="3749040" cy="164592"/>
          </a:xfrm>
          <a:prstGeom prst="rect">
            <a:avLst/>
          </a:prstGeom>
          <a:noFill/>
          <a:ln/>
        </p:spPr>
        <p:txBody>
          <a:bodyPr wrap="square" lIns="0" tIns="0" rIns="0" bIns="0" rtlCol="0" anchor="ctr"/>
          <a:lstStyle/>
          <a:p>
            <a:pPr marL="0" indent="0">
              <a:buNone/>
            </a:pPr>
            <a:r>
              <a:rPr lang="en-US" sz="900" b="1" kern="0" spc="200" dirty="0">
                <a:solidFill>
                  <a:srgbClr val="B85042"/>
                </a:solidFill>
                <a:latin typeface="Calibri" pitchFamily="34" charset="0"/>
                <a:ea typeface="Calibri" pitchFamily="34" charset="-122"/>
                <a:cs typeface="Calibri" pitchFamily="34" charset="-120"/>
              </a:rPr>
              <a:t>WHAT PHOTOGRAPHS MISS</a:t>
            </a:r>
            <a:endParaRPr lang="en-US" sz="900" dirty="0"/>
          </a:p>
        </p:txBody>
      </p:sp>
      <p:sp>
        <p:nvSpPr>
          <p:cNvPr id="12" name="Text 10"/>
          <p:cNvSpPr/>
          <p:nvPr/>
        </p:nvSpPr>
        <p:spPr>
          <a:xfrm>
            <a:off x="4983480" y="1874520"/>
            <a:ext cx="3749040" cy="1527048"/>
          </a:xfrm>
          <a:prstGeom prst="rect">
            <a:avLst/>
          </a:prstGeom>
          <a:noFill/>
          <a:ln/>
        </p:spPr>
        <p:txBody>
          <a:bodyPr wrap="square" lIns="0" tIns="0" rIns="0" bIns="0" rtlCol="0" anchor="ctr"/>
          <a:lstStyle/>
          <a:p>
            <a:pPr marL="0" indent="0">
              <a:lnSpc>
                <a:spcPct val="120000"/>
              </a:lnSpc>
              <a:buNone/>
            </a:pPr>
            <a:r>
              <a:rPr lang="en-US" sz="1050" b="1" dirty="0">
                <a:solidFill>
                  <a:srgbClr val="1E293B"/>
                </a:solidFill>
                <a:latin typeface="Calibri" pitchFamily="34" charset="0"/>
                <a:ea typeface="Calibri" pitchFamily="34" charset="-122"/>
                <a:cs typeface="Calibri" pitchFamily="34" charset="-120"/>
              </a:rPr>
              <a:t>T014: Real light → circadian alertness
</a:t>
            </a:r>
            <a:endParaRPr lang="en-US" sz="1050" dirty="0"/>
          </a:p>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Melanopsin pathway requires actual photons at
~480nm hitting ipRGCs. A screen does not deliver this.
</a:t>
            </a:r>
            <a:r>
              <a:rPr lang="en-US" sz="1050" b="1" dirty="0">
                <a:solidFill>
                  <a:srgbClr val="1E293B"/>
                </a:solidFill>
                <a:latin typeface="Calibri" pitchFamily="34" charset="0"/>
                <a:ea typeface="Calibri" pitchFamily="34" charset="-122"/>
                <a:cs typeface="Calibri" pitchFamily="34" charset="-120"/>
              </a:rPr>
              <a:t>T016: Temporal information → circadian anchoring
</a:t>
            </a:r>
            <a:endParaRPr lang="en-US" sz="1050" dirty="0"/>
          </a:p>
          <a:p>
            <a:pPr marL="0" indent="0">
              <a:lnSpc>
                <a:spcPct val="120000"/>
              </a:lnSpc>
              <a:buNone/>
            </a:pPr>
            <a:r>
              <a:rPr lang="en-US" sz="1050" dirty="0">
                <a:solidFill>
                  <a:srgbClr val="1E293B"/>
                </a:solidFill>
                <a:latin typeface="Calibri" pitchFamily="34" charset="0"/>
                <a:ea typeface="Calibri" pitchFamily="34" charset="-122"/>
                <a:cs typeface="Calibri" pitchFamily="34" charset="-120"/>
              </a:rPr>
              <a:t>Real windows show sky luminance changes, cloud
movement, time-of-day cues. Photos are static.
</a:t>
            </a:r>
            <a:r>
              <a:rPr lang="en-US" sz="1050" b="1" dirty="0">
                <a:solidFill>
                  <a:srgbClr val="B85042"/>
                </a:solidFill>
                <a:latin typeface="Calibri" pitchFamily="34" charset="0"/>
                <a:ea typeface="Calibri" pitchFamily="34" charset="-122"/>
                <a:cs typeface="Calibri" pitchFamily="34" charset="-120"/>
              </a:rPr>
              <a:t>These mechanisms require the physical window.</a:t>
            </a:r>
            <a:endParaRPr lang="en-US" sz="1050" dirty="0"/>
          </a:p>
        </p:txBody>
      </p:sp>
      <p:sp>
        <p:nvSpPr>
          <p:cNvPr id="13" name="Text 11"/>
          <p:cNvSpPr/>
          <p:nvPr/>
        </p:nvSpPr>
        <p:spPr>
          <a:xfrm>
            <a:off x="4114800" y="2103120"/>
            <a:ext cx="457200" cy="457200"/>
          </a:xfrm>
          <a:prstGeom prst="rect">
            <a:avLst/>
          </a:prstGeom>
          <a:noFill/>
          <a:ln/>
        </p:spPr>
        <p:txBody>
          <a:bodyPr wrap="square" rtlCol="0" anchor="ctr"/>
          <a:lstStyle/>
          <a:p>
            <a:pPr marL="0" indent="0" algn="ctr">
              <a:buNone/>
            </a:pPr>
            <a:r>
              <a:rPr lang="en-US" sz="2400" b="1" dirty="0">
                <a:solidFill>
                  <a:srgbClr val="94A3B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3703320"/>
            <a:ext cx="804672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5" name="Shape 13"/>
          <p:cNvSpPr/>
          <p:nvPr/>
        </p:nvSpPr>
        <p:spPr>
          <a:xfrm>
            <a:off x="548640" y="3703320"/>
            <a:ext cx="54864" cy="822960"/>
          </a:xfrm>
          <a:prstGeom prst="rect">
            <a:avLst/>
          </a:prstGeom>
          <a:solidFill>
            <a:srgbClr val="2B5A8C"/>
          </a:solidFill>
          <a:ln/>
        </p:spPr>
        <p:txBody>
          <a:bodyPr/>
          <a:lstStyle/>
          <a:p>
            <a:endParaRPr lang="en-US"/>
          </a:p>
        </p:txBody>
      </p:sp>
      <p:sp>
        <p:nvSpPr>
          <p:cNvPr id="16" name="Text 14"/>
          <p:cNvSpPr/>
          <p:nvPr/>
        </p:nvSpPr>
        <p:spPr>
          <a:xfrm>
            <a:off x="777240" y="3749040"/>
            <a:ext cx="7589520" cy="164592"/>
          </a:xfrm>
          <a:prstGeom prst="rect">
            <a:avLst/>
          </a:prstGeom>
          <a:noFill/>
          <a:ln/>
        </p:spPr>
        <p:txBody>
          <a:bodyPr wrap="square" lIns="0" tIns="0" rIns="0" bIns="0" rtlCol="0" anchor="ctr"/>
          <a:lstStyle/>
          <a:p>
            <a:pPr marL="0" indent="0">
              <a:buNone/>
            </a:pPr>
            <a:r>
              <a:rPr lang="en-US" sz="900" b="1" kern="0" spc="100" dirty="0">
                <a:solidFill>
                  <a:srgbClr val="2B5A8C"/>
                </a:solidFill>
                <a:latin typeface="Calibri" pitchFamily="34" charset="0"/>
                <a:ea typeface="Calibri" pitchFamily="34" charset="-122"/>
                <a:cs typeface="Calibri" pitchFamily="34" charset="-120"/>
              </a:rPr>
              <a:t>THE MECHANISM DECOMPOSITION EXPLAINS THE EFFECT SIZE DIFFERENCE</a:t>
            </a:r>
            <a:endParaRPr lang="en-US" sz="900" dirty="0"/>
          </a:p>
        </p:txBody>
      </p:sp>
      <p:sp>
        <p:nvSpPr>
          <p:cNvPr id="17" name="Text 15"/>
          <p:cNvSpPr/>
          <p:nvPr/>
        </p:nvSpPr>
        <p:spPr>
          <a:xfrm>
            <a:off x="777240" y="4023360"/>
            <a:ext cx="7589520" cy="411480"/>
          </a:xfrm>
          <a:prstGeom prst="rect">
            <a:avLst/>
          </a:prstGeom>
          <a:noFill/>
          <a:ln/>
        </p:spPr>
        <p:txBody>
          <a:bodyPr wrap="square" lIns="0" tIns="0" rIns="0" bIns="0" rtlCol="0" anchor="ctr"/>
          <a:lstStyle/>
          <a:p>
            <a:pPr marL="0" indent="0">
              <a:lnSpc>
                <a:spcPct val="135000"/>
              </a:lnSpc>
              <a:buNone/>
            </a:pPr>
            <a:r>
              <a:rPr lang="en-US" sz="1100" dirty="0">
                <a:solidFill>
                  <a:srgbClr val="1E293B"/>
                </a:solidFill>
                <a:latin typeface="Calibri" pitchFamily="34" charset="0"/>
                <a:ea typeface="Calibri" pitchFamily="34" charset="-122"/>
                <a:cs typeface="Calibri" pitchFamily="34" charset="-120"/>
              </a:rPr>
              <a:t>A student trained this way understands </a:t>
            </a:r>
            <a:r>
              <a:rPr lang="en-US" sz="1100" i="1" dirty="0">
                <a:solidFill>
                  <a:srgbClr val="1E293B"/>
                </a:solidFill>
                <a:latin typeface="Calibri" pitchFamily="34" charset="0"/>
                <a:ea typeface="Calibri" pitchFamily="34" charset="-122"/>
                <a:cs typeface="Calibri" pitchFamily="34" charset="-120"/>
              </a:rPr>
              <a:t>why </a:t>
            </a:r>
            <a:r>
              <a:rPr lang="en-US" sz="1100" dirty="0">
                <a:solidFill>
                  <a:srgbClr val="1E293B"/>
                </a:solidFill>
                <a:latin typeface="Calibri" pitchFamily="34" charset="0"/>
                <a:ea typeface="Calibri" pitchFamily="34" charset="-122"/>
                <a:cs typeface="Calibri" pitchFamily="34" charset="-120"/>
              </a:rPr>
              <a:t>photos produce smaller effects — not just that they do. Every step in the mechanism chain is an opportunity to teach neuroanatomy, psychophysiology, and experimental design simultaneously.</a:t>
            </a:r>
            <a:endParaRPr lang="en-US" sz="1100" dirty="0"/>
          </a:p>
        </p:txBody>
      </p:sp>
      <p:sp>
        <p:nvSpPr>
          <p:cNvPr id="18" name="Text 16"/>
          <p:cNvSpPr/>
          <p:nvPr/>
        </p:nvSpPr>
        <p:spPr>
          <a:xfrm>
            <a:off x="548640" y="4663440"/>
            <a:ext cx="8046720" cy="274320"/>
          </a:xfrm>
          <a:prstGeom prst="rect">
            <a:avLst/>
          </a:prstGeom>
          <a:noFill/>
          <a:ln/>
        </p:spPr>
        <p:txBody>
          <a:bodyPr wrap="square" lIns="0" tIns="0" rIns="0" bIns="0" rtlCol="0" anchor="ctr"/>
          <a:lstStyle/>
          <a:p>
            <a:pPr marL="0" indent="0">
              <a:buNone/>
            </a:pPr>
            <a:r>
              <a:rPr lang="en-US" sz="1100" i="1" dirty="0">
                <a:solidFill>
                  <a:srgbClr val="2B5A8C"/>
                </a:solidFill>
                <a:latin typeface="Georgia" pitchFamily="34" charset="0"/>
                <a:ea typeface="Georgia" pitchFamily="34" charset="-122"/>
                <a:cs typeface="Georgia" pitchFamily="34" charset="-120"/>
              </a:rPr>
              <a:t>Standard textbooks cite Ulrich (1984) and Kaplan (1995) and leave it there. The template system provides a mechanistic walkthrough that makes the invisible visible.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THE GOLDILOCKS THEORY</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Cross-Modal Compensation:</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The Prediction That Changes Design</a:t>
            </a:r>
            <a:endParaRPr lang="en-US" sz="2600" dirty="0"/>
          </a:p>
        </p:txBody>
      </p:sp>
      <p:sp>
        <p:nvSpPr>
          <p:cNvPr id="4" name="Text 2"/>
          <p:cNvSpPr/>
          <p:nvPr/>
        </p:nvSpPr>
        <p:spPr>
          <a:xfrm>
            <a:off x="548640" y="1115568"/>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If channels share arousal pathways (LC-NE), sensory channels are not independent</a:t>
            </a:r>
            <a:endParaRPr lang="en-US" sz="1400" dirty="0"/>
          </a:p>
        </p:txBody>
      </p:sp>
      <p:sp>
        <p:nvSpPr>
          <p:cNvPr id="5" name="Shape 3"/>
          <p:cNvSpPr/>
          <p:nvPr/>
        </p:nvSpPr>
        <p:spPr>
          <a:xfrm>
            <a:off x="548640" y="1417320"/>
            <a:ext cx="2651760" cy="24231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17320"/>
            <a:ext cx="54864" cy="2423160"/>
          </a:xfrm>
          <a:prstGeom prst="rect">
            <a:avLst/>
          </a:prstGeom>
          <a:solidFill>
            <a:srgbClr val="2B5A8C"/>
          </a:solidFill>
          <a:ln/>
        </p:spPr>
        <p:txBody>
          <a:bodyPr/>
          <a:lstStyle/>
          <a:p>
            <a:endParaRPr lang="en-US"/>
          </a:p>
        </p:txBody>
      </p:sp>
      <p:sp>
        <p:nvSpPr>
          <p:cNvPr id="7" name="Text 5"/>
          <p:cNvSpPr/>
          <p:nvPr/>
        </p:nvSpPr>
        <p:spPr>
          <a:xfrm>
            <a:off x="731520" y="1463040"/>
            <a:ext cx="2286000" cy="228600"/>
          </a:xfrm>
          <a:prstGeom prst="rect">
            <a:avLst/>
          </a:prstGeom>
          <a:noFill/>
          <a:ln/>
        </p:spPr>
        <p:txBody>
          <a:bodyPr wrap="square" lIns="0" tIns="0" rIns="0" bIns="0" rtlCol="0" anchor="ctr"/>
          <a:lstStyle/>
          <a:p>
            <a:pPr marL="0" indent="0">
              <a:buNone/>
            </a:pPr>
            <a:r>
              <a:rPr lang="en-US" sz="1300" b="1" dirty="0">
                <a:solidFill>
                  <a:srgbClr val="2B5A8C"/>
                </a:solidFill>
                <a:latin typeface="Georgia" pitchFamily="34" charset="0"/>
                <a:ea typeface="Georgia" pitchFamily="34" charset="-122"/>
                <a:cs typeface="Georgia" pitchFamily="34" charset="-120"/>
              </a:rPr>
              <a:t>The Pattern</a:t>
            </a:r>
            <a:endParaRPr lang="en-US" sz="1300" dirty="0"/>
          </a:p>
        </p:txBody>
      </p:sp>
      <p:sp>
        <p:nvSpPr>
          <p:cNvPr id="8" name="Text 6"/>
          <p:cNvSpPr/>
          <p:nvPr/>
        </p:nvSpPr>
        <p:spPr>
          <a:xfrm>
            <a:off x="731520" y="1755648"/>
            <a:ext cx="2286000" cy="1965960"/>
          </a:xfrm>
          <a:prstGeom prst="rect">
            <a:avLst/>
          </a:prstGeom>
          <a:noFill/>
          <a:ln/>
        </p:spPr>
        <p:txBody>
          <a:bodyPr wrap="square" lIns="0" tIns="0" rIns="0" bIns="0" rtlCol="0" anchor="ctr"/>
          <a:lstStyle/>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The inverted-U appears in template after template:</a:t>
            </a:r>
            <a:endParaRPr lang="en-US" sz="1000" dirty="0"/>
          </a:p>
          <a:p>
            <a:pPr marL="0" indent="0">
              <a:lnSpc>
                <a:spcPct val="130000"/>
              </a:lnSpc>
              <a:buNone/>
            </a:pP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Wood peaks at ~45% surface coverage</a:t>
            </a: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Visual complexity peaks at moderate levels</a:t>
            </a: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Sound peaks in a narrow dB band</a:t>
            </a: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Fractal D peaks near 1.3</a:t>
            </a: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Temperature follows a comfort band</a:t>
            </a:r>
            <a:endParaRPr lang="en-US" sz="1000" dirty="0"/>
          </a:p>
        </p:txBody>
      </p:sp>
      <p:sp>
        <p:nvSpPr>
          <p:cNvPr id="9" name="Shape 7"/>
          <p:cNvSpPr/>
          <p:nvPr/>
        </p:nvSpPr>
        <p:spPr>
          <a:xfrm>
            <a:off x="3429000" y="1417320"/>
            <a:ext cx="2651760" cy="24231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3429000" y="1417320"/>
            <a:ext cx="54864" cy="2423160"/>
          </a:xfrm>
          <a:prstGeom prst="rect">
            <a:avLst/>
          </a:prstGeom>
          <a:solidFill>
            <a:srgbClr val="6B3B8C"/>
          </a:solidFill>
          <a:ln/>
        </p:spPr>
        <p:txBody>
          <a:bodyPr/>
          <a:lstStyle/>
          <a:p>
            <a:endParaRPr lang="en-US"/>
          </a:p>
        </p:txBody>
      </p:sp>
      <p:sp>
        <p:nvSpPr>
          <p:cNvPr id="11" name="Text 9"/>
          <p:cNvSpPr/>
          <p:nvPr/>
        </p:nvSpPr>
        <p:spPr>
          <a:xfrm>
            <a:off x="3611880" y="1463040"/>
            <a:ext cx="2286000" cy="228600"/>
          </a:xfrm>
          <a:prstGeom prst="rect">
            <a:avLst/>
          </a:prstGeom>
          <a:noFill/>
          <a:ln/>
        </p:spPr>
        <p:txBody>
          <a:bodyPr wrap="square" lIns="0" tIns="0" rIns="0" bIns="0" rtlCol="0" anchor="ctr"/>
          <a:lstStyle/>
          <a:p>
            <a:pPr marL="0" indent="0">
              <a:buNone/>
            </a:pPr>
            <a:r>
              <a:rPr lang="en-US" sz="1300" b="1" dirty="0">
                <a:solidFill>
                  <a:srgbClr val="6B3B8C"/>
                </a:solidFill>
                <a:latin typeface="Georgia" pitchFamily="34" charset="0"/>
                <a:ea typeface="Georgia" pitchFamily="34" charset="-122"/>
                <a:cs typeface="Georgia" pitchFamily="34" charset="-120"/>
              </a:rPr>
              <a:t>The Theory</a:t>
            </a:r>
            <a:endParaRPr lang="en-US" sz="1300" dirty="0"/>
          </a:p>
        </p:txBody>
      </p:sp>
      <p:sp>
        <p:nvSpPr>
          <p:cNvPr id="12" name="Text 10"/>
          <p:cNvSpPr/>
          <p:nvPr/>
        </p:nvSpPr>
        <p:spPr>
          <a:xfrm>
            <a:off x="3611880" y="1755648"/>
            <a:ext cx="2286000" cy="1965960"/>
          </a:xfrm>
          <a:prstGeom prst="rect">
            <a:avLst/>
          </a:prstGeom>
          <a:noFill/>
          <a:ln/>
        </p:spPr>
        <p:txBody>
          <a:bodyPr wrap="square" lIns="0" tIns="0" rIns="0" bIns="0" rtlCol="0" anchor="ctr"/>
          <a:lstStyle/>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If each channel has an inverted-U and channels interact through shared LC-NE arousal pathways (Aston-Jones &amp; Cohen, 2005), then:</a:t>
            </a:r>
            <a:endParaRPr lang="en-US" sz="1000" dirty="0"/>
          </a:p>
          <a:p>
            <a:pPr marL="0" indent="0">
              <a:lnSpc>
                <a:spcPct val="130000"/>
              </a:lnSpc>
              <a:buNone/>
            </a:pP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Total prediction error load is what matters, distributed across channels, and within limits the channels compensate.</a:t>
            </a:r>
            <a:endParaRPr lang="en-US" sz="1000" dirty="0"/>
          </a:p>
        </p:txBody>
      </p:sp>
      <p:sp>
        <p:nvSpPr>
          <p:cNvPr id="13" name="Shape 11"/>
          <p:cNvSpPr/>
          <p:nvPr/>
        </p:nvSpPr>
        <p:spPr>
          <a:xfrm>
            <a:off x="6309360" y="1417320"/>
            <a:ext cx="2651760" cy="24231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4" name="Shape 12"/>
          <p:cNvSpPr/>
          <p:nvPr/>
        </p:nvSpPr>
        <p:spPr>
          <a:xfrm>
            <a:off x="6309360" y="1417320"/>
            <a:ext cx="54864" cy="2423160"/>
          </a:xfrm>
          <a:prstGeom prst="rect">
            <a:avLst/>
          </a:prstGeom>
          <a:solidFill>
            <a:srgbClr val="3B7A4C"/>
          </a:solidFill>
          <a:ln/>
        </p:spPr>
        <p:txBody>
          <a:bodyPr/>
          <a:lstStyle/>
          <a:p>
            <a:endParaRPr lang="en-US"/>
          </a:p>
        </p:txBody>
      </p:sp>
      <p:sp>
        <p:nvSpPr>
          <p:cNvPr id="15" name="Text 13"/>
          <p:cNvSpPr/>
          <p:nvPr/>
        </p:nvSpPr>
        <p:spPr>
          <a:xfrm>
            <a:off x="6492240" y="1463040"/>
            <a:ext cx="2286000" cy="228600"/>
          </a:xfrm>
          <a:prstGeom prst="rect">
            <a:avLst/>
          </a:prstGeom>
          <a:noFill/>
          <a:ln/>
        </p:spPr>
        <p:txBody>
          <a:bodyPr wrap="square" lIns="0" tIns="0" rIns="0" bIns="0" rtlCol="0" anchor="ctr"/>
          <a:lstStyle/>
          <a:p>
            <a:pPr marL="0" indent="0">
              <a:buNone/>
            </a:pPr>
            <a:r>
              <a:rPr lang="en-US" sz="1300" b="1" dirty="0">
                <a:solidFill>
                  <a:srgbClr val="3B7A4C"/>
                </a:solidFill>
                <a:latin typeface="Georgia" pitchFamily="34" charset="0"/>
                <a:ea typeface="Georgia" pitchFamily="34" charset="-122"/>
                <a:cs typeface="Georgia" pitchFamily="34" charset="-120"/>
              </a:rPr>
              <a:t>The Prediction</a:t>
            </a:r>
            <a:endParaRPr lang="en-US" sz="1300" dirty="0"/>
          </a:p>
        </p:txBody>
      </p:sp>
      <p:sp>
        <p:nvSpPr>
          <p:cNvPr id="16" name="Text 14"/>
          <p:cNvSpPr/>
          <p:nvPr/>
        </p:nvSpPr>
        <p:spPr>
          <a:xfrm>
            <a:off x="6492240" y="1755648"/>
            <a:ext cx="2286000" cy="1965960"/>
          </a:xfrm>
          <a:prstGeom prst="rect">
            <a:avLst/>
          </a:prstGeom>
          <a:noFill/>
          <a:ln/>
        </p:spPr>
        <p:txBody>
          <a:bodyPr wrap="square" lIns="0" tIns="0" rIns="0" bIns="0" rtlCol="0" anchor="ctr"/>
          <a:lstStyle/>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A quiet room needs MORE visual complexity to maintain optimal arousal.</a:t>
            </a:r>
            <a:endParaRPr lang="en-US" sz="1000" dirty="0"/>
          </a:p>
          <a:p>
            <a:pPr marL="0" indent="0">
              <a:lnSpc>
                <a:spcPct val="130000"/>
              </a:lnSpc>
              <a:buNone/>
            </a:pP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A visually rich room needs LESS acoustic stimulation.</a:t>
            </a:r>
            <a:endParaRPr lang="en-US" sz="1000" dirty="0"/>
          </a:p>
          <a:p>
            <a:pPr marL="0" indent="0">
              <a:lnSpc>
                <a:spcPct val="130000"/>
              </a:lnSpc>
              <a:buNone/>
            </a:pPr>
            <a:endParaRPr lang="en-US" sz="1000" dirty="0"/>
          </a:p>
          <a:p>
            <a:pPr marL="0" indent="0">
              <a:lnSpc>
                <a:spcPct val="130000"/>
              </a:lnSpc>
              <a:buNone/>
            </a:pPr>
            <a:r>
              <a:rPr lang="en-US" sz="1000" dirty="0">
                <a:solidFill>
                  <a:srgbClr val="1E293B"/>
                </a:solidFill>
                <a:latin typeface="Calibri" pitchFamily="34" charset="0"/>
                <a:ea typeface="Calibri" pitchFamily="34" charset="-122"/>
                <a:cs typeface="Calibri" pitchFamily="34" charset="-120"/>
              </a:rPr>
              <a:t>Visual and acoustic design are not independent — they must be jointly optimized against a total-PE budget.</a:t>
            </a:r>
            <a:endParaRPr lang="en-US" sz="1000" dirty="0"/>
          </a:p>
        </p:txBody>
      </p:sp>
      <p:sp>
        <p:nvSpPr>
          <p:cNvPr id="17" name="Shape 15"/>
          <p:cNvSpPr/>
          <p:nvPr/>
        </p:nvSpPr>
        <p:spPr>
          <a:xfrm>
            <a:off x="548640" y="4023360"/>
            <a:ext cx="8046720" cy="9144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8" name="Shape 16"/>
          <p:cNvSpPr/>
          <p:nvPr/>
        </p:nvSpPr>
        <p:spPr>
          <a:xfrm>
            <a:off x="548640" y="4023360"/>
            <a:ext cx="54864" cy="914400"/>
          </a:xfrm>
          <a:prstGeom prst="rect">
            <a:avLst/>
          </a:prstGeom>
          <a:solidFill>
            <a:srgbClr val="8C4B2B"/>
          </a:solidFill>
          <a:ln/>
        </p:spPr>
        <p:txBody>
          <a:bodyPr/>
          <a:lstStyle/>
          <a:p>
            <a:endParaRPr lang="en-US"/>
          </a:p>
        </p:txBody>
      </p:sp>
      <p:sp>
        <p:nvSpPr>
          <p:cNvPr id="19" name="Text 17"/>
          <p:cNvSpPr/>
          <p:nvPr/>
        </p:nvSpPr>
        <p:spPr>
          <a:xfrm>
            <a:off x="777240" y="4069080"/>
            <a:ext cx="7589520" cy="164592"/>
          </a:xfrm>
          <a:prstGeom prst="rect">
            <a:avLst/>
          </a:prstGeom>
          <a:noFill/>
          <a:ln/>
        </p:spPr>
        <p:txBody>
          <a:bodyPr wrap="square" lIns="0" tIns="0" rIns="0" bIns="0" rtlCol="0" anchor="ctr"/>
          <a:lstStyle/>
          <a:p>
            <a:pPr marL="0" indent="0">
              <a:buNone/>
            </a:pPr>
            <a:r>
              <a:rPr lang="en-US" sz="900" b="1" kern="0" spc="100" dirty="0">
                <a:solidFill>
                  <a:srgbClr val="8C4B2B"/>
                </a:solidFill>
                <a:latin typeface="Calibri" pitchFamily="34" charset="0"/>
                <a:ea typeface="Calibri" pitchFamily="34" charset="-122"/>
                <a:cs typeface="Calibri" pitchFamily="34" charset="-120"/>
              </a:rPr>
              <a:t>THREE COMMITMENTS BEYOND PREDICTIVE PROCESSING</a:t>
            </a:r>
            <a:endParaRPr lang="en-US" sz="900" dirty="0"/>
          </a:p>
        </p:txBody>
      </p:sp>
      <p:sp>
        <p:nvSpPr>
          <p:cNvPr id="20" name="Text 18"/>
          <p:cNvSpPr/>
          <p:nvPr/>
        </p:nvSpPr>
        <p:spPr>
          <a:xfrm>
            <a:off x="777240" y="4315968"/>
            <a:ext cx="7589520" cy="548640"/>
          </a:xfrm>
          <a:prstGeom prst="rect">
            <a:avLst/>
          </a:prstGeom>
          <a:noFill/>
          <a:ln/>
        </p:spPr>
        <p:txBody>
          <a:bodyPr wrap="square" lIns="0" tIns="0" rIns="0" bIns="0" rtlCol="0" anchor="ctr"/>
          <a:lstStyle/>
          <a:p>
            <a:pPr marL="0" indent="0">
              <a:lnSpc>
                <a:spcPct val="135000"/>
              </a:lnSpc>
              <a:buNone/>
            </a:pPr>
            <a:r>
              <a:rPr lang="en-US" sz="1000" b="1" dirty="0">
                <a:solidFill>
                  <a:srgbClr val="1E293B"/>
                </a:solidFill>
                <a:latin typeface="Calibri" pitchFamily="34" charset="0"/>
                <a:ea typeface="Calibri" pitchFamily="34" charset="-122"/>
                <a:cs typeface="Calibri" pitchFamily="34" charset="-120"/>
              </a:rPr>
              <a:t>1. Normative: </a:t>
            </a:r>
            <a:r>
              <a:rPr lang="en-US" sz="1000" dirty="0">
                <a:solidFill>
                  <a:srgbClr val="1E293B"/>
                </a:solidFill>
                <a:latin typeface="Calibri" pitchFamily="34" charset="0"/>
                <a:ea typeface="Calibri" pitchFamily="34" charset="-122"/>
                <a:cs typeface="Calibri" pitchFamily="34" charset="-120"/>
              </a:rPr>
              <a:t>There exists an optimal PE level per pathway per task. PP is descriptive; Goldilocks is prescriptive.  </a:t>
            </a:r>
            <a:r>
              <a:rPr lang="en-US" sz="1000" b="1" dirty="0">
                <a:solidFill>
                  <a:srgbClr val="1E293B"/>
                </a:solidFill>
                <a:latin typeface="Calibri" pitchFamily="34" charset="0"/>
                <a:ea typeface="Calibri" pitchFamily="34" charset="-122"/>
                <a:cs typeface="Calibri" pitchFamily="34" charset="-120"/>
              </a:rPr>
              <a:t>2. Multi-channel profile: </a:t>
            </a:r>
            <a:r>
              <a:rPr lang="en-US" sz="1000" dirty="0">
                <a:solidFill>
                  <a:srgbClr val="1E293B"/>
                </a:solidFill>
                <a:latin typeface="Calibri" pitchFamily="34" charset="0"/>
                <a:ea typeface="Calibri" pitchFamily="34" charset="-122"/>
                <a:cs typeface="Calibri" pitchFamily="34" charset="-120"/>
              </a:rPr>
              <a:t>The optimum is a profile across channels, not a single number.  </a:t>
            </a:r>
            <a:r>
              <a:rPr lang="en-US" sz="1000" b="1" dirty="0">
                <a:solidFill>
                  <a:srgbClr val="1E293B"/>
                </a:solidFill>
                <a:latin typeface="Calibri" pitchFamily="34" charset="0"/>
                <a:ea typeface="Calibri" pitchFamily="34" charset="-122"/>
                <a:cs typeface="Calibri" pitchFamily="34" charset="-120"/>
              </a:rPr>
              <a:t>3. Contextually relative: </a:t>
            </a:r>
            <a:r>
              <a:rPr lang="en-US" sz="1000" dirty="0">
                <a:solidFill>
                  <a:srgbClr val="1E293B"/>
                </a:solidFill>
                <a:latin typeface="Calibri" pitchFamily="34" charset="0"/>
                <a:ea typeface="Calibri" pitchFamily="34" charset="-122"/>
                <a:cs typeface="Calibri" pitchFamily="34" charset="-120"/>
              </a:rPr>
              <a:t>The optimal level shifts with task, culture, individual differences, and circadian phase.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ARGUMENTATION WITH TEETH</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400" b="1" dirty="0">
                <a:solidFill>
                  <a:srgbClr val="1E293B"/>
                </a:solidFill>
                <a:latin typeface="Georgia" pitchFamily="34" charset="0"/>
                <a:ea typeface="Georgia" pitchFamily="34" charset="-122"/>
                <a:cs typeface="Georgia" pitchFamily="34" charset="-120"/>
              </a:rPr>
              <a:t>Not 'Nature Is Good' — Four Mechanisms</a:t>
            </a:r>
            <a:endParaRPr lang="en-US" sz="2400" dirty="0"/>
          </a:p>
          <a:p>
            <a:pPr marL="0" indent="0">
              <a:buNone/>
            </a:pPr>
            <a:r>
              <a:rPr lang="en-US" sz="2400" b="1" dirty="0">
                <a:solidFill>
                  <a:srgbClr val="1E293B"/>
                </a:solidFill>
                <a:latin typeface="Georgia" pitchFamily="34" charset="0"/>
                <a:ea typeface="Georgia" pitchFamily="34" charset="-122"/>
                <a:cs typeface="Georgia" pitchFamily="34" charset="-120"/>
              </a:rPr>
              <a:t>with Effect Sizes and Gap Analysis</a:t>
            </a:r>
            <a:endParaRPr lang="en-US" sz="2400" dirty="0"/>
          </a:p>
        </p:txBody>
      </p:sp>
      <p:sp>
        <p:nvSpPr>
          <p:cNvPr id="4" name="Text 2"/>
          <p:cNvSpPr/>
          <p:nvPr/>
        </p:nvSpPr>
        <p:spPr>
          <a:xfrm>
            <a:off x="548640" y="114300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An architect argues for biophilic design in a hospital renovation. The template system provides:</a:t>
            </a:r>
            <a:endParaRPr lang="en-US" sz="1400" dirty="0"/>
          </a:p>
        </p:txBody>
      </p:sp>
      <p:sp>
        <p:nvSpPr>
          <p:cNvPr id="5" name="Shape 3"/>
          <p:cNvSpPr/>
          <p:nvPr/>
        </p:nvSpPr>
        <p:spPr>
          <a:xfrm>
            <a:off x="457200" y="1444752"/>
            <a:ext cx="2011680" cy="14173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457200" y="1444752"/>
            <a:ext cx="54864" cy="1417320"/>
          </a:xfrm>
          <a:prstGeom prst="rect">
            <a:avLst/>
          </a:prstGeom>
          <a:solidFill>
            <a:srgbClr val="3B7A4C"/>
          </a:solidFill>
          <a:ln/>
        </p:spPr>
        <p:txBody>
          <a:bodyPr/>
          <a:lstStyle/>
          <a:p>
            <a:endParaRPr lang="en-US"/>
          </a:p>
        </p:txBody>
      </p:sp>
      <p:sp>
        <p:nvSpPr>
          <p:cNvPr id="7" name="Text 5"/>
          <p:cNvSpPr/>
          <p:nvPr/>
        </p:nvSpPr>
        <p:spPr>
          <a:xfrm>
            <a:off x="594360" y="1490472"/>
            <a:ext cx="1737360" cy="164592"/>
          </a:xfrm>
          <a:prstGeom prst="rect">
            <a:avLst/>
          </a:prstGeom>
          <a:noFill/>
          <a:ln/>
        </p:spPr>
        <p:txBody>
          <a:bodyPr wrap="square" lIns="0" tIns="0" rIns="0" bIns="0" rtlCol="0" anchor="ctr"/>
          <a:lstStyle/>
          <a:p>
            <a:pPr marL="0" indent="0">
              <a:buNone/>
            </a:pPr>
            <a:r>
              <a:rPr lang="en-US" sz="900" b="1" dirty="0">
                <a:solidFill>
                  <a:srgbClr val="3B7A4C"/>
                </a:solidFill>
                <a:latin typeface="Calibri" pitchFamily="34" charset="0"/>
                <a:ea typeface="Calibri" pitchFamily="34" charset="-122"/>
                <a:cs typeface="Calibri" pitchFamily="34" charset="-120"/>
              </a:rPr>
              <a:t>T041</a:t>
            </a:r>
            <a:endParaRPr lang="en-US" sz="900" dirty="0"/>
          </a:p>
        </p:txBody>
      </p:sp>
      <p:sp>
        <p:nvSpPr>
          <p:cNvPr id="8" name="Text 6"/>
          <p:cNvSpPr/>
          <p:nvPr/>
        </p:nvSpPr>
        <p:spPr>
          <a:xfrm>
            <a:off x="594360" y="1682496"/>
            <a:ext cx="1737360" cy="32004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Nature views reduce cortisol</a:t>
            </a:r>
            <a:endParaRPr lang="en-US" sz="1050" dirty="0"/>
          </a:p>
        </p:txBody>
      </p:sp>
      <p:sp>
        <p:nvSpPr>
          <p:cNvPr id="9" name="Text 7"/>
          <p:cNvSpPr/>
          <p:nvPr/>
        </p:nvSpPr>
        <p:spPr>
          <a:xfrm>
            <a:off x="594360" y="2020824"/>
            <a:ext cx="173736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Amygdala → HPA pathway</a:t>
            </a:r>
            <a:endParaRPr lang="en-US" sz="900" dirty="0"/>
          </a:p>
        </p:txBody>
      </p:sp>
      <p:sp>
        <p:nvSpPr>
          <p:cNvPr id="10" name="Text 8"/>
          <p:cNvSpPr/>
          <p:nvPr/>
        </p:nvSpPr>
        <p:spPr>
          <a:xfrm>
            <a:off x="594360" y="2295144"/>
            <a:ext cx="1737360" cy="182880"/>
          </a:xfrm>
          <a:prstGeom prst="rect">
            <a:avLst/>
          </a:prstGeom>
          <a:noFill/>
          <a:ln/>
        </p:spPr>
        <p:txBody>
          <a:bodyPr wrap="square" lIns="0" tIns="0" rIns="0" bIns="0" rtlCol="0" anchor="ctr"/>
          <a:lstStyle/>
          <a:p>
            <a:pPr marL="0" indent="0">
              <a:buNone/>
            </a:pPr>
            <a:r>
              <a:rPr lang="en-US" sz="1100" b="1" dirty="0">
                <a:solidFill>
                  <a:srgbClr val="3B7A4C"/>
                </a:solidFill>
                <a:latin typeface="Calibri" pitchFamily="34" charset="0"/>
                <a:ea typeface="Calibri" pitchFamily="34" charset="-122"/>
                <a:cs typeface="Calibri" pitchFamily="34" charset="-120"/>
              </a:rPr>
              <a:t>d = 0.4–0.8</a:t>
            </a:r>
            <a:endParaRPr lang="en-US" sz="1100" dirty="0"/>
          </a:p>
        </p:txBody>
      </p:sp>
      <p:sp>
        <p:nvSpPr>
          <p:cNvPr id="11" name="Text 9"/>
          <p:cNvSpPr/>
          <p:nvPr/>
        </p:nvSpPr>
        <p:spPr>
          <a:xfrm>
            <a:off x="594360" y="2478024"/>
            <a:ext cx="17373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6+ studies</a:t>
            </a:r>
            <a:endParaRPr lang="en-US" sz="900" dirty="0"/>
          </a:p>
        </p:txBody>
      </p:sp>
      <p:sp>
        <p:nvSpPr>
          <p:cNvPr id="12" name="Shape 10"/>
          <p:cNvSpPr/>
          <p:nvPr/>
        </p:nvSpPr>
        <p:spPr>
          <a:xfrm>
            <a:off x="2651760" y="1444752"/>
            <a:ext cx="2011680" cy="14173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2651760" y="1444752"/>
            <a:ext cx="54864" cy="1417320"/>
          </a:xfrm>
          <a:prstGeom prst="rect">
            <a:avLst/>
          </a:prstGeom>
          <a:solidFill>
            <a:srgbClr val="2B5A8C"/>
          </a:solidFill>
          <a:ln/>
        </p:spPr>
        <p:txBody>
          <a:bodyPr/>
          <a:lstStyle/>
          <a:p>
            <a:endParaRPr lang="en-US"/>
          </a:p>
        </p:txBody>
      </p:sp>
      <p:sp>
        <p:nvSpPr>
          <p:cNvPr id="14" name="Text 12"/>
          <p:cNvSpPr/>
          <p:nvPr/>
        </p:nvSpPr>
        <p:spPr>
          <a:xfrm>
            <a:off x="2788920" y="1490472"/>
            <a:ext cx="1737360" cy="164592"/>
          </a:xfrm>
          <a:prstGeom prst="rect">
            <a:avLst/>
          </a:prstGeom>
          <a:noFill/>
          <a:ln/>
        </p:spPr>
        <p:txBody>
          <a:bodyPr wrap="square" lIns="0" tIns="0" rIns="0" bIns="0" rtlCol="0" anchor="ctr"/>
          <a:lstStyle/>
          <a:p>
            <a:pPr marL="0" indent="0">
              <a:buNone/>
            </a:pPr>
            <a:r>
              <a:rPr lang="en-US" sz="900" b="1" dirty="0">
                <a:solidFill>
                  <a:srgbClr val="2B5A8C"/>
                </a:solidFill>
                <a:latin typeface="Calibri" pitchFamily="34" charset="0"/>
                <a:ea typeface="Calibri" pitchFamily="34" charset="-122"/>
                <a:cs typeface="Calibri" pitchFamily="34" charset="-120"/>
              </a:rPr>
              <a:t>T014</a:t>
            </a:r>
            <a:endParaRPr lang="en-US" sz="900" dirty="0"/>
          </a:p>
        </p:txBody>
      </p:sp>
      <p:sp>
        <p:nvSpPr>
          <p:cNvPr id="15" name="Text 13"/>
          <p:cNvSpPr/>
          <p:nvPr/>
        </p:nvSpPr>
        <p:spPr>
          <a:xfrm>
            <a:off x="2788920" y="1682496"/>
            <a:ext cx="1737360" cy="32004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Natural light improves alertness</a:t>
            </a:r>
            <a:endParaRPr lang="en-US" sz="1050" dirty="0"/>
          </a:p>
        </p:txBody>
      </p:sp>
      <p:sp>
        <p:nvSpPr>
          <p:cNvPr id="16" name="Text 14"/>
          <p:cNvSpPr/>
          <p:nvPr/>
        </p:nvSpPr>
        <p:spPr>
          <a:xfrm>
            <a:off x="2788920" y="2020824"/>
            <a:ext cx="173736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Circadian regulation</a:t>
            </a:r>
            <a:endParaRPr lang="en-US" sz="900" dirty="0"/>
          </a:p>
        </p:txBody>
      </p:sp>
      <p:sp>
        <p:nvSpPr>
          <p:cNvPr id="17" name="Text 15"/>
          <p:cNvSpPr/>
          <p:nvPr/>
        </p:nvSpPr>
        <p:spPr>
          <a:xfrm>
            <a:off x="2788920" y="2295144"/>
            <a:ext cx="1737360" cy="182880"/>
          </a:xfrm>
          <a:prstGeom prst="rect">
            <a:avLst/>
          </a:prstGeom>
          <a:noFill/>
          <a:ln/>
        </p:spPr>
        <p:txBody>
          <a:bodyPr wrap="square" lIns="0" tIns="0" rIns="0" bIns="0" rtlCol="0" anchor="ctr"/>
          <a:lstStyle/>
          <a:p>
            <a:pPr marL="0" indent="0">
              <a:buNone/>
            </a:pPr>
            <a:r>
              <a:rPr lang="en-US" sz="1100" b="1" dirty="0">
                <a:solidFill>
                  <a:srgbClr val="2B5A8C"/>
                </a:solidFill>
                <a:latin typeface="Calibri" pitchFamily="34" charset="0"/>
                <a:ea typeface="Calibri" pitchFamily="34" charset="-122"/>
                <a:cs typeface="Calibri" pitchFamily="34" charset="-120"/>
              </a:rPr>
              <a:t>d = 0.35–0.65</a:t>
            </a:r>
            <a:endParaRPr lang="en-US" sz="1100" dirty="0"/>
          </a:p>
        </p:txBody>
      </p:sp>
      <p:sp>
        <p:nvSpPr>
          <p:cNvPr id="18" name="Text 16"/>
          <p:cNvSpPr/>
          <p:nvPr/>
        </p:nvSpPr>
        <p:spPr>
          <a:xfrm>
            <a:off x="2788920" y="2478024"/>
            <a:ext cx="17373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5+ studies</a:t>
            </a:r>
            <a:endParaRPr lang="en-US" sz="900" dirty="0"/>
          </a:p>
        </p:txBody>
      </p:sp>
      <p:sp>
        <p:nvSpPr>
          <p:cNvPr id="19" name="Shape 17"/>
          <p:cNvSpPr/>
          <p:nvPr/>
        </p:nvSpPr>
        <p:spPr>
          <a:xfrm>
            <a:off x="4846320" y="1444752"/>
            <a:ext cx="2011680" cy="14173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0" name="Shape 18"/>
          <p:cNvSpPr/>
          <p:nvPr/>
        </p:nvSpPr>
        <p:spPr>
          <a:xfrm>
            <a:off x="4846320" y="1444752"/>
            <a:ext cx="54864" cy="1417320"/>
          </a:xfrm>
          <a:prstGeom prst="rect">
            <a:avLst/>
          </a:prstGeom>
          <a:solidFill>
            <a:srgbClr val="8C4B2B"/>
          </a:solidFill>
          <a:ln/>
        </p:spPr>
        <p:txBody>
          <a:bodyPr/>
          <a:lstStyle/>
          <a:p>
            <a:endParaRPr lang="en-US"/>
          </a:p>
        </p:txBody>
      </p:sp>
      <p:sp>
        <p:nvSpPr>
          <p:cNvPr id="21" name="Text 19"/>
          <p:cNvSpPr/>
          <p:nvPr/>
        </p:nvSpPr>
        <p:spPr>
          <a:xfrm>
            <a:off x="4983480" y="1490472"/>
            <a:ext cx="1737360" cy="164592"/>
          </a:xfrm>
          <a:prstGeom prst="rect">
            <a:avLst/>
          </a:prstGeom>
          <a:noFill/>
          <a:ln/>
        </p:spPr>
        <p:txBody>
          <a:bodyPr wrap="square" lIns="0" tIns="0" rIns="0" bIns="0" rtlCol="0" anchor="ctr"/>
          <a:lstStyle/>
          <a:p>
            <a:pPr marL="0" indent="0">
              <a:buNone/>
            </a:pPr>
            <a:r>
              <a:rPr lang="en-US" sz="900" b="1" dirty="0">
                <a:solidFill>
                  <a:srgbClr val="8C4B2B"/>
                </a:solidFill>
                <a:latin typeface="Calibri" pitchFamily="34" charset="0"/>
                <a:ea typeface="Calibri" pitchFamily="34" charset="-122"/>
                <a:cs typeface="Calibri" pitchFamily="34" charset="-120"/>
              </a:rPr>
              <a:t>T022</a:t>
            </a:r>
            <a:endParaRPr lang="en-US" sz="900" dirty="0"/>
          </a:p>
        </p:txBody>
      </p:sp>
      <p:sp>
        <p:nvSpPr>
          <p:cNvPr id="22" name="Text 20"/>
          <p:cNvSpPr/>
          <p:nvPr/>
        </p:nvSpPr>
        <p:spPr>
          <a:xfrm>
            <a:off x="4983480" y="1682496"/>
            <a:ext cx="1737360" cy="32004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Wood reduces blood pressure</a:t>
            </a:r>
            <a:endParaRPr lang="en-US" sz="1050" dirty="0"/>
          </a:p>
        </p:txBody>
      </p:sp>
      <p:sp>
        <p:nvSpPr>
          <p:cNvPr id="23" name="Text 21"/>
          <p:cNvSpPr/>
          <p:nvPr/>
        </p:nvSpPr>
        <p:spPr>
          <a:xfrm>
            <a:off x="4983480" y="2020824"/>
            <a:ext cx="173736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Parasympathetic / fluency</a:t>
            </a:r>
            <a:endParaRPr lang="en-US" sz="900" dirty="0"/>
          </a:p>
        </p:txBody>
      </p:sp>
      <p:sp>
        <p:nvSpPr>
          <p:cNvPr id="24" name="Text 22"/>
          <p:cNvSpPr/>
          <p:nvPr/>
        </p:nvSpPr>
        <p:spPr>
          <a:xfrm>
            <a:off x="4983480" y="2295144"/>
            <a:ext cx="1737360" cy="182880"/>
          </a:xfrm>
          <a:prstGeom prst="rect">
            <a:avLst/>
          </a:prstGeom>
          <a:noFill/>
          <a:ln/>
        </p:spPr>
        <p:txBody>
          <a:bodyPr wrap="square" lIns="0" tIns="0" rIns="0" bIns="0" rtlCol="0" anchor="ctr"/>
          <a:lstStyle/>
          <a:p>
            <a:pPr marL="0" indent="0">
              <a:buNone/>
            </a:pPr>
            <a:r>
              <a:rPr lang="en-US" sz="1100" b="1" dirty="0">
                <a:solidFill>
                  <a:srgbClr val="8C4B2B"/>
                </a:solidFill>
                <a:latin typeface="Calibri" pitchFamily="34" charset="0"/>
                <a:ea typeface="Calibri" pitchFamily="34" charset="-122"/>
                <a:cs typeface="Calibri" pitchFamily="34" charset="-120"/>
              </a:rPr>
              <a:t>d = 0.25–0.50</a:t>
            </a:r>
            <a:endParaRPr lang="en-US" sz="1100" dirty="0"/>
          </a:p>
        </p:txBody>
      </p:sp>
      <p:sp>
        <p:nvSpPr>
          <p:cNvPr id="25" name="Text 23"/>
          <p:cNvSpPr/>
          <p:nvPr/>
        </p:nvSpPr>
        <p:spPr>
          <a:xfrm>
            <a:off x="4983480" y="2478024"/>
            <a:ext cx="17373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3+ studies</a:t>
            </a:r>
            <a:endParaRPr lang="en-US" sz="900" dirty="0"/>
          </a:p>
        </p:txBody>
      </p:sp>
      <p:sp>
        <p:nvSpPr>
          <p:cNvPr id="26" name="Shape 24"/>
          <p:cNvSpPr/>
          <p:nvPr/>
        </p:nvSpPr>
        <p:spPr>
          <a:xfrm>
            <a:off x="7040880" y="1444752"/>
            <a:ext cx="2011680" cy="14173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7" name="Shape 25"/>
          <p:cNvSpPr/>
          <p:nvPr/>
        </p:nvSpPr>
        <p:spPr>
          <a:xfrm>
            <a:off x="7040880" y="1444752"/>
            <a:ext cx="54864" cy="1417320"/>
          </a:xfrm>
          <a:prstGeom prst="rect">
            <a:avLst/>
          </a:prstGeom>
          <a:solidFill>
            <a:srgbClr val="6B3B8C"/>
          </a:solidFill>
          <a:ln/>
        </p:spPr>
        <p:txBody>
          <a:bodyPr/>
          <a:lstStyle/>
          <a:p>
            <a:endParaRPr lang="en-US"/>
          </a:p>
        </p:txBody>
      </p:sp>
      <p:sp>
        <p:nvSpPr>
          <p:cNvPr id="28" name="Text 26"/>
          <p:cNvSpPr/>
          <p:nvPr/>
        </p:nvSpPr>
        <p:spPr>
          <a:xfrm>
            <a:off x="7178040" y="1490472"/>
            <a:ext cx="1737360" cy="164592"/>
          </a:xfrm>
          <a:prstGeom prst="rect">
            <a:avLst/>
          </a:prstGeom>
          <a:noFill/>
          <a:ln/>
        </p:spPr>
        <p:txBody>
          <a:bodyPr wrap="square" lIns="0" tIns="0" rIns="0" bIns="0" rtlCol="0" anchor="ctr"/>
          <a:lstStyle/>
          <a:p>
            <a:pPr marL="0" indent="0">
              <a:buNone/>
            </a:pPr>
            <a:r>
              <a:rPr lang="en-US" sz="900" b="1" dirty="0">
                <a:solidFill>
                  <a:srgbClr val="6B3B8C"/>
                </a:solidFill>
                <a:latin typeface="Calibri" pitchFamily="34" charset="0"/>
                <a:ea typeface="Calibri" pitchFamily="34" charset="-122"/>
                <a:cs typeface="Calibri" pitchFamily="34" charset="-120"/>
              </a:rPr>
              <a:t>T038</a:t>
            </a:r>
            <a:endParaRPr lang="en-US" sz="900" dirty="0"/>
          </a:p>
        </p:txBody>
      </p:sp>
      <p:sp>
        <p:nvSpPr>
          <p:cNvPr id="29" name="Text 27"/>
          <p:cNvSpPr/>
          <p:nvPr/>
        </p:nvSpPr>
        <p:spPr>
          <a:xfrm>
            <a:off x="7178040" y="1682496"/>
            <a:ext cx="1737360" cy="32004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Plants reduce anxiety</a:t>
            </a:r>
            <a:endParaRPr lang="en-US" sz="1050" dirty="0"/>
          </a:p>
        </p:txBody>
      </p:sp>
      <p:sp>
        <p:nvSpPr>
          <p:cNvPr id="30" name="Text 28"/>
          <p:cNvSpPr/>
          <p:nvPr/>
        </p:nvSpPr>
        <p:spPr>
          <a:xfrm>
            <a:off x="7178040" y="2020824"/>
            <a:ext cx="1737360" cy="182880"/>
          </a:xfrm>
          <a:prstGeom prst="rect">
            <a:avLst/>
          </a:prstGeom>
          <a:noFill/>
          <a:ln/>
        </p:spPr>
        <p:txBody>
          <a:bodyPr wrap="square" lIns="0" tIns="0" rIns="0" bIns="0"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Perceived air quality</a:t>
            </a:r>
            <a:endParaRPr lang="en-US" sz="900" dirty="0"/>
          </a:p>
        </p:txBody>
      </p:sp>
      <p:sp>
        <p:nvSpPr>
          <p:cNvPr id="31" name="Text 29"/>
          <p:cNvSpPr/>
          <p:nvPr/>
        </p:nvSpPr>
        <p:spPr>
          <a:xfrm>
            <a:off x="7178040" y="2295144"/>
            <a:ext cx="1737360" cy="182880"/>
          </a:xfrm>
          <a:prstGeom prst="rect">
            <a:avLst/>
          </a:prstGeom>
          <a:noFill/>
          <a:ln/>
        </p:spPr>
        <p:txBody>
          <a:bodyPr wrap="square" lIns="0" tIns="0" rIns="0" bIns="0" rtlCol="0" anchor="ctr"/>
          <a:lstStyle/>
          <a:p>
            <a:pPr marL="0" indent="0">
              <a:buNone/>
            </a:pPr>
            <a:r>
              <a:rPr lang="en-US" sz="1100" b="1" dirty="0">
                <a:solidFill>
                  <a:srgbClr val="6B3B8C"/>
                </a:solidFill>
                <a:latin typeface="Calibri" pitchFamily="34" charset="0"/>
                <a:ea typeface="Calibri" pitchFamily="34" charset="-122"/>
                <a:cs typeface="Calibri" pitchFamily="34" charset="-120"/>
              </a:rPr>
              <a:t>d = 0.2–0.4</a:t>
            </a:r>
            <a:endParaRPr lang="en-US" sz="1100" dirty="0"/>
          </a:p>
        </p:txBody>
      </p:sp>
      <p:sp>
        <p:nvSpPr>
          <p:cNvPr id="32" name="Text 30"/>
          <p:cNvSpPr/>
          <p:nvPr/>
        </p:nvSpPr>
        <p:spPr>
          <a:xfrm>
            <a:off x="7178040" y="2478024"/>
            <a:ext cx="1737360" cy="18288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4+ studies</a:t>
            </a:r>
            <a:endParaRPr lang="en-US" sz="900" dirty="0"/>
          </a:p>
        </p:txBody>
      </p:sp>
      <p:sp>
        <p:nvSpPr>
          <p:cNvPr id="33" name="Shape 31"/>
          <p:cNvSpPr/>
          <p:nvPr/>
        </p:nvSpPr>
        <p:spPr>
          <a:xfrm>
            <a:off x="457200" y="3063240"/>
            <a:ext cx="457200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34" name="Shape 32"/>
          <p:cNvSpPr/>
          <p:nvPr/>
        </p:nvSpPr>
        <p:spPr>
          <a:xfrm>
            <a:off x="457200" y="3063240"/>
            <a:ext cx="54864" cy="822960"/>
          </a:xfrm>
          <a:prstGeom prst="rect">
            <a:avLst/>
          </a:prstGeom>
          <a:solidFill>
            <a:srgbClr val="2B5A8C"/>
          </a:solidFill>
          <a:ln/>
        </p:spPr>
        <p:txBody>
          <a:bodyPr/>
          <a:lstStyle/>
          <a:p>
            <a:endParaRPr lang="en-US"/>
          </a:p>
        </p:txBody>
      </p:sp>
      <p:sp>
        <p:nvSpPr>
          <p:cNvPr id="35" name="Text 33"/>
          <p:cNvSpPr/>
          <p:nvPr/>
        </p:nvSpPr>
        <p:spPr>
          <a:xfrm>
            <a:off x="685800" y="3108960"/>
            <a:ext cx="4114800" cy="164592"/>
          </a:xfrm>
          <a:prstGeom prst="rect">
            <a:avLst/>
          </a:prstGeom>
          <a:noFill/>
          <a:ln/>
        </p:spPr>
        <p:txBody>
          <a:bodyPr wrap="square" lIns="0" tIns="0" rIns="0" bIns="0" rtlCol="0" anchor="ctr"/>
          <a:lstStyle/>
          <a:p>
            <a:pPr marL="0" indent="0">
              <a:buNone/>
            </a:pPr>
            <a:r>
              <a:rPr lang="en-US" sz="900" b="1" kern="0" spc="200" dirty="0">
                <a:solidFill>
                  <a:srgbClr val="2B5A8C"/>
                </a:solidFill>
                <a:latin typeface="Calibri" pitchFamily="34" charset="0"/>
                <a:ea typeface="Calibri" pitchFamily="34" charset="-122"/>
                <a:cs typeface="Calibri" pitchFamily="34" charset="-120"/>
              </a:rPr>
              <a:t>COMPOUND PREDICTION</a:t>
            </a:r>
            <a:endParaRPr lang="en-US" sz="900" dirty="0"/>
          </a:p>
        </p:txBody>
      </p:sp>
      <p:sp>
        <p:nvSpPr>
          <p:cNvPr id="36" name="Text 34"/>
          <p:cNvSpPr/>
          <p:nvPr/>
        </p:nvSpPr>
        <p:spPr>
          <a:xfrm>
            <a:off x="685800" y="3337560"/>
            <a:ext cx="4114800" cy="502920"/>
          </a:xfrm>
          <a:prstGeom prst="rect">
            <a:avLst/>
          </a:prstGeom>
          <a:noFill/>
          <a:ln/>
        </p:spPr>
        <p:txBody>
          <a:bodyPr wrap="square" lIns="0" tIns="0" rIns="0" bIns="0" rtlCol="0" anchor="ctr"/>
          <a:lstStyle/>
          <a:p>
            <a:pPr marL="0" indent="0">
              <a:lnSpc>
                <a:spcPct val="130000"/>
              </a:lnSpc>
              <a:buNone/>
            </a:pPr>
            <a:r>
              <a:rPr lang="en-US" sz="1050" b="1" dirty="0">
                <a:solidFill>
                  <a:srgbClr val="1E293B"/>
                </a:solidFill>
                <a:latin typeface="Calibri" pitchFamily="34" charset="0"/>
                <a:ea typeface="Calibri" pitchFamily="34" charset="-122"/>
                <a:cs typeface="Calibri" pitchFamily="34" charset="-120"/>
              </a:rPr>
              <a:t>Multi-channel intervention: d ≈ 0.6–0.9
</a:t>
            </a:r>
            <a:r>
              <a:rPr lang="en-US" sz="1050" dirty="0">
                <a:solidFill>
                  <a:srgbClr val="1E293B"/>
                </a:solidFill>
                <a:latin typeface="Calibri" pitchFamily="34" charset="0"/>
                <a:ea typeface="Calibri" pitchFamily="34" charset="-122"/>
                <a:cs typeface="Calibri" pitchFamily="34" charset="-120"/>
              </a:rPr>
              <a:t>Substantially larger than any single intervention because mechanisms enter the autonomic nervous system through independent gates.</a:t>
            </a:r>
            <a:endParaRPr lang="en-US" sz="1050" dirty="0"/>
          </a:p>
        </p:txBody>
      </p:sp>
      <p:sp>
        <p:nvSpPr>
          <p:cNvPr id="37" name="Shape 35"/>
          <p:cNvSpPr/>
          <p:nvPr/>
        </p:nvSpPr>
        <p:spPr>
          <a:xfrm>
            <a:off x="5212080" y="3063240"/>
            <a:ext cx="374904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38" name="Shape 36"/>
          <p:cNvSpPr/>
          <p:nvPr/>
        </p:nvSpPr>
        <p:spPr>
          <a:xfrm>
            <a:off x="5212080" y="3063240"/>
            <a:ext cx="54864" cy="822960"/>
          </a:xfrm>
          <a:prstGeom prst="rect">
            <a:avLst/>
          </a:prstGeom>
          <a:solidFill>
            <a:srgbClr val="B85042"/>
          </a:solidFill>
          <a:ln/>
        </p:spPr>
        <p:txBody>
          <a:bodyPr/>
          <a:lstStyle/>
          <a:p>
            <a:endParaRPr lang="en-US"/>
          </a:p>
        </p:txBody>
      </p:sp>
      <p:sp>
        <p:nvSpPr>
          <p:cNvPr id="39" name="Text 37"/>
          <p:cNvSpPr/>
          <p:nvPr/>
        </p:nvSpPr>
        <p:spPr>
          <a:xfrm>
            <a:off x="5440680" y="3108960"/>
            <a:ext cx="3291840" cy="164592"/>
          </a:xfrm>
          <a:prstGeom prst="rect">
            <a:avLst/>
          </a:prstGeom>
          <a:noFill/>
          <a:ln/>
        </p:spPr>
        <p:txBody>
          <a:bodyPr wrap="square" lIns="0" tIns="0" rIns="0" bIns="0" rtlCol="0" anchor="ctr"/>
          <a:lstStyle/>
          <a:p>
            <a:pPr marL="0" indent="0">
              <a:buNone/>
            </a:pPr>
            <a:r>
              <a:rPr lang="en-US" sz="900" b="1" kern="0" spc="200" dirty="0">
                <a:solidFill>
                  <a:srgbClr val="B85042"/>
                </a:solidFill>
                <a:latin typeface="Calibri" pitchFamily="34" charset="0"/>
                <a:ea typeface="Calibri" pitchFamily="34" charset="-122"/>
                <a:cs typeface="Calibri" pitchFamily="34" charset="-120"/>
              </a:rPr>
              <a:t>GAP IDENTIFIED</a:t>
            </a:r>
            <a:endParaRPr lang="en-US" sz="900" dirty="0"/>
          </a:p>
        </p:txBody>
      </p:sp>
      <p:sp>
        <p:nvSpPr>
          <p:cNvPr id="40" name="Text 38"/>
          <p:cNvSpPr/>
          <p:nvPr/>
        </p:nvSpPr>
        <p:spPr>
          <a:xfrm>
            <a:off x="5440680" y="3337560"/>
            <a:ext cx="3291840" cy="502920"/>
          </a:xfrm>
          <a:prstGeom prst="rect">
            <a:avLst/>
          </a:prstGeom>
          <a:noFill/>
          <a:ln/>
        </p:spPr>
        <p:txBody>
          <a:bodyPr wrap="square" lIns="0" tIns="0" rIns="0" bIns="0" rtlCol="0" anchor="ctr"/>
          <a:lstStyle/>
          <a:p>
            <a:pPr marL="0" indent="0">
              <a:lnSpc>
                <a:spcPct val="130000"/>
              </a:lnSpc>
              <a:buNone/>
            </a:pPr>
            <a:r>
              <a:rPr lang="en-US" sz="1050" dirty="0">
                <a:solidFill>
                  <a:srgbClr val="1E293B"/>
                </a:solidFill>
                <a:latin typeface="Calibri" pitchFamily="34" charset="0"/>
                <a:ea typeface="Calibri" pitchFamily="34" charset="-122"/>
                <a:cs typeface="Calibri" pitchFamily="34" charset="-120"/>
              </a:rPr>
              <a:t>T055: Acoustics — highest credence (0.88)
but NOT addressed in the proposal.
</a:t>
            </a:r>
            <a:r>
              <a:rPr lang="en-US" sz="1050" b="1" dirty="0">
                <a:solidFill>
                  <a:srgbClr val="B85042"/>
                </a:solidFill>
                <a:latin typeface="Calibri" pitchFamily="34" charset="0"/>
                <a:ea typeface="Calibri" pitchFamily="34" charset="-122"/>
                <a:cs typeface="Calibri" pitchFamily="34" charset="-120"/>
              </a:rPr>
              <a:t>d = 0.4–0.7. Usually the most powerful channel.</a:t>
            </a:r>
            <a:endParaRPr lang="en-US" sz="1050" dirty="0"/>
          </a:p>
        </p:txBody>
      </p:sp>
      <p:sp>
        <p:nvSpPr>
          <p:cNvPr id="41" name="Text 39"/>
          <p:cNvSpPr/>
          <p:nvPr/>
        </p:nvSpPr>
        <p:spPr>
          <a:xfrm>
            <a:off x="457200" y="4069080"/>
            <a:ext cx="8229600" cy="365760"/>
          </a:xfrm>
          <a:prstGeom prst="rect">
            <a:avLst/>
          </a:prstGeom>
          <a:noFill/>
          <a:ln/>
        </p:spPr>
        <p:txBody>
          <a:bodyPr wrap="square" lIns="0" tIns="0" rIns="0" bIns="0" rtlCol="0" anchor="ctr"/>
          <a:lstStyle/>
          <a:p>
            <a:pPr marL="0" indent="0">
              <a:lnSpc>
                <a:spcPct val="130000"/>
              </a:lnSpc>
              <a:buNone/>
            </a:pPr>
            <a:r>
              <a:rPr lang="en-US" sz="1100" i="1" dirty="0">
                <a:solidFill>
                  <a:srgbClr val="2B5A8C"/>
                </a:solidFill>
                <a:latin typeface="Georgia" pitchFamily="34" charset="0"/>
                <a:ea typeface="Georgia" pitchFamily="34" charset="-122"/>
                <a:cs typeface="Georgia" pitchFamily="34" charset="-120"/>
              </a:rPr>
              <a:t>This is argumentation with teeth. Not 'research says nature is good' — but four independent mechanisms, effect sizes, a compound prediction, the gaps, and what you lose by not addressing the acoustic channel.</a:t>
            </a:r>
            <a:endParaRPr lang="en-US" sz="1100" dirty="0"/>
          </a:p>
        </p:txBody>
      </p:sp>
      <p:sp>
        <p:nvSpPr>
          <p:cNvPr id="42" name="Shape 40"/>
          <p:cNvSpPr/>
          <p:nvPr/>
        </p:nvSpPr>
        <p:spPr>
          <a:xfrm>
            <a:off x="457200" y="4572000"/>
            <a:ext cx="3977640" cy="5029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43" name="Shape 41"/>
          <p:cNvSpPr/>
          <p:nvPr/>
        </p:nvSpPr>
        <p:spPr>
          <a:xfrm>
            <a:off x="457200" y="4572000"/>
            <a:ext cx="54864" cy="502920"/>
          </a:xfrm>
          <a:prstGeom prst="rect">
            <a:avLst/>
          </a:prstGeom>
          <a:solidFill>
            <a:srgbClr val="6B3B8C"/>
          </a:solidFill>
          <a:ln/>
        </p:spPr>
        <p:txBody>
          <a:bodyPr/>
          <a:lstStyle/>
          <a:p>
            <a:endParaRPr lang="en-US"/>
          </a:p>
        </p:txBody>
      </p:sp>
      <p:sp>
        <p:nvSpPr>
          <p:cNvPr id="44" name="Text 42"/>
          <p:cNvSpPr/>
          <p:nvPr/>
        </p:nvSpPr>
        <p:spPr>
          <a:xfrm>
            <a:off x="685800" y="4617720"/>
            <a:ext cx="3520440" cy="365760"/>
          </a:xfrm>
          <a:prstGeom prst="rect">
            <a:avLst/>
          </a:prstGeom>
          <a:noFill/>
          <a:ln/>
        </p:spPr>
        <p:txBody>
          <a:bodyPr wrap="square" lIns="0" tIns="0" rIns="0" bIns="0" rtlCol="0" anchor="ctr"/>
          <a:lstStyle/>
          <a:p>
            <a:pPr marL="0" indent="0">
              <a:buNone/>
            </a:pPr>
            <a:r>
              <a:rPr lang="en-US" sz="1000" b="1" dirty="0">
                <a:solidFill>
                  <a:srgbClr val="6B3B8C"/>
                </a:solidFill>
                <a:latin typeface="Calibri" pitchFamily="34" charset="0"/>
                <a:ea typeface="Calibri" pitchFamily="34" charset="-122"/>
                <a:cs typeface="Calibri" pitchFamily="34" charset="-120"/>
              </a:rPr>
              <a:t>Value of Information: </a:t>
            </a:r>
            <a:r>
              <a:rPr lang="en-US" sz="1000" dirty="0">
                <a:solidFill>
                  <a:srgbClr val="1E293B"/>
                </a:solidFill>
                <a:latin typeface="Calibri" pitchFamily="34" charset="0"/>
                <a:ea typeface="Calibri" pitchFamily="34" charset="-122"/>
                <a:cs typeface="Calibri" pitchFamily="34" charset="-120"/>
              </a:rPr>
              <a:t>Which experiments would most change the web? Where are the weakest warrants?</a:t>
            </a:r>
            <a:endParaRPr lang="en-US" sz="1000" dirty="0"/>
          </a:p>
        </p:txBody>
      </p:sp>
      <p:sp>
        <p:nvSpPr>
          <p:cNvPr id="45" name="Shape 43"/>
          <p:cNvSpPr/>
          <p:nvPr/>
        </p:nvSpPr>
        <p:spPr>
          <a:xfrm>
            <a:off x="4709160" y="4572000"/>
            <a:ext cx="4251960" cy="50292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46" name="Shape 44"/>
          <p:cNvSpPr/>
          <p:nvPr/>
        </p:nvSpPr>
        <p:spPr>
          <a:xfrm>
            <a:off x="4709160" y="4572000"/>
            <a:ext cx="54864" cy="502920"/>
          </a:xfrm>
          <a:prstGeom prst="rect">
            <a:avLst/>
          </a:prstGeom>
          <a:solidFill>
            <a:srgbClr val="8C4B2B"/>
          </a:solidFill>
          <a:ln/>
        </p:spPr>
        <p:txBody>
          <a:bodyPr/>
          <a:lstStyle/>
          <a:p>
            <a:endParaRPr lang="en-US"/>
          </a:p>
        </p:txBody>
      </p:sp>
      <p:sp>
        <p:nvSpPr>
          <p:cNvPr id="47" name="Text 45"/>
          <p:cNvSpPr/>
          <p:nvPr/>
        </p:nvSpPr>
        <p:spPr>
          <a:xfrm>
            <a:off x="4937760" y="4617720"/>
            <a:ext cx="3794760" cy="365760"/>
          </a:xfrm>
          <a:prstGeom prst="rect">
            <a:avLst/>
          </a:prstGeom>
          <a:noFill/>
          <a:ln/>
        </p:spPr>
        <p:txBody>
          <a:bodyPr wrap="square" lIns="0" tIns="0" rIns="0" bIns="0" rtlCol="0" anchor="ctr"/>
          <a:lstStyle/>
          <a:p>
            <a:pPr marL="0" indent="0">
              <a:buNone/>
            </a:pPr>
            <a:r>
              <a:rPr lang="en-US" sz="1000" b="1" dirty="0">
                <a:solidFill>
                  <a:srgbClr val="8C4B2B"/>
                </a:solidFill>
                <a:latin typeface="Calibri" pitchFamily="34" charset="0"/>
                <a:ea typeface="Calibri" pitchFamily="34" charset="-122"/>
                <a:cs typeface="Calibri" pitchFamily="34" charset="-120"/>
              </a:rPr>
              <a:t>Defeasibility: </a:t>
            </a:r>
            <a:r>
              <a:rPr lang="en-US" sz="1000" dirty="0">
                <a:solidFill>
                  <a:srgbClr val="1E293B"/>
                </a:solidFill>
                <a:latin typeface="Calibri" pitchFamily="34" charset="0"/>
                <a:ea typeface="Calibri" pitchFamily="34" charset="-122"/>
                <a:cs typeface="Calibri" pitchFamily="34" charset="-120"/>
              </a:rPr>
              <a:t>Every design claim has conditions under which it fails. The warrant structure makes these explicit.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SYSTEM ARCHITECTURE</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Two Ways to Navigate:</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Mechanisms and Attributes</a:t>
            </a:r>
            <a:endParaRPr lang="en-US" sz="2600" dirty="0"/>
          </a:p>
        </p:txBody>
      </p:sp>
      <p:sp>
        <p:nvSpPr>
          <p:cNvPr id="4" name="Shape 2"/>
          <p:cNvSpPr/>
          <p:nvPr/>
        </p:nvSpPr>
        <p:spPr>
          <a:xfrm>
            <a:off x="548640" y="1280160"/>
            <a:ext cx="3794760" cy="18288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80160"/>
            <a:ext cx="54864" cy="1828800"/>
          </a:xfrm>
          <a:prstGeom prst="rect">
            <a:avLst/>
          </a:prstGeom>
          <a:solidFill>
            <a:srgbClr val="6B3B8C"/>
          </a:solidFill>
          <a:ln/>
        </p:spPr>
        <p:txBody>
          <a:bodyPr/>
          <a:lstStyle/>
          <a:p>
            <a:endParaRPr lang="en-US"/>
          </a:p>
        </p:txBody>
      </p:sp>
      <p:sp>
        <p:nvSpPr>
          <p:cNvPr id="6" name="Text 4"/>
          <p:cNvSpPr/>
          <p:nvPr/>
        </p:nvSpPr>
        <p:spPr>
          <a:xfrm>
            <a:off x="777240" y="1371600"/>
            <a:ext cx="3383280" cy="320040"/>
          </a:xfrm>
          <a:prstGeom prst="rect">
            <a:avLst/>
          </a:prstGeom>
          <a:noFill/>
          <a:ln/>
        </p:spPr>
        <p:txBody>
          <a:bodyPr wrap="square" lIns="0" tIns="0" rIns="0" bIns="0" rtlCol="0" anchor="ctr"/>
          <a:lstStyle/>
          <a:p>
            <a:pPr marL="0" indent="0">
              <a:buNone/>
            </a:pPr>
            <a:r>
              <a:rPr lang="en-US" sz="1800" b="1" dirty="0">
                <a:solidFill>
                  <a:srgbClr val="6B3B8C"/>
                </a:solidFill>
                <a:latin typeface="Georgia" pitchFamily="34" charset="0"/>
                <a:ea typeface="Georgia" pitchFamily="34" charset="-122"/>
                <a:cs typeface="Georgia" pitchFamily="34" charset="-120"/>
              </a:rPr>
              <a:t>Mechanism-First</a:t>
            </a:r>
            <a:endParaRPr lang="en-US" sz="1800" dirty="0"/>
          </a:p>
        </p:txBody>
      </p:sp>
      <p:sp>
        <p:nvSpPr>
          <p:cNvPr id="7" name="Text 5"/>
          <p:cNvSpPr/>
          <p:nvPr/>
        </p:nvSpPr>
        <p:spPr>
          <a:xfrm>
            <a:off x="777240" y="1737360"/>
            <a:ext cx="3383280" cy="1097280"/>
          </a:xfrm>
          <a:prstGeom prst="rect">
            <a:avLst/>
          </a:prstGeom>
          <a:noFill/>
          <a:ln/>
        </p:spPr>
        <p:txBody>
          <a:bodyPr wrap="square" lIns="0" tIns="0" rIns="0" bIns="0" rtlCol="0" anchor="ctr"/>
          <a:lstStyle/>
          <a:p>
            <a:pPr marL="0" indent="0">
              <a:lnSpc>
                <a:spcPct val="120000"/>
              </a:lnSpc>
              <a:buNone/>
            </a:pPr>
            <a:r>
              <a:rPr lang="en-US" sz="1150" i="1" dirty="0">
                <a:solidFill>
                  <a:srgbClr val="1E293B"/>
                </a:solidFill>
                <a:latin typeface="Calibri" pitchFamily="34" charset="0"/>
                <a:ea typeface="Calibri" pitchFamily="34" charset="-122"/>
                <a:cs typeface="Calibri" pitchFamily="34" charset="-120"/>
              </a:rPr>
              <a:t>"What does the LC-NE system do?"
</a:t>
            </a:r>
            <a:endParaRPr lang="en-US" sz="1150" dirty="0"/>
          </a:p>
          <a:p>
            <a:pPr marL="0" indent="0">
              <a:lnSpc>
                <a:spcPct val="120000"/>
              </a:lnSpc>
              <a:buNone/>
            </a:pPr>
            <a:r>
              <a:rPr lang="en-US" sz="1150" dirty="0">
                <a:solidFill>
                  <a:srgbClr val="475569"/>
                </a:solidFill>
                <a:latin typeface="Calibri" pitchFamily="34" charset="0"/>
                <a:ea typeface="Calibri" pitchFamily="34" charset="-122"/>
                <a:cs typeface="Calibri" pitchFamily="34" charset="-120"/>
              </a:rPr>
              <a:t>Organized by brain systems and cognitive mechanisms.</a:t>
            </a:r>
            <a:endParaRPr lang="en-US" sz="1150" dirty="0"/>
          </a:p>
          <a:p>
            <a:pPr marL="0" indent="0">
              <a:lnSpc>
                <a:spcPct val="120000"/>
              </a:lnSpc>
              <a:buNone/>
            </a:pPr>
            <a:r>
              <a:rPr lang="en-US" sz="1150" dirty="0">
                <a:solidFill>
                  <a:srgbClr val="475569"/>
                </a:solidFill>
                <a:latin typeface="Calibri" pitchFamily="34" charset="0"/>
                <a:ea typeface="Calibri" pitchFamily="34" charset="-122"/>
                <a:cs typeface="Calibri" pitchFamily="34" charset="-120"/>
              </a:rPr>
              <a:t>Scientist's entry point.</a:t>
            </a:r>
            <a:endParaRPr lang="en-US" sz="1150" dirty="0"/>
          </a:p>
        </p:txBody>
      </p:sp>
      <p:sp>
        <p:nvSpPr>
          <p:cNvPr id="8" name="Shape 6"/>
          <p:cNvSpPr/>
          <p:nvPr/>
        </p:nvSpPr>
        <p:spPr>
          <a:xfrm>
            <a:off x="4800600" y="1280160"/>
            <a:ext cx="3977640" cy="18288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4800600" y="1280160"/>
            <a:ext cx="54864" cy="1828800"/>
          </a:xfrm>
          <a:prstGeom prst="rect">
            <a:avLst/>
          </a:prstGeom>
          <a:solidFill>
            <a:srgbClr val="8C4B2B"/>
          </a:solidFill>
          <a:ln/>
        </p:spPr>
        <p:txBody>
          <a:bodyPr/>
          <a:lstStyle/>
          <a:p>
            <a:endParaRPr lang="en-US"/>
          </a:p>
        </p:txBody>
      </p:sp>
      <p:sp>
        <p:nvSpPr>
          <p:cNvPr id="10" name="Text 8"/>
          <p:cNvSpPr/>
          <p:nvPr/>
        </p:nvSpPr>
        <p:spPr>
          <a:xfrm>
            <a:off x="5029200" y="1371600"/>
            <a:ext cx="3566160" cy="320040"/>
          </a:xfrm>
          <a:prstGeom prst="rect">
            <a:avLst/>
          </a:prstGeom>
          <a:noFill/>
          <a:ln/>
        </p:spPr>
        <p:txBody>
          <a:bodyPr wrap="square" lIns="0" tIns="0" rIns="0" bIns="0" rtlCol="0" anchor="ctr"/>
          <a:lstStyle/>
          <a:p>
            <a:pPr marL="0" indent="0">
              <a:buNone/>
            </a:pPr>
            <a:r>
              <a:rPr lang="en-US" sz="1800" b="1" dirty="0">
                <a:solidFill>
                  <a:srgbClr val="8C4B2B"/>
                </a:solidFill>
                <a:latin typeface="Georgia" pitchFamily="34" charset="0"/>
                <a:ea typeface="Georgia" pitchFamily="34" charset="-122"/>
                <a:cs typeface="Georgia" pitchFamily="34" charset="-120"/>
              </a:rPr>
              <a:t>Attribute-First</a:t>
            </a:r>
            <a:endParaRPr lang="en-US" sz="1800" dirty="0"/>
          </a:p>
        </p:txBody>
      </p:sp>
      <p:sp>
        <p:nvSpPr>
          <p:cNvPr id="11" name="Text 9"/>
          <p:cNvSpPr/>
          <p:nvPr/>
        </p:nvSpPr>
        <p:spPr>
          <a:xfrm>
            <a:off x="5029200" y="1737360"/>
            <a:ext cx="3566160" cy="1097280"/>
          </a:xfrm>
          <a:prstGeom prst="rect">
            <a:avLst/>
          </a:prstGeom>
          <a:noFill/>
          <a:ln/>
        </p:spPr>
        <p:txBody>
          <a:bodyPr wrap="square" lIns="0" tIns="0" rIns="0" bIns="0" rtlCol="0" anchor="ctr"/>
          <a:lstStyle/>
          <a:p>
            <a:pPr marL="0" indent="0">
              <a:lnSpc>
                <a:spcPct val="120000"/>
              </a:lnSpc>
              <a:buNone/>
            </a:pPr>
            <a:r>
              <a:rPr lang="en-US" sz="1150" i="1" dirty="0">
                <a:solidFill>
                  <a:srgbClr val="1E293B"/>
                </a:solidFill>
                <a:latin typeface="Calibri" pitchFamily="34" charset="0"/>
                <a:ea typeface="Calibri" pitchFamily="34" charset="-122"/>
                <a:cs typeface="Calibri" pitchFamily="34" charset="-120"/>
              </a:rPr>
              <a:t>"What do we know about ceiling height?"
</a:t>
            </a:r>
            <a:endParaRPr lang="en-US" sz="1150" dirty="0"/>
          </a:p>
          <a:p>
            <a:pPr marL="0" indent="0">
              <a:lnSpc>
                <a:spcPct val="120000"/>
              </a:lnSpc>
              <a:buNone/>
            </a:pPr>
            <a:r>
              <a:rPr lang="en-US" sz="1150" dirty="0">
                <a:solidFill>
                  <a:srgbClr val="475569"/>
                </a:solidFill>
                <a:latin typeface="Calibri" pitchFamily="34" charset="0"/>
                <a:ea typeface="Calibri" pitchFamily="34" charset="-122"/>
                <a:cs typeface="Calibri" pitchFamily="34" charset="-120"/>
              </a:rPr>
              <a:t>Organized by architectural features.</a:t>
            </a:r>
            <a:endParaRPr lang="en-US" sz="1150" dirty="0"/>
          </a:p>
          <a:p>
            <a:pPr marL="0" indent="0">
              <a:lnSpc>
                <a:spcPct val="120000"/>
              </a:lnSpc>
              <a:buNone/>
            </a:pPr>
            <a:r>
              <a:rPr lang="en-US" sz="1150" dirty="0">
                <a:solidFill>
                  <a:srgbClr val="475569"/>
                </a:solidFill>
                <a:latin typeface="Calibri" pitchFamily="34" charset="0"/>
                <a:ea typeface="Calibri" pitchFamily="34" charset="-122"/>
                <a:cs typeface="Calibri" pitchFamily="34" charset="-120"/>
              </a:rPr>
              <a:t>Designer's entry point.</a:t>
            </a:r>
            <a:endParaRPr lang="en-US" sz="1150" dirty="0"/>
          </a:p>
        </p:txBody>
      </p:sp>
      <p:sp>
        <p:nvSpPr>
          <p:cNvPr id="12" name="Shape 10"/>
          <p:cNvSpPr/>
          <p:nvPr/>
        </p:nvSpPr>
        <p:spPr>
          <a:xfrm>
            <a:off x="548640" y="3383280"/>
            <a:ext cx="8046720" cy="109728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3383280"/>
            <a:ext cx="54864" cy="1097280"/>
          </a:xfrm>
          <a:prstGeom prst="rect">
            <a:avLst/>
          </a:prstGeom>
          <a:solidFill>
            <a:srgbClr val="2B5A8C"/>
          </a:solidFill>
          <a:ln/>
        </p:spPr>
        <p:txBody>
          <a:bodyPr/>
          <a:lstStyle/>
          <a:p>
            <a:endParaRPr lang="en-US"/>
          </a:p>
        </p:txBody>
      </p:sp>
      <p:sp>
        <p:nvSpPr>
          <p:cNvPr id="14" name="Text 12"/>
          <p:cNvSpPr/>
          <p:nvPr/>
        </p:nvSpPr>
        <p:spPr>
          <a:xfrm>
            <a:off x="777240" y="3474720"/>
            <a:ext cx="7589520" cy="822960"/>
          </a:xfrm>
          <a:prstGeom prst="rect">
            <a:avLst/>
          </a:prstGeom>
          <a:noFill/>
          <a:ln/>
        </p:spPr>
        <p:txBody>
          <a:bodyPr wrap="square" lIns="0" tIns="0" rIns="0" bIns="0" rtlCol="0" anchor="ctr"/>
          <a:lstStyle/>
          <a:p>
            <a:pPr marL="0" indent="0">
              <a:lnSpc>
                <a:spcPct val="130000"/>
              </a:lnSpc>
              <a:buNone/>
            </a:pPr>
            <a:r>
              <a:rPr lang="en-US" sz="1150" b="1" dirty="0">
                <a:solidFill>
                  <a:srgbClr val="1E293B"/>
                </a:solidFill>
                <a:latin typeface="Calibri" pitchFamily="34" charset="0"/>
                <a:ea typeface="Calibri" pitchFamily="34" charset="-122"/>
                <a:cs typeface="Calibri" pitchFamily="34" charset="-120"/>
              </a:rPr>
              <a:t>Cross-referencing layer connects both schemes. </a:t>
            </a:r>
            <a:r>
              <a:rPr lang="en-US" sz="1150" dirty="0">
                <a:solidFill>
                  <a:srgbClr val="475569"/>
                </a:solidFill>
                <a:latin typeface="Calibri" pitchFamily="34" charset="0"/>
                <a:ea typeface="Calibri" pitchFamily="34" charset="-122"/>
                <a:cs typeface="Calibri" pitchFamily="34" charset="-120"/>
              </a:rPr>
              <a:t>Ask 'ceiling height' → get LC-NE arousal template + prospect-refuge template + spatial scale template + thermal stratification template. Ask 'LC-NE' → get all architectural features that modulate 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TEMPLATE ANATOMY</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Template T3: Prospect-Refuge</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and Autonomic Regulation</a:t>
            </a:r>
            <a:endParaRPr lang="en-US" sz="2600" dirty="0"/>
          </a:p>
        </p:txBody>
      </p:sp>
      <p:sp>
        <p:nvSpPr>
          <p:cNvPr id="4" name="Shape 2"/>
          <p:cNvSpPr/>
          <p:nvPr/>
        </p:nvSpPr>
        <p:spPr>
          <a:xfrm>
            <a:off x="548640" y="1234440"/>
            <a:ext cx="8046720" cy="57607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34440"/>
            <a:ext cx="54864" cy="576072"/>
          </a:xfrm>
          <a:prstGeom prst="rect">
            <a:avLst/>
          </a:prstGeom>
          <a:solidFill>
            <a:srgbClr val="2B5A8C"/>
          </a:solidFill>
          <a:ln/>
        </p:spPr>
        <p:txBody>
          <a:bodyPr/>
          <a:lstStyle/>
          <a:p>
            <a:endParaRPr lang="en-US"/>
          </a:p>
        </p:txBody>
      </p:sp>
      <p:sp>
        <p:nvSpPr>
          <p:cNvPr id="6" name="Text 4"/>
          <p:cNvSpPr/>
          <p:nvPr/>
        </p:nvSpPr>
        <p:spPr>
          <a:xfrm>
            <a:off x="777240" y="1289304"/>
            <a:ext cx="1188720" cy="228600"/>
          </a:xfrm>
          <a:prstGeom prst="rect">
            <a:avLst/>
          </a:prstGeom>
          <a:noFill/>
          <a:ln/>
        </p:spPr>
        <p:txBody>
          <a:bodyPr wrap="square" lIns="0" tIns="0" rIns="0" bIns="0" rtlCol="0" anchor="ctr"/>
          <a:lstStyle/>
          <a:p>
            <a:pPr marL="0" indent="0">
              <a:buNone/>
            </a:pPr>
            <a:r>
              <a:rPr lang="en-US" sz="1100" b="1" dirty="0">
                <a:solidFill>
                  <a:srgbClr val="2B5A8C"/>
                </a:solidFill>
                <a:latin typeface="Calibri" pitchFamily="34" charset="0"/>
                <a:ea typeface="Calibri" pitchFamily="34" charset="-122"/>
                <a:cs typeface="Calibri" pitchFamily="34" charset="-120"/>
              </a:rPr>
              <a:t>Mechanism</a:t>
            </a:r>
            <a:endParaRPr lang="en-US" sz="1100" dirty="0"/>
          </a:p>
        </p:txBody>
      </p:sp>
      <p:sp>
        <p:nvSpPr>
          <p:cNvPr id="7" name="Text 5"/>
          <p:cNvSpPr/>
          <p:nvPr/>
        </p:nvSpPr>
        <p:spPr>
          <a:xfrm>
            <a:off x="2011680" y="1289304"/>
            <a:ext cx="6400800" cy="43891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Evolved threat-assessment system. Open sightlines (prospect) signal escape routes → reduced amygdala activation → parasympathetic shift. Enclosed back (refuge) eliminates threat from behind → reduced hypervigilance.</a:t>
            </a:r>
            <a:endParaRPr lang="en-US" sz="1050" dirty="0"/>
          </a:p>
        </p:txBody>
      </p:sp>
      <p:sp>
        <p:nvSpPr>
          <p:cNvPr id="8" name="Shape 6"/>
          <p:cNvSpPr/>
          <p:nvPr/>
        </p:nvSpPr>
        <p:spPr>
          <a:xfrm>
            <a:off x="548640" y="1892808"/>
            <a:ext cx="8046720" cy="57607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548640" y="1892808"/>
            <a:ext cx="54864" cy="576072"/>
          </a:xfrm>
          <a:prstGeom prst="rect">
            <a:avLst/>
          </a:prstGeom>
          <a:solidFill>
            <a:srgbClr val="3B7A4C"/>
          </a:solidFill>
          <a:ln/>
        </p:spPr>
        <p:txBody>
          <a:bodyPr/>
          <a:lstStyle/>
          <a:p>
            <a:endParaRPr lang="en-US"/>
          </a:p>
        </p:txBody>
      </p:sp>
      <p:sp>
        <p:nvSpPr>
          <p:cNvPr id="10" name="Text 8"/>
          <p:cNvSpPr/>
          <p:nvPr/>
        </p:nvSpPr>
        <p:spPr>
          <a:xfrm>
            <a:off x="777240" y="1947672"/>
            <a:ext cx="1188720" cy="228600"/>
          </a:xfrm>
          <a:prstGeom prst="rect">
            <a:avLst/>
          </a:prstGeom>
          <a:noFill/>
          <a:ln/>
        </p:spPr>
        <p:txBody>
          <a:bodyPr wrap="square" lIns="0" tIns="0" rIns="0" bIns="0" rtlCol="0" anchor="ctr"/>
          <a:lstStyle/>
          <a:p>
            <a:pPr marL="0" indent="0">
              <a:buNone/>
            </a:pPr>
            <a:r>
              <a:rPr lang="en-US" sz="1100" b="1" dirty="0">
                <a:solidFill>
                  <a:srgbClr val="3B7A4C"/>
                </a:solidFill>
                <a:latin typeface="Calibri" pitchFamily="34" charset="0"/>
                <a:ea typeface="Calibri" pitchFamily="34" charset="-122"/>
                <a:cs typeface="Calibri" pitchFamily="34" charset="-120"/>
              </a:rPr>
              <a:t>Env. Trigger</a:t>
            </a:r>
            <a:endParaRPr lang="en-US" sz="1100" dirty="0"/>
          </a:p>
        </p:txBody>
      </p:sp>
      <p:sp>
        <p:nvSpPr>
          <p:cNvPr id="11" name="Text 9"/>
          <p:cNvSpPr/>
          <p:nvPr/>
        </p:nvSpPr>
        <p:spPr>
          <a:xfrm>
            <a:off x="2011680" y="1947672"/>
            <a:ext cx="6400800" cy="43891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Spatial configuration: ratio of visual openness to rear enclosure. Window-to-wall ratio, ceiling height, back-wall proximity.</a:t>
            </a:r>
            <a:endParaRPr lang="en-US" sz="1050" dirty="0"/>
          </a:p>
        </p:txBody>
      </p:sp>
      <p:sp>
        <p:nvSpPr>
          <p:cNvPr id="12" name="Shape 10"/>
          <p:cNvSpPr/>
          <p:nvPr/>
        </p:nvSpPr>
        <p:spPr>
          <a:xfrm>
            <a:off x="548640" y="2551176"/>
            <a:ext cx="8046720" cy="57607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2551176"/>
            <a:ext cx="54864" cy="576072"/>
          </a:xfrm>
          <a:prstGeom prst="rect">
            <a:avLst/>
          </a:prstGeom>
          <a:solidFill>
            <a:srgbClr val="6B3B8C"/>
          </a:solidFill>
          <a:ln/>
        </p:spPr>
        <p:txBody>
          <a:bodyPr/>
          <a:lstStyle/>
          <a:p>
            <a:endParaRPr lang="en-US"/>
          </a:p>
        </p:txBody>
      </p:sp>
      <p:sp>
        <p:nvSpPr>
          <p:cNvPr id="14" name="Text 12"/>
          <p:cNvSpPr/>
          <p:nvPr/>
        </p:nvSpPr>
        <p:spPr>
          <a:xfrm>
            <a:off x="777240" y="2606040"/>
            <a:ext cx="1188720" cy="228600"/>
          </a:xfrm>
          <a:prstGeom prst="rect">
            <a:avLst/>
          </a:prstGeom>
          <a:noFill/>
          <a:ln/>
        </p:spPr>
        <p:txBody>
          <a:bodyPr wrap="square" lIns="0" tIns="0" rIns="0" bIns="0" rtlCol="0" anchor="ctr"/>
          <a:lstStyle/>
          <a:p>
            <a:pPr marL="0" indent="0">
              <a:buNone/>
            </a:pPr>
            <a:r>
              <a:rPr lang="en-US" sz="1100" b="1" dirty="0">
                <a:solidFill>
                  <a:srgbClr val="6B3B8C"/>
                </a:solidFill>
                <a:latin typeface="Calibri" pitchFamily="34" charset="0"/>
                <a:ea typeface="Calibri" pitchFamily="34" charset="-122"/>
                <a:cs typeface="Calibri" pitchFamily="34" charset="-120"/>
              </a:rPr>
              <a:t>Prediction</a:t>
            </a:r>
            <a:endParaRPr lang="en-US" sz="1100" dirty="0"/>
          </a:p>
        </p:txBody>
      </p:sp>
      <p:sp>
        <p:nvSpPr>
          <p:cNvPr id="15" name="Text 13"/>
          <p:cNvSpPr/>
          <p:nvPr/>
        </p:nvSpPr>
        <p:spPr>
          <a:xfrm>
            <a:off x="2011680" y="2606040"/>
            <a:ext cx="6400800" cy="43891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Spaces with prospect-refuge configuration produce lower cortisol, lower heart rate, and higher reported comfort than equivalent spaces without.</a:t>
            </a:r>
            <a:endParaRPr lang="en-US" sz="1050" dirty="0"/>
          </a:p>
        </p:txBody>
      </p:sp>
      <p:sp>
        <p:nvSpPr>
          <p:cNvPr id="16" name="Shape 14"/>
          <p:cNvSpPr/>
          <p:nvPr/>
        </p:nvSpPr>
        <p:spPr>
          <a:xfrm>
            <a:off x="548640" y="3209544"/>
            <a:ext cx="8046720" cy="57607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7" name="Shape 15"/>
          <p:cNvSpPr/>
          <p:nvPr/>
        </p:nvSpPr>
        <p:spPr>
          <a:xfrm>
            <a:off x="548640" y="3209544"/>
            <a:ext cx="54864" cy="576072"/>
          </a:xfrm>
          <a:prstGeom prst="rect">
            <a:avLst/>
          </a:prstGeom>
          <a:solidFill>
            <a:srgbClr val="8C4B2B"/>
          </a:solidFill>
          <a:ln/>
        </p:spPr>
        <p:txBody>
          <a:bodyPr/>
          <a:lstStyle/>
          <a:p>
            <a:endParaRPr lang="en-US"/>
          </a:p>
        </p:txBody>
      </p:sp>
      <p:sp>
        <p:nvSpPr>
          <p:cNvPr id="18" name="Text 16"/>
          <p:cNvSpPr/>
          <p:nvPr/>
        </p:nvSpPr>
        <p:spPr>
          <a:xfrm>
            <a:off x="777240" y="3264408"/>
            <a:ext cx="1188720" cy="228600"/>
          </a:xfrm>
          <a:prstGeom prst="rect">
            <a:avLst/>
          </a:prstGeom>
          <a:noFill/>
          <a:ln/>
        </p:spPr>
        <p:txBody>
          <a:bodyPr wrap="square" lIns="0" tIns="0" rIns="0" bIns="0" rtlCol="0" anchor="ctr"/>
          <a:lstStyle/>
          <a:p>
            <a:pPr marL="0" indent="0">
              <a:buNone/>
            </a:pPr>
            <a:r>
              <a:rPr lang="en-US" sz="1100" b="1" dirty="0">
                <a:solidFill>
                  <a:srgbClr val="8C4B2B"/>
                </a:solidFill>
                <a:latin typeface="Calibri" pitchFamily="34" charset="0"/>
                <a:ea typeface="Calibri" pitchFamily="34" charset="-122"/>
                <a:cs typeface="Calibri" pitchFamily="34" charset="-120"/>
              </a:rPr>
              <a:t>Evidence</a:t>
            </a:r>
            <a:endParaRPr lang="en-US" sz="1100" dirty="0"/>
          </a:p>
        </p:txBody>
      </p:sp>
      <p:sp>
        <p:nvSpPr>
          <p:cNvPr id="19" name="Text 17"/>
          <p:cNvSpPr/>
          <p:nvPr/>
        </p:nvSpPr>
        <p:spPr>
          <a:xfrm>
            <a:off x="2011680" y="3264408"/>
            <a:ext cx="6400800" cy="43891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Appleton (1975) [GS: ~3,000]; Dosen &amp; Ostwald (2016) [GS: ~100]; Grahn &amp; Stigsdotter (2010) [GS: ~800]. Confidence: MODERATE-HIGH.</a:t>
            </a:r>
            <a:endParaRPr lang="en-US" sz="1050" dirty="0"/>
          </a:p>
        </p:txBody>
      </p:sp>
      <p:sp>
        <p:nvSpPr>
          <p:cNvPr id="20" name="Shape 18"/>
          <p:cNvSpPr/>
          <p:nvPr/>
        </p:nvSpPr>
        <p:spPr>
          <a:xfrm>
            <a:off x="548640" y="3867912"/>
            <a:ext cx="8046720" cy="57607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548640" y="3867912"/>
            <a:ext cx="54864" cy="576072"/>
          </a:xfrm>
          <a:prstGeom prst="rect">
            <a:avLst/>
          </a:prstGeom>
          <a:solidFill>
            <a:srgbClr val="8C2B5A"/>
          </a:solidFill>
          <a:ln/>
        </p:spPr>
        <p:txBody>
          <a:bodyPr/>
          <a:lstStyle/>
          <a:p>
            <a:endParaRPr lang="en-US"/>
          </a:p>
        </p:txBody>
      </p:sp>
      <p:sp>
        <p:nvSpPr>
          <p:cNvPr id="22" name="Text 20"/>
          <p:cNvSpPr/>
          <p:nvPr/>
        </p:nvSpPr>
        <p:spPr>
          <a:xfrm>
            <a:off x="777240" y="3922776"/>
            <a:ext cx="1188720" cy="228600"/>
          </a:xfrm>
          <a:prstGeom prst="rect">
            <a:avLst/>
          </a:prstGeom>
          <a:noFill/>
          <a:ln/>
        </p:spPr>
        <p:txBody>
          <a:bodyPr wrap="square" lIns="0" tIns="0" rIns="0" bIns="0" rtlCol="0" anchor="ctr"/>
          <a:lstStyle/>
          <a:p>
            <a:pPr marL="0" indent="0">
              <a:buNone/>
            </a:pPr>
            <a:r>
              <a:rPr lang="en-US" sz="1100" b="1" dirty="0">
                <a:solidFill>
                  <a:srgbClr val="8C2B5A"/>
                </a:solidFill>
                <a:latin typeface="Calibri" pitchFamily="34" charset="0"/>
                <a:ea typeface="Calibri" pitchFamily="34" charset="-122"/>
                <a:cs typeface="Calibri" pitchFamily="34" charset="-120"/>
              </a:rPr>
              <a:t>Calibration</a:t>
            </a:r>
            <a:endParaRPr lang="en-US" sz="1100" dirty="0"/>
          </a:p>
        </p:txBody>
      </p:sp>
      <p:sp>
        <p:nvSpPr>
          <p:cNvPr id="23" name="Text 21"/>
          <p:cNvSpPr/>
          <p:nvPr/>
        </p:nvSpPr>
        <p:spPr>
          <a:xfrm>
            <a:off x="2011680" y="3922776"/>
            <a:ext cx="6400800" cy="438912"/>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Optimal prospect angle: 120–180°. Refuge depth: min 0.5m enclosed behind. Effect size: d ≈ 0.4 on stress measures.</a:t>
            </a:r>
            <a:endParaRPr lang="en-US" sz="1050" dirty="0"/>
          </a:p>
        </p:txBody>
      </p:sp>
      <p:sp>
        <p:nvSpPr>
          <p:cNvPr id="24" name="Text 22"/>
          <p:cNvSpPr/>
          <p:nvPr/>
        </p:nvSpPr>
        <p:spPr>
          <a:xfrm>
            <a:off x="548640" y="4572000"/>
            <a:ext cx="8046720" cy="274320"/>
          </a:xfrm>
          <a:prstGeom prst="rect">
            <a:avLst/>
          </a:prstGeom>
          <a:noFill/>
          <a:ln/>
        </p:spPr>
        <p:txBody>
          <a:bodyPr wrap="square" lIns="0" tIns="0" rIns="0" bIns="0" rtlCol="0" anchor="ctr"/>
          <a:lstStyle/>
          <a:p>
            <a:pPr marL="0" indent="0">
              <a:buNone/>
            </a:pPr>
            <a:r>
              <a:rPr lang="en-US" sz="1300" i="1" dirty="0">
                <a:solidFill>
                  <a:srgbClr val="2B5A8C"/>
                </a:solidFill>
                <a:latin typeface="Georgia" pitchFamily="34" charset="0"/>
                <a:ea typeface="Georgia" pitchFamily="34" charset="-122"/>
                <a:cs typeface="Georgia" pitchFamily="34" charset="-120"/>
              </a:rPr>
              <a:t>This is one template. We have 52 across 10 domains. Each is this specific.</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NEURO MEETS ENV PSYCH — EXAMPLE 4</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Olfaction as Transition Modality:</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 Novel Prediction</a:t>
            </a:r>
            <a:endParaRPr lang="en-US" sz="2600" dirty="0"/>
          </a:p>
        </p:txBody>
      </p:sp>
      <p:sp>
        <p:nvSpPr>
          <p:cNvPr id="4" name="Text 2"/>
          <p:cNvSpPr/>
          <p:nvPr/>
        </p:nvSpPr>
        <p:spPr>
          <a:xfrm>
            <a:off x="548640" y="1143000"/>
            <a:ext cx="8046720" cy="365760"/>
          </a:xfrm>
          <a:prstGeom prst="rect">
            <a:avLst/>
          </a:prstGeom>
          <a:noFill/>
          <a:ln/>
        </p:spPr>
        <p:txBody>
          <a:bodyPr wrap="square" lIns="0" tIns="0" rIns="0" bIns="0" rtlCol="0" anchor="ctr"/>
          <a:lstStyle/>
          <a:p>
            <a:pPr marL="0" indent="0">
              <a:buNone/>
            </a:pPr>
            <a:r>
              <a:rPr lang="en-US" sz="1400" dirty="0">
                <a:solidFill>
                  <a:srgbClr val="475569"/>
                </a:solidFill>
                <a:latin typeface="Calibri" pitchFamily="34" charset="0"/>
                <a:ea typeface="Calibri" pitchFamily="34" charset="-122"/>
                <a:cs typeface="Calibri" pitchFamily="34" charset="-120"/>
              </a:rPr>
              <a:t>Standard view: Pleasant smells → pleasant experience. Template decomposition reveals something different:</a:t>
            </a:r>
            <a:endParaRPr lang="en-US" sz="1400" dirty="0"/>
          </a:p>
        </p:txBody>
      </p:sp>
      <p:sp>
        <p:nvSpPr>
          <p:cNvPr id="5" name="Shape 3"/>
          <p:cNvSpPr/>
          <p:nvPr/>
        </p:nvSpPr>
        <p:spPr>
          <a:xfrm>
            <a:off x="548640" y="1463040"/>
            <a:ext cx="8046720" cy="6858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463040"/>
            <a:ext cx="54864" cy="685800"/>
          </a:xfrm>
          <a:prstGeom prst="rect">
            <a:avLst/>
          </a:prstGeom>
          <a:solidFill>
            <a:srgbClr val="2B5A8C"/>
          </a:solidFill>
          <a:ln/>
        </p:spPr>
        <p:txBody>
          <a:bodyPr/>
          <a:lstStyle/>
          <a:p>
            <a:endParaRPr lang="en-US"/>
          </a:p>
        </p:txBody>
      </p:sp>
      <p:sp>
        <p:nvSpPr>
          <p:cNvPr id="7" name="Text 5"/>
          <p:cNvSpPr/>
          <p:nvPr/>
        </p:nvSpPr>
        <p:spPr>
          <a:xfrm>
            <a:off x="777240" y="1517904"/>
            <a:ext cx="1828800" cy="228600"/>
          </a:xfrm>
          <a:prstGeom prst="rect">
            <a:avLst/>
          </a:prstGeom>
          <a:noFill/>
          <a:ln/>
        </p:spPr>
        <p:txBody>
          <a:bodyPr wrap="square" lIns="0" tIns="0" rIns="0" bIns="0" rtlCol="0" anchor="ctr"/>
          <a:lstStyle/>
          <a:p>
            <a:pPr marL="0" indent="0">
              <a:buNone/>
            </a:pPr>
            <a:r>
              <a:rPr lang="en-US" sz="1200" b="1" dirty="0">
                <a:solidFill>
                  <a:srgbClr val="2B5A8C"/>
                </a:solidFill>
                <a:latin typeface="Calibri" pitchFamily="34" charset="0"/>
                <a:ea typeface="Calibri" pitchFamily="34" charset="-122"/>
                <a:cs typeface="Calibri" pitchFamily="34" charset="-120"/>
              </a:rPr>
              <a:t>Rapid adaptation</a:t>
            </a:r>
            <a:endParaRPr lang="en-US" sz="1200" dirty="0"/>
          </a:p>
        </p:txBody>
      </p:sp>
      <p:sp>
        <p:nvSpPr>
          <p:cNvPr id="8" name="Text 6"/>
          <p:cNvSpPr/>
          <p:nvPr/>
        </p:nvSpPr>
        <p:spPr>
          <a:xfrm>
            <a:off x="2651760" y="1517904"/>
            <a:ext cx="5760720" cy="5486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Olfactory receptors adapt within 2–3 minutes. Smell encodes ARRIVALS, not steady states. Entering a wood-paneled room is different from being in one for 20 minutes.</a:t>
            </a:r>
            <a:endParaRPr lang="en-US" sz="1050" dirty="0"/>
          </a:p>
        </p:txBody>
      </p:sp>
      <p:sp>
        <p:nvSpPr>
          <p:cNvPr id="9" name="Shape 7"/>
          <p:cNvSpPr/>
          <p:nvPr/>
        </p:nvSpPr>
        <p:spPr>
          <a:xfrm>
            <a:off x="548640" y="2240280"/>
            <a:ext cx="8046720" cy="6858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0" name="Shape 8"/>
          <p:cNvSpPr/>
          <p:nvPr/>
        </p:nvSpPr>
        <p:spPr>
          <a:xfrm>
            <a:off x="548640" y="2240280"/>
            <a:ext cx="54864" cy="685800"/>
          </a:xfrm>
          <a:prstGeom prst="rect">
            <a:avLst/>
          </a:prstGeom>
          <a:solidFill>
            <a:srgbClr val="6B3B8C"/>
          </a:solidFill>
          <a:ln/>
        </p:spPr>
        <p:txBody>
          <a:bodyPr/>
          <a:lstStyle/>
          <a:p>
            <a:endParaRPr lang="en-US"/>
          </a:p>
        </p:txBody>
      </p:sp>
      <p:sp>
        <p:nvSpPr>
          <p:cNvPr id="11" name="Text 9"/>
          <p:cNvSpPr/>
          <p:nvPr/>
        </p:nvSpPr>
        <p:spPr>
          <a:xfrm>
            <a:off x="777240" y="2295144"/>
            <a:ext cx="1828800" cy="228600"/>
          </a:xfrm>
          <a:prstGeom prst="rect">
            <a:avLst/>
          </a:prstGeom>
          <a:noFill/>
          <a:ln/>
        </p:spPr>
        <p:txBody>
          <a:bodyPr wrap="square" lIns="0" tIns="0" rIns="0" bIns="0" rtlCol="0" anchor="ctr"/>
          <a:lstStyle/>
          <a:p>
            <a:pPr marL="0" indent="0">
              <a:buNone/>
            </a:pPr>
            <a:r>
              <a:rPr lang="en-US" sz="1200" b="1" dirty="0">
                <a:solidFill>
                  <a:srgbClr val="6B3B8C"/>
                </a:solidFill>
                <a:latin typeface="Calibri" pitchFamily="34" charset="0"/>
                <a:ea typeface="Calibri" pitchFamily="34" charset="-122"/>
                <a:cs typeface="Calibri" pitchFamily="34" charset="-120"/>
              </a:rPr>
              <a:t>Direct limbic access</a:t>
            </a:r>
            <a:endParaRPr lang="en-US" sz="1200" dirty="0"/>
          </a:p>
        </p:txBody>
      </p:sp>
      <p:sp>
        <p:nvSpPr>
          <p:cNvPr id="12" name="Text 10"/>
          <p:cNvSpPr/>
          <p:nvPr/>
        </p:nvSpPr>
        <p:spPr>
          <a:xfrm>
            <a:off x="2651760" y="2295144"/>
            <a:ext cx="5760720" cy="5486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Olfactory bulb projects to amygdala and piriform cortex WITHOUT thalamic relay — unique among senses. Hedonic tagging is pre-conscious and extremely fast.</a:t>
            </a:r>
            <a:endParaRPr lang="en-US" sz="1050" dirty="0"/>
          </a:p>
        </p:txBody>
      </p:sp>
      <p:sp>
        <p:nvSpPr>
          <p:cNvPr id="13" name="Shape 11"/>
          <p:cNvSpPr/>
          <p:nvPr/>
        </p:nvSpPr>
        <p:spPr>
          <a:xfrm>
            <a:off x="548640" y="3017520"/>
            <a:ext cx="8046720" cy="6858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4" name="Shape 12"/>
          <p:cNvSpPr/>
          <p:nvPr/>
        </p:nvSpPr>
        <p:spPr>
          <a:xfrm>
            <a:off x="548640" y="3017520"/>
            <a:ext cx="54864" cy="685800"/>
          </a:xfrm>
          <a:prstGeom prst="rect">
            <a:avLst/>
          </a:prstGeom>
          <a:solidFill>
            <a:srgbClr val="3B7A4C"/>
          </a:solidFill>
          <a:ln/>
        </p:spPr>
        <p:txBody>
          <a:bodyPr/>
          <a:lstStyle/>
          <a:p>
            <a:endParaRPr lang="en-US"/>
          </a:p>
        </p:txBody>
      </p:sp>
      <p:sp>
        <p:nvSpPr>
          <p:cNvPr id="15" name="Text 13"/>
          <p:cNvSpPr/>
          <p:nvPr/>
        </p:nvSpPr>
        <p:spPr>
          <a:xfrm>
            <a:off x="777240" y="3072384"/>
            <a:ext cx="1828800" cy="228600"/>
          </a:xfrm>
          <a:prstGeom prst="rect">
            <a:avLst/>
          </a:prstGeom>
          <a:noFill/>
          <a:ln/>
        </p:spPr>
        <p:txBody>
          <a:bodyPr wrap="square" lIns="0" tIns="0" rIns="0" bIns="0" rtlCol="0" anchor="ctr"/>
          <a:lstStyle/>
          <a:p>
            <a:pPr marL="0" indent="0">
              <a:buNone/>
            </a:pPr>
            <a:r>
              <a:rPr lang="en-US" sz="1200" b="1" dirty="0">
                <a:solidFill>
                  <a:srgbClr val="3B7A4C"/>
                </a:solidFill>
                <a:latin typeface="Calibri" pitchFamily="34" charset="0"/>
                <a:ea typeface="Calibri" pitchFamily="34" charset="-122"/>
                <a:cs typeface="Calibri" pitchFamily="34" charset="-120"/>
              </a:rPr>
              <a:t>Context encoding</a:t>
            </a:r>
            <a:endParaRPr lang="en-US" sz="1200" dirty="0"/>
          </a:p>
        </p:txBody>
      </p:sp>
      <p:sp>
        <p:nvSpPr>
          <p:cNvPr id="16" name="Text 14"/>
          <p:cNvSpPr/>
          <p:nvPr/>
        </p:nvSpPr>
        <p:spPr>
          <a:xfrm>
            <a:off x="2651760" y="3072384"/>
            <a:ext cx="5760720" cy="54864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Olfaction is tightly coupled to hippocampal place cells. Smells encode spatial contexts, not objects. Proust wasn't being literary — he was being neurological.</a:t>
            </a:r>
            <a:endParaRPr lang="en-US" sz="1050" dirty="0"/>
          </a:p>
        </p:txBody>
      </p:sp>
      <p:sp>
        <p:nvSpPr>
          <p:cNvPr id="17" name="Shape 15"/>
          <p:cNvSpPr/>
          <p:nvPr/>
        </p:nvSpPr>
        <p:spPr>
          <a:xfrm>
            <a:off x="548640" y="3840480"/>
            <a:ext cx="8046720" cy="8229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8" name="Shape 16"/>
          <p:cNvSpPr/>
          <p:nvPr/>
        </p:nvSpPr>
        <p:spPr>
          <a:xfrm>
            <a:off x="548640" y="3840480"/>
            <a:ext cx="54864" cy="822960"/>
          </a:xfrm>
          <a:prstGeom prst="rect">
            <a:avLst/>
          </a:prstGeom>
          <a:solidFill>
            <a:srgbClr val="B85042"/>
          </a:solidFill>
          <a:ln/>
        </p:spPr>
        <p:txBody>
          <a:bodyPr/>
          <a:lstStyle/>
          <a:p>
            <a:endParaRPr lang="en-US"/>
          </a:p>
        </p:txBody>
      </p:sp>
      <p:sp>
        <p:nvSpPr>
          <p:cNvPr id="19" name="Text 17"/>
          <p:cNvSpPr/>
          <p:nvPr/>
        </p:nvSpPr>
        <p:spPr>
          <a:xfrm>
            <a:off x="777240" y="3913632"/>
            <a:ext cx="7589520" cy="640080"/>
          </a:xfrm>
          <a:prstGeom prst="rect">
            <a:avLst/>
          </a:prstGeom>
          <a:noFill/>
          <a:ln/>
        </p:spPr>
        <p:txBody>
          <a:bodyPr wrap="square" lIns="0" tIns="0" rIns="0" bIns="0" rtlCol="0" anchor="ctr"/>
          <a:lstStyle/>
          <a:p>
            <a:pPr marL="0" indent="0">
              <a:lnSpc>
                <a:spcPct val="130000"/>
              </a:lnSpc>
              <a:buNone/>
            </a:pPr>
            <a:r>
              <a:rPr lang="en-US" sz="1200" b="1" dirty="0">
                <a:solidFill>
                  <a:srgbClr val="B85042"/>
                </a:solidFill>
                <a:latin typeface="Calibri" pitchFamily="34" charset="0"/>
                <a:ea typeface="Calibri" pitchFamily="34" charset="-122"/>
                <a:cs typeface="Calibri" pitchFamily="34" charset="-120"/>
              </a:rPr>
              <a:t>Architectural prediction: </a:t>
            </a:r>
            <a:r>
              <a:rPr lang="en-US" sz="1200" dirty="0">
                <a:solidFill>
                  <a:srgbClr val="1E293B"/>
                </a:solidFill>
                <a:latin typeface="Calibri" pitchFamily="34" charset="0"/>
                <a:ea typeface="Calibri" pitchFamily="34" charset="-122"/>
                <a:cs typeface="Calibri" pitchFamily="34" charset="-120"/>
              </a:rPr>
              <a:t>Design smell for THRESHOLDS — building entries, room transitions, activity-zone boundaries.</a:t>
            </a:r>
            <a:endParaRPr lang="en-US" sz="1200" dirty="0"/>
          </a:p>
          <a:p>
            <a:pPr marL="0" indent="0">
              <a:lnSpc>
                <a:spcPct val="130000"/>
              </a:lnSpc>
              <a:buNone/>
            </a:pPr>
            <a:r>
              <a:rPr lang="en-US" sz="1200" dirty="0">
                <a:solidFill>
                  <a:srgbClr val="1E293B"/>
                </a:solidFill>
                <a:latin typeface="Calibri" pitchFamily="34" charset="0"/>
                <a:ea typeface="Calibri" pitchFamily="34" charset="-122"/>
                <a:cs typeface="Calibri" pitchFamily="34" charset="-120"/>
              </a:rPr>
              <a:t>Don't try to maintain a steady scent. Use olfaction to mark spatial transitions.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COVERAGE</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10 Domains, 52+ Templates,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Four-Star Coverage</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1371600" y="1280160"/>
          <a:ext cx="6400800" cy="3319272"/>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0175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5A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Templates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5A8C"/>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B5A8C"/>
                    </a:solidFill>
                  </a:tcPr>
                </a:tc>
                <a:extLst>
                  <a:ext uri="{0D108BD9-81ED-4DB2-BD59-A6C34878D82A}">
                    <a16:rowId xmlns:a16="http://schemas.microsoft.com/office/drawing/2014/main" val="10000"/>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Light &amp; Circadian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Acoustics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Spatial Configuration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Materials &amp; Texture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Biophilia &amp; Nature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Thermal &amp; Air Quality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Color &amp; Visual Complexity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Olfaction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Wayfinding &amp; Legibility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301752">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Social Configuration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8C4B2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p:nvPr/>
        </p:nvSpPr>
        <p:spPr>
          <a:xfrm>
            <a:off x="1371600" y="4663440"/>
            <a:ext cx="6400800" cy="274320"/>
          </a:xfrm>
          <a:prstGeom prst="rect">
            <a:avLst/>
          </a:prstGeom>
          <a:noFill/>
          <a:ln/>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Plus: 17 music/acoustic interaction templates, 6 cross-modal templates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CONTRIBUTION TO PHILOSOPHY OF SCIENCE</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Theory-to-Template Reduction:</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 Novel Philosophical Move</a:t>
            </a:r>
            <a:endParaRPr lang="en-US" sz="2600" dirty="0"/>
          </a:p>
        </p:txBody>
      </p:sp>
      <p:sp>
        <p:nvSpPr>
          <p:cNvPr id="4" name="Text 2"/>
          <p:cNvSpPr/>
          <p:nvPr/>
        </p:nvSpPr>
        <p:spPr>
          <a:xfrm>
            <a:off x="548640" y="1188720"/>
            <a:ext cx="8046720" cy="27432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What we're doing is a kind of theory reduction that doesn't have a standard name:</a:t>
            </a:r>
            <a:endParaRPr lang="en-US" sz="1200" dirty="0"/>
          </a:p>
        </p:txBody>
      </p:sp>
      <p:sp>
        <p:nvSpPr>
          <p:cNvPr id="5" name="Shape 3"/>
          <p:cNvSpPr/>
          <p:nvPr/>
        </p:nvSpPr>
        <p:spPr>
          <a:xfrm>
            <a:off x="548640" y="1600200"/>
            <a:ext cx="8046720" cy="59436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6" name="Shape 4"/>
          <p:cNvSpPr/>
          <p:nvPr/>
        </p:nvSpPr>
        <p:spPr>
          <a:xfrm>
            <a:off x="548640" y="1600200"/>
            <a:ext cx="54864" cy="594360"/>
          </a:xfrm>
          <a:prstGeom prst="rect">
            <a:avLst/>
          </a:prstGeom>
          <a:solidFill>
            <a:srgbClr val="6B3B8C"/>
          </a:solidFill>
          <a:ln/>
        </p:spPr>
        <p:txBody>
          <a:bodyPr/>
          <a:lstStyle/>
          <a:p>
            <a:endParaRPr lang="en-US"/>
          </a:p>
        </p:txBody>
      </p:sp>
      <p:sp>
        <p:nvSpPr>
          <p:cNvPr id="7" name="Text 5"/>
          <p:cNvSpPr/>
          <p:nvPr/>
        </p:nvSpPr>
        <p:spPr>
          <a:xfrm>
            <a:off x="777240" y="1664208"/>
            <a:ext cx="7589520" cy="457200"/>
          </a:xfrm>
          <a:prstGeom prst="rect">
            <a:avLst/>
          </a:prstGeom>
          <a:noFill/>
          <a:ln/>
        </p:spPr>
        <p:txBody>
          <a:bodyPr wrap="square" lIns="0" tIns="0" rIns="0" bIns="0" rtlCol="0" anchor="ctr"/>
          <a:lstStyle/>
          <a:p>
            <a:pPr marL="0" indent="0">
              <a:buNone/>
            </a:pPr>
            <a:r>
              <a:rPr lang="en-US" sz="1800" b="1" dirty="0">
                <a:solidFill>
                  <a:srgbClr val="6B3B8C"/>
                </a:solidFill>
                <a:latin typeface="Georgia" pitchFamily="34" charset="0"/>
                <a:ea typeface="Georgia" pitchFamily="34" charset="-122"/>
                <a:cs typeface="Georgia" pitchFamily="34" charset="-120"/>
              </a:rPr>
              <a:t>Broad theory  →  domain-specific mechanistic templates  →  testable predictions</a:t>
            </a:r>
            <a:endParaRPr lang="en-US" sz="1800" dirty="0"/>
          </a:p>
        </p:txBody>
      </p:sp>
      <p:sp>
        <p:nvSpPr>
          <p:cNvPr id="8" name="Text 6"/>
          <p:cNvSpPr/>
          <p:nvPr/>
        </p:nvSpPr>
        <p:spPr>
          <a:xfrm>
            <a:off x="548640" y="2423160"/>
            <a:ext cx="8046720" cy="2286000"/>
          </a:xfrm>
          <a:prstGeom prst="rect">
            <a:avLst/>
          </a:prstGeom>
          <a:noFill/>
          <a:ln/>
        </p:spPr>
        <p:txBody>
          <a:bodyPr wrap="square" lIns="0" tIns="0" rIns="0" bIns="0" rtlCol="0" anchor="ctr"/>
          <a:lstStyle/>
          <a:p>
            <a:pPr marL="0" indent="0">
              <a:lnSpc>
                <a:spcPct val="130000"/>
              </a:lnSpc>
              <a:buNone/>
            </a:pPr>
            <a:r>
              <a:rPr lang="en-US" sz="1300" b="1" dirty="0">
                <a:solidFill>
                  <a:srgbClr val="1E293B"/>
                </a:solidFill>
                <a:latin typeface="Calibri" pitchFamily="34" charset="0"/>
                <a:ea typeface="Calibri" pitchFamily="34" charset="-122"/>
                <a:cs typeface="Calibri" pitchFamily="34" charset="-120"/>
              </a:rPr>
              <a:t>Predictive Processing is a theory of everything. </a:t>
            </a:r>
            <a:r>
              <a:rPr lang="en-US" sz="1300" dirty="0">
                <a:solidFill>
                  <a:srgbClr val="1E293B"/>
                </a:solidFill>
                <a:latin typeface="Calibri" pitchFamily="34" charset="0"/>
                <a:ea typeface="Calibri" pitchFamily="34" charset="-122"/>
                <a:cs typeface="Calibri" pitchFamily="34" charset="-120"/>
              </a:rPr>
              <a:t>That's its strength and weakness. It explains perception, action, emotion, learning — but it doesn't directly predict that ceiling height should be 2.7m for focus work and 4m+ for creative work.
</a:t>
            </a:r>
            <a:endParaRPr lang="en-US" sz="1300" dirty="0"/>
          </a:p>
          <a:p>
            <a:pPr marL="0" indent="0">
              <a:lnSpc>
                <a:spcPct val="130000"/>
              </a:lnSpc>
              <a:buNone/>
            </a:pPr>
            <a:r>
              <a:rPr lang="en-US" sz="1300" b="1" dirty="0">
                <a:solidFill>
                  <a:srgbClr val="1E293B"/>
                </a:solidFill>
                <a:latin typeface="Calibri" pitchFamily="34" charset="0"/>
                <a:ea typeface="Calibri" pitchFamily="34" charset="-122"/>
                <a:cs typeface="Calibri" pitchFamily="34" charset="-120"/>
              </a:rPr>
              <a:t>The template reduction takes the general theory and derives specific, falsifiable, actionable claims.
</a:t>
            </a:r>
            <a:endParaRPr lang="en-US" sz="1300" dirty="0"/>
          </a:p>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This is where theory meets design — and it's where most cognitive science stops and we keep going.
</a:t>
            </a:r>
            <a:endParaRPr lang="en-US" sz="1300" dirty="0"/>
          </a:p>
          <a:p>
            <a:pPr marL="0" indent="0">
              <a:lnSpc>
                <a:spcPct val="130000"/>
              </a:lnSpc>
              <a:buNone/>
            </a:pPr>
            <a:r>
              <a:rPr lang="en-US" sz="1300" i="1" dirty="0">
                <a:solidFill>
                  <a:srgbClr val="1E293B"/>
                </a:solidFill>
                <a:latin typeface="Calibri" pitchFamily="34" charset="0"/>
                <a:ea typeface="Calibri" pitchFamily="34" charset="-122"/>
                <a:cs typeface="Calibri" pitchFamily="34" charset="-120"/>
              </a:rPr>
              <a:t>Compare: In physics, the reduction from quantum field theory to materials science to engineering specifications. We're building the materials science of the mind-environment interface.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APPLICATION</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Evaluating Real Buildings:</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From Templates to Scores</a:t>
            </a:r>
            <a:endParaRPr lang="en-US" sz="2600" dirty="0"/>
          </a:p>
        </p:txBody>
      </p:sp>
      <p:sp>
        <p:nvSpPr>
          <p:cNvPr id="4" name="Shape 2"/>
          <p:cNvSpPr/>
          <p:nvPr/>
        </p:nvSpPr>
        <p:spPr>
          <a:xfrm>
            <a:off x="548640" y="1280160"/>
            <a:ext cx="8046720" cy="9144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80160"/>
            <a:ext cx="54864" cy="914400"/>
          </a:xfrm>
          <a:prstGeom prst="rect">
            <a:avLst/>
          </a:prstGeom>
          <a:solidFill>
            <a:srgbClr val="2B5A8C"/>
          </a:solidFill>
          <a:ln/>
        </p:spPr>
        <p:txBody>
          <a:bodyPr/>
          <a:lstStyle/>
          <a:p>
            <a:endParaRPr lang="en-US"/>
          </a:p>
        </p:txBody>
      </p:sp>
      <p:sp>
        <p:nvSpPr>
          <p:cNvPr id="6" name="Text 4"/>
          <p:cNvSpPr/>
          <p:nvPr/>
        </p:nvSpPr>
        <p:spPr>
          <a:xfrm>
            <a:off x="777240" y="1353312"/>
            <a:ext cx="1097280" cy="274320"/>
          </a:xfrm>
          <a:prstGeom prst="rect">
            <a:avLst/>
          </a:prstGeom>
          <a:noFill/>
          <a:ln/>
        </p:spPr>
        <p:txBody>
          <a:bodyPr wrap="square" lIns="0" tIns="0" rIns="0" bIns="0" rtlCol="0" anchor="ctr"/>
          <a:lstStyle/>
          <a:p>
            <a:pPr marL="0" indent="0">
              <a:buNone/>
            </a:pPr>
            <a:r>
              <a:rPr lang="en-US" sz="1400" b="1" dirty="0">
                <a:solidFill>
                  <a:srgbClr val="2B5A8C"/>
                </a:solidFill>
                <a:latin typeface="Georgia" pitchFamily="34" charset="0"/>
                <a:ea typeface="Georgia" pitchFamily="34" charset="-122"/>
                <a:cs typeface="Georgia" pitchFamily="34" charset="-120"/>
              </a:rPr>
              <a:t>Input</a:t>
            </a:r>
            <a:endParaRPr lang="en-US" sz="1400" dirty="0"/>
          </a:p>
        </p:txBody>
      </p:sp>
      <p:sp>
        <p:nvSpPr>
          <p:cNvPr id="7" name="Text 5"/>
          <p:cNvSpPr/>
          <p:nvPr/>
        </p:nvSpPr>
        <p:spPr>
          <a:xfrm>
            <a:off x="1920240" y="1353312"/>
            <a:ext cx="6492240" cy="73152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Building description, floor plans, photos, post-occupancy survey data</a:t>
            </a:r>
            <a:endParaRPr lang="en-US" sz="1150" dirty="0"/>
          </a:p>
        </p:txBody>
      </p:sp>
      <p:sp>
        <p:nvSpPr>
          <p:cNvPr id="8" name="Shape 6"/>
          <p:cNvSpPr/>
          <p:nvPr/>
        </p:nvSpPr>
        <p:spPr>
          <a:xfrm>
            <a:off x="548640" y="2331720"/>
            <a:ext cx="8046720" cy="9144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548640" y="2331720"/>
            <a:ext cx="54864" cy="914400"/>
          </a:xfrm>
          <a:prstGeom prst="rect">
            <a:avLst/>
          </a:prstGeom>
          <a:solidFill>
            <a:srgbClr val="6B3B8C"/>
          </a:solidFill>
          <a:ln/>
        </p:spPr>
        <p:txBody>
          <a:bodyPr/>
          <a:lstStyle/>
          <a:p>
            <a:endParaRPr lang="en-US"/>
          </a:p>
        </p:txBody>
      </p:sp>
      <p:sp>
        <p:nvSpPr>
          <p:cNvPr id="10" name="Text 8"/>
          <p:cNvSpPr/>
          <p:nvPr/>
        </p:nvSpPr>
        <p:spPr>
          <a:xfrm>
            <a:off x="777240" y="2404872"/>
            <a:ext cx="1097280" cy="274320"/>
          </a:xfrm>
          <a:prstGeom prst="rect">
            <a:avLst/>
          </a:prstGeom>
          <a:noFill/>
          <a:ln/>
        </p:spPr>
        <p:txBody>
          <a:bodyPr wrap="square" lIns="0" tIns="0" rIns="0" bIns="0" rtlCol="0" anchor="ctr"/>
          <a:lstStyle/>
          <a:p>
            <a:pPr marL="0" indent="0">
              <a:buNone/>
            </a:pPr>
            <a:r>
              <a:rPr lang="en-US" sz="1400" b="1" dirty="0">
                <a:solidFill>
                  <a:srgbClr val="6B3B8C"/>
                </a:solidFill>
                <a:latin typeface="Georgia" pitchFamily="34" charset="0"/>
                <a:ea typeface="Georgia" pitchFamily="34" charset="-122"/>
                <a:cs typeface="Georgia" pitchFamily="34" charset="-120"/>
              </a:rPr>
              <a:t>Process</a:t>
            </a:r>
            <a:endParaRPr lang="en-US" sz="1400" dirty="0"/>
          </a:p>
        </p:txBody>
      </p:sp>
      <p:sp>
        <p:nvSpPr>
          <p:cNvPr id="11" name="Text 9"/>
          <p:cNvSpPr/>
          <p:nvPr/>
        </p:nvSpPr>
        <p:spPr>
          <a:xfrm>
            <a:off x="1920240" y="2404872"/>
            <a:ext cx="6492240" cy="73152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Each template evaluated against the building's features. Does this hospital provide prospect-refuge in patient rooms? Is the acoustic environment below the speech intelligibility threshold?</a:t>
            </a:r>
            <a:endParaRPr lang="en-US" sz="1150" dirty="0"/>
          </a:p>
        </p:txBody>
      </p:sp>
      <p:sp>
        <p:nvSpPr>
          <p:cNvPr id="12" name="Shape 10"/>
          <p:cNvSpPr/>
          <p:nvPr/>
        </p:nvSpPr>
        <p:spPr>
          <a:xfrm>
            <a:off x="548640" y="3383280"/>
            <a:ext cx="8046720" cy="91440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3383280"/>
            <a:ext cx="54864" cy="914400"/>
          </a:xfrm>
          <a:prstGeom prst="rect">
            <a:avLst/>
          </a:prstGeom>
          <a:solidFill>
            <a:srgbClr val="3B7A4C"/>
          </a:solidFill>
          <a:ln/>
        </p:spPr>
        <p:txBody>
          <a:bodyPr/>
          <a:lstStyle/>
          <a:p>
            <a:endParaRPr lang="en-US"/>
          </a:p>
        </p:txBody>
      </p:sp>
      <p:sp>
        <p:nvSpPr>
          <p:cNvPr id="14" name="Text 12"/>
          <p:cNvSpPr/>
          <p:nvPr/>
        </p:nvSpPr>
        <p:spPr>
          <a:xfrm>
            <a:off x="777240" y="3456432"/>
            <a:ext cx="1097280" cy="274320"/>
          </a:xfrm>
          <a:prstGeom prst="rect">
            <a:avLst/>
          </a:prstGeom>
          <a:noFill/>
          <a:ln/>
        </p:spPr>
        <p:txBody>
          <a:bodyPr wrap="square" lIns="0" tIns="0" rIns="0" bIns="0" rtlCol="0" anchor="ctr"/>
          <a:lstStyle/>
          <a:p>
            <a:pPr marL="0" indent="0">
              <a:buNone/>
            </a:pPr>
            <a:r>
              <a:rPr lang="en-US" sz="1400" b="1" dirty="0">
                <a:solidFill>
                  <a:srgbClr val="3B7A4C"/>
                </a:solidFill>
                <a:latin typeface="Georgia" pitchFamily="34" charset="0"/>
                <a:ea typeface="Georgia" pitchFamily="34" charset="-122"/>
                <a:cs typeface="Georgia" pitchFamily="34" charset="-120"/>
              </a:rPr>
              <a:t>Output</a:t>
            </a:r>
            <a:endParaRPr lang="en-US" sz="1400" dirty="0"/>
          </a:p>
        </p:txBody>
      </p:sp>
      <p:sp>
        <p:nvSpPr>
          <p:cNvPr id="15" name="Text 13"/>
          <p:cNvSpPr/>
          <p:nvPr/>
        </p:nvSpPr>
        <p:spPr>
          <a:xfrm>
            <a:off x="1920240" y="3456432"/>
            <a:ext cx="6492240" cy="731520"/>
          </a:xfrm>
          <a:prstGeom prst="rect">
            <a:avLst/>
          </a:prstGeom>
          <a:noFill/>
          <a:ln/>
        </p:spPr>
        <p:txBody>
          <a:bodyPr wrap="square" lIns="0" tIns="0" rIns="0" bIns="0" rtlCol="0" anchor="ctr"/>
          <a:lstStyle/>
          <a:p>
            <a:pPr marL="0" indent="0">
              <a:buNone/>
            </a:pPr>
            <a:r>
              <a:rPr lang="en-US" sz="1150" dirty="0">
                <a:solidFill>
                  <a:srgbClr val="475569"/>
                </a:solidFill>
                <a:latin typeface="Calibri" pitchFamily="34" charset="0"/>
                <a:ea typeface="Calibri" pitchFamily="34" charset="-122"/>
                <a:cs typeface="Calibri" pitchFamily="34" charset="-120"/>
              </a:rPr>
              <a:t>Domain-by-domain assessment with specific recommendations and mechanistic justifications. Not 'improve acoustics' but 'reduce speech intelligibility index below 0.20 in focus zones to prevent obligatory semantic processing.'</a:t>
            </a:r>
            <a:endParaRPr lang="en-US" sz="1150" dirty="0"/>
          </a:p>
        </p:txBody>
      </p:sp>
      <p:sp>
        <p:nvSpPr>
          <p:cNvPr id="16" name="Text 14"/>
          <p:cNvSpPr/>
          <p:nvPr/>
        </p:nvSpPr>
        <p:spPr>
          <a:xfrm>
            <a:off x="548640" y="4526280"/>
            <a:ext cx="8046720" cy="365760"/>
          </a:xfrm>
          <a:prstGeom prst="rect">
            <a:avLst/>
          </a:prstGeom>
          <a:noFill/>
          <a:ln/>
        </p:spPr>
        <p:txBody>
          <a:bodyPr wrap="square" lIns="0" tIns="0" rIns="0" bIns="0" rtlCol="0" anchor="ctr"/>
          <a:lstStyle/>
          <a:p>
            <a:pPr marL="0" indent="0">
              <a:buNone/>
            </a:pPr>
            <a:r>
              <a:rPr lang="en-US" sz="1300" i="1" dirty="0">
                <a:solidFill>
                  <a:srgbClr val="2B5A8C"/>
                </a:solidFill>
                <a:latin typeface="Georgia" pitchFamily="34" charset="0"/>
                <a:ea typeface="Georgia" pitchFamily="34" charset="-122"/>
                <a:cs typeface="Georgia" pitchFamily="34" charset="-120"/>
              </a:rPr>
              <a:t>The recommendation comes with a citation trail back through the web to its theoretical foundations.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FUTURE DIRECTIONS</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What's Next for Article Eater</a:t>
            </a:r>
            <a:endParaRPr lang="en-US" sz="2800" dirty="0"/>
          </a:p>
        </p:txBody>
      </p:sp>
      <p:sp>
        <p:nvSpPr>
          <p:cNvPr id="4" name="Shape 2"/>
          <p:cNvSpPr/>
          <p:nvPr/>
        </p:nvSpPr>
        <p:spPr>
          <a:xfrm>
            <a:off x="548640" y="1234440"/>
            <a:ext cx="8046720" cy="62179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34440"/>
            <a:ext cx="54864" cy="621792"/>
          </a:xfrm>
          <a:prstGeom prst="rect">
            <a:avLst/>
          </a:prstGeom>
          <a:solidFill>
            <a:srgbClr val="2B5A8C"/>
          </a:solidFill>
          <a:ln/>
        </p:spPr>
        <p:txBody>
          <a:bodyPr/>
          <a:lstStyle/>
          <a:p>
            <a:endParaRPr lang="en-US"/>
          </a:p>
        </p:txBody>
      </p:sp>
      <p:sp>
        <p:nvSpPr>
          <p:cNvPr id="6" name="Text 4"/>
          <p:cNvSpPr/>
          <p:nvPr/>
        </p:nvSpPr>
        <p:spPr>
          <a:xfrm>
            <a:off x="777240" y="1289304"/>
            <a:ext cx="1828800" cy="228600"/>
          </a:xfrm>
          <a:prstGeom prst="rect">
            <a:avLst/>
          </a:prstGeom>
          <a:noFill/>
          <a:ln/>
        </p:spPr>
        <p:txBody>
          <a:bodyPr wrap="square" lIns="0" tIns="0" rIns="0" bIns="0" rtlCol="0" anchor="ctr"/>
          <a:lstStyle/>
          <a:p>
            <a:pPr marL="0" indent="0">
              <a:buNone/>
            </a:pPr>
            <a:r>
              <a:rPr lang="en-US" sz="1200" b="1" dirty="0">
                <a:solidFill>
                  <a:srgbClr val="2B5A8C"/>
                </a:solidFill>
                <a:latin typeface="Calibri" pitchFamily="34" charset="0"/>
                <a:ea typeface="Calibri" pitchFamily="34" charset="-122"/>
                <a:cs typeface="Calibri" pitchFamily="34" charset="-120"/>
              </a:rPr>
              <a:t>VR Validation</a:t>
            </a:r>
            <a:endParaRPr lang="en-US" sz="1200" dirty="0"/>
          </a:p>
        </p:txBody>
      </p:sp>
      <p:sp>
        <p:nvSpPr>
          <p:cNvPr id="7" name="Text 5"/>
          <p:cNvSpPr/>
          <p:nvPr/>
        </p:nvSpPr>
        <p:spPr>
          <a:xfrm>
            <a:off x="2651760" y="1289304"/>
            <a:ext cx="5760720" cy="47548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Partner with VR labs to test template predictions. Isolate single mechanisms — impossible in real buildings, trivial in VR.</a:t>
            </a:r>
            <a:endParaRPr lang="en-US" sz="1050" dirty="0"/>
          </a:p>
        </p:txBody>
      </p:sp>
      <p:sp>
        <p:nvSpPr>
          <p:cNvPr id="8" name="Shape 6"/>
          <p:cNvSpPr/>
          <p:nvPr/>
        </p:nvSpPr>
        <p:spPr>
          <a:xfrm>
            <a:off x="548640" y="1947672"/>
            <a:ext cx="8046720" cy="62179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548640" y="1947672"/>
            <a:ext cx="54864" cy="621792"/>
          </a:xfrm>
          <a:prstGeom prst="rect">
            <a:avLst/>
          </a:prstGeom>
          <a:solidFill>
            <a:srgbClr val="3B7A4C"/>
          </a:solidFill>
          <a:ln/>
        </p:spPr>
        <p:txBody>
          <a:bodyPr/>
          <a:lstStyle/>
          <a:p>
            <a:endParaRPr lang="en-US"/>
          </a:p>
        </p:txBody>
      </p:sp>
      <p:sp>
        <p:nvSpPr>
          <p:cNvPr id="10" name="Text 8"/>
          <p:cNvSpPr/>
          <p:nvPr/>
        </p:nvSpPr>
        <p:spPr>
          <a:xfrm>
            <a:off x="777240" y="2002536"/>
            <a:ext cx="1828800" cy="228600"/>
          </a:xfrm>
          <a:prstGeom prst="rect">
            <a:avLst/>
          </a:prstGeom>
          <a:noFill/>
          <a:ln/>
        </p:spPr>
        <p:txBody>
          <a:bodyPr wrap="square" lIns="0" tIns="0" rIns="0" bIns="0" rtlCol="0" anchor="ctr"/>
          <a:lstStyle/>
          <a:p>
            <a:pPr marL="0" indent="0">
              <a:buNone/>
            </a:pPr>
            <a:r>
              <a:rPr lang="en-US" sz="1200" b="1" dirty="0">
                <a:solidFill>
                  <a:srgbClr val="3B7A4C"/>
                </a:solidFill>
                <a:latin typeface="Calibri" pitchFamily="34" charset="0"/>
                <a:ea typeface="Calibri" pitchFamily="34" charset="-122"/>
                <a:cs typeface="Calibri" pitchFamily="34" charset="-120"/>
              </a:rPr>
              <a:t>Goldilocks Integration</a:t>
            </a:r>
            <a:endParaRPr lang="en-US" sz="1200" dirty="0"/>
          </a:p>
        </p:txBody>
      </p:sp>
      <p:sp>
        <p:nvSpPr>
          <p:cNvPr id="11" name="Text 9"/>
          <p:cNvSpPr/>
          <p:nvPr/>
        </p:nvSpPr>
        <p:spPr>
          <a:xfrm>
            <a:off x="2651760" y="2002536"/>
            <a:ext cx="5760720" cy="47548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The Goldilocks Principle (next talk) as a meta-template domain. Cross-modal compensation and cultural parameterization.</a:t>
            </a:r>
            <a:endParaRPr lang="en-US" sz="1050" dirty="0"/>
          </a:p>
        </p:txBody>
      </p:sp>
      <p:sp>
        <p:nvSpPr>
          <p:cNvPr id="12" name="Shape 10"/>
          <p:cNvSpPr/>
          <p:nvPr/>
        </p:nvSpPr>
        <p:spPr>
          <a:xfrm>
            <a:off x="548640" y="2660904"/>
            <a:ext cx="8046720" cy="62179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2660904"/>
            <a:ext cx="54864" cy="621792"/>
          </a:xfrm>
          <a:prstGeom prst="rect">
            <a:avLst/>
          </a:prstGeom>
          <a:solidFill>
            <a:srgbClr val="6B3B8C"/>
          </a:solidFill>
          <a:ln/>
        </p:spPr>
        <p:txBody>
          <a:bodyPr/>
          <a:lstStyle/>
          <a:p>
            <a:endParaRPr lang="en-US"/>
          </a:p>
        </p:txBody>
      </p:sp>
      <p:sp>
        <p:nvSpPr>
          <p:cNvPr id="14" name="Text 12"/>
          <p:cNvSpPr/>
          <p:nvPr/>
        </p:nvSpPr>
        <p:spPr>
          <a:xfrm>
            <a:off x="777240" y="2715768"/>
            <a:ext cx="1828800" cy="228600"/>
          </a:xfrm>
          <a:prstGeom prst="rect">
            <a:avLst/>
          </a:prstGeom>
          <a:noFill/>
          <a:ln/>
        </p:spPr>
        <p:txBody>
          <a:bodyPr wrap="square" lIns="0" tIns="0" rIns="0" bIns="0" rtlCol="0" anchor="ctr"/>
          <a:lstStyle/>
          <a:p>
            <a:pPr marL="0" indent="0">
              <a:buNone/>
            </a:pPr>
            <a:r>
              <a:rPr lang="en-US" sz="1200" b="1" dirty="0">
                <a:solidFill>
                  <a:srgbClr val="6B3B8C"/>
                </a:solidFill>
                <a:latin typeface="Calibri" pitchFamily="34" charset="0"/>
                <a:ea typeface="Calibri" pitchFamily="34" charset="-122"/>
                <a:cs typeface="Calibri" pitchFamily="34" charset="-120"/>
              </a:rPr>
              <a:t>Explicit Cognition</a:t>
            </a:r>
            <a:endParaRPr lang="en-US" sz="1200" dirty="0"/>
          </a:p>
        </p:txBody>
      </p:sp>
      <p:sp>
        <p:nvSpPr>
          <p:cNvPr id="15" name="Text 13"/>
          <p:cNvSpPr/>
          <p:nvPr/>
        </p:nvSpPr>
        <p:spPr>
          <a:xfrm>
            <a:off x="2651760" y="2715768"/>
            <a:ext cx="5760720" cy="47548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New template domain for implicit/explicit processing distinction (third talk). Architecture as precision management.</a:t>
            </a:r>
            <a:endParaRPr lang="en-US" sz="1050" dirty="0"/>
          </a:p>
        </p:txBody>
      </p:sp>
      <p:sp>
        <p:nvSpPr>
          <p:cNvPr id="16" name="Shape 14"/>
          <p:cNvSpPr/>
          <p:nvPr/>
        </p:nvSpPr>
        <p:spPr>
          <a:xfrm>
            <a:off x="548640" y="3374136"/>
            <a:ext cx="8046720" cy="62179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7" name="Shape 15"/>
          <p:cNvSpPr/>
          <p:nvPr/>
        </p:nvSpPr>
        <p:spPr>
          <a:xfrm>
            <a:off x="548640" y="3374136"/>
            <a:ext cx="54864" cy="621792"/>
          </a:xfrm>
          <a:prstGeom prst="rect">
            <a:avLst/>
          </a:prstGeom>
          <a:solidFill>
            <a:srgbClr val="8C4B2B"/>
          </a:solidFill>
          <a:ln/>
        </p:spPr>
        <p:txBody>
          <a:bodyPr/>
          <a:lstStyle/>
          <a:p>
            <a:endParaRPr lang="en-US"/>
          </a:p>
        </p:txBody>
      </p:sp>
      <p:sp>
        <p:nvSpPr>
          <p:cNvPr id="18" name="Text 16"/>
          <p:cNvSpPr/>
          <p:nvPr/>
        </p:nvSpPr>
        <p:spPr>
          <a:xfrm>
            <a:off x="777240" y="3429000"/>
            <a:ext cx="1828800" cy="228600"/>
          </a:xfrm>
          <a:prstGeom prst="rect">
            <a:avLst/>
          </a:prstGeom>
          <a:noFill/>
          <a:ln/>
        </p:spPr>
        <p:txBody>
          <a:bodyPr wrap="square" lIns="0" tIns="0" rIns="0" bIns="0" rtlCol="0" anchor="ctr"/>
          <a:lstStyle/>
          <a:p>
            <a:pPr marL="0" indent="0">
              <a:buNone/>
            </a:pPr>
            <a:r>
              <a:rPr lang="en-US" sz="1200" b="1" dirty="0">
                <a:solidFill>
                  <a:srgbClr val="8C4B2B"/>
                </a:solidFill>
                <a:latin typeface="Calibri" pitchFamily="34" charset="0"/>
                <a:ea typeface="Calibri" pitchFamily="34" charset="-122"/>
                <a:cs typeface="Calibri" pitchFamily="34" charset="-120"/>
              </a:rPr>
              <a:t>India Fieldwork</a:t>
            </a:r>
            <a:endParaRPr lang="en-US" sz="1200" dirty="0"/>
          </a:p>
        </p:txBody>
      </p:sp>
      <p:sp>
        <p:nvSpPr>
          <p:cNvPr id="19" name="Text 17"/>
          <p:cNvSpPr/>
          <p:nvPr/>
        </p:nvSpPr>
        <p:spPr>
          <a:xfrm>
            <a:off x="2651760" y="3429000"/>
            <a:ext cx="5760720" cy="47548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Varanasi and Ahmedabad data: cultural set-point variation across all sensory modalities. Tests the single-parameter hypothesis.</a:t>
            </a:r>
            <a:endParaRPr lang="en-US" sz="1050" dirty="0"/>
          </a:p>
        </p:txBody>
      </p:sp>
      <p:sp>
        <p:nvSpPr>
          <p:cNvPr id="20" name="Shape 18"/>
          <p:cNvSpPr/>
          <p:nvPr/>
        </p:nvSpPr>
        <p:spPr>
          <a:xfrm>
            <a:off x="548640" y="4087368"/>
            <a:ext cx="8046720" cy="621792"/>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548640" y="4087368"/>
            <a:ext cx="54864" cy="621792"/>
          </a:xfrm>
          <a:prstGeom prst="rect">
            <a:avLst/>
          </a:prstGeom>
          <a:solidFill>
            <a:srgbClr val="8C2B5A"/>
          </a:solidFill>
          <a:ln/>
        </p:spPr>
        <p:txBody>
          <a:bodyPr/>
          <a:lstStyle/>
          <a:p>
            <a:endParaRPr lang="en-US"/>
          </a:p>
        </p:txBody>
      </p:sp>
      <p:sp>
        <p:nvSpPr>
          <p:cNvPr id="22" name="Text 20"/>
          <p:cNvSpPr/>
          <p:nvPr/>
        </p:nvSpPr>
        <p:spPr>
          <a:xfrm>
            <a:off x="777240" y="4142232"/>
            <a:ext cx="1828800" cy="228600"/>
          </a:xfrm>
          <a:prstGeom prst="rect">
            <a:avLst/>
          </a:prstGeom>
          <a:noFill/>
          <a:ln/>
        </p:spPr>
        <p:txBody>
          <a:bodyPr wrap="square" lIns="0" tIns="0" rIns="0" bIns="0" rtlCol="0" anchor="ctr"/>
          <a:lstStyle/>
          <a:p>
            <a:pPr marL="0" indent="0">
              <a:buNone/>
            </a:pPr>
            <a:r>
              <a:rPr lang="en-US" sz="1200" b="1" dirty="0">
                <a:solidFill>
                  <a:srgbClr val="8C2B5A"/>
                </a:solidFill>
                <a:latin typeface="Calibri" pitchFamily="34" charset="0"/>
                <a:ea typeface="Calibri" pitchFamily="34" charset="-122"/>
                <a:cs typeface="Calibri" pitchFamily="34" charset="-120"/>
              </a:rPr>
              <a:t>Open Science</a:t>
            </a:r>
            <a:endParaRPr lang="en-US" sz="1200" dirty="0"/>
          </a:p>
        </p:txBody>
      </p:sp>
      <p:sp>
        <p:nvSpPr>
          <p:cNvPr id="23" name="Text 21"/>
          <p:cNvSpPr/>
          <p:nvPr/>
        </p:nvSpPr>
        <p:spPr>
          <a:xfrm>
            <a:off x="2651760" y="4142232"/>
            <a:ext cx="5760720" cy="475488"/>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Release the web as a queryable resource for architects, designers, and researchers. A living document that updates with new findings.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3657600" cy="182880"/>
          </a:xfrm>
          <a:prstGeom prst="rect">
            <a:avLst/>
          </a:prstGeom>
          <a:noFill/>
          <a:ln/>
        </p:spPr>
        <p:txBody>
          <a:bodyPr wrap="square" lIns="0" tIns="0" rIns="0" bIns="0" rtlCol="0" anchor="ctr"/>
          <a:lstStyle/>
          <a:p>
            <a:pPr marL="0" indent="0">
              <a:buNone/>
            </a:pPr>
            <a:r>
              <a:rPr lang="en-US" sz="900" b="1" kern="0" spc="300" dirty="0">
                <a:solidFill>
                  <a:srgbClr val="2B5A8C"/>
                </a:solidFill>
                <a:latin typeface="Calibri" pitchFamily="34" charset="0"/>
                <a:ea typeface="Calibri" pitchFamily="34" charset="-122"/>
                <a:cs typeface="Calibri" pitchFamily="34" charset="-120"/>
              </a:rPr>
              <a:t>FOR THIS LAB</a:t>
            </a:r>
            <a:endParaRPr lang="en-US" sz="900" dirty="0"/>
          </a:p>
        </p:txBody>
      </p:sp>
      <p:sp>
        <p:nvSpPr>
          <p:cNvPr id="3" name="Text 1"/>
          <p:cNvSpPr/>
          <p:nvPr/>
        </p:nvSpPr>
        <p:spPr>
          <a:xfrm>
            <a:off x="548640" y="438912"/>
            <a:ext cx="8046720" cy="640080"/>
          </a:xfrm>
          <a:prstGeom prst="rect">
            <a:avLst/>
          </a:prstGeom>
          <a:noFill/>
          <a:ln/>
        </p:spPr>
        <p:txBody>
          <a:bodyPr wrap="square" lIns="0" tIns="0" rIns="0" bIns="0" rtlCol="0" anchor="ctr"/>
          <a:lstStyle/>
          <a:p>
            <a:pPr marL="0" indent="0">
              <a:buNone/>
            </a:pPr>
            <a:r>
              <a:rPr lang="en-US" sz="2600" b="1" dirty="0">
                <a:solidFill>
                  <a:srgbClr val="1E293B"/>
                </a:solidFill>
                <a:latin typeface="Georgia" pitchFamily="34" charset="0"/>
                <a:ea typeface="Georgia" pitchFamily="34" charset="-122"/>
                <a:cs typeface="Georgia" pitchFamily="34" charset="-120"/>
              </a:rPr>
              <a:t>Connections to Work in</a:t>
            </a:r>
            <a:endParaRPr lang="en-US" sz="2600" dirty="0"/>
          </a:p>
          <a:p>
            <a:pPr marL="0" indent="0">
              <a:buNone/>
            </a:pPr>
            <a:r>
              <a:rPr lang="en-US" sz="2600" b="1" dirty="0">
                <a:solidFill>
                  <a:srgbClr val="1E293B"/>
                </a:solidFill>
                <a:latin typeface="Georgia" pitchFamily="34" charset="0"/>
                <a:ea typeface="Georgia" pitchFamily="34" charset="-122"/>
                <a:cs typeface="Georgia" pitchFamily="34" charset="-120"/>
              </a:rPr>
              <a:t>Andy's Lab</a:t>
            </a:r>
            <a:endParaRPr lang="en-US" sz="2600" dirty="0"/>
          </a:p>
        </p:txBody>
      </p:sp>
      <p:sp>
        <p:nvSpPr>
          <p:cNvPr id="4" name="Shape 2"/>
          <p:cNvSpPr/>
          <p:nvPr/>
        </p:nvSpPr>
        <p:spPr>
          <a:xfrm>
            <a:off x="548640" y="123444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548640" y="1234440"/>
            <a:ext cx="54864" cy="777240"/>
          </a:xfrm>
          <a:prstGeom prst="rect">
            <a:avLst/>
          </a:prstGeom>
          <a:solidFill>
            <a:srgbClr val="2B5A8C"/>
          </a:solidFill>
          <a:ln/>
        </p:spPr>
        <p:txBody>
          <a:bodyPr/>
          <a:lstStyle/>
          <a:p>
            <a:endParaRPr lang="en-US"/>
          </a:p>
        </p:txBody>
      </p:sp>
      <p:sp>
        <p:nvSpPr>
          <p:cNvPr id="6" name="Text 4"/>
          <p:cNvSpPr/>
          <p:nvPr/>
        </p:nvSpPr>
        <p:spPr>
          <a:xfrm>
            <a:off x="777240" y="1289304"/>
            <a:ext cx="7589520" cy="201168"/>
          </a:xfrm>
          <a:prstGeom prst="rect">
            <a:avLst/>
          </a:prstGeom>
          <a:noFill/>
          <a:ln/>
        </p:spPr>
        <p:txBody>
          <a:bodyPr wrap="square" lIns="0" tIns="0" rIns="0" bIns="0" rtlCol="0" anchor="ctr"/>
          <a:lstStyle/>
          <a:p>
            <a:pPr marL="0" indent="0">
              <a:buNone/>
            </a:pPr>
            <a:r>
              <a:rPr lang="en-US" sz="1150" b="1" dirty="0">
                <a:solidFill>
                  <a:srgbClr val="2B5A8C"/>
                </a:solidFill>
                <a:latin typeface="Calibri" pitchFamily="34" charset="0"/>
                <a:ea typeface="Calibri" pitchFamily="34" charset="-122"/>
                <a:cs typeface="Calibri" pitchFamily="34" charset="-120"/>
              </a:rPr>
              <a:t>Extended mind thesis (Clark &amp; Chalmers, 1998)</a:t>
            </a:r>
            <a:endParaRPr lang="en-US" sz="1150" dirty="0"/>
          </a:p>
        </p:txBody>
      </p:sp>
      <p:sp>
        <p:nvSpPr>
          <p:cNvPr id="7" name="Text 5"/>
          <p:cNvSpPr/>
          <p:nvPr/>
        </p:nvSpPr>
        <p:spPr>
          <a:xfrm>
            <a:off x="777240" y="1527048"/>
            <a:ext cx="7589520" cy="4114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If the environment is part of the cognitive system, then architecture is cognitive infrastructure. Article Eater operationalizes this claim — here are the specific mechanisms.</a:t>
            </a:r>
            <a:endParaRPr lang="en-US" sz="1050" dirty="0"/>
          </a:p>
        </p:txBody>
      </p:sp>
      <p:sp>
        <p:nvSpPr>
          <p:cNvPr id="8" name="Shape 6"/>
          <p:cNvSpPr/>
          <p:nvPr/>
        </p:nvSpPr>
        <p:spPr>
          <a:xfrm>
            <a:off x="548640" y="210312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9" name="Shape 7"/>
          <p:cNvSpPr/>
          <p:nvPr/>
        </p:nvSpPr>
        <p:spPr>
          <a:xfrm>
            <a:off x="548640" y="2103120"/>
            <a:ext cx="54864" cy="777240"/>
          </a:xfrm>
          <a:prstGeom prst="rect">
            <a:avLst/>
          </a:prstGeom>
          <a:solidFill>
            <a:srgbClr val="6B3B8C"/>
          </a:solidFill>
          <a:ln/>
        </p:spPr>
        <p:txBody>
          <a:bodyPr/>
          <a:lstStyle/>
          <a:p>
            <a:endParaRPr lang="en-US"/>
          </a:p>
        </p:txBody>
      </p:sp>
      <p:sp>
        <p:nvSpPr>
          <p:cNvPr id="10" name="Text 8"/>
          <p:cNvSpPr/>
          <p:nvPr/>
        </p:nvSpPr>
        <p:spPr>
          <a:xfrm>
            <a:off x="777240" y="2157984"/>
            <a:ext cx="7589520" cy="201168"/>
          </a:xfrm>
          <a:prstGeom prst="rect">
            <a:avLst/>
          </a:prstGeom>
          <a:noFill/>
          <a:ln/>
        </p:spPr>
        <p:txBody>
          <a:bodyPr wrap="square" lIns="0" tIns="0" rIns="0" bIns="0" rtlCol="0" anchor="ctr"/>
          <a:lstStyle/>
          <a:p>
            <a:pPr marL="0" indent="0">
              <a:buNone/>
            </a:pPr>
            <a:r>
              <a:rPr lang="en-US" sz="1150" b="1" dirty="0">
                <a:solidFill>
                  <a:srgbClr val="6B3B8C"/>
                </a:solidFill>
                <a:latin typeface="Calibri" pitchFamily="34" charset="0"/>
                <a:ea typeface="Calibri" pitchFamily="34" charset="-122"/>
                <a:cs typeface="Calibri" pitchFamily="34" charset="-120"/>
              </a:rPr>
              <a:t>Radical Predictive Processing (Clark, 2013; 2016)</a:t>
            </a:r>
            <a:endParaRPr lang="en-US" sz="1150" dirty="0"/>
          </a:p>
        </p:txBody>
      </p:sp>
      <p:sp>
        <p:nvSpPr>
          <p:cNvPr id="11" name="Text 9"/>
          <p:cNvSpPr/>
          <p:nvPr/>
        </p:nvSpPr>
        <p:spPr>
          <a:xfrm>
            <a:off x="777240" y="2395728"/>
            <a:ext cx="7589520" cy="4114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PP provides the unifying framework. But we push it: PP explains the implicit regime well. What about explicit cognition? (See third talk.)</a:t>
            </a:r>
            <a:endParaRPr lang="en-US" sz="1050" dirty="0"/>
          </a:p>
        </p:txBody>
      </p:sp>
      <p:sp>
        <p:nvSpPr>
          <p:cNvPr id="12" name="Shape 10"/>
          <p:cNvSpPr/>
          <p:nvPr/>
        </p:nvSpPr>
        <p:spPr>
          <a:xfrm>
            <a:off x="548640" y="297180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548640" y="2971800"/>
            <a:ext cx="54864" cy="777240"/>
          </a:xfrm>
          <a:prstGeom prst="rect">
            <a:avLst/>
          </a:prstGeom>
          <a:solidFill>
            <a:srgbClr val="3B7A4C"/>
          </a:solidFill>
          <a:ln/>
        </p:spPr>
        <p:txBody>
          <a:bodyPr/>
          <a:lstStyle/>
          <a:p>
            <a:endParaRPr lang="en-US"/>
          </a:p>
        </p:txBody>
      </p:sp>
      <p:sp>
        <p:nvSpPr>
          <p:cNvPr id="14" name="Text 12"/>
          <p:cNvSpPr/>
          <p:nvPr/>
        </p:nvSpPr>
        <p:spPr>
          <a:xfrm>
            <a:off x="777240" y="3026664"/>
            <a:ext cx="7589520" cy="201168"/>
          </a:xfrm>
          <a:prstGeom prst="rect">
            <a:avLst/>
          </a:prstGeom>
          <a:noFill/>
          <a:ln/>
        </p:spPr>
        <p:txBody>
          <a:bodyPr wrap="square" lIns="0" tIns="0" rIns="0" bIns="0" rtlCol="0" anchor="ctr"/>
          <a:lstStyle/>
          <a:p>
            <a:pPr marL="0" indent="0">
              <a:buNone/>
            </a:pPr>
            <a:r>
              <a:rPr lang="en-US" sz="1150" b="1" dirty="0">
                <a:solidFill>
                  <a:srgbClr val="3B7A4C"/>
                </a:solidFill>
                <a:latin typeface="Calibri" pitchFamily="34" charset="0"/>
                <a:ea typeface="Calibri" pitchFamily="34" charset="-122"/>
                <a:cs typeface="Calibri" pitchFamily="34" charset="-120"/>
              </a:rPr>
              <a:t>Happily Entangled (Miller &amp; Clark, 2018)</a:t>
            </a:r>
            <a:endParaRPr lang="en-US" sz="1150" dirty="0"/>
          </a:p>
        </p:txBody>
      </p:sp>
      <p:sp>
        <p:nvSpPr>
          <p:cNvPr id="15" name="Text 13"/>
          <p:cNvSpPr/>
          <p:nvPr/>
        </p:nvSpPr>
        <p:spPr>
          <a:xfrm>
            <a:off x="777240" y="3264408"/>
            <a:ext cx="7589520" cy="4114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Emotion as constitutively entangled with prediction — not a separate module. Our hedonic tagging templates formalize this for environmental design.</a:t>
            </a:r>
            <a:endParaRPr lang="en-US" sz="1050" dirty="0"/>
          </a:p>
        </p:txBody>
      </p:sp>
      <p:sp>
        <p:nvSpPr>
          <p:cNvPr id="16" name="Shape 14"/>
          <p:cNvSpPr/>
          <p:nvPr/>
        </p:nvSpPr>
        <p:spPr>
          <a:xfrm>
            <a:off x="548640" y="3840480"/>
            <a:ext cx="8046720" cy="777240"/>
          </a:xfrm>
          <a:prstGeom prst="rect">
            <a:avLst/>
          </a:prstGeom>
          <a:solidFill>
            <a:srgbClr val="F8FAFC"/>
          </a:solidFill>
          <a:ln w="635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7" name="Shape 15"/>
          <p:cNvSpPr/>
          <p:nvPr/>
        </p:nvSpPr>
        <p:spPr>
          <a:xfrm>
            <a:off x="548640" y="3840480"/>
            <a:ext cx="54864" cy="777240"/>
          </a:xfrm>
          <a:prstGeom prst="rect">
            <a:avLst/>
          </a:prstGeom>
          <a:solidFill>
            <a:srgbClr val="8C4B2B"/>
          </a:solidFill>
          <a:ln/>
        </p:spPr>
        <p:txBody>
          <a:bodyPr/>
          <a:lstStyle/>
          <a:p>
            <a:endParaRPr lang="en-US"/>
          </a:p>
        </p:txBody>
      </p:sp>
      <p:sp>
        <p:nvSpPr>
          <p:cNvPr id="18" name="Text 16"/>
          <p:cNvSpPr/>
          <p:nvPr/>
        </p:nvSpPr>
        <p:spPr>
          <a:xfrm>
            <a:off x="777240" y="3895344"/>
            <a:ext cx="7589520" cy="201168"/>
          </a:xfrm>
          <a:prstGeom prst="rect">
            <a:avLst/>
          </a:prstGeom>
          <a:noFill/>
          <a:ln/>
        </p:spPr>
        <p:txBody>
          <a:bodyPr wrap="square" lIns="0" tIns="0" rIns="0" bIns="0" rtlCol="0" anchor="ctr"/>
          <a:lstStyle/>
          <a:p>
            <a:pPr marL="0" indent="0">
              <a:buNone/>
            </a:pPr>
            <a:r>
              <a:rPr lang="en-US" sz="1150" b="1" dirty="0">
                <a:solidFill>
                  <a:srgbClr val="8C4B2B"/>
                </a:solidFill>
                <a:latin typeface="Calibri" pitchFamily="34" charset="0"/>
                <a:ea typeface="Calibri" pitchFamily="34" charset="-122"/>
                <a:cs typeface="Calibri" pitchFamily="34" charset="-120"/>
              </a:rPr>
              <a:t>Cultural niche construction</a:t>
            </a:r>
            <a:endParaRPr lang="en-US" sz="1150" dirty="0"/>
          </a:p>
        </p:txBody>
      </p:sp>
      <p:sp>
        <p:nvSpPr>
          <p:cNvPr id="19" name="Text 17"/>
          <p:cNvSpPr/>
          <p:nvPr/>
        </p:nvSpPr>
        <p:spPr>
          <a:xfrm>
            <a:off x="777240" y="4133088"/>
            <a:ext cx="7589520" cy="41148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The India fieldwork directly tests how cultural niches shape the precision landscape. Varanasi vs. Stockholm: same mechanisms, different parameters.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A1F36"/>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73152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Article Eater</a:t>
            </a:r>
            <a:endParaRPr lang="en-US" sz="4000" dirty="0"/>
          </a:p>
        </p:txBody>
      </p:sp>
      <p:sp>
        <p:nvSpPr>
          <p:cNvPr id="3" name="Text 1"/>
          <p:cNvSpPr/>
          <p:nvPr/>
        </p:nvSpPr>
        <p:spPr>
          <a:xfrm>
            <a:off x="731520" y="1828800"/>
            <a:ext cx="768096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Surface findings → mechanistic templates → testable predictions</a:t>
            </a:r>
            <a:endParaRPr lang="en-US" sz="1500" dirty="0"/>
          </a:p>
        </p:txBody>
      </p:sp>
      <p:sp>
        <p:nvSpPr>
          <p:cNvPr id="4" name="Text 2"/>
          <p:cNvSpPr/>
          <p:nvPr/>
        </p:nvSpPr>
        <p:spPr>
          <a:xfrm>
            <a:off x="731520" y="2240280"/>
            <a:ext cx="768096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Argumentation structure captures what experts know and dispute</a:t>
            </a:r>
            <a:endParaRPr lang="en-US" sz="1500" dirty="0"/>
          </a:p>
        </p:txBody>
      </p:sp>
      <p:sp>
        <p:nvSpPr>
          <p:cNvPr id="5" name="Text 3"/>
          <p:cNvSpPr/>
          <p:nvPr/>
        </p:nvSpPr>
        <p:spPr>
          <a:xfrm>
            <a:off x="731520" y="2651760"/>
            <a:ext cx="7680960" cy="3657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Neuroscience + environmental psychology = new architectural science</a:t>
            </a:r>
            <a:endParaRPr lang="en-US" sz="1500" dirty="0"/>
          </a:p>
        </p:txBody>
      </p:sp>
      <p:sp>
        <p:nvSpPr>
          <p:cNvPr id="6" name="Shape 4"/>
          <p:cNvSpPr/>
          <p:nvPr/>
        </p:nvSpPr>
        <p:spPr>
          <a:xfrm>
            <a:off x="731520" y="3383280"/>
            <a:ext cx="2286000" cy="27432"/>
          </a:xfrm>
          <a:prstGeom prst="rect">
            <a:avLst/>
          </a:prstGeom>
          <a:solidFill>
            <a:srgbClr val="CADCFC"/>
          </a:solidFill>
          <a:ln/>
        </p:spPr>
        <p:txBody>
          <a:bodyPr/>
          <a:lstStyle/>
          <a:p>
            <a:endParaRPr lang="en-US"/>
          </a:p>
        </p:txBody>
      </p:sp>
      <p:sp>
        <p:nvSpPr>
          <p:cNvPr id="7" name="Text 5"/>
          <p:cNvSpPr/>
          <p:nvPr/>
        </p:nvSpPr>
        <p:spPr>
          <a:xfrm>
            <a:off x="731520" y="3611880"/>
            <a:ext cx="4572000" cy="365760"/>
          </a:xfrm>
          <a:prstGeom prst="rect">
            <a:avLst/>
          </a:prstGeom>
          <a:noFill/>
          <a:ln/>
        </p:spPr>
        <p:txBody>
          <a:bodyPr wrap="square" lIns="0" tIns="0" rIns="0" bIns="0" rtlCol="0" anchor="ctr"/>
          <a:lstStyle/>
          <a:p>
            <a:pPr marL="0" indent="0">
              <a:buNone/>
            </a:pPr>
            <a:r>
              <a:rPr lang="en-US" sz="1600" i="1" dirty="0">
                <a:solidFill>
                  <a:srgbClr val="8899BB"/>
                </a:solidFill>
                <a:latin typeface="Georgia" pitchFamily="34" charset="0"/>
                <a:ea typeface="Georgia" pitchFamily="34" charset="-122"/>
                <a:cs typeface="Georgia" pitchFamily="34" charset="-120"/>
              </a:rPr>
              <a:t>Next: The Goldilocks Principle →</a:t>
            </a:r>
            <a:endParaRPr lang="en-US" sz="1600" dirty="0"/>
          </a:p>
        </p:txBody>
      </p:sp>
      <p:sp>
        <p:nvSpPr>
          <p:cNvPr id="8" name="Text 6"/>
          <p:cNvSpPr/>
          <p:nvPr/>
        </p:nvSpPr>
        <p:spPr>
          <a:xfrm>
            <a:off x="731520" y="4114800"/>
            <a:ext cx="4572000" cy="320040"/>
          </a:xfrm>
          <a:prstGeom prst="rect">
            <a:avLst/>
          </a:prstGeom>
          <a:noFill/>
          <a:ln/>
        </p:spPr>
        <p:txBody>
          <a:bodyPr wrap="square" lIns="0" tIns="0" rIns="0" bIns="0" rtlCol="0" anchor="ctr"/>
          <a:lstStyle/>
          <a:p>
            <a:pPr marL="0" indent="0">
              <a:buNone/>
            </a:pPr>
            <a:r>
              <a:rPr lang="en-US" sz="1300" dirty="0">
                <a:solidFill>
                  <a:srgbClr val="667799"/>
                </a:solidFill>
                <a:latin typeface="Calibri" pitchFamily="34" charset="0"/>
                <a:ea typeface="Calibri" pitchFamily="34" charset="-122"/>
                <a:cs typeface="Calibri" pitchFamily="34" charset="-120"/>
              </a:rPr>
              <a:t>david@cogsci.ucsd.edu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8624</TotalTime>
  <Words>5888</Words>
  <Application>Microsoft Macintosh PowerPoint</Application>
  <PresentationFormat>On-screen Show (16:9)</PresentationFormat>
  <Paragraphs>481</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Article Eater: Computational Epistemology for Neuroarchitecture</dc:title>
  <dc:subject>PptxGenJS Presentation</dc:subject>
  <dc:creator>David Kirsh</dc:creator>
  <cp:lastModifiedBy>David Kirsh</cp:lastModifiedBy>
  <cp:revision>6</cp:revision>
  <dcterms:created xsi:type="dcterms:W3CDTF">2026-02-20T11:32:26Z</dcterms:created>
  <dcterms:modified xsi:type="dcterms:W3CDTF">2026-02-26T14:11:01Z</dcterms:modified>
</cp:coreProperties>
</file>