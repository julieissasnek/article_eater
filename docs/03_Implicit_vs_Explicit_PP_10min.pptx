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13"/>
    <p:restoredTop sz="94610"/>
  </p:normalViewPr>
  <p:slideViewPr>
    <p:cSldViewPr snapToGrid="0" snapToObjects="1">
      <p:cViewPr>
        <p:scale>
          <a:sx n="185" d="100"/>
          <a:sy n="185" d="100"/>
        </p:scale>
        <p:origin x="-448"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588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10-minute talk that builds directly on the Goldilocks Principle and pushes into territory where I think PP needs supplementation. I want to be clear: this isn't an attack on PP. It's a proposal for what PP needs ADDED to it to handle a distinction that matters enormously for architecture — the difference between implicit and explicit processing. Andy, I'm genuinely uncertain about some of this and want your input.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observation in its simplest form. Think about two activities. Walking through a lively market — browsing, exploring. Processing is parallel, automatic, effortless. A rich environment feels GOOD. This is implicit processing, and Goldilocks applies. Now think about writing a mathematical proof. Sustained, deliberate, step-by-step reasoning. Processing is serial, effortful, fragile. A rich environment feels DISTRACTING. ANY interruption collapses your chain of reasoning. This is explicit processing — and the Goldilocks principle is WRONG for it. You don't want moderate PE. You want MINIMUM PE variance. These two activities require OPPOSITE environmental profiles. This is the architectural problem that PP must solve.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 handles implicit processing beautifully. Attention is precision-weighting. Perception is hierarchical Bayesian inference. All automatic, parallel, continuous. But three things in explicit processing are harder for PP to explain. First, goal-directed attention — not stimulus-driven precision, but CHOOSING what to attend to. Second, compositional reasoning — novel variable binding that goes beyond pattern matching. Third, the serial bottleneck — why can we only maintain one chain of reasoning at a time? Andy's response in Surfing Uncertainty is that deliberate attention IS precision-weighting from higher hierarchical levels. Goals set precision on lower levels. Our concern — and I say this respectfully — is that this pushes the explanatory burden up the hierarchy without explaining where goal representations come from. The homunculus hasn't been dissolved; it's been promoted to management.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proposal in table form. Two computational regimes with different processing modes, different mechanisms, different capacities, and — crucially — different environmental requirements. The implicit regime is what Goldilocks captures: parallel, automatic, sensitive to PE mean. The explicit regime is something different: serial, effortful, sensitive to PE variance. The architectural challenge: a building must support BOTH. And the optimal environment for each is nearly opposite.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switching mechanism is the LC-NE system — Aston-Jones and Cohen's adaptive gain theory. In tonic mode, moderate steady NE supports sustained workspace maintenance — that's the explicit regime. In phasic mode, burst firing on salient events resets cortical gain globally, collapsing workspace representations — that switches to the implicit regime. The critical point for architecture: unpredictable environmental events trigger phasic bursts. Every salient PE spike is a potential workspace collapse. This is why PE VARIANCE, not mean, is the key variable for explicit processing. A room with steady moderate noise is better for deep work than a room with quiet punctuated by occasional loud events — even if the AVERAGE noise level is identical.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this matters for architecture. Four puzzles that the two-regime framework explains and standard PP doesn't. Why are cafes good for writing? Low PE variance plus moderate PE mean — both regimes served. Why do open offices kill focus but seem fine for casual tasks? High PE variance collapses explicit regime, but PE mean is fine for implicit. Why do translucent partitions fail where opaque ones succeed? Translucent triggers subthreshold conflict monitoring — cumulative cost. And why does personal control help more than satisfaction alone? Self-generated changes have near-zero PE. Each of these requires the mean/variance distinction. Minimize-PE can't explain any of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identify three types of interruption with distinct mechanisms. Type 1, phasic environmental — a sudden sound triggers LC-NE burst and workspace collapse. Recovery takes 10-23 minutes. Type 2, semantic intrusion — overheard speech creates competing compositional content. WORSE than Type 1 because the intruding content is structured. Type 3, social interruption — four-way demand on the serial bottleneck, with mandatory high precision on social stimuli. Open offices produce all three simultaneously. This is the mechanistic explanation for Bernstein and Turban's finding — the 70% reduction in face-to-face interaction. People WITHDRAW to protect their workspace.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key insight from the two-regime framework: WHEN you're interrupted matters more than how. I'm calling it the fragility curve. Phase 1, the first 5 minutes — maximally fragile. You're building the workspace representation. Any interruption forces complete restart. Phase 2, 5-15 minutes — elaboration, moderately fragile. Phase 3, 15-25 minutes — consolidation, redundant support developing. Phase 4, 25+ minutes — flow state, relatively robust. The architectural principle: uninterrupted time is a nonlinear resource. The first 5 minutes are disproportionately valuable. A space that guarantees even brief reliable protection during that phase will support more total explicit processing than a space with longer but unreliable protection.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design matrix. PE mean on one axis, PE variance on the other. Top-left: moderate mean, low variance — the sweet spot. Library reading rooms, well-designed private offices. Both regimes served. Top-right: high mean, low variance — creative spaces. Cafes, workshops. Implicit regime thrives. Bottom-left: low mean, low variance — boring. Focus pods with blank walls. Explicit protected but implicit starved. Bottom-right: any mean, high variance — catastrophic. Open offices, hospital ICUs. Unpredictable spikes collapse everything. The variance axis is INVISIBLE in standard environmental psychology but it dominates explicit-regime performance. This is why open offices 'should' work by mean-PE logic but don't — the variance kills explicit processing.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91640"/>
          </a:xfrm>
          <a:prstGeom prst="rect">
            <a:avLst/>
          </a:prstGeom>
          <a:solidFill>
            <a:srgbClr val="5B3A6B"/>
          </a:solidFill>
          <a:ln/>
        </p:spPr>
        <p:txBody>
          <a:bodyPr/>
          <a:lstStyle/>
          <a:p>
            <a:endParaRPr lang="en-US"/>
          </a:p>
        </p:txBody>
      </p:sp>
      <p:sp>
        <p:nvSpPr>
          <p:cNvPr id="3" name="Text 1"/>
          <p:cNvSpPr/>
          <p:nvPr/>
        </p:nvSpPr>
        <p:spPr>
          <a:xfrm>
            <a:off x="731520" y="731520"/>
            <a:ext cx="7680960" cy="914400"/>
          </a:xfrm>
          <a:prstGeom prst="rect">
            <a:avLst/>
          </a:prstGeom>
          <a:noFill/>
          <a:ln/>
        </p:spPr>
        <p:txBody>
          <a:bodyPr wrap="square"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Two Computational Regimes</a:t>
            </a:r>
            <a:endParaRPr lang="en-US" sz="4000" dirty="0"/>
          </a:p>
        </p:txBody>
      </p:sp>
      <p:sp>
        <p:nvSpPr>
          <p:cNvPr id="4" name="Text 2"/>
          <p:cNvSpPr/>
          <p:nvPr/>
        </p:nvSpPr>
        <p:spPr>
          <a:xfrm>
            <a:off x="731520" y="1737360"/>
            <a:ext cx="7680960" cy="822960"/>
          </a:xfrm>
          <a:prstGeom prst="rect">
            <a:avLst/>
          </a:prstGeom>
          <a:noFill/>
          <a:ln/>
        </p:spPr>
        <p:txBody>
          <a:bodyPr wrap="square" rtlCol="0" anchor="ctr"/>
          <a:lstStyle/>
          <a:p>
            <a:pPr marL="0" indent="0">
              <a:buNone/>
            </a:pPr>
            <a:r>
              <a:rPr lang="en-US" sz="2000" i="1" dirty="0">
                <a:solidFill>
                  <a:srgbClr val="7BA393"/>
                </a:solidFill>
                <a:latin typeface="Georgia" pitchFamily="34" charset="0"/>
                <a:ea typeface="Georgia" pitchFamily="34" charset="-122"/>
                <a:cs typeface="Georgia" pitchFamily="34" charset="-120"/>
              </a:rPr>
              <a:t>A Friendly Challenge for PP —</a:t>
            </a:r>
            <a:endParaRPr lang="en-US" sz="2000" dirty="0"/>
          </a:p>
          <a:p>
            <a:pPr marL="0" indent="0">
              <a:buNone/>
            </a:pPr>
            <a:r>
              <a:rPr lang="en-US" sz="2000" i="1" dirty="0">
                <a:solidFill>
                  <a:srgbClr val="7BA393"/>
                </a:solidFill>
                <a:latin typeface="Georgia" pitchFamily="34" charset="0"/>
                <a:ea typeface="Georgia" pitchFamily="34" charset="-122"/>
                <a:cs typeface="Georgia" pitchFamily="34" charset="-120"/>
              </a:rPr>
              <a:t>and What It Means for Architecture</a:t>
            </a:r>
            <a:endParaRPr lang="en-US" sz="2000" dirty="0"/>
          </a:p>
        </p:txBody>
      </p:sp>
      <p:sp>
        <p:nvSpPr>
          <p:cNvPr id="5" name="Text 3"/>
          <p:cNvSpPr/>
          <p:nvPr/>
        </p:nvSpPr>
        <p:spPr>
          <a:xfrm>
            <a:off x="731520" y="3749040"/>
            <a:ext cx="4572000" cy="45720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David Kirsh | UC San Diego</a:t>
            </a:r>
            <a:endParaRPr lang="en-US" sz="1600" dirty="0"/>
          </a:p>
        </p:txBody>
      </p:sp>
      <p:sp>
        <p:nvSpPr>
          <p:cNvPr id="6" name="Text 4"/>
          <p:cNvSpPr/>
          <p:nvPr/>
        </p:nvSpPr>
        <p:spPr>
          <a:xfrm>
            <a:off x="731520" y="4206240"/>
            <a:ext cx="4572000" cy="365760"/>
          </a:xfrm>
          <a:prstGeom prst="rect">
            <a:avLst/>
          </a:prstGeom>
          <a:noFill/>
          <a:ln/>
        </p:spPr>
        <p:txBody>
          <a:bodyPr wrap="square" rtlCol="0" anchor="ctr"/>
          <a:lstStyle/>
          <a:p>
            <a:pPr marL="0" indent="0">
              <a:buNone/>
            </a:pPr>
            <a:r>
              <a:rPr lang="en-US" sz="1300" dirty="0">
                <a:solidFill>
                  <a:srgbClr val="F5F0E8"/>
                </a:solidFill>
                <a:latin typeface="Calibri" pitchFamily="34" charset="0"/>
                <a:ea typeface="Calibri" pitchFamily="34" charset="-122"/>
                <a:cs typeface="Calibri" pitchFamily="34" charset="-120"/>
              </a:rPr>
              <a:t>Clark Lab — February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5B3A6B"/>
          </a:solidFill>
          <a:ln/>
        </p:spPr>
        <p:txBody>
          <a:bodyPr/>
          <a:lstStyle/>
          <a:p>
            <a:endParaRPr lang="en-US"/>
          </a:p>
        </p:txBody>
      </p:sp>
      <p:sp>
        <p:nvSpPr>
          <p:cNvPr id="3" name="Text 1"/>
          <p:cNvSpPr/>
          <p:nvPr/>
        </p:nvSpPr>
        <p:spPr>
          <a:xfrm>
            <a:off x="457200" y="0"/>
            <a:ext cx="822960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THE OBSERVATION</a:t>
            </a:r>
            <a:endParaRPr lang="en-US" sz="1000" dirty="0"/>
          </a:p>
        </p:txBody>
      </p:sp>
      <p:sp>
        <p:nvSpPr>
          <p:cNvPr id="4" name="Text 2"/>
          <p:cNvSpPr/>
          <p:nvPr/>
        </p:nvSpPr>
        <p:spPr>
          <a:xfrm>
            <a:off x="640080" y="548640"/>
            <a:ext cx="7863840" cy="73152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Two Kinds of Processing,</a:t>
            </a:r>
            <a:endParaRPr lang="en-US" sz="2800" dirty="0"/>
          </a:p>
          <a:p>
            <a:pPr marL="0" indent="0">
              <a:buNone/>
            </a:pPr>
            <a:r>
              <a:rPr lang="en-US" sz="2800" b="1" dirty="0">
                <a:solidFill>
                  <a:srgbClr val="1B2A4A"/>
                </a:solidFill>
                <a:latin typeface="Georgia" pitchFamily="34" charset="0"/>
                <a:ea typeface="Georgia" pitchFamily="34" charset="-122"/>
                <a:cs typeface="Georgia" pitchFamily="34" charset="-120"/>
              </a:rPr>
              <a:t>Two Kinds of Environment</a:t>
            </a:r>
            <a:endParaRPr lang="en-US" sz="2800" dirty="0"/>
          </a:p>
        </p:txBody>
      </p:sp>
      <p:sp>
        <p:nvSpPr>
          <p:cNvPr id="5" name="Text 3"/>
          <p:cNvSpPr/>
          <p:nvPr/>
        </p:nvSpPr>
        <p:spPr>
          <a:xfrm>
            <a:off x="640080" y="1280160"/>
            <a:ext cx="7863840" cy="320040"/>
          </a:xfrm>
          <a:prstGeom prst="rect">
            <a:avLst/>
          </a:prstGeom>
          <a:noFill/>
          <a:ln/>
        </p:spPr>
        <p:txBody>
          <a:bodyPr wrap="square" rtlCol="0" anchor="ctr"/>
          <a:lstStyle/>
          <a:p>
            <a:pPr marL="0" indent="0">
              <a:buNone/>
            </a:pPr>
            <a:r>
              <a:rPr lang="en-US" sz="1500" i="1" dirty="0">
                <a:solidFill>
                  <a:srgbClr val="2C2C2C"/>
                </a:solidFill>
                <a:latin typeface="Calibri" pitchFamily="34" charset="0"/>
                <a:ea typeface="Calibri" pitchFamily="34" charset="-122"/>
                <a:cs typeface="Calibri" pitchFamily="34" charset="-120"/>
              </a:rPr>
              <a:t>Think about these two activities:</a:t>
            </a:r>
            <a:endParaRPr lang="en-US" sz="1500" dirty="0"/>
          </a:p>
        </p:txBody>
      </p:sp>
      <p:sp>
        <p:nvSpPr>
          <p:cNvPr id="6" name="Shape 4"/>
          <p:cNvSpPr/>
          <p:nvPr/>
        </p:nvSpPr>
        <p:spPr>
          <a:xfrm>
            <a:off x="640080" y="1737360"/>
            <a:ext cx="3749040" cy="2286000"/>
          </a:xfrm>
          <a:prstGeom prst="rect">
            <a:avLst/>
          </a:prstGeom>
          <a:solidFill>
            <a:srgbClr val="7BA393"/>
          </a:solidFill>
          <a:ln/>
        </p:spPr>
        <p:txBody>
          <a:bodyPr/>
          <a:lstStyle/>
          <a:p>
            <a:endParaRPr lang="en-US"/>
          </a:p>
        </p:txBody>
      </p:sp>
      <p:sp>
        <p:nvSpPr>
          <p:cNvPr id="7" name="Text 5"/>
          <p:cNvSpPr/>
          <p:nvPr/>
        </p:nvSpPr>
        <p:spPr>
          <a:xfrm>
            <a:off x="822960" y="1783080"/>
            <a:ext cx="33832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Walking through a lively market</a:t>
            </a:r>
            <a:endParaRPr lang="en-US" sz="1400" dirty="0"/>
          </a:p>
        </p:txBody>
      </p:sp>
      <p:sp>
        <p:nvSpPr>
          <p:cNvPr id="8" name="Text 6"/>
          <p:cNvSpPr/>
          <p:nvPr/>
        </p:nvSpPr>
        <p:spPr>
          <a:xfrm>
            <a:off x="822960" y="2194560"/>
            <a:ext cx="3383280" cy="1737360"/>
          </a:xfrm>
          <a:prstGeom prst="rect">
            <a:avLst/>
          </a:prstGeom>
          <a:noFill/>
          <a:ln/>
        </p:spPr>
        <p:txBody>
          <a:bodyPr wrap="square" rtlCol="0" anchor="t"/>
          <a:lstStyle/>
          <a:p>
            <a:pPr marL="0" indent="0">
              <a:buNone/>
            </a:pPr>
            <a:r>
              <a:rPr lang="en-US" sz="1200" dirty="0">
                <a:solidFill>
                  <a:srgbClr val="2C2C2C"/>
                </a:solidFill>
                <a:latin typeface="Calibri" pitchFamily="34" charset="0"/>
                <a:ea typeface="Calibri" pitchFamily="34" charset="-122"/>
                <a:cs typeface="Calibri" pitchFamily="34" charset="-120"/>
              </a:rPr>
              <a:t>Browsing, exploring, taking in sights</a:t>
            </a:r>
            <a:endParaRPr lang="en-US" sz="1200" dirty="0"/>
          </a:p>
          <a:p>
            <a:pPr marL="0" indent="0">
              <a:buNone/>
            </a:pPr>
            <a:r>
              <a:rPr lang="en-US" sz="1200" dirty="0">
                <a:solidFill>
                  <a:srgbClr val="2C2C2C"/>
                </a:solidFill>
                <a:latin typeface="Calibri" pitchFamily="34" charset="0"/>
                <a:ea typeface="Calibri" pitchFamily="34" charset="-122"/>
                <a:cs typeface="Calibri" pitchFamily="34" charset="-120"/>
              </a:rPr>
              <a:t>Processing is parallel, automatic, effortless</a:t>
            </a:r>
            <a:endParaRPr lang="en-US" sz="1200" dirty="0"/>
          </a:p>
          <a:p>
            <a:pPr marL="0" indent="0">
              <a:buNone/>
            </a:pPr>
            <a:r>
              <a:rPr lang="en-US" sz="1200" b="1" dirty="0">
                <a:solidFill>
                  <a:srgbClr val="2C2C2C"/>
                </a:solidFill>
                <a:latin typeface="Calibri" pitchFamily="34" charset="0"/>
                <a:ea typeface="Calibri" pitchFamily="34" charset="-122"/>
                <a:cs typeface="Calibri" pitchFamily="34" charset="-120"/>
              </a:rPr>
              <a:t>Rich environment feels GOOD</a:t>
            </a:r>
            <a:endParaRPr lang="en-US" sz="1200" dirty="0"/>
          </a:p>
          <a:p>
            <a:pPr marL="0" indent="0">
              <a:buNone/>
            </a:pPr>
            <a:r>
              <a:rPr lang="en-US" sz="1200" dirty="0">
                <a:solidFill>
                  <a:srgbClr val="2C2C2C"/>
                </a:solidFill>
                <a:latin typeface="Calibri" pitchFamily="34" charset="0"/>
                <a:ea typeface="Calibri" pitchFamily="34" charset="-122"/>
                <a:cs typeface="Calibri" pitchFamily="34" charset="-120"/>
              </a:rPr>
              <a:t>More stimulation = more engagement</a:t>
            </a:r>
            <a:endParaRPr lang="en-US" sz="1200" dirty="0"/>
          </a:p>
          <a:p>
            <a:pPr marL="0" indent="0">
              <a:buNone/>
            </a:pPr>
            <a:endParaRPr lang="en-US" sz="1200" dirty="0"/>
          </a:p>
          <a:p>
            <a:pPr marL="0" indent="0">
              <a:buNone/>
            </a:pPr>
            <a:r>
              <a:rPr lang="en-US" sz="1200" b="1" dirty="0">
                <a:solidFill>
                  <a:srgbClr val="1B2A4A"/>
                </a:solidFill>
                <a:latin typeface="Calibri" pitchFamily="34" charset="0"/>
                <a:ea typeface="Calibri" pitchFamily="34" charset="-122"/>
                <a:cs typeface="Calibri" pitchFamily="34" charset="-120"/>
              </a:rPr>
              <a:t>Goldilocks applies: moderate complexity optimal</a:t>
            </a:r>
            <a:endParaRPr lang="en-US" sz="1200" dirty="0"/>
          </a:p>
          <a:p>
            <a:pPr marL="0" indent="0">
              <a:buNone/>
            </a:pPr>
            <a:endParaRPr lang="en-US" sz="1200" dirty="0"/>
          </a:p>
          <a:p>
            <a:pPr marL="0" indent="0">
              <a:buNone/>
            </a:pPr>
            <a:r>
              <a:rPr lang="en-US" sz="1400" b="1" dirty="0">
                <a:solidFill>
                  <a:srgbClr val="FFFFFF"/>
                </a:solidFill>
                <a:latin typeface="Calibri" pitchFamily="34" charset="0"/>
                <a:ea typeface="Calibri" pitchFamily="34" charset="-122"/>
                <a:cs typeface="Calibri" pitchFamily="34" charset="-120"/>
              </a:rPr>
              <a:t>→ IMPLICIT processing</a:t>
            </a:r>
            <a:endParaRPr lang="en-US" sz="1200" dirty="0"/>
          </a:p>
        </p:txBody>
      </p:sp>
      <p:sp>
        <p:nvSpPr>
          <p:cNvPr id="9" name="Shape 7"/>
          <p:cNvSpPr/>
          <p:nvPr/>
        </p:nvSpPr>
        <p:spPr>
          <a:xfrm>
            <a:off x="4754880" y="1737360"/>
            <a:ext cx="3749040" cy="2286000"/>
          </a:xfrm>
          <a:prstGeom prst="rect">
            <a:avLst/>
          </a:prstGeom>
          <a:solidFill>
            <a:srgbClr val="1B2A4A"/>
          </a:solidFill>
          <a:ln/>
        </p:spPr>
        <p:txBody>
          <a:bodyPr/>
          <a:lstStyle/>
          <a:p>
            <a:endParaRPr lang="en-US"/>
          </a:p>
        </p:txBody>
      </p:sp>
      <p:sp>
        <p:nvSpPr>
          <p:cNvPr id="10" name="Text 8"/>
          <p:cNvSpPr/>
          <p:nvPr/>
        </p:nvSpPr>
        <p:spPr>
          <a:xfrm>
            <a:off x="4937760" y="1783080"/>
            <a:ext cx="3383280" cy="365760"/>
          </a:xfrm>
          <a:prstGeom prst="rect">
            <a:avLst/>
          </a:prstGeom>
          <a:noFill/>
          <a:ln/>
        </p:spPr>
        <p:txBody>
          <a:bodyPr wrap="square" rtlCol="0" anchor="ctr"/>
          <a:lstStyle/>
          <a:p>
            <a:pPr marL="0" indent="0">
              <a:buNone/>
            </a:pPr>
            <a:r>
              <a:rPr lang="en-US" sz="1400" b="1" dirty="0">
                <a:solidFill>
                  <a:srgbClr val="C4993B"/>
                </a:solidFill>
                <a:latin typeface="Calibri" pitchFamily="34" charset="0"/>
                <a:ea typeface="Calibri" pitchFamily="34" charset="-122"/>
                <a:cs typeface="Calibri" pitchFamily="34" charset="-120"/>
              </a:rPr>
              <a:t>Writing a mathematical proof</a:t>
            </a:r>
            <a:endParaRPr lang="en-US" sz="1400" dirty="0"/>
          </a:p>
        </p:txBody>
      </p:sp>
      <p:sp>
        <p:nvSpPr>
          <p:cNvPr id="11" name="Text 9"/>
          <p:cNvSpPr/>
          <p:nvPr/>
        </p:nvSpPr>
        <p:spPr>
          <a:xfrm>
            <a:off x="4937760" y="2194560"/>
            <a:ext cx="3383280" cy="1737360"/>
          </a:xfrm>
          <a:prstGeom prst="rect">
            <a:avLst/>
          </a:prstGeom>
          <a:noFill/>
          <a:ln/>
        </p:spPr>
        <p:txBody>
          <a:bodyPr wrap="square" rtlCol="0" anchor="t"/>
          <a:lstStyle/>
          <a:p>
            <a:pPr marL="0" indent="0">
              <a:buNone/>
            </a:pPr>
            <a:r>
              <a:rPr lang="en-US" sz="1200" dirty="0">
                <a:solidFill>
                  <a:srgbClr val="F5F0E8"/>
                </a:solidFill>
                <a:latin typeface="Calibri" pitchFamily="34" charset="0"/>
                <a:ea typeface="Calibri" pitchFamily="34" charset="-122"/>
                <a:cs typeface="Calibri" pitchFamily="34" charset="-120"/>
              </a:rPr>
              <a:t>Sustained, deliberate, step-by-step</a:t>
            </a:r>
            <a:endParaRPr lang="en-US" sz="1200" dirty="0"/>
          </a:p>
          <a:p>
            <a:pPr marL="0" indent="0">
              <a:buNone/>
            </a:pPr>
            <a:r>
              <a:rPr lang="en-US" sz="1200" dirty="0">
                <a:solidFill>
                  <a:srgbClr val="F5F0E8"/>
                </a:solidFill>
                <a:latin typeface="Calibri" pitchFamily="34" charset="0"/>
                <a:ea typeface="Calibri" pitchFamily="34" charset="-122"/>
                <a:cs typeface="Calibri" pitchFamily="34" charset="-120"/>
              </a:rPr>
              <a:t>Processing is serial, effortful, fragile</a:t>
            </a:r>
            <a:endParaRPr lang="en-US" sz="1200" dirty="0"/>
          </a:p>
          <a:p>
            <a:pPr marL="0" indent="0">
              <a:buNone/>
            </a:pPr>
            <a:r>
              <a:rPr lang="en-US" sz="1200" b="1" dirty="0">
                <a:solidFill>
                  <a:srgbClr val="F5F0E8"/>
                </a:solidFill>
                <a:latin typeface="Calibri" pitchFamily="34" charset="0"/>
                <a:ea typeface="Calibri" pitchFamily="34" charset="-122"/>
                <a:cs typeface="Calibri" pitchFamily="34" charset="-120"/>
              </a:rPr>
              <a:t>Rich environment feels DISTRACTING</a:t>
            </a:r>
            <a:endParaRPr lang="en-US" sz="1200" dirty="0"/>
          </a:p>
          <a:p>
            <a:pPr marL="0" indent="0">
              <a:buNone/>
            </a:pPr>
            <a:r>
              <a:rPr lang="en-US" sz="1200" dirty="0">
                <a:solidFill>
                  <a:srgbClr val="F5F0E8"/>
                </a:solidFill>
                <a:latin typeface="Calibri" pitchFamily="34" charset="0"/>
                <a:ea typeface="Calibri" pitchFamily="34" charset="-122"/>
                <a:cs typeface="Calibri" pitchFamily="34" charset="-120"/>
              </a:rPr>
              <a:t>ANY interruption collapses the chain</a:t>
            </a:r>
            <a:endParaRPr lang="en-US" sz="1200" dirty="0"/>
          </a:p>
          <a:p>
            <a:pPr marL="0" indent="0">
              <a:buNone/>
            </a:pPr>
            <a:endParaRPr lang="en-US" sz="1200" dirty="0"/>
          </a:p>
          <a:p>
            <a:pPr marL="0" indent="0">
              <a:buNone/>
            </a:pPr>
            <a:r>
              <a:rPr lang="en-US" sz="1200" b="1" dirty="0">
                <a:solidFill>
                  <a:srgbClr val="C4993B"/>
                </a:solidFill>
                <a:latin typeface="Calibri" pitchFamily="34" charset="0"/>
                <a:ea typeface="Calibri" pitchFamily="34" charset="-122"/>
                <a:cs typeface="Calibri" pitchFamily="34" charset="-120"/>
              </a:rPr>
              <a:t>Goldilocks is WRONG here: want minimum PE</a:t>
            </a:r>
            <a:endParaRPr lang="en-US" sz="1200" dirty="0"/>
          </a:p>
          <a:p>
            <a:pPr marL="0" indent="0">
              <a:buNone/>
            </a:pPr>
            <a:endParaRPr lang="en-US" sz="1200" dirty="0"/>
          </a:p>
          <a:p>
            <a:pPr marL="0" indent="0">
              <a:buNone/>
            </a:pPr>
            <a:r>
              <a:rPr lang="en-US" sz="1400" b="1" dirty="0">
                <a:solidFill>
                  <a:srgbClr val="F5F0E8"/>
                </a:solidFill>
                <a:latin typeface="Calibri" pitchFamily="34" charset="0"/>
                <a:ea typeface="Calibri" pitchFamily="34" charset="-122"/>
                <a:cs typeface="Calibri" pitchFamily="34" charset="-120"/>
              </a:rPr>
              <a:t>→ EXPLICIT processing</a:t>
            </a:r>
            <a:endParaRPr lang="en-US" sz="1200" dirty="0"/>
          </a:p>
        </p:txBody>
      </p:sp>
      <p:sp>
        <p:nvSpPr>
          <p:cNvPr id="12" name="Text 10"/>
          <p:cNvSpPr/>
          <p:nvPr/>
        </p:nvSpPr>
        <p:spPr>
          <a:xfrm>
            <a:off x="640080" y="4297680"/>
            <a:ext cx="7863840" cy="45720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These require OPPOSITE environmental profiles. This is the architectural problem PP must solve.</a:t>
            </a:r>
            <a:endParaRPr lang="en-US" sz="1300" dirty="0"/>
          </a:p>
        </p:txBody>
      </p:sp>
      <p:sp>
        <p:nvSpPr>
          <p:cNvPr id="13" name="Text 11"/>
          <p:cNvSpPr/>
          <p:nvPr/>
        </p:nvSpPr>
        <p:spPr>
          <a:xfrm>
            <a:off x="457200" y="4709160"/>
            <a:ext cx="8229600" cy="320040"/>
          </a:xfrm>
          <a:prstGeom prst="rect">
            <a:avLst/>
          </a:prstGeom>
          <a:noFill/>
          <a:ln/>
        </p:spPr>
        <p:txBody>
          <a:bodyPr wrap="square" rtlCol="0" anchor="ctr"/>
          <a:lstStyle/>
          <a:p>
            <a:pPr marL="0" indent="0">
              <a:buNone/>
            </a:pPr>
            <a:r>
              <a:rPr lang="en-US" sz="900" dirty="0">
                <a:solidFill>
                  <a:srgbClr val="8B8680"/>
                </a:solidFill>
                <a:latin typeface="Calibri" pitchFamily="34" charset="0"/>
                <a:ea typeface="Calibri" pitchFamily="34" charset="-122"/>
                <a:cs typeface="Calibri" pitchFamily="34" charset="-120"/>
              </a:rPr>
              <a:t>Kirsh — Two Regimes | Clark Lab, 2/10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5B3A6B"/>
          </a:solidFill>
          <a:ln/>
        </p:spPr>
        <p:txBody>
          <a:bodyPr/>
          <a:lstStyle/>
          <a:p>
            <a:endParaRPr lang="en-US"/>
          </a:p>
        </p:txBody>
      </p:sp>
      <p:sp>
        <p:nvSpPr>
          <p:cNvPr id="3" name="Text 1"/>
          <p:cNvSpPr/>
          <p:nvPr/>
        </p:nvSpPr>
        <p:spPr>
          <a:xfrm>
            <a:off x="457200" y="0"/>
            <a:ext cx="822960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PP AND THE TWO REGIMES</a:t>
            </a:r>
            <a:endParaRPr lang="en-US" sz="1000" dirty="0"/>
          </a:p>
        </p:txBody>
      </p:sp>
      <p:sp>
        <p:nvSpPr>
          <p:cNvPr id="4" name="Text 2"/>
          <p:cNvSpPr/>
          <p:nvPr/>
        </p:nvSpPr>
        <p:spPr>
          <a:xfrm>
            <a:off x="640080" y="548640"/>
            <a:ext cx="7863840" cy="731520"/>
          </a:xfrm>
          <a:prstGeom prst="rect">
            <a:avLst/>
          </a:prstGeom>
          <a:noFill/>
          <a:ln/>
        </p:spPr>
        <p:txBody>
          <a:bodyPr wrap="square" rtlCol="0" anchor="ctr"/>
          <a:lstStyle/>
          <a:p>
            <a:pPr marL="0" indent="0">
              <a:buNone/>
            </a:pPr>
            <a:r>
              <a:rPr lang="en-US" sz="2600" b="1" dirty="0">
                <a:solidFill>
                  <a:srgbClr val="1B2A4A"/>
                </a:solidFill>
                <a:latin typeface="Georgia" pitchFamily="34" charset="0"/>
                <a:ea typeface="Georgia" pitchFamily="34" charset="-122"/>
                <a:cs typeface="Georgia" pitchFamily="34" charset="-120"/>
              </a:rPr>
              <a:t>PP Handles Implicit Processing</a:t>
            </a:r>
            <a:endParaRPr lang="en-US" sz="2600" dirty="0"/>
          </a:p>
          <a:p>
            <a:pPr marL="0" indent="0">
              <a:buNone/>
            </a:pPr>
            <a:r>
              <a:rPr lang="en-US" sz="2600" b="1" dirty="0">
                <a:solidFill>
                  <a:srgbClr val="1B2A4A"/>
                </a:solidFill>
                <a:latin typeface="Georgia" pitchFamily="34" charset="0"/>
                <a:ea typeface="Georgia" pitchFamily="34" charset="-122"/>
                <a:cs typeface="Georgia" pitchFamily="34" charset="-120"/>
              </a:rPr>
              <a:t>Beautifully. Explicit Is Harder.</a:t>
            </a:r>
            <a:endParaRPr lang="en-US" sz="2600" dirty="0"/>
          </a:p>
        </p:txBody>
      </p:sp>
      <p:sp>
        <p:nvSpPr>
          <p:cNvPr id="5" name="Shape 3"/>
          <p:cNvSpPr/>
          <p:nvPr/>
        </p:nvSpPr>
        <p:spPr>
          <a:xfrm>
            <a:off x="640080" y="1463040"/>
            <a:ext cx="3749040" cy="1645920"/>
          </a:xfrm>
          <a:prstGeom prst="rect">
            <a:avLst/>
          </a:prstGeom>
          <a:solidFill>
            <a:srgbClr val="7BA393"/>
          </a:solidFill>
          <a:ln/>
        </p:spPr>
        <p:txBody>
          <a:bodyPr/>
          <a:lstStyle/>
          <a:p>
            <a:endParaRPr lang="en-US"/>
          </a:p>
        </p:txBody>
      </p:sp>
      <p:sp>
        <p:nvSpPr>
          <p:cNvPr id="6" name="Text 4"/>
          <p:cNvSpPr/>
          <p:nvPr/>
        </p:nvSpPr>
        <p:spPr>
          <a:xfrm>
            <a:off x="822960" y="1508760"/>
            <a:ext cx="33832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PP explains implicit processing</a:t>
            </a:r>
            <a:endParaRPr lang="en-US" sz="1300" dirty="0"/>
          </a:p>
        </p:txBody>
      </p:sp>
      <p:sp>
        <p:nvSpPr>
          <p:cNvPr id="7" name="Text 5"/>
          <p:cNvSpPr/>
          <p:nvPr/>
        </p:nvSpPr>
        <p:spPr>
          <a:xfrm>
            <a:off x="822960" y="1874520"/>
            <a:ext cx="3383280" cy="118872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Attention = precision-weighting of PE</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Perception = hierarchical Bayesian inference</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Emotion = interoceptive PE + hedonic tagging</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Goldilocks = optimal PE for model updating</a:t>
            </a:r>
            <a:endParaRPr lang="en-US" sz="1100" dirty="0"/>
          </a:p>
          <a:p>
            <a:pPr marL="0" indent="0">
              <a:buNone/>
            </a:pPr>
            <a:endParaRPr lang="en-US" sz="1100" dirty="0"/>
          </a:p>
          <a:p>
            <a:pPr marL="0" indent="0">
              <a:buNone/>
            </a:pPr>
            <a:r>
              <a:rPr lang="en-US" sz="1200" b="1" dirty="0">
                <a:solidFill>
                  <a:srgbClr val="FFFFFF"/>
                </a:solidFill>
                <a:latin typeface="Calibri" pitchFamily="34" charset="0"/>
                <a:ea typeface="Calibri" pitchFamily="34" charset="-122"/>
                <a:cs typeface="Calibri" pitchFamily="34" charset="-120"/>
              </a:rPr>
              <a:t>All automatic, parallel, continuous</a:t>
            </a:r>
            <a:endParaRPr lang="en-US" sz="1100" dirty="0"/>
          </a:p>
        </p:txBody>
      </p:sp>
      <p:sp>
        <p:nvSpPr>
          <p:cNvPr id="8" name="Shape 6"/>
          <p:cNvSpPr/>
          <p:nvPr/>
        </p:nvSpPr>
        <p:spPr>
          <a:xfrm>
            <a:off x="4754880" y="1463040"/>
            <a:ext cx="3749040" cy="1645920"/>
          </a:xfrm>
          <a:prstGeom prst="rect">
            <a:avLst/>
          </a:prstGeom>
          <a:solidFill>
            <a:srgbClr val="B85042"/>
          </a:solidFill>
          <a:ln/>
        </p:spPr>
        <p:txBody>
          <a:bodyPr/>
          <a:lstStyle/>
          <a:p>
            <a:endParaRPr lang="en-US"/>
          </a:p>
        </p:txBody>
      </p:sp>
      <p:sp>
        <p:nvSpPr>
          <p:cNvPr id="9" name="Text 7"/>
          <p:cNvSpPr/>
          <p:nvPr/>
        </p:nvSpPr>
        <p:spPr>
          <a:xfrm>
            <a:off x="4937760" y="1508760"/>
            <a:ext cx="33832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Three things PP must explain</a:t>
            </a:r>
            <a:endParaRPr lang="en-US" sz="1300" dirty="0"/>
          </a:p>
        </p:txBody>
      </p:sp>
      <p:sp>
        <p:nvSpPr>
          <p:cNvPr id="10" name="Text 8"/>
          <p:cNvSpPr/>
          <p:nvPr/>
        </p:nvSpPr>
        <p:spPr>
          <a:xfrm>
            <a:off x="4937760" y="1874520"/>
            <a:ext cx="3383280" cy="1188720"/>
          </a:xfrm>
          <a:prstGeom prst="rect">
            <a:avLst/>
          </a:prstGeom>
          <a:noFill/>
          <a:ln/>
        </p:spPr>
        <p:txBody>
          <a:bodyPr wrap="square"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1. GOAL-DIRECTED attention</a:t>
            </a:r>
            <a:endParaRPr lang="en-US" sz="1100" dirty="0"/>
          </a:p>
          <a:p>
            <a:pPr marL="0" indent="0">
              <a:buNone/>
            </a:pPr>
            <a:r>
              <a:rPr lang="en-US" sz="1000" dirty="0">
                <a:solidFill>
                  <a:srgbClr val="FFFFFF"/>
                </a:solidFill>
                <a:latin typeface="Calibri" pitchFamily="34" charset="0"/>
                <a:ea typeface="Calibri" pitchFamily="34" charset="-122"/>
                <a:cs typeface="Calibri" pitchFamily="34" charset="-120"/>
              </a:rPr>
              <a:t>   Not stimulus-driven precision — choosing WHAT to attend</a:t>
            </a:r>
            <a:endParaRPr lang="en-US" sz="1100" dirty="0"/>
          </a:p>
          <a:p>
            <a:pPr marL="0" indent="0">
              <a:buNone/>
            </a:pPr>
            <a:r>
              <a:rPr lang="en-US" sz="1100" b="1" dirty="0">
                <a:solidFill>
                  <a:srgbClr val="FFFFFF"/>
                </a:solidFill>
                <a:latin typeface="Calibri" pitchFamily="34" charset="0"/>
                <a:ea typeface="Calibri" pitchFamily="34" charset="-122"/>
                <a:cs typeface="Calibri" pitchFamily="34" charset="-120"/>
              </a:rPr>
              <a:t>2. COMPOSITIONAL reasoning</a:t>
            </a:r>
            <a:endParaRPr lang="en-US" sz="1100" dirty="0"/>
          </a:p>
          <a:p>
            <a:pPr marL="0" indent="0">
              <a:buNone/>
            </a:pPr>
            <a:r>
              <a:rPr lang="en-US" sz="1000" dirty="0">
                <a:solidFill>
                  <a:srgbClr val="FFFFFF"/>
                </a:solidFill>
                <a:latin typeface="Calibri" pitchFamily="34" charset="0"/>
                <a:ea typeface="Calibri" pitchFamily="34" charset="-122"/>
                <a:cs typeface="Calibri" pitchFamily="34" charset="-120"/>
              </a:rPr>
              <a:t>   Novel variable-binding (if X then Y → but Z → so W)</a:t>
            </a:r>
            <a:endParaRPr lang="en-US" sz="1100" dirty="0"/>
          </a:p>
          <a:p>
            <a:pPr marL="0" indent="0">
              <a:buNone/>
            </a:pPr>
            <a:r>
              <a:rPr lang="en-US" sz="1100" b="1" dirty="0">
                <a:solidFill>
                  <a:srgbClr val="FFFFFF"/>
                </a:solidFill>
                <a:latin typeface="Calibri" pitchFamily="34" charset="0"/>
                <a:ea typeface="Calibri" pitchFamily="34" charset="-122"/>
                <a:cs typeface="Calibri" pitchFamily="34" charset="-120"/>
              </a:rPr>
              <a:t>3. SERIAL bottleneck</a:t>
            </a:r>
            <a:endParaRPr lang="en-US" sz="1100" dirty="0"/>
          </a:p>
          <a:p>
            <a:pPr marL="0" indent="0">
              <a:buNone/>
            </a:pPr>
            <a:r>
              <a:rPr lang="en-US" sz="1000" dirty="0">
                <a:solidFill>
                  <a:srgbClr val="FFFFFF"/>
                </a:solidFill>
                <a:latin typeface="Calibri" pitchFamily="34" charset="0"/>
                <a:ea typeface="Calibri" pitchFamily="34" charset="-122"/>
                <a:cs typeface="Calibri" pitchFamily="34" charset="-120"/>
              </a:rPr>
              <a:t>   One chain of reasoning at a time — why?</a:t>
            </a:r>
            <a:endParaRPr lang="en-US" sz="1100" dirty="0"/>
          </a:p>
        </p:txBody>
      </p:sp>
      <p:sp>
        <p:nvSpPr>
          <p:cNvPr id="11" name="Shape 9"/>
          <p:cNvSpPr/>
          <p:nvPr/>
        </p:nvSpPr>
        <p:spPr>
          <a:xfrm>
            <a:off x="640080" y="3383280"/>
            <a:ext cx="7863840" cy="1097280"/>
          </a:xfrm>
          <a:prstGeom prst="rect">
            <a:avLst/>
          </a:prstGeom>
          <a:solidFill>
            <a:srgbClr val="E8E4DC"/>
          </a:solidFill>
          <a:ln/>
        </p:spPr>
        <p:txBody>
          <a:bodyPr/>
          <a:lstStyle/>
          <a:p>
            <a:endParaRPr lang="en-US"/>
          </a:p>
        </p:txBody>
      </p:sp>
      <p:sp>
        <p:nvSpPr>
          <p:cNvPr id="12" name="Text 10"/>
          <p:cNvSpPr/>
          <p:nvPr/>
        </p:nvSpPr>
        <p:spPr>
          <a:xfrm>
            <a:off x="822960" y="3429000"/>
            <a:ext cx="7498080" cy="1005840"/>
          </a:xfrm>
          <a:prstGeom prst="rect">
            <a:avLst/>
          </a:prstGeom>
          <a:noFill/>
          <a:ln/>
        </p:spPr>
        <p:txBody>
          <a:bodyPr wrap="square" rtlCol="0" anchor="t"/>
          <a:lstStyle/>
          <a:p>
            <a:pPr marL="0" indent="0">
              <a:buNone/>
            </a:pPr>
            <a:r>
              <a:rPr lang="en-US" sz="1200" b="1" dirty="0">
                <a:solidFill>
                  <a:srgbClr val="1B2A4A"/>
                </a:solidFill>
                <a:latin typeface="Calibri" pitchFamily="34" charset="0"/>
                <a:ea typeface="Calibri" pitchFamily="34" charset="-122"/>
                <a:cs typeface="Calibri" pitchFamily="34" charset="-120"/>
              </a:rPr>
              <a:t>Andy's response (Clark, 2016, pp. 206-212): </a:t>
            </a:r>
            <a:r>
              <a:rPr lang="en-US" sz="1200" dirty="0">
                <a:solidFill>
                  <a:srgbClr val="2C2C2C"/>
                </a:solidFill>
                <a:latin typeface="Calibri" pitchFamily="34" charset="0"/>
                <a:ea typeface="Calibri" pitchFamily="34" charset="-122"/>
                <a:cs typeface="Calibri" pitchFamily="34" charset="-120"/>
              </a:rPr>
              <a:t>Deliberate attention IS precision-weighting, just from higher levels of the hierarchy. High-level predictions (goals, plans) set precision on lower levels.</a:t>
            </a:r>
            <a:endParaRPr lang="en-US" sz="1200" dirty="0"/>
          </a:p>
          <a:p>
            <a:pPr marL="0" indent="0">
              <a:buNone/>
            </a:pPr>
            <a:endParaRPr lang="en-US" sz="1200" dirty="0"/>
          </a:p>
          <a:p>
            <a:pPr marL="0" indent="0">
              <a:buNone/>
            </a:pPr>
            <a:r>
              <a:rPr lang="en-US" sz="1200" b="1" dirty="0">
                <a:solidFill>
                  <a:srgbClr val="B85042"/>
                </a:solidFill>
                <a:latin typeface="Calibri" pitchFamily="34" charset="0"/>
                <a:ea typeface="Calibri" pitchFamily="34" charset="-122"/>
                <a:cs typeface="Calibri" pitchFamily="34" charset="-120"/>
              </a:rPr>
              <a:t>Our concern: </a:t>
            </a:r>
            <a:r>
              <a:rPr lang="en-US" sz="1200" dirty="0">
                <a:solidFill>
                  <a:srgbClr val="2C2C2C"/>
                </a:solidFill>
                <a:latin typeface="Calibri" pitchFamily="34" charset="0"/>
                <a:ea typeface="Calibri" pitchFamily="34" charset="-122"/>
                <a:cs typeface="Calibri" pitchFamily="34" charset="-120"/>
              </a:rPr>
              <a:t>This pushes the explanatory burden UP the hierarchy but doesn't explain where goal representations come from. The homunculus hasn't been dissolved — it's been promoted to management.</a:t>
            </a:r>
            <a:endParaRPr lang="en-US" sz="1200" dirty="0"/>
          </a:p>
        </p:txBody>
      </p:sp>
      <p:sp>
        <p:nvSpPr>
          <p:cNvPr id="13" name="Text 11"/>
          <p:cNvSpPr/>
          <p:nvPr/>
        </p:nvSpPr>
        <p:spPr>
          <a:xfrm>
            <a:off x="457200" y="4709160"/>
            <a:ext cx="8229600" cy="320040"/>
          </a:xfrm>
          <a:prstGeom prst="rect">
            <a:avLst/>
          </a:prstGeom>
          <a:noFill/>
          <a:ln/>
        </p:spPr>
        <p:txBody>
          <a:bodyPr wrap="square" rtlCol="0" anchor="ctr"/>
          <a:lstStyle/>
          <a:p>
            <a:pPr marL="0" indent="0">
              <a:buNone/>
            </a:pPr>
            <a:r>
              <a:rPr lang="en-US" sz="900" dirty="0">
                <a:solidFill>
                  <a:srgbClr val="8B8680"/>
                </a:solidFill>
                <a:latin typeface="Calibri" pitchFamily="34" charset="0"/>
                <a:ea typeface="Calibri" pitchFamily="34" charset="-122"/>
                <a:cs typeface="Calibri" pitchFamily="34" charset="-120"/>
              </a:rPr>
              <a:t>Kirsh — Two Regimes | Clark Lab, 3/10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5B3A6B"/>
          </a:solidFill>
          <a:ln/>
        </p:spPr>
        <p:txBody>
          <a:bodyPr/>
          <a:lstStyle/>
          <a:p>
            <a:endParaRPr lang="en-US"/>
          </a:p>
        </p:txBody>
      </p:sp>
      <p:sp>
        <p:nvSpPr>
          <p:cNvPr id="3" name="Text 1"/>
          <p:cNvSpPr/>
          <p:nvPr/>
        </p:nvSpPr>
        <p:spPr>
          <a:xfrm>
            <a:off x="457200" y="0"/>
            <a:ext cx="822960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THE PROPOSAL</a:t>
            </a:r>
            <a:endParaRPr lang="en-US" sz="1000" dirty="0"/>
          </a:p>
        </p:txBody>
      </p:sp>
      <p:sp>
        <p:nvSpPr>
          <p:cNvPr id="4" name="Text 2"/>
          <p:cNvSpPr/>
          <p:nvPr/>
        </p:nvSpPr>
        <p:spPr>
          <a:xfrm>
            <a:off x="640080" y="548640"/>
            <a:ext cx="7863840" cy="731520"/>
          </a:xfrm>
          <a:prstGeom prst="rect">
            <a:avLst/>
          </a:prstGeom>
          <a:noFill/>
          <a:ln/>
        </p:spPr>
        <p:txBody>
          <a:bodyPr wrap="square" rtlCol="0" anchor="ctr"/>
          <a:lstStyle/>
          <a:p>
            <a:pPr marL="0" indent="0">
              <a:buNone/>
            </a:pPr>
            <a:r>
              <a:rPr lang="en-US" sz="2600" b="1" dirty="0">
                <a:solidFill>
                  <a:srgbClr val="1B2A4A"/>
                </a:solidFill>
                <a:latin typeface="Georgia" pitchFamily="34" charset="0"/>
                <a:ea typeface="Georgia" pitchFamily="34" charset="-122"/>
                <a:cs typeface="Georgia" pitchFamily="34" charset="-120"/>
              </a:rPr>
              <a:t>Two Computational Regimes,</a:t>
            </a:r>
            <a:endParaRPr lang="en-US" sz="2600" dirty="0"/>
          </a:p>
          <a:p>
            <a:pPr marL="0" indent="0">
              <a:buNone/>
            </a:pPr>
            <a:r>
              <a:rPr lang="en-US" sz="2600" b="1" dirty="0">
                <a:solidFill>
                  <a:srgbClr val="1B2A4A"/>
                </a:solidFill>
                <a:latin typeface="Georgia" pitchFamily="34" charset="0"/>
                <a:ea typeface="Georgia" pitchFamily="34" charset="-122"/>
                <a:cs typeface="Georgia" pitchFamily="34" charset="-120"/>
              </a:rPr>
              <a:t>Two Environmental Profiles</a:t>
            </a:r>
            <a:endParaRPr lang="en-US" sz="2600" dirty="0"/>
          </a:p>
        </p:txBody>
      </p:sp>
      <p:sp>
        <p:nvSpPr>
          <p:cNvPr id="5" name="Shape 3"/>
          <p:cNvSpPr/>
          <p:nvPr/>
        </p:nvSpPr>
        <p:spPr>
          <a:xfrm>
            <a:off x="640080" y="1417320"/>
            <a:ext cx="2011680" cy="320040"/>
          </a:xfrm>
          <a:prstGeom prst="rect">
            <a:avLst/>
          </a:prstGeom>
          <a:solidFill>
            <a:srgbClr val="8B8680"/>
          </a:solidFill>
          <a:ln/>
        </p:spPr>
        <p:txBody>
          <a:bodyPr/>
          <a:lstStyle/>
          <a:p>
            <a:endParaRPr lang="en-US"/>
          </a:p>
        </p:txBody>
      </p:sp>
      <p:sp>
        <p:nvSpPr>
          <p:cNvPr id="6" name="Shape 4"/>
          <p:cNvSpPr/>
          <p:nvPr/>
        </p:nvSpPr>
        <p:spPr>
          <a:xfrm>
            <a:off x="2697480" y="1417320"/>
            <a:ext cx="2926080" cy="320040"/>
          </a:xfrm>
          <a:prstGeom prst="rect">
            <a:avLst/>
          </a:prstGeom>
          <a:solidFill>
            <a:srgbClr val="7BA393"/>
          </a:solidFill>
          <a:ln/>
        </p:spPr>
        <p:txBody>
          <a:bodyPr/>
          <a:lstStyle/>
          <a:p>
            <a:endParaRPr lang="en-US"/>
          </a:p>
        </p:txBody>
      </p:sp>
      <p:sp>
        <p:nvSpPr>
          <p:cNvPr id="7" name="Shape 5"/>
          <p:cNvSpPr/>
          <p:nvPr/>
        </p:nvSpPr>
        <p:spPr>
          <a:xfrm>
            <a:off x="5669280" y="1417320"/>
            <a:ext cx="2834640" cy="320040"/>
          </a:xfrm>
          <a:prstGeom prst="rect">
            <a:avLst/>
          </a:prstGeom>
          <a:solidFill>
            <a:srgbClr val="1B2A4A"/>
          </a:solidFill>
          <a:ln/>
        </p:spPr>
        <p:txBody>
          <a:bodyPr/>
          <a:lstStyle/>
          <a:p>
            <a:endParaRPr lang="en-US"/>
          </a:p>
        </p:txBody>
      </p:sp>
      <p:sp>
        <p:nvSpPr>
          <p:cNvPr id="8" name="Text 6"/>
          <p:cNvSpPr/>
          <p:nvPr/>
        </p:nvSpPr>
        <p:spPr>
          <a:xfrm>
            <a:off x="2697480" y="1417320"/>
            <a:ext cx="292608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IMPLICIT REGIME</a:t>
            </a:r>
            <a:endParaRPr lang="en-US" sz="1100" dirty="0"/>
          </a:p>
        </p:txBody>
      </p:sp>
      <p:sp>
        <p:nvSpPr>
          <p:cNvPr id="9" name="Text 7"/>
          <p:cNvSpPr/>
          <p:nvPr/>
        </p:nvSpPr>
        <p:spPr>
          <a:xfrm>
            <a:off x="5669280" y="1417320"/>
            <a:ext cx="2834640" cy="320040"/>
          </a:xfrm>
          <a:prstGeom prst="rect">
            <a:avLst/>
          </a:prstGeom>
          <a:noFill/>
          <a:ln/>
        </p:spPr>
        <p:txBody>
          <a:bodyPr wrap="square" rtlCol="0" anchor="ctr"/>
          <a:lstStyle/>
          <a:p>
            <a:pPr marL="0" indent="0" algn="ctr">
              <a:buNone/>
            </a:pPr>
            <a:r>
              <a:rPr lang="en-US" sz="1100" b="1" dirty="0">
                <a:solidFill>
                  <a:srgbClr val="C4993B"/>
                </a:solidFill>
                <a:latin typeface="Calibri" pitchFamily="34" charset="0"/>
                <a:ea typeface="Calibri" pitchFamily="34" charset="-122"/>
                <a:cs typeface="Calibri" pitchFamily="34" charset="-120"/>
              </a:rPr>
              <a:t>EXPLICIT REGIME</a:t>
            </a:r>
            <a:endParaRPr lang="en-US" sz="1100" dirty="0"/>
          </a:p>
        </p:txBody>
      </p:sp>
      <p:sp>
        <p:nvSpPr>
          <p:cNvPr id="10" name="Shape 8"/>
          <p:cNvSpPr/>
          <p:nvPr/>
        </p:nvSpPr>
        <p:spPr>
          <a:xfrm>
            <a:off x="640080" y="1783080"/>
            <a:ext cx="7863840" cy="393192"/>
          </a:xfrm>
          <a:prstGeom prst="rect">
            <a:avLst/>
          </a:prstGeom>
          <a:solidFill>
            <a:srgbClr val="E8E4DC"/>
          </a:solidFill>
          <a:ln/>
        </p:spPr>
        <p:txBody>
          <a:bodyPr/>
          <a:lstStyle/>
          <a:p>
            <a:endParaRPr lang="en-US"/>
          </a:p>
        </p:txBody>
      </p:sp>
      <p:sp>
        <p:nvSpPr>
          <p:cNvPr id="11" name="Text 9"/>
          <p:cNvSpPr/>
          <p:nvPr/>
        </p:nvSpPr>
        <p:spPr>
          <a:xfrm>
            <a:off x="731520" y="1783080"/>
            <a:ext cx="1920240" cy="393192"/>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Processing</a:t>
            </a:r>
            <a:endParaRPr lang="en-US" sz="900" dirty="0"/>
          </a:p>
        </p:txBody>
      </p:sp>
      <p:sp>
        <p:nvSpPr>
          <p:cNvPr id="12" name="Text 10"/>
          <p:cNvSpPr/>
          <p:nvPr/>
        </p:nvSpPr>
        <p:spPr>
          <a:xfrm>
            <a:off x="2697480" y="1783080"/>
            <a:ext cx="292608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Parallel, automatic, continuous</a:t>
            </a:r>
            <a:endParaRPr lang="en-US" sz="900" dirty="0"/>
          </a:p>
        </p:txBody>
      </p:sp>
      <p:sp>
        <p:nvSpPr>
          <p:cNvPr id="13" name="Text 11"/>
          <p:cNvSpPr/>
          <p:nvPr/>
        </p:nvSpPr>
        <p:spPr>
          <a:xfrm>
            <a:off x="5669280" y="1783080"/>
            <a:ext cx="283464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Serial, effortful, fragile</a:t>
            </a:r>
            <a:endParaRPr lang="en-US" sz="900" dirty="0"/>
          </a:p>
        </p:txBody>
      </p:sp>
      <p:sp>
        <p:nvSpPr>
          <p:cNvPr id="14" name="Shape 12"/>
          <p:cNvSpPr/>
          <p:nvPr/>
        </p:nvSpPr>
        <p:spPr>
          <a:xfrm>
            <a:off x="640080" y="2194560"/>
            <a:ext cx="7863840" cy="393192"/>
          </a:xfrm>
          <a:prstGeom prst="rect">
            <a:avLst/>
          </a:prstGeom>
          <a:solidFill>
            <a:srgbClr val="FFFFFF"/>
          </a:solidFill>
          <a:ln/>
        </p:spPr>
        <p:txBody>
          <a:bodyPr/>
          <a:lstStyle/>
          <a:p>
            <a:endParaRPr lang="en-US"/>
          </a:p>
        </p:txBody>
      </p:sp>
      <p:sp>
        <p:nvSpPr>
          <p:cNvPr id="15" name="Text 13"/>
          <p:cNvSpPr/>
          <p:nvPr/>
        </p:nvSpPr>
        <p:spPr>
          <a:xfrm>
            <a:off x="731520" y="2194560"/>
            <a:ext cx="1920240" cy="393192"/>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Mechanism</a:t>
            </a:r>
            <a:endParaRPr lang="en-US" sz="900" dirty="0"/>
          </a:p>
        </p:txBody>
      </p:sp>
      <p:sp>
        <p:nvSpPr>
          <p:cNvPr id="16" name="Text 14"/>
          <p:cNvSpPr/>
          <p:nvPr/>
        </p:nvSpPr>
        <p:spPr>
          <a:xfrm>
            <a:off x="2697480" y="2194560"/>
            <a:ext cx="292608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Hierarchical Bayesian inference</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(standard PP)</a:t>
            </a:r>
            <a:endParaRPr lang="en-US" sz="900" dirty="0"/>
          </a:p>
        </p:txBody>
      </p:sp>
      <p:sp>
        <p:nvSpPr>
          <p:cNvPr id="17" name="Text 15"/>
          <p:cNvSpPr/>
          <p:nvPr/>
        </p:nvSpPr>
        <p:spPr>
          <a:xfrm>
            <a:off x="5669280" y="2194560"/>
            <a:ext cx="283464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Global Workspace +</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PFC control (Dehaene, 2014)</a:t>
            </a:r>
            <a:endParaRPr lang="en-US" sz="900" dirty="0"/>
          </a:p>
        </p:txBody>
      </p:sp>
      <p:sp>
        <p:nvSpPr>
          <p:cNvPr id="18" name="Shape 16"/>
          <p:cNvSpPr/>
          <p:nvPr/>
        </p:nvSpPr>
        <p:spPr>
          <a:xfrm>
            <a:off x="640080" y="2606040"/>
            <a:ext cx="7863840" cy="393192"/>
          </a:xfrm>
          <a:prstGeom prst="rect">
            <a:avLst/>
          </a:prstGeom>
          <a:solidFill>
            <a:srgbClr val="E8E4DC"/>
          </a:solidFill>
          <a:ln/>
        </p:spPr>
        <p:txBody>
          <a:bodyPr/>
          <a:lstStyle/>
          <a:p>
            <a:endParaRPr lang="en-US"/>
          </a:p>
        </p:txBody>
      </p:sp>
      <p:sp>
        <p:nvSpPr>
          <p:cNvPr id="19" name="Text 17"/>
          <p:cNvSpPr/>
          <p:nvPr/>
        </p:nvSpPr>
        <p:spPr>
          <a:xfrm>
            <a:off x="731520" y="2606040"/>
            <a:ext cx="1920240" cy="393192"/>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Attention</a:t>
            </a:r>
            <a:endParaRPr lang="en-US" sz="900" dirty="0"/>
          </a:p>
        </p:txBody>
      </p:sp>
      <p:sp>
        <p:nvSpPr>
          <p:cNvPr id="20" name="Text 18"/>
          <p:cNvSpPr/>
          <p:nvPr/>
        </p:nvSpPr>
        <p:spPr>
          <a:xfrm>
            <a:off x="2697480" y="2606040"/>
            <a:ext cx="292608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Precision-weighting</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(stimulus-driven)</a:t>
            </a:r>
            <a:endParaRPr lang="en-US" sz="900" dirty="0"/>
          </a:p>
        </p:txBody>
      </p:sp>
      <p:sp>
        <p:nvSpPr>
          <p:cNvPr id="21" name="Text 19"/>
          <p:cNvSpPr/>
          <p:nvPr/>
        </p:nvSpPr>
        <p:spPr>
          <a:xfrm>
            <a:off x="5669280" y="2606040"/>
            <a:ext cx="283464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Goal-directed selection</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(PFC gating)</a:t>
            </a:r>
            <a:endParaRPr lang="en-US" sz="900" dirty="0"/>
          </a:p>
        </p:txBody>
      </p:sp>
      <p:sp>
        <p:nvSpPr>
          <p:cNvPr id="22" name="Shape 20"/>
          <p:cNvSpPr/>
          <p:nvPr/>
        </p:nvSpPr>
        <p:spPr>
          <a:xfrm>
            <a:off x="640080" y="3017520"/>
            <a:ext cx="7863840" cy="393192"/>
          </a:xfrm>
          <a:prstGeom prst="rect">
            <a:avLst/>
          </a:prstGeom>
          <a:solidFill>
            <a:srgbClr val="FFFFFF"/>
          </a:solidFill>
          <a:ln/>
        </p:spPr>
        <p:txBody>
          <a:bodyPr/>
          <a:lstStyle/>
          <a:p>
            <a:endParaRPr lang="en-US"/>
          </a:p>
        </p:txBody>
      </p:sp>
      <p:sp>
        <p:nvSpPr>
          <p:cNvPr id="23" name="Text 21"/>
          <p:cNvSpPr/>
          <p:nvPr/>
        </p:nvSpPr>
        <p:spPr>
          <a:xfrm>
            <a:off x="731520" y="3017520"/>
            <a:ext cx="1920240" cy="393192"/>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Capacity</a:t>
            </a:r>
            <a:endParaRPr lang="en-US" sz="900" dirty="0"/>
          </a:p>
        </p:txBody>
      </p:sp>
      <p:sp>
        <p:nvSpPr>
          <p:cNvPr id="24" name="Text 22"/>
          <p:cNvSpPr/>
          <p:nvPr/>
        </p:nvSpPr>
        <p:spPr>
          <a:xfrm>
            <a:off x="2697480" y="3017520"/>
            <a:ext cx="292608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High — many channels</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simultaneously</a:t>
            </a:r>
            <a:endParaRPr lang="en-US" sz="900" dirty="0"/>
          </a:p>
        </p:txBody>
      </p:sp>
      <p:sp>
        <p:nvSpPr>
          <p:cNvPr id="25" name="Text 23"/>
          <p:cNvSpPr/>
          <p:nvPr/>
        </p:nvSpPr>
        <p:spPr>
          <a:xfrm>
            <a:off x="5669280" y="3017520"/>
            <a:ext cx="283464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Low — ~4 chunks</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(Cowan, 2001)</a:t>
            </a:r>
            <a:endParaRPr lang="en-US" sz="900" dirty="0"/>
          </a:p>
        </p:txBody>
      </p:sp>
      <p:sp>
        <p:nvSpPr>
          <p:cNvPr id="26" name="Shape 24"/>
          <p:cNvSpPr/>
          <p:nvPr/>
        </p:nvSpPr>
        <p:spPr>
          <a:xfrm>
            <a:off x="640080" y="3429000"/>
            <a:ext cx="7863840" cy="393192"/>
          </a:xfrm>
          <a:prstGeom prst="rect">
            <a:avLst/>
          </a:prstGeom>
          <a:solidFill>
            <a:srgbClr val="E8E4DC"/>
          </a:solidFill>
          <a:ln/>
        </p:spPr>
        <p:txBody>
          <a:bodyPr/>
          <a:lstStyle/>
          <a:p>
            <a:endParaRPr lang="en-US"/>
          </a:p>
        </p:txBody>
      </p:sp>
      <p:sp>
        <p:nvSpPr>
          <p:cNvPr id="27" name="Text 25"/>
          <p:cNvSpPr/>
          <p:nvPr/>
        </p:nvSpPr>
        <p:spPr>
          <a:xfrm>
            <a:off x="731520" y="3429000"/>
            <a:ext cx="1920240" cy="393192"/>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Key env variable</a:t>
            </a:r>
            <a:endParaRPr lang="en-US" sz="900" dirty="0"/>
          </a:p>
        </p:txBody>
      </p:sp>
      <p:sp>
        <p:nvSpPr>
          <p:cNvPr id="28" name="Text 26"/>
          <p:cNvSpPr/>
          <p:nvPr/>
        </p:nvSpPr>
        <p:spPr>
          <a:xfrm>
            <a:off x="2697480" y="3429000"/>
            <a:ext cx="292608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PE Mean</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(Goldilocks zone)</a:t>
            </a:r>
            <a:endParaRPr lang="en-US" sz="900" dirty="0"/>
          </a:p>
        </p:txBody>
      </p:sp>
      <p:sp>
        <p:nvSpPr>
          <p:cNvPr id="29" name="Text 27"/>
          <p:cNvSpPr/>
          <p:nvPr/>
        </p:nvSpPr>
        <p:spPr>
          <a:xfrm>
            <a:off x="5669280" y="3429000"/>
            <a:ext cx="283464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PE Variance</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(temporal stability)</a:t>
            </a:r>
            <a:endParaRPr lang="en-US" sz="900" dirty="0"/>
          </a:p>
        </p:txBody>
      </p:sp>
      <p:sp>
        <p:nvSpPr>
          <p:cNvPr id="30" name="Shape 28"/>
          <p:cNvSpPr/>
          <p:nvPr/>
        </p:nvSpPr>
        <p:spPr>
          <a:xfrm>
            <a:off x="640080" y="3840480"/>
            <a:ext cx="7863840" cy="393192"/>
          </a:xfrm>
          <a:prstGeom prst="rect">
            <a:avLst/>
          </a:prstGeom>
          <a:solidFill>
            <a:srgbClr val="FFFFFF"/>
          </a:solidFill>
          <a:ln/>
        </p:spPr>
        <p:txBody>
          <a:bodyPr/>
          <a:lstStyle/>
          <a:p>
            <a:endParaRPr lang="en-US"/>
          </a:p>
        </p:txBody>
      </p:sp>
      <p:sp>
        <p:nvSpPr>
          <p:cNvPr id="31" name="Text 29"/>
          <p:cNvSpPr/>
          <p:nvPr/>
        </p:nvSpPr>
        <p:spPr>
          <a:xfrm>
            <a:off x="731520" y="3840480"/>
            <a:ext cx="1920240" cy="393192"/>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Optimal env</a:t>
            </a:r>
            <a:endParaRPr lang="en-US" sz="900" dirty="0"/>
          </a:p>
        </p:txBody>
      </p:sp>
      <p:sp>
        <p:nvSpPr>
          <p:cNvPr id="32" name="Text 30"/>
          <p:cNvSpPr/>
          <p:nvPr/>
        </p:nvSpPr>
        <p:spPr>
          <a:xfrm>
            <a:off x="2697480" y="3840480"/>
            <a:ext cx="292608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Moderate complexity,</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rich stimulation</a:t>
            </a:r>
            <a:endParaRPr lang="en-US" sz="900" dirty="0"/>
          </a:p>
        </p:txBody>
      </p:sp>
      <p:sp>
        <p:nvSpPr>
          <p:cNvPr id="33" name="Text 31"/>
          <p:cNvSpPr/>
          <p:nvPr/>
        </p:nvSpPr>
        <p:spPr>
          <a:xfrm>
            <a:off x="5669280" y="3840480"/>
            <a:ext cx="283464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Minimal interruption,</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high predictability</a:t>
            </a:r>
            <a:endParaRPr lang="en-US" sz="900" dirty="0"/>
          </a:p>
        </p:txBody>
      </p:sp>
      <p:sp>
        <p:nvSpPr>
          <p:cNvPr id="34" name="Shape 32"/>
          <p:cNvSpPr/>
          <p:nvPr/>
        </p:nvSpPr>
        <p:spPr>
          <a:xfrm>
            <a:off x="640080" y="4251960"/>
            <a:ext cx="7863840" cy="393192"/>
          </a:xfrm>
          <a:prstGeom prst="rect">
            <a:avLst/>
          </a:prstGeom>
          <a:solidFill>
            <a:srgbClr val="E8E4DC"/>
          </a:solidFill>
          <a:ln/>
        </p:spPr>
        <p:txBody>
          <a:bodyPr/>
          <a:lstStyle/>
          <a:p>
            <a:endParaRPr lang="en-US"/>
          </a:p>
        </p:txBody>
      </p:sp>
      <p:sp>
        <p:nvSpPr>
          <p:cNvPr id="35" name="Text 33"/>
          <p:cNvSpPr/>
          <p:nvPr/>
        </p:nvSpPr>
        <p:spPr>
          <a:xfrm>
            <a:off x="731520" y="4251960"/>
            <a:ext cx="1920240" cy="393192"/>
          </a:xfrm>
          <a:prstGeom prst="rect">
            <a:avLst/>
          </a:prstGeom>
          <a:noFill/>
          <a:ln/>
        </p:spPr>
        <p:txBody>
          <a:bodyPr wrap="square" rtlCol="0" anchor="ctr"/>
          <a:lstStyle/>
          <a:p>
            <a:pPr marL="0" indent="0">
              <a:buNone/>
            </a:pPr>
            <a:r>
              <a:rPr lang="en-US" sz="900" b="1" dirty="0">
                <a:solidFill>
                  <a:srgbClr val="1B2A4A"/>
                </a:solidFill>
                <a:latin typeface="Calibri" pitchFamily="34" charset="0"/>
                <a:ea typeface="Calibri" pitchFamily="34" charset="-122"/>
                <a:cs typeface="Calibri" pitchFamily="34" charset="-120"/>
              </a:rPr>
              <a:t>Vulnerability</a:t>
            </a:r>
            <a:endParaRPr lang="en-US" sz="900" dirty="0"/>
          </a:p>
        </p:txBody>
      </p:sp>
      <p:sp>
        <p:nvSpPr>
          <p:cNvPr id="36" name="Text 34"/>
          <p:cNvSpPr/>
          <p:nvPr/>
        </p:nvSpPr>
        <p:spPr>
          <a:xfrm>
            <a:off x="2697480" y="4251960"/>
            <a:ext cx="292608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Boredom</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(too predictable)</a:t>
            </a:r>
            <a:endParaRPr lang="en-US" sz="900" dirty="0"/>
          </a:p>
        </p:txBody>
      </p:sp>
      <p:sp>
        <p:nvSpPr>
          <p:cNvPr id="37" name="Text 35"/>
          <p:cNvSpPr/>
          <p:nvPr/>
        </p:nvSpPr>
        <p:spPr>
          <a:xfrm>
            <a:off x="5669280" y="4251960"/>
            <a:ext cx="2834640" cy="393192"/>
          </a:xfrm>
          <a:prstGeom prst="rect">
            <a:avLst/>
          </a:prstGeom>
          <a:noFill/>
          <a:ln/>
        </p:spPr>
        <p:txBody>
          <a:bodyPr wrap="square" rtlCol="0" anchor="ctr"/>
          <a:lstStyle/>
          <a:p>
            <a:pPr marL="0" indent="0" algn="ctr">
              <a:buNone/>
            </a:pPr>
            <a:r>
              <a:rPr lang="en-US" sz="900" dirty="0">
                <a:solidFill>
                  <a:srgbClr val="2C2C2C"/>
                </a:solidFill>
                <a:latin typeface="Calibri" pitchFamily="34" charset="0"/>
                <a:ea typeface="Calibri" pitchFamily="34" charset="-122"/>
                <a:cs typeface="Calibri" pitchFamily="34" charset="-120"/>
              </a:rPr>
              <a:t>Interruption</a:t>
            </a:r>
            <a:endParaRPr lang="en-US" sz="900" dirty="0"/>
          </a:p>
          <a:p>
            <a:pPr marL="0" indent="0" algn="ctr">
              <a:buNone/>
            </a:pPr>
            <a:r>
              <a:rPr lang="en-US" sz="900" dirty="0">
                <a:solidFill>
                  <a:srgbClr val="2C2C2C"/>
                </a:solidFill>
                <a:latin typeface="Calibri" pitchFamily="34" charset="0"/>
                <a:ea typeface="Calibri" pitchFamily="34" charset="-122"/>
                <a:cs typeface="Calibri" pitchFamily="34" charset="-120"/>
              </a:rPr>
              <a:t>(any PE spike)</a:t>
            </a:r>
            <a:endParaRPr lang="en-US" sz="900" dirty="0"/>
          </a:p>
        </p:txBody>
      </p:sp>
      <p:sp>
        <p:nvSpPr>
          <p:cNvPr id="38" name="Text 36"/>
          <p:cNvSpPr/>
          <p:nvPr/>
        </p:nvSpPr>
        <p:spPr>
          <a:xfrm>
            <a:off x="640080" y="4572000"/>
            <a:ext cx="7863840" cy="457200"/>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The architectural design question: a building must support BOTH regimes. The optimal environment</a:t>
            </a:r>
            <a:endParaRPr lang="en-US" sz="1100" dirty="0"/>
          </a:p>
          <a:p>
            <a:pPr marL="0" indent="0">
              <a:buNone/>
            </a:pPr>
            <a:r>
              <a:rPr lang="en-US" sz="1100" b="1" dirty="0">
                <a:solidFill>
                  <a:srgbClr val="B85042"/>
                </a:solidFill>
                <a:latin typeface="Calibri" pitchFamily="34" charset="0"/>
                <a:ea typeface="Calibri" pitchFamily="34" charset="-122"/>
                <a:cs typeface="Calibri" pitchFamily="34" charset="-120"/>
              </a:rPr>
              <a:t>for each is nearly OPPOSITE. How do you design for both?</a:t>
            </a:r>
            <a:endParaRPr lang="en-US" sz="1100" dirty="0"/>
          </a:p>
        </p:txBody>
      </p:sp>
      <p:sp>
        <p:nvSpPr>
          <p:cNvPr id="39" name="Text 37"/>
          <p:cNvSpPr/>
          <p:nvPr/>
        </p:nvSpPr>
        <p:spPr>
          <a:xfrm>
            <a:off x="457200" y="4709160"/>
            <a:ext cx="8229600" cy="320040"/>
          </a:xfrm>
          <a:prstGeom prst="rect">
            <a:avLst/>
          </a:prstGeom>
          <a:noFill/>
          <a:ln/>
        </p:spPr>
        <p:txBody>
          <a:bodyPr wrap="square" rtlCol="0" anchor="ctr"/>
          <a:lstStyle/>
          <a:p>
            <a:pPr marL="0" indent="0">
              <a:buNone/>
            </a:pPr>
            <a:r>
              <a:rPr lang="en-US" sz="900" dirty="0">
                <a:solidFill>
                  <a:srgbClr val="8B8680"/>
                </a:solidFill>
                <a:latin typeface="Calibri" pitchFamily="34" charset="0"/>
                <a:ea typeface="Calibri" pitchFamily="34" charset="-122"/>
                <a:cs typeface="Calibri" pitchFamily="34" charset="-120"/>
              </a:rPr>
              <a:t>Kirsh — Two Regimes | Clark Lab, 4/10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5B3A6B"/>
          </a:solidFill>
          <a:ln/>
        </p:spPr>
        <p:txBody>
          <a:bodyPr/>
          <a:lstStyle/>
          <a:p>
            <a:endParaRPr lang="en-US"/>
          </a:p>
        </p:txBody>
      </p:sp>
      <p:sp>
        <p:nvSpPr>
          <p:cNvPr id="3" name="Text 1"/>
          <p:cNvSpPr/>
          <p:nvPr/>
        </p:nvSpPr>
        <p:spPr>
          <a:xfrm>
            <a:off x="457200" y="0"/>
            <a:ext cx="822960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THE SWITCHING MECHANISM</a:t>
            </a:r>
            <a:endParaRPr lang="en-US" sz="1000" dirty="0"/>
          </a:p>
        </p:txBody>
      </p:sp>
      <p:sp>
        <p:nvSpPr>
          <p:cNvPr id="4" name="Text 2"/>
          <p:cNvSpPr/>
          <p:nvPr/>
        </p:nvSpPr>
        <p:spPr>
          <a:xfrm>
            <a:off x="640080" y="548640"/>
            <a:ext cx="7863840" cy="73152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LC-NE System: The</a:t>
            </a:r>
            <a:endParaRPr lang="en-US" sz="2800" dirty="0"/>
          </a:p>
          <a:p>
            <a:pPr marL="0" indent="0">
              <a:buNone/>
            </a:pPr>
            <a:r>
              <a:rPr lang="en-US" sz="2800" b="1" dirty="0">
                <a:solidFill>
                  <a:srgbClr val="1B2A4A"/>
                </a:solidFill>
                <a:latin typeface="Georgia" pitchFamily="34" charset="0"/>
                <a:ea typeface="Georgia" pitchFamily="34" charset="-122"/>
                <a:cs typeface="Georgia" pitchFamily="34" charset="-120"/>
              </a:rPr>
              <a:t>Regime Switch</a:t>
            </a:r>
            <a:endParaRPr lang="en-US" sz="2800" dirty="0"/>
          </a:p>
        </p:txBody>
      </p:sp>
      <p:sp>
        <p:nvSpPr>
          <p:cNvPr id="5" name="Text 3"/>
          <p:cNvSpPr/>
          <p:nvPr/>
        </p:nvSpPr>
        <p:spPr>
          <a:xfrm>
            <a:off x="640080" y="1371600"/>
            <a:ext cx="7863840" cy="731520"/>
          </a:xfrm>
          <a:prstGeom prst="rect">
            <a:avLst/>
          </a:prstGeom>
          <a:noFill/>
          <a:ln/>
        </p:spPr>
        <p:txBody>
          <a:bodyPr wrap="square" rtlCol="0" anchor="ctr"/>
          <a:lstStyle/>
          <a:p>
            <a:pPr marL="0" indent="0">
              <a:buNone/>
            </a:pPr>
            <a:r>
              <a:rPr lang="en-US" sz="1500" b="1" dirty="0">
                <a:solidFill>
                  <a:srgbClr val="2A6F7A"/>
                </a:solidFill>
                <a:latin typeface="Calibri" pitchFamily="34" charset="0"/>
                <a:ea typeface="Calibri" pitchFamily="34" charset="-122"/>
                <a:cs typeface="Calibri" pitchFamily="34" charset="-120"/>
              </a:rPr>
              <a:t>Aston-Jones &amp; Cohen (2005) — Adaptive Gain Theory:</a:t>
            </a:r>
            <a:endParaRPr lang="en-US" sz="1500" dirty="0"/>
          </a:p>
          <a:p>
            <a:pPr marL="0" indent="0">
              <a:buNone/>
            </a:pPr>
            <a:endParaRPr lang="en-US" sz="1500" dirty="0"/>
          </a:p>
          <a:p>
            <a:pPr marL="0" indent="0">
              <a:buNone/>
            </a:pPr>
            <a:r>
              <a:rPr lang="en-US" sz="1400" dirty="0">
                <a:solidFill>
                  <a:srgbClr val="2C2C2C"/>
                </a:solidFill>
                <a:latin typeface="Calibri" pitchFamily="34" charset="0"/>
                <a:ea typeface="Calibri" pitchFamily="34" charset="-122"/>
                <a:cs typeface="Calibri" pitchFamily="34" charset="-120"/>
              </a:rPr>
              <a:t>The locus coeruleus operates in two modes that map onto our two regimes:</a:t>
            </a:r>
            <a:endParaRPr lang="en-US" sz="1500" dirty="0"/>
          </a:p>
        </p:txBody>
      </p:sp>
      <p:sp>
        <p:nvSpPr>
          <p:cNvPr id="6" name="Shape 4"/>
          <p:cNvSpPr/>
          <p:nvPr/>
        </p:nvSpPr>
        <p:spPr>
          <a:xfrm>
            <a:off x="640080" y="2194560"/>
            <a:ext cx="3749040" cy="1463040"/>
          </a:xfrm>
          <a:prstGeom prst="rect">
            <a:avLst/>
          </a:prstGeom>
          <a:solidFill>
            <a:srgbClr val="7BA393"/>
          </a:solidFill>
          <a:ln/>
        </p:spPr>
        <p:txBody>
          <a:bodyPr/>
          <a:lstStyle/>
          <a:p>
            <a:endParaRPr lang="en-US"/>
          </a:p>
        </p:txBody>
      </p:sp>
      <p:sp>
        <p:nvSpPr>
          <p:cNvPr id="7" name="Text 5"/>
          <p:cNvSpPr/>
          <p:nvPr/>
        </p:nvSpPr>
        <p:spPr>
          <a:xfrm>
            <a:off x="822960" y="2240280"/>
            <a:ext cx="33832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TONIC MODE → Explicit Regime</a:t>
            </a:r>
            <a:endParaRPr lang="en-US" sz="1300" dirty="0"/>
          </a:p>
        </p:txBody>
      </p:sp>
      <p:sp>
        <p:nvSpPr>
          <p:cNvPr id="8" name="Text 6"/>
          <p:cNvSpPr/>
          <p:nvPr/>
        </p:nvSpPr>
        <p:spPr>
          <a:xfrm>
            <a:off x="822960" y="2606040"/>
            <a:ext cx="3383280" cy="100584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Moderate, steady NE release</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Stable gain in PFC</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Supports sustained workspace maintenance</a:t>
            </a:r>
            <a:endParaRPr lang="en-US" sz="1200" dirty="0"/>
          </a:p>
          <a:p>
            <a:pPr marL="0" indent="0">
              <a:buNone/>
            </a:pPr>
            <a:r>
              <a:rPr lang="en-US" sz="1200" b="1" dirty="0">
                <a:solidFill>
                  <a:srgbClr val="FFFFFF"/>
                </a:solidFill>
                <a:latin typeface="Calibri" pitchFamily="34" charset="0"/>
                <a:ea typeface="Calibri" pitchFamily="34" charset="-122"/>
                <a:cs typeface="Calibri" pitchFamily="34" charset="-120"/>
              </a:rPr>
              <a:t>Exploitation / focused processing</a:t>
            </a:r>
            <a:endParaRPr lang="en-US" sz="1200" dirty="0"/>
          </a:p>
        </p:txBody>
      </p:sp>
      <p:sp>
        <p:nvSpPr>
          <p:cNvPr id="9" name="Shape 7"/>
          <p:cNvSpPr/>
          <p:nvPr/>
        </p:nvSpPr>
        <p:spPr>
          <a:xfrm>
            <a:off x="4754880" y="2194560"/>
            <a:ext cx="3749040" cy="1463040"/>
          </a:xfrm>
          <a:prstGeom prst="rect">
            <a:avLst/>
          </a:prstGeom>
          <a:solidFill>
            <a:srgbClr val="1B2A4A"/>
          </a:solidFill>
          <a:ln/>
        </p:spPr>
        <p:txBody>
          <a:bodyPr/>
          <a:lstStyle/>
          <a:p>
            <a:endParaRPr lang="en-US"/>
          </a:p>
        </p:txBody>
      </p:sp>
      <p:sp>
        <p:nvSpPr>
          <p:cNvPr id="10" name="Text 8"/>
          <p:cNvSpPr/>
          <p:nvPr/>
        </p:nvSpPr>
        <p:spPr>
          <a:xfrm>
            <a:off x="4937760" y="2240280"/>
            <a:ext cx="3383280" cy="320040"/>
          </a:xfrm>
          <a:prstGeom prst="rect">
            <a:avLst/>
          </a:prstGeom>
          <a:noFill/>
          <a:ln/>
        </p:spPr>
        <p:txBody>
          <a:bodyPr wrap="square" rtlCol="0" anchor="ctr"/>
          <a:lstStyle/>
          <a:p>
            <a:pPr marL="0" indent="0">
              <a:buNone/>
            </a:pPr>
            <a:r>
              <a:rPr lang="en-US" sz="1300" b="1" dirty="0">
                <a:solidFill>
                  <a:srgbClr val="C4993B"/>
                </a:solidFill>
                <a:latin typeface="Calibri" pitchFamily="34" charset="0"/>
                <a:ea typeface="Calibri" pitchFamily="34" charset="-122"/>
                <a:cs typeface="Calibri" pitchFamily="34" charset="-120"/>
              </a:rPr>
              <a:t>PHASIC MODE → Implicit Regime</a:t>
            </a:r>
            <a:endParaRPr lang="en-US" sz="1300" dirty="0"/>
          </a:p>
        </p:txBody>
      </p:sp>
      <p:sp>
        <p:nvSpPr>
          <p:cNvPr id="11" name="Text 9"/>
          <p:cNvSpPr/>
          <p:nvPr/>
        </p:nvSpPr>
        <p:spPr>
          <a:xfrm>
            <a:off x="4937760" y="2606040"/>
            <a:ext cx="3383280" cy="1005840"/>
          </a:xfrm>
          <a:prstGeom prst="rect">
            <a:avLst/>
          </a:prstGeom>
          <a:noFill/>
          <a:ln/>
        </p:spPr>
        <p:txBody>
          <a:bodyPr wrap="square" rtlCol="0" anchor="t"/>
          <a:lstStyle/>
          <a:p>
            <a:pPr marL="0" indent="0">
              <a:buNone/>
            </a:pPr>
            <a:r>
              <a:rPr lang="en-US" sz="1200" dirty="0">
                <a:solidFill>
                  <a:srgbClr val="F5F0E8"/>
                </a:solidFill>
                <a:latin typeface="Calibri" pitchFamily="34" charset="0"/>
                <a:ea typeface="Calibri" pitchFamily="34" charset="-122"/>
                <a:cs typeface="Calibri" pitchFamily="34" charset="-120"/>
              </a:rPr>
              <a:t>Burst firing on salient events</a:t>
            </a:r>
            <a:endParaRPr lang="en-US" sz="1200" dirty="0"/>
          </a:p>
          <a:p>
            <a:pPr marL="0" indent="0">
              <a:buNone/>
            </a:pPr>
            <a:r>
              <a:rPr lang="en-US" sz="1200" dirty="0">
                <a:solidFill>
                  <a:srgbClr val="F5F0E8"/>
                </a:solidFill>
                <a:latin typeface="Calibri" pitchFamily="34" charset="0"/>
                <a:ea typeface="Calibri" pitchFamily="34" charset="-122"/>
                <a:cs typeface="Calibri" pitchFamily="34" charset="-120"/>
              </a:rPr>
              <a:t>Global gain reset</a:t>
            </a:r>
            <a:endParaRPr lang="en-US" sz="1200" dirty="0"/>
          </a:p>
          <a:p>
            <a:pPr marL="0" indent="0">
              <a:buNone/>
            </a:pPr>
            <a:r>
              <a:rPr lang="en-US" sz="1200" dirty="0">
                <a:solidFill>
                  <a:srgbClr val="F5F0E8"/>
                </a:solidFill>
                <a:latin typeface="Calibri" pitchFamily="34" charset="0"/>
                <a:ea typeface="Calibri" pitchFamily="34" charset="-122"/>
                <a:cs typeface="Calibri" pitchFamily="34" charset="-120"/>
              </a:rPr>
              <a:t>Collapses workspace representations</a:t>
            </a:r>
            <a:endParaRPr lang="en-US" sz="1200" dirty="0"/>
          </a:p>
          <a:p>
            <a:pPr marL="0" indent="0">
              <a:buNone/>
            </a:pPr>
            <a:r>
              <a:rPr lang="en-US" sz="1200" b="1" dirty="0">
                <a:solidFill>
                  <a:srgbClr val="F5F0E8"/>
                </a:solidFill>
                <a:latin typeface="Calibri" pitchFamily="34" charset="0"/>
                <a:ea typeface="Calibri" pitchFamily="34" charset="-122"/>
                <a:cs typeface="Calibri" pitchFamily="34" charset="-120"/>
              </a:rPr>
              <a:t>Exploration / broad processing</a:t>
            </a:r>
            <a:endParaRPr lang="en-US" sz="1200" dirty="0"/>
          </a:p>
        </p:txBody>
      </p:sp>
      <p:sp>
        <p:nvSpPr>
          <p:cNvPr id="12" name="Shape 10"/>
          <p:cNvSpPr/>
          <p:nvPr/>
        </p:nvSpPr>
        <p:spPr>
          <a:xfrm>
            <a:off x="640080" y="3840480"/>
            <a:ext cx="7863840" cy="731520"/>
          </a:xfrm>
          <a:prstGeom prst="rect">
            <a:avLst/>
          </a:prstGeom>
          <a:solidFill>
            <a:srgbClr val="E8E4DC"/>
          </a:solidFill>
          <a:ln/>
        </p:spPr>
        <p:txBody>
          <a:bodyPr/>
          <a:lstStyle/>
          <a:p>
            <a:endParaRPr lang="en-US"/>
          </a:p>
        </p:txBody>
      </p:sp>
      <p:sp>
        <p:nvSpPr>
          <p:cNvPr id="13" name="Text 11"/>
          <p:cNvSpPr/>
          <p:nvPr/>
        </p:nvSpPr>
        <p:spPr>
          <a:xfrm>
            <a:off x="822960" y="3886200"/>
            <a:ext cx="7498080" cy="64008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Critical point: </a:t>
            </a:r>
            <a:r>
              <a:rPr lang="en-US" sz="1200" dirty="0">
                <a:solidFill>
                  <a:srgbClr val="2C2C2C"/>
                </a:solidFill>
                <a:latin typeface="Calibri" pitchFamily="34" charset="0"/>
                <a:ea typeface="Calibri" pitchFamily="34" charset="-122"/>
                <a:cs typeface="Calibri" pitchFamily="34" charset="-120"/>
              </a:rPr>
              <a:t>Unpredictable environmental events trigger phasic bursts → regime switch. Every salient PE spike is a potential workspace collapse. This is why PE VARIANCE (not mean) is the key variable for explicit processing.</a:t>
            </a:r>
            <a:endParaRPr lang="en-US" sz="1300" dirty="0"/>
          </a:p>
        </p:txBody>
      </p:sp>
      <p:sp>
        <p:nvSpPr>
          <p:cNvPr id="14" name="Text 12"/>
          <p:cNvSpPr/>
          <p:nvPr/>
        </p:nvSpPr>
        <p:spPr>
          <a:xfrm>
            <a:off x="457200" y="4709160"/>
            <a:ext cx="8229600" cy="320040"/>
          </a:xfrm>
          <a:prstGeom prst="rect">
            <a:avLst/>
          </a:prstGeom>
          <a:noFill/>
          <a:ln/>
        </p:spPr>
        <p:txBody>
          <a:bodyPr wrap="square" rtlCol="0" anchor="ctr"/>
          <a:lstStyle/>
          <a:p>
            <a:pPr marL="0" indent="0">
              <a:buNone/>
            </a:pPr>
            <a:r>
              <a:rPr lang="en-US" sz="900" dirty="0">
                <a:solidFill>
                  <a:srgbClr val="8B8680"/>
                </a:solidFill>
                <a:latin typeface="Calibri" pitchFamily="34" charset="0"/>
                <a:ea typeface="Calibri" pitchFamily="34" charset="-122"/>
                <a:cs typeface="Calibri" pitchFamily="34" charset="-120"/>
              </a:rPr>
              <a:t>Kirsh — Two Regimes | Clark Lab, 5/10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5B3A6B"/>
          </a:solidFill>
          <a:ln/>
        </p:spPr>
        <p:txBody>
          <a:bodyPr/>
          <a:lstStyle/>
          <a:p>
            <a:endParaRPr lang="en-US"/>
          </a:p>
        </p:txBody>
      </p:sp>
      <p:sp>
        <p:nvSpPr>
          <p:cNvPr id="3" name="Text 1"/>
          <p:cNvSpPr/>
          <p:nvPr/>
        </p:nvSpPr>
        <p:spPr>
          <a:xfrm>
            <a:off x="457200" y="0"/>
            <a:ext cx="822960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ARCHITECTURAL IMPLICATIONS</a:t>
            </a:r>
            <a:endParaRPr lang="en-US" sz="1000" dirty="0"/>
          </a:p>
        </p:txBody>
      </p:sp>
      <p:sp>
        <p:nvSpPr>
          <p:cNvPr id="4" name="Text 2"/>
          <p:cNvSpPr/>
          <p:nvPr/>
        </p:nvSpPr>
        <p:spPr>
          <a:xfrm>
            <a:off x="640080" y="548640"/>
            <a:ext cx="7863840" cy="731520"/>
          </a:xfrm>
          <a:prstGeom prst="rect">
            <a:avLst/>
          </a:prstGeom>
          <a:noFill/>
          <a:ln/>
        </p:spPr>
        <p:txBody>
          <a:bodyPr wrap="square" rtlCol="0" anchor="ctr"/>
          <a:lstStyle/>
          <a:p>
            <a:pPr marL="0" indent="0">
              <a:buNone/>
            </a:pPr>
            <a:r>
              <a:rPr lang="en-US" sz="2600" b="1" dirty="0">
                <a:solidFill>
                  <a:srgbClr val="1B2A4A"/>
                </a:solidFill>
                <a:latin typeface="Georgia" pitchFamily="34" charset="0"/>
                <a:ea typeface="Georgia" pitchFamily="34" charset="-122"/>
                <a:cs typeface="Georgia" pitchFamily="34" charset="-120"/>
              </a:rPr>
              <a:t>What the Two-Regime Framework</a:t>
            </a:r>
            <a:endParaRPr lang="en-US" sz="2600" dirty="0"/>
          </a:p>
          <a:p>
            <a:pPr marL="0" indent="0">
              <a:buNone/>
            </a:pPr>
            <a:r>
              <a:rPr lang="en-US" sz="2600" b="1" dirty="0">
                <a:solidFill>
                  <a:srgbClr val="1B2A4A"/>
                </a:solidFill>
                <a:latin typeface="Georgia" pitchFamily="34" charset="0"/>
                <a:ea typeface="Georgia" pitchFamily="34" charset="-122"/>
                <a:cs typeface="Georgia" pitchFamily="34" charset="-120"/>
              </a:rPr>
              <a:t>Explains That PP Alone Doesn't</a:t>
            </a:r>
            <a:endParaRPr lang="en-US" sz="2600" dirty="0"/>
          </a:p>
        </p:txBody>
      </p:sp>
      <p:sp>
        <p:nvSpPr>
          <p:cNvPr id="5" name="Shape 3"/>
          <p:cNvSpPr/>
          <p:nvPr/>
        </p:nvSpPr>
        <p:spPr>
          <a:xfrm>
            <a:off x="640080" y="1463040"/>
            <a:ext cx="73152" cy="685800"/>
          </a:xfrm>
          <a:prstGeom prst="rect">
            <a:avLst/>
          </a:prstGeom>
          <a:solidFill>
            <a:srgbClr val="2A6F7A"/>
          </a:solidFill>
          <a:ln/>
        </p:spPr>
        <p:txBody>
          <a:bodyPr/>
          <a:lstStyle/>
          <a:p>
            <a:endParaRPr lang="en-US"/>
          </a:p>
        </p:txBody>
      </p:sp>
      <p:sp>
        <p:nvSpPr>
          <p:cNvPr id="6" name="Text 4"/>
          <p:cNvSpPr/>
          <p:nvPr/>
        </p:nvSpPr>
        <p:spPr>
          <a:xfrm>
            <a:off x="914400" y="1463040"/>
            <a:ext cx="2743200" cy="68580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Why are cafes good for writing?</a:t>
            </a:r>
            <a:endParaRPr lang="en-US" sz="1100" dirty="0"/>
          </a:p>
        </p:txBody>
      </p:sp>
      <p:sp>
        <p:nvSpPr>
          <p:cNvPr id="7" name="Text 5"/>
          <p:cNvSpPr/>
          <p:nvPr/>
        </p:nvSpPr>
        <p:spPr>
          <a:xfrm>
            <a:off x="3749040" y="1463040"/>
            <a:ext cx="4846320" cy="6858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Steady babble = LOW PE variance (explicit OK) + moderate PE mean (implicit happy). Goldilocks + stability simultaneously.</a:t>
            </a:r>
            <a:endParaRPr lang="en-US" sz="1000" dirty="0"/>
          </a:p>
        </p:txBody>
      </p:sp>
      <p:sp>
        <p:nvSpPr>
          <p:cNvPr id="8" name="Shape 6"/>
          <p:cNvSpPr/>
          <p:nvPr/>
        </p:nvSpPr>
        <p:spPr>
          <a:xfrm>
            <a:off x="640080" y="2267712"/>
            <a:ext cx="73152" cy="685800"/>
          </a:xfrm>
          <a:prstGeom prst="rect">
            <a:avLst/>
          </a:prstGeom>
          <a:solidFill>
            <a:srgbClr val="1B2A4A"/>
          </a:solidFill>
          <a:ln/>
        </p:spPr>
        <p:txBody>
          <a:bodyPr/>
          <a:lstStyle/>
          <a:p>
            <a:endParaRPr lang="en-US"/>
          </a:p>
        </p:txBody>
      </p:sp>
      <p:sp>
        <p:nvSpPr>
          <p:cNvPr id="9" name="Text 7"/>
          <p:cNvSpPr/>
          <p:nvPr/>
        </p:nvSpPr>
        <p:spPr>
          <a:xfrm>
            <a:off x="914400" y="2267712"/>
            <a:ext cx="2743200" cy="68580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Why do open offices kill focus</a:t>
            </a:r>
            <a:endParaRPr lang="en-US" sz="1100" dirty="0"/>
          </a:p>
          <a:p>
            <a:pPr marL="0" indent="0">
              <a:buNone/>
            </a:pPr>
            <a:r>
              <a:rPr lang="en-US" sz="1100" b="1" dirty="0">
                <a:solidFill>
                  <a:srgbClr val="1B2A4A"/>
                </a:solidFill>
                <a:latin typeface="Calibri" pitchFamily="34" charset="0"/>
                <a:ea typeface="Calibri" pitchFamily="34" charset="-122"/>
                <a:cs typeface="Calibri" pitchFamily="34" charset="-120"/>
              </a:rPr>
              <a:t>but seem fine for casual tasks?</a:t>
            </a:r>
            <a:endParaRPr lang="en-US" sz="1100" dirty="0"/>
          </a:p>
        </p:txBody>
      </p:sp>
      <p:sp>
        <p:nvSpPr>
          <p:cNvPr id="10" name="Text 8"/>
          <p:cNvSpPr/>
          <p:nvPr/>
        </p:nvSpPr>
        <p:spPr>
          <a:xfrm>
            <a:off x="3749040" y="2267712"/>
            <a:ext cx="4846320" cy="6858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Open plans = HIGH PE variance (explicit regime collapses) but moderate PE mean (implicit regime is in Goldilocks zone). Fine for browsing email, fatal for writing code.</a:t>
            </a:r>
            <a:endParaRPr lang="en-US" sz="1000" dirty="0"/>
          </a:p>
        </p:txBody>
      </p:sp>
      <p:sp>
        <p:nvSpPr>
          <p:cNvPr id="11" name="Shape 9"/>
          <p:cNvSpPr/>
          <p:nvPr/>
        </p:nvSpPr>
        <p:spPr>
          <a:xfrm>
            <a:off x="640080" y="3072384"/>
            <a:ext cx="73152" cy="685800"/>
          </a:xfrm>
          <a:prstGeom prst="rect">
            <a:avLst/>
          </a:prstGeom>
          <a:solidFill>
            <a:srgbClr val="5B3A6B"/>
          </a:solidFill>
          <a:ln/>
        </p:spPr>
        <p:txBody>
          <a:bodyPr/>
          <a:lstStyle/>
          <a:p>
            <a:endParaRPr lang="en-US"/>
          </a:p>
        </p:txBody>
      </p:sp>
      <p:sp>
        <p:nvSpPr>
          <p:cNvPr id="12" name="Text 10"/>
          <p:cNvSpPr/>
          <p:nvPr/>
        </p:nvSpPr>
        <p:spPr>
          <a:xfrm>
            <a:off x="914400" y="3072384"/>
            <a:ext cx="2743200" cy="68580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Why do translucent partitions</a:t>
            </a:r>
            <a:endParaRPr lang="en-US" sz="1100" dirty="0"/>
          </a:p>
          <a:p>
            <a:pPr marL="0" indent="0">
              <a:buNone/>
            </a:pPr>
            <a:r>
              <a:rPr lang="en-US" sz="1100" b="1" dirty="0">
                <a:solidFill>
                  <a:srgbClr val="1B2A4A"/>
                </a:solidFill>
                <a:latin typeface="Calibri" pitchFamily="34" charset="0"/>
                <a:ea typeface="Calibri" pitchFamily="34" charset="-122"/>
                <a:cs typeface="Calibri" pitchFamily="34" charset="-120"/>
              </a:rPr>
              <a:t>fail where opaque ones succeed?</a:t>
            </a:r>
            <a:endParaRPr lang="en-US" sz="1100" dirty="0"/>
          </a:p>
        </p:txBody>
      </p:sp>
      <p:sp>
        <p:nvSpPr>
          <p:cNvPr id="13" name="Text 11"/>
          <p:cNvSpPr/>
          <p:nvPr/>
        </p:nvSpPr>
        <p:spPr>
          <a:xfrm>
            <a:off x="3749040" y="3072384"/>
            <a:ext cx="4846320" cy="6858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Translucent = visible movement triggers CONFLICT MONITORING even if you don't look. Costs are subthreshold but cumulative. Opaque = zero conflict events.</a:t>
            </a:r>
            <a:endParaRPr lang="en-US" sz="1000" dirty="0"/>
          </a:p>
        </p:txBody>
      </p:sp>
      <p:sp>
        <p:nvSpPr>
          <p:cNvPr id="14" name="Shape 12"/>
          <p:cNvSpPr/>
          <p:nvPr/>
        </p:nvSpPr>
        <p:spPr>
          <a:xfrm>
            <a:off x="640080" y="3877056"/>
            <a:ext cx="73152" cy="685800"/>
          </a:xfrm>
          <a:prstGeom prst="rect">
            <a:avLst/>
          </a:prstGeom>
          <a:solidFill>
            <a:srgbClr val="7BA393"/>
          </a:solidFill>
          <a:ln/>
        </p:spPr>
        <p:txBody>
          <a:bodyPr/>
          <a:lstStyle/>
          <a:p>
            <a:endParaRPr lang="en-US"/>
          </a:p>
        </p:txBody>
      </p:sp>
      <p:sp>
        <p:nvSpPr>
          <p:cNvPr id="15" name="Text 13"/>
          <p:cNvSpPr/>
          <p:nvPr/>
        </p:nvSpPr>
        <p:spPr>
          <a:xfrm>
            <a:off x="914400" y="3877056"/>
            <a:ext cx="2743200" cy="68580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Why does personal control help</a:t>
            </a:r>
            <a:endParaRPr lang="en-US" sz="1100" dirty="0"/>
          </a:p>
          <a:p>
            <a:pPr marL="0" indent="0">
              <a:buNone/>
            </a:pPr>
            <a:r>
              <a:rPr lang="en-US" sz="1100" b="1" dirty="0">
                <a:solidFill>
                  <a:srgbClr val="1B2A4A"/>
                </a:solidFill>
                <a:latin typeface="Calibri" pitchFamily="34" charset="0"/>
                <a:ea typeface="Calibri" pitchFamily="34" charset="-122"/>
                <a:cs typeface="Calibri" pitchFamily="34" charset="-120"/>
              </a:rPr>
              <a:t>more than just satisfaction?</a:t>
            </a:r>
            <a:endParaRPr lang="en-US" sz="1100" dirty="0"/>
          </a:p>
        </p:txBody>
      </p:sp>
      <p:sp>
        <p:nvSpPr>
          <p:cNvPr id="16" name="Text 14"/>
          <p:cNvSpPr/>
          <p:nvPr/>
        </p:nvSpPr>
        <p:spPr>
          <a:xfrm>
            <a:off x="3749040" y="3877056"/>
            <a:ext cx="4846320" cy="6858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Self-generated changes have NEAR-ZERO PE (predicted by motor command). External changes have HIGH PE. Control reduces PE VARIANCE specifically — protects explicit regime.</a:t>
            </a:r>
            <a:endParaRPr lang="en-US" sz="1000" dirty="0"/>
          </a:p>
        </p:txBody>
      </p:sp>
      <p:sp>
        <p:nvSpPr>
          <p:cNvPr id="17" name="Text 15"/>
          <p:cNvSpPr/>
          <p:nvPr/>
        </p:nvSpPr>
        <p:spPr>
          <a:xfrm>
            <a:off x="640080" y="4663440"/>
            <a:ext cx="7863840" cy="274320"/>
          </a:xfrm>
          <a:prstGeom prst="rect">
            <a:avLst/>
          </a:prstGeom>
          <a:noFill/>
          <a:ln/>
        </p:spPr>
        <p:txBody>
          <a:bodyPr wrap="square" rtlCol="0" anchor="ctr"/>
          <a:lstStyle/>
          <a:p>
            <a:pPr marL="0" indent="0">
              <a:buNone/>
            </a:pPr>
            <a:r>
              <a:rPr lang="en-US" sz="1100" i="1" dirty="0">
                <a:solidFill>
                  <a:srgbClr val="B85042"/>
                </a:solidFill>
                <a:latin typeface="Calibri" pitchFamily="34" charset="0"/>
                <a:ea typeface="Calibri" pitchFamily="34" charset="-122"/>
                <a:cs typeface="Calibri" pitchFamily="34" charset="-120"/>
              </a:rPr>
              <a:t>Each of these requires the mean/variance distinction. Standard PP (minimize PE) can't explain them.</a:t>
            </a:r>
            <a:endParaRPr lang="en-US" sz="1100" dirty="0"/>
          </a:p>
        </p:txBody>
      </p:sp>
      <p:sp>
        <p:nvSpPr>
          <p:cNvPr id="18" name="Text 16"/>
          <p:cNvSpPr/>
          <p:nvPr/>
        </p:nvSpPr>
        <p:spPr>
          <a:xfrm>
            <a:off x="457200" y="4709160"/>
            <a:ext cx="8229600" cy="320040"/>
          </a:xfrm>
          <a:prstGeom prst="rect">
            <a:avLst/>
          </a:prstGeom>
          <a:noFill/>
          <a:ln/>
        </p:spPr>
        <p:txBody>
          <a:bodyPr wrap="square" rtlCol="0" anchor="ctr"/>
          <a:lstStyle/>
          <a:p>
            <a:pPr marL="0" indent="0">
              <a:buNone/>
            </a:pPr>
            <a:r>
              <a:rPr lang="en-US" sz="900" dirty="0">
                <a:solidFill>
                  <a:srgbClr val="8B8680"/>
                </a:solidFill>
                <a:latin typeface="Calibri" pitchFamily="34" charset="0"/>
                <a:ea typeface="Calibri" pitchFamily="34" charset="-122"/>
                <a:cs typeface="Calibri" pitchFamily="34" charset="-120"/>
              </a:rPr>
              <a:t>Kirsh — Two Regimes | Clark Lab, 6/10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5B3A6B"/>
          </a:solidFill>
          <a:ln/>
        </p:spPr>
        <p:txBody>
          <a:bodyPr/>
          <a:lstStyle/>
          <a:p>
            <a:endParaRPr lang="en-US"/>
          </a:p>
        </p:txBody>
      </p:sp>
      <p:sp>
        <p:nvSpPr>
          <p:cNvPr id="3" name="Text 1"/>
          <p:cNvSpPr/>
          <p:nvPr/>
        </p:nvSpPr>
        <p:spPr>
          <a:xfrm>
            <a:off x="457200" y="0"/>
            <a:ext cx="822960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INTERRUPTION THEORY</a:t>
            </a:r>
            <a:endParaRPr lang="en-US" sz="1000" dirty="0"/>
          </a:p>
        </p:txBody>
      </p:sp>
      <p:sp>
        <p:nvSpPr>
          <p:cNvPr id="4" name="Text 2"/>
          <p:cNvSpPr/>
          <p:nvPr/>
        </p:nvSpPr>
        <p:spPr>
          <a:xfrm>
            <a:off x="640080" y="548640"/>
            <a:ext cx="7863840" cy="731520"/>
          </a:xfrm>
          <a:prstGeom prst="rect">
            <a:avLst/>
          </a:prstGeom>
          <a:noFill/>
          <a:ln/>
        </p:spPr>
        <p:txBody>
          <a:bodyPr wrap="square" rtlCol="0" anchor="ctr"/>
          <a:lstStyle/>
          <a:p>
            <a:pPr marL="0" indent="0">
              <a:buNone/>
            </a:pPr>
            <a:r>
              <a:rPr lang="en-US" sz="2600" b="1" dirty="0">
                <a:solidFill>
                  <a:srgbClr val="1B2A4A"/>
                </a:solidFill>
                <a:latin typeface="Georgia" pitchFamily="34" charset="0"/>
                <a:ea typeface="Georgia" pitchFamily="34" charset="-122"/>
                <a:cs typeface="Georgia" pitchFamily="34" charset="-120"/>
              </a:rPr>
              <a:t>Three Types of Interruption,</a:t>
            </a:r>
            <a:endParaRPr lang="en-US" sz="2600" dirty="0"/>
          </a:p>
          <a:p>
            <a:pPr marL="0" indent="0">
              <a:buNone/>
            </a:pPr>
            <a:r>
              <a:rPr lang="en-US" sz="2600" b="1" dirty="0">
                <a:solidFill>
                  <a:srgbClr val="1B2A4A"/>
                </a:solidFill>
                <a:latin typeface="Georgia" pitchFamily="34" charset="0"/>
                <a:ea typeface="Georgia" pitchFamily="34" charset="-122"/>
                <a:cs typeface="Georgia" pitchFamily="34" charset="-120"/>
              </a:rPr>
              <a:t>Three Mechanisms</a:t>
            </a:r>
            <a:endParaRPr lang="en-US" sz="2600" dirty="0"/>
          </a:p>
        </p:txBody>
      </p:sp>
      <p:sp>
        <p:nvSpPr>
          <p:cNvPr id="5" name="Shape 3"/>
          <p:cNvSpPr/>
          <p:nvPr/>
        </p:nvSpPr>
        <p:spPr>
          <a:xfrm>
            <a:off x="640080" y="1463040"/>
            <a:ext cx="1097280" cy="914400"/>
          </a:xfrm>
          <a:prstGeom prst="rect">
            <a:avLst/>
          </a:prstGeom>
          <a:solidFill>
            <a:srgbClr val="2A6F7A"/>
          </a:solidFill>
          <a:ln/>
        </p:spPr>
        <p:txBody>
          <a:bodyPr/>
          <a:lstStyle/>
          <a:p>
            <a:endParaRPr lang="en-US"/>
          </a:p>
        </p:txBody>
      </p:sp>
      <p:sp>
        <p:nvSpPr>
          <p:cNvPr id="6" name="Text 4"/>
          <p:cNvSpPr/>
          <p:nvPr/>
        </p:nvSpPr>
        <p:spPr>
          <a:xfrm>
            <a:off x="640080" y="1463040"/>
            <a:ext cx="1097280" cy="411480"/>
          </a:xfrm>
          <a:prstGeom prst="rect">
            <a:avLst/>
          </a:prstGeom>
          <a:noFill/>
          <a:ln/>
        </p:spPr>
        <p:txBody>
          <a:bodyPr wrap="square" rtlCol="0" anchor="b"/>
          <a:lstStyle/>
          <a:p>
            <a:pPr marL="0" indent="0" algn="ctr">
              <a:buNone/>
            </a:pPr>
            <a:r>
              <a:rPr lang="en-US" sz="1400" b="1" dirty="0">
                <a:solidFill>
                  <a:srgbClr val="FFFFFF"/>
                </a:solidFill>
                <a:latin typeface="Calibri" pitchFamily="34" charset="0"/>
                <a:ea typeface="Calibri" pitchFamily="34" charset="-122"/>
                <a:cs typeface="Calibri" pitchFamily="34" charset="-120"/>
              </a:rPr>
              <a:t>Type 1</a:t>
            </a:r>
            <a:endParaRPr lang="en-US" sz="1400" dirty="0"/>
          </a:p>
        </p:txBody>
      </p:sp>
      <p:sp>
        <p:nvSpPr>
          <p:cNvPr id="7" name="Text 5"/>
          <p:cNvSpPr/>
          <p:nvPr/>
        </p:nvSpPr>
        <p:spPr>
          <a:xfrm>
            <a:off x="640080" y="1828800"/>
            <a:ext cx="1097280" cy="502920"/>
          </a:xfrm>
          <a:prstGeom prst="rect">
            <a:avLst/>
          </a:prstGeom>
          <a:noFill/>
          <a:ln/>
        </p:spPr>
        <p:txBody>
          <a:bodyPr wrap="square" rtlCol="0" anchor="t"/>
          <a:lstStyle/>
          <a:p>
            <a:pPr marL="0" indent="0" algn="ctr">
              <a:buNone/>
            </a:pPr>
            <a:r>
              <a:rPr lang="en-US" sz="900" dirty="0">
                <a:solidFill>
                  <a:srgbClr val="F5F0E8"/>
                </a:solidFill>
                <a:latin typeface="Calibri" pitchFamily="34" charset="0"/>
                <a:ea typeface="Calibri" pitchFamily="34" charset="-122"/>
                <a:cs typeface="Calibri" pitchFamily="34" charset="-120"/>
              </a:rPr>
              <a:t>Phasic Environmental</a:t>
            </a:r>
            <a:endParaRPr lang="en-US" sz="900" dirty="0"/>
          </a:p>
        </p:txBody>
      </p:sp>
      <p:sp>
        <p:nvSpPr>
          <p:cNvPr id="8" name="Text 6"/>
          <p:cNvSpPr/>
          <p:nvPr/>
        </p:nvSpPr>
        <p:spPr>
          <a:xfrm>
            <a:off x="1920240" y="1463040"/>
            <a:ext cx="2194560" cy="91440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Sudden sound, movement, door opening</a:t>
            </a:r>
            <a:endParaRPr lang="en-US" sz="1100" dirty="0"/>
          </a:p>
        </p:txBody>
      </p:sp>
      <p:sp>
        <p:nvSpPr>
          <p:cNvPr id="9" name="Text 7"/>
          <p:cNvSpPr/>
          <p:nvPr/>
        </p:nvSpPr>
        <p:spPr>
          <a:xfrm>
            <a:off x="4206240" y="1463040"/>
            <a:ext cx="4389120" cy="9144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Triggers LC-NE burst → global precision reset → workspace collapse.</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Recovery: 10-23 min. Fragility highest during first 5 min of construction.</a:t>
            </a:r>
            <a:endParaRPr lang="en-US" sz="1000" dirty="0"/>
          </a:p>
        </p:txBody>
      </p:sp>
      <p:sp>
        <p:nvSpPr>
          <p:cNvPr id="10" name="Shape 8"/>
          <p:cNvSpPr/>
          <p:nvPr/>
        </p:nvSpPr>
        <p:spPr>
          <a:xfrm>
            <a:off x="640080" y="2514600"/>
            <a:ext cx="1097280" cy="914400"/>
          </a:xfrm>
          <a:prstGeom prst="rect">
            <a:avLst/>
          </a:prstGeom>
          <a:solidFill>
            <a:srgbClr val="1B2A4A"/>
          </a:solidFill>
          <a:ln/>
        </p:spPr>
        <p:txBody>
          <a:bodyPr/>
          <a:lstStyle/>
          <a:p>
            <a:endParaRPr lang="en-US"/>
          </a:p>
        </p:txBody>
      </p:sp>
      <p:sp>
        <p:nvSpPr>
          <p:cNvPr id="11" name="Text 9"/>
          <p:cNvSpPr/>
          <p:nvPr/>
        </p:nvSpPr>
        <p:spPr>
          <a:xfrm>
            <a:off x="640080" y="2514600"/>
            <a:ext cx="1097280" cy="411480"/>
          </a:xfrm>
          <a:prstGeom prst="rect">
            <a:avLst/>
          </a:prstGeom>
          <a:noFill/>
          <a:ln/>
        </p:spPr>
        <p:txBody>
          <a:bodyPr wrap="square" rtlCol="0" anchor="b"/>
          <a:lstStyle/>
          <a:p>
            <a:pPr marL="0" indent="0" algn="ctr">
              <a:buNone/>
            </a:pPr>
            <a:r>
              <a:rPr lang="en-US" sz="1400" b="1" dirty="0">
                <a:solidFill>
                  <a:srgbClr val="FFFFFF"/>
                </a:solidFill>
                <a:latin typeface="Calibri" pitchFamily="34" charset="0"/>
                <a:ea typeface="Calibri" pitchFamily="34" charset="-122"/>
                <a:cs typeface="Calibri" pitchFamily="34" charset="-120"/>
              </a:rPr>
              <a:t>Type 2</a:t>
            </a:r>
            <a:endParaRPr lang="en-US" sz="1400" dirty="0"/>
          </a:p>
        </p:txBody>
      </p:sp>
      <p:sp>
        <p:nvSpPr>
          <p:cNvPr id="12" name="Text 10"/>
          <p:cNvSpPr/>
          <p:nvPr/>
        </p:nvSpPr>
        <p:spPr>
          <a:xfrm>
            <a:off x="640080" y="2880360"/>
            <a:ext cx="1097280" cy="502920"/>
          </a:xfrm>
          <a:prstGeom prst="rect">
            <a:avLst/>
          </a:prstGeom>
          <a:noFill/>
          <a:ln/>
        </p:spPr>
        <p:txBody>
          <a:bodyPr wrap="square" rtlCol="0" anchor="t"/>
          <a:lstStyle/>
          <a:p>
            <a:pPr marL="0" indent="0" algn="ctr">
              <a:buNone/>
            </a:pPr>
            <a:r>
              <a:rPr lang="en-US" sz="900" dirty="0">
                <a:solidFill>
                  <a:srgbClr val="F5F0E8"/>
                </a:solidFill>
                <a:latin typeface="Calibri" pitchFamily="34" charset="0"/>
                <a:ea typeface="Calibri" pitchFamily="34" charset="-122"/>
                <a:cs typeface="Calibri" pitchFamily="34" charset="-120"/>
              </a:rPr>
              <a:t>Semantic Intrusion</a:t>
            </a:r>
            <a:endParaRPr lang="en-US" sz="900" dirty="0"/>
          </a:p>
        </p:txBody>
      </p:sp>
      <p:sp>
        <p:nvSpPr>
          <p:cNvPr id="13" name="Text 11"/>
          <p:cNvSpPr/>
          <p:nvPr/>
        </p:nvSpPr>
        <p:spPr>
          <a:xfrm>
            <a:off x="1920240" y="2514600"/>
            <a:ext cx="2194560" cy="91440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Overheard speech about related topic</a:t>
            </a:r>
            <a:endParaRPr lang="en-US" sz="1100" dirty="0"/>
          </a:p>
        </p:txBody>
      </p:sp>
      <p:sp>
        <p:nvSpPr>
          <p:cNvPr id="14" name="Text 12"/>
          <p:cNvSpPr/>
          <p:nvPr/>
        </p:nvSpPr>
        <p:spPr>
          <a:xfrm>
            <a:off x="4206240" y="2514600"/>
            <a:ext cx="4389120" cy="9144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Obligatory semantic processing creates competing compositional content.</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WORSE than Type 1 — intruding content is structured, creates interference.</a:t>
            </a:r>
            <a:endParaRPr lang="en-US" sz="1000" dirty="0"/>
          </a:p>
        </p:txBody>
      </p:sp>
      <p:sp>
        <p:nvSpPr>
          <p:cNvPr id="15" name="Shape 13"/>
          <p:cNvSpPr/>
          <p:nvPr/>
        </p:nvSpPr>
        <p:spPr>
          <a:xfrm>
            <a:off x="640080" y="3566160"/>
            <a:ext cx="1097280" cy="914400"/>
          </a:xfrm>
          <a:prstGeom prst="rect">
            <a:avLst/>
          </a:prstGeom>
          <a:solidFill>
            <a:srgbClr val="5B3A6B"/>
          </a:solidFill>
          <a:ln/>
        </p:spPr>
        <p:txBody>
          <a:bodyPr/>
          <a:lstStyle/>
          <a:p>
            <a:endParaRPr lang="en-US"/>
          </a:p>
        </p:txBody>
      </p:sp>
      <p:sp>
        <p:nvSpPr>
          <p:cNvPr id="16" name="Text 14"/>
          <p:cNvSpPr/>
          <p:nvPr/>
        </p:nvSpPr>
        <p:spPr>
          <a:xfrm>
            <a:off x="640080" y="3566160"/>
            <a:ext cx="1097280" cy="411480"/>
          </a:xfrm>
          <a:prstGeom prst="rect">
            <a:avLst/>
          </a:prstGeom>
          <a:noFill/>
          <a:ln/>
        </p:spPr>
        <p:txBody>
          <a:bodyPr wrap="square" rtlCol="0" anchor="b"/>
          <a:lstStyle/>
          <a:p>
            <a:pPr marL="0" indent="0" algn="ctr">
              <a:buNone/>
            </a:pPr>
            <a:r>
              <a:rPr lang="en-US" sz="1400" b="1" dirty="0">
                <a:solidFill>
                  <a:srgbClr val="FFFFFF"/>
                </a:solidFill>
                <a:latin typeface="Calibri" pitchFamily="34" charset="0"/>
                <a:ea typeface="Calibri" pitchFamily="34" charset="-122"/>
                <a:cs typeface="Calibri" pitchFamily="34" charset="-120"/>
              </a:rPr>
              <a:t>Type 3</a:t>
            </a:r>
            <a:endParaRPr lang="en-US" sz="1400" dirty="0"/>
          </a:p>
        </p:txBody>
      </p:sp>
      <p:sp>
        <p:nvSpPr>
          <p:cNvPr id="17" name="Text 15"/>
          <p:cNvSpPr/>
          <p:nvPr/>
        </p:nvSpPr>
        <p:spPr>
          <a:xfrm>
            <a:off x="640080" y="3931920"/>
            <a:ext cx="1097280" cy="502920"/>
          </a:xfrm>
          <a:prstGeom prst="rect">
            <a:avLst/>
          </a:prstGeom>
          <a:noFill/>
          <a:ln/>
        </p:spPr>
        <p:txBody>
          <a:bodyPr wrap="square" rtlCol="0" anchor="t"/>
          <a:lstStyle/>
          <a:p>
            <a:pPr marL="0" indent="0" algn="ctr">
              <a:buNone/>
            </a:pPr>
            <a:r>
              <a:rPr lang="en-US" sz="900" dirty="0">
                <a:solidFill>
                  <a:srgbClr val="F5F0E8"/>
                </a:solidFill>
                <a:latin typeface="Calibri" pitchFamily="34" charset="0"/>
                <a:ea typeface="Calibri" pitchFamily="34" charset="-122"/>
                <a:cs typeface="Calibri" pitchFamily="34" charset="-120"/>
              </a:rPr>
              <a:t>Social Interruption</a:t>
            </a:r>
            <a:endParaRPr lang="en-US" sz="900" dirty="0"/>
          </a:p>
        </p:txBody>
      </p:sp>
      <p:sp>
        <p:nvSpPr>
          <p:cNvPr id="18" name="Text 16"/>
          <p:cNvSpPr/>
          <p:nvPr/>
        </p:nvSpPr>
        <p:spPr>
          <a:xfrm>
            <a:off x="1920240" y="3566160"/>
            <a:ext cx="2194560" cy="91440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Colleague approaches, tap on shoulder</a:t>
            </a:r>
            <a:endParaRPr lang="en-US" sz="1100" dirty="0"/>
          </a:p>
        </p:txBody>
      </p:sp>
      <p:sp>
        <p:nvSpPr>
          <p:cNvPr id="19" name="Text 17"/>
          <p:cNvSpPr/>
          <p:nvPr/>
        </p:nvSpPr>
        <p:spPr>
          <a:xfrm>
            <a:off x="4206240" y="3566160"/>
            <a:ext cx="4389120" cy="9144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Four-way demand: perceptual + language + social-cognitive + response.</a:t>
            </a:r>
            <a:endParaRPr lang="en-US" sz="1000" dirty="0"/>
          </a:p>
          <a:p>
            <a:pPr marL="0" indent="0">
              <a:buNone/>
            </a:pPr>
            <a:r>
              <a:rPr lang="en-US" sz="1000" dirty="0">
                <a:solidFill>
                  <a:srgbClr val="2C2C2C"/>
                </a:solidFill>
                <a:latin typeface="Calibri" pitchFamily="34" charset="0"/>
                <a:ea typeface="Calibri" pitchFamily="34" charset="-122"/>
                <a:cs typeface="Calibri" pitchFamily="34" charset="-120"/>
              </a:rPr>
              <a:t>Social stimuli get mandatory high precision (Frith &amp; Frith, 2006).</a:t>
            </a:r>
            <a:endParaRPr lang="en-US" sz="1000" dirty="0"/>
          </a:p>
        </p:txBody>
      </p:sp>
      <p:sp>
        <p:nvSpPr>
          <p:cNvPr id="20" name="Text 18"/>
          <p:cNvSpPr/>
          <p:nvPr/>
        </p:nvSpPr>
        <p:spPr>
          <a:xfrm>
            <a:off x="640080" y="4572000"/>
            <a:ext cx="7863840" cy="411480"/>
          </a:xfrm>
          <a:prstGeom prst="rect">
            <a:avLst/>
          </a:prstGeom>
          <a:noFill/>
          <a:ln/>
        </p:spPr>
        <p:txBody>
          <a:bodyPr wrap="square" rtlCol="0" anchor="ctr"/>
          <a:lstStyle/>
          <a:p>
            <a:pPr marL="0" indent="0">
              <a:buNone/>
            </a:pPr>
            <a:r>
              <a:rPr lang="en-US" sz="1000" i="1" dirty="0">
                <a:solidFill>
                  <a:srgbClr val="B85042"/>
                </a:solidFill>
                <a:latin typeface="Calibri" pitchFamily="34" charset="0"/>
                <a:ea typeface="Calibri" pitchFamily="34" charset="-122"/>
                <a:cs typeface="Calibri" pitchFamily="34" charset="-120"/>
              </a:rPr>
              <a:t>Open offices produce all three types simultaneously. This is the mechanistic explanation for Bernstein &amp; Turban's 70% reduction in face-to-face interaction — people WITHDRAW to protect their workspace.</a:t>
            </a:r>
            <a:endParaRPr lang="en-US" sz="1000" dirty="0"/>
          </a:p>
        </p:txBody>
      </p:sp>
      <p:sp>
        <p:nvSpPr>
          <p:cNvPr id="21" name="Text 19"/>
          <p:cNvSpPr/>
          <p:nvPr/>
        </p:nvSpPr>
        <p:spPr>
          <a:xfrm>
            <a:off x="457200" y="4709160"/>
            <a:ext cx="8229600" cy="320040"/>
          </a:xfrm>
          <a:prstGeom prst="rect">
            <a:avLst/>
          </a:prstGeom>
          <a:noFill/>
          <a:ln/>
        </p:spPr>
        <p:txBody>
          <a:bodyPr wrap="square" rtlCol="0" anchor="ctr"/>
          <a:lstStyle/>
          <a:p>
            <a:pPr marL="0" indent="0">
              <a:buNone/>
            </a:pPr>
            <a:r>
              <a:rPr lang="en-US" sz="900" dirty="0">
                <a:solidFill>
                  <a:srgbClr val="8B8680"/>
                </a:solidFill>
                <a:latin typeface="Calibri" pitchFamily="34" charset="0"/>
                <a:ea typeface="Calibri" pitchFamily="34" charset="-122"/>
                <a:cs typeface="Calibri" pitchFamily="34" charset="-120"/>
              </a:rPr>
              <a:t>Kirsh — Two Regimes | Clark Lab, 7/10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5B3A6B"/>
          </a:solidFill>
          <a:ln/>
        </p:spPr>
        <p:txBody>
          <a:bodyPr/>
          <a:lstStyle/>
          <a:p>
            <a:endParaRPr lang="en-US"/>
          </a:p>
        </p:txBody>
      </p:sp>
      <p:sp>
        <p:nvSpPr>
          <p:cNvPr id="3" name="Text 1"/>
          <p:cNvSpPr/>
          <p:nvPr/>
        </p:nvSpPr>
        <p:spPr>
          <a:xfrm>
            <a:off x="457200" y="0"/>
            <a:ext cx="822960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THE FRAGILITY CURVE</a:t>
            </a:r>
            <a:endParaRPr lang="en-US" sz="1000" dirty="0"/>
          </a:p>
        </p:txBody>
      </p:sp>
      <p:sp>
        <p:nvSpPr>
          <p:cNvPr id="4" name="Text 2"/>
          <p:cNvSpPr/>
          <p:nvPr/>
        </p:nvSpPr>
        <p:spPr>
          <a:xfrm>
            <a:off x="640080" y="548640"/>
            <a:ext cx="7863840" cy="731520"/>
          </a:xfrm>
          <a:prstGeom prst="rect">
            <a:avLst/>
          </a:prstGeom>
          <a:noFill/>
          <a:ln/>
        </p:spPr>
        <p:txBody>
          <a:bodyPr wrap="square" rtlCol="0" anchor="ctr"/>
          <a:lstStyle/>
          <a:p>
            <a:pPr marL="0" indent="0">
              <a:buNone/>
            </a:pPr>
            <a:r>
              <a:rPr lang="en-US" sz="2600" b="1" dirty="0">
                <a:solidFill>
                  <a:srgbClr val="1B2A4A"/>
                </a:solidFill>
                <a:latin typeface="Georgia" pitchFamily="34" charset="0"/>
                <a:ea typeface="Georgia" pitchFamily="34" charset="-122"/>
                <a:cs typeface="Georgia" pitchFamily="34" charset="-120"/>
              </a:rPr>
              <a:t>When You're Interrupted Matters</a:t>
            </a:r>
            <a:endParaRPr lang="en-US" sz="2600" dirty="0"/>
          </a:p>
          <a:p>
            <a:pPr marL="0" indent="0">
              <a:buNone/>
            </a:pPr>
            <a:r>
              <a:rPr lang="en-US" sz="2600" b="1" dirty="0">
                <a:solidFill>
                  <a:srgbClr val="1B2A4A"/>
                </a:solidFill>
                <a:latin typeface="Georgia" pitchFamily="34" charset="0"/>
                <a:ea typeface="Georgia" pitchFamily="34" charset="-122"/>
                <a:cs typeface="Georgia" pitchFamily="34" charset="-120"/>
              </a:rPr>
              <a:t>More Than How</a:t>
            </a:r>
            <a:endParaRPr lang="en-US" sz="2600" dirty="0"/>
          </a:p>
        </p:txBody>
      </p:sp>
      <p:sp>
        <p:nvSpPr>
          <p:cNvPr id="5" name="Shape 3"/>
          <p:cNvSpPr/>
          <p:nvPr/>
        </p:nvSpPr>
        <p:spPr>
          <a:xfrm>
            <a:off x="640080" y="1417320"/>
            <a:ext cx="2011680" cy="685800"/>
          </a:xfrm>
          <a:prstGeom prst="rect">
            <a:avLst/>
          </a:prstGeom>
          <a:solidFill>
            <a:srgbClr val="B85042"/>
          </a:solidFill>
          <a:ln/>
        </p:spPr>
        <p:txBody>
          <a:bodyPr/>
          <a:lstStyle/>
          <a:p>
            <a:endParaRPr lang="en-US"/>
          </a:p>
        </p:txBody>
      </p:sp>
      <p:sp>
        <p:nvSpPr>
          <p:cNvPr id="6" name="Text 4"/>
          <p:cNvSpPr/>
          <p:nvPr/>
        </p:nvSpPr>
        <p:spPr>
          <a:xfrm>
            <a:off x="731520" y="1417320"/>
            <a:ext cx="1828800" cy="6858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1: Construction</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(0-5 min)</a:t>
            </a:r>
            <a:endParaRPr lang="en-US" sz="1000" dirty="0"/>
          </a:p>
        </p:txBody>
      </p:sp>
      <p:sp>
        <p:nvSpPr>
          <p:cNvPr id="7" name="Text 5"/>
          <p:cNvSpPr/>
          <p:nvPr/>
        </p:nvSpPr>
        <p:spPr>
          <a:xfrm>
            <a:off x="2834640" y="1417320"/>
            <a:ext cx="4572000" cy="6858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Maximally fragile. Building workspace representation from scratch. ANY interruption forces complete restart. Failed attempts may create interference.</a:t>
            </a:r>
            <a:endParaRPr lang="en-US" sz="1000" dirty="0"/>
          </a:p>
        </p:txBody>
      </p:sp>
      <p:sp>
        <p:nvSpPr>
          <p:cNvPr id="8" name="Text 6"/>
          <p:cNvSpPr/>
          <p:nvPr/>
        </p:nvSpPr>
        <p:spPr>
          <a:xfrm>
            <a:off x="7498080" y="1417320"/>
            <a:ext cx="1005840" cy="685800"/>
          </a:xfrm>
          <a:prstGeom prst="rect">
            <a:avLst/>
          </a:prstGeom>
          <a:noFill/>
          <a:ln/>
        </p:spPr>
        <p:txBody>
          <a:bodyPr wrap="square" rtlCol="0" anchor="ctr"/>
          <a:lstStyle/>
          <a:p>
            <a:pPr marL="0" indent="0" algn="ctr">
              <a:buNone/>
            </a:pPr>
            <a:r>
              <a:rPr lang="en-US" sz="1100" b="1" dirty="0">
                <a:solidFill>
                  <a:srgbClr val="B85042"/>
                </a:solidFill>
                <a:latin typeface="Calibri" pitchFamily="34" charset="0"/>
                <a:ea typeface="Calibri" pitchFamily="34" charset="-122"/>
                <a:cs typeface="Calibri" pitchFamily="34" charset="-120"/>
              </a:rPr>
              <a:t>EXTREME</a:t>
            </a:r>
            <a:endParaRPr lang="en-US" sz="1100" dirty="0"/>
          </a:p>
        </p:txBody>
      </p:sp>
      <p:sp>
        <p:nvSpPr>
          <p:cNvPr id="9" name="Shape 7"/>
          <p:cNvSpPr/>
          <p:nvPr/>
        </p:nvSpPr>
        <p:spPr>
          <a:xfrm>
            <a:off x="640080" y="2212848"/>
            <a:ext cx="2011680" cy="685800"/>
          </a:xfrm>
          <a:prstGeom prst="rect">
            <a:avLst/>
          </a:prstGeom>
          <a:solidFill>
            <a:srgbClr val="5B3A6B"/>
          </a:solidFill>
          <a:ln/>
        </p:spPr>
        <p:txBody>
          <a:bodyPr/>
          <a:lstStyle/>
          <a:p>
            <a:endParaRPr lang="en-US"/>
          </a:p>
        </p:txBody>
      </p:sp>
      <p:sp>
        <p:nvSpPr>
          <p:cNvPr id="10" name="Text 8"/>
          <p:cNvSpPr/>
          <p:nvPr/>
        </p:nvSpPr>
        <p:spPr>
          <a:xfrm>
            <a:off x="731520" y="2212848"/>
            <a:ext cx="1828800" cy="6858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2: Elaboration</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(5-15 min)</a:t>
            </a:r>
            <a:endParaRPr lang="en-US" sz="1000" dirty="0"/>
          </a:p>
        </p:txBody>
      </p:sp>
      <p:sp>
        <p:nvSpPr>
          <p:cNvPr id="11" name="Text 9"/>
          <p:cNvSpPr/>
          <p:nvPr/>
        </p:nvSpPr>
        <p:spPr>
          <a:xfrm>
            <a:off x="2834640" y="2212848"/>
            <a:ext cx="4572000" cy="6858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Moderately fragile. Workspace representation exists but is being refined. Interruption damages periphery but core may survive.</a:t>
            </a:r>
            <a:endParaRPr lang="en-US" sz="1000" dirty="0"/>
          </a:p>
        </p:txBody>
      </p:sp>
      <p:sp>
        <p:nvSpPr>
          <p:cNvPr id="12" name="Text 10"/>
          <p:cNvSpPr/>
          <p:nvPr/>
        </p:nvSpPr>
        <p:spPr>
          <a:xfrm>
            <a:off x="7498080" y="2212848"/>
            <a:ext cx="1005840" cy="685800"/>
          </a:xfrm>
          <a:prstGeom prst="rect">
            <a:avLst/>
          </a:prstGeom>
          <a:noFill/>
          <a:ln/>
        </p:spPr>
        <p:txBody>
          <a:bodyPr wrap="square" rtlCol="0" anchor="ctr"/>
          <a:lstStyle/>
          <a:p>
            <a:pPr marL="0" indent="0" algn="ctr">
              <a:buNone/>
            </a:pPr>
            <a:r>
              <a:rPr lang="en-US" sz="1100" b="1" dirty="0">
                <a:solidFill>
                  <a:srgbClr val="5B3A6B"/>
                </a:solidFill>
                <a:latin typeface="Calibri" pitchFamily="34" charset="0"/>
                <a:ea typeface="Calibri" pitchFamily="34" charset="-122"/>
                <a:cs typeface="Calibri" pitchFamily="34" charset="-120"/>
              </a:rPr>
              <a:t>HIGH</a:t>
            </a:r>
            <a:endParaRPr lang="en-US" sz="1100" dirty="0"/>
          </a:p>
        </p:txBody>
      </p:sp>
      <p:sp>
        <p:nvSpPr>
          <p:cNvPr id="13" name="Shape 11"/>
          <p:cNvSpPr/>
          <p:nvPr/>
        </p:nvSpPr>
        <p:spPr>
          <a:xfrm>
            <a:off x="640080" y="3008376"/>
            <a:ext cx="2011680" cy="685800"/>
          </a:xfrm>
          <a:prstGeom prst="rect">
            <a:avLst/>
          </a:prstGeom>
          <a:solidFill>
            <a:srgbClr val="2A6F7A"/>
          </a:solidFill>
          <a:ln/>
        </p:spPr>
        <p:txBody>
          <a:bodyPr/>
          <a:lstStyle/>
          <a:p>
            <a:endParaRPr lang="en-US"/>
          </a:p>
        </p:txBody>
      </p:sp>
      <p:sp>
        <p:nvSpPr>
          <p:cNvPr id="14" name="Text 12"/>
          <p:cNvSpPr/>
          <p:nvPr/>
        </p:nvSpPr>
        <p:spPr>
          <a:xfrm>
            <a:off x="731520" y="3008376"/>
            <a:ext cx="1828800" cy="6858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3: Consolidation</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(15-25 min)</a:t>
            </a:r>
            <a:endParaRPr lang="en-US" sz="1000" dirty="0"/>
          </a:p>
        </p:txBody>
      </p:sp>
      <p:sp>
        <p:nvSpPr>
          <p:cNvPr id="15" name="Text 13"/>
          <p:cNvSpPr/>
          <p:nvPr/>
        </p:nvSpPr>
        <p:spPr>
          <a:xfrm>
            <a:off x="2834640" y="3008376"/>
            <a:ext cx="4572000" cy="6858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Decreasing fragility. Workspace has redundant memory support. Can survive brief Type 1 interruptions. Type 2/3 still disruptive.</a:t>
            </a:r>
            <a:endParaRPr lang="en-US" sz="1000" dirty="0"/>
          </a:p>
        </p:txBody>
      </p:sp>
      <p:sp>
        <p:nvSpPr>
          <p:cNvPr id="16" name="Text 14"/>
          <p:cNvSpPr/>
          <p:nvPr/>
        </p:nvSpPr>
        <p:spPr>
          <a:xfrm>
            <a:off x="7498080" y="3008376"/>
            <a:ext cx="1005840" cy="685800"/>
          </a:xfrm>
          <a:prstGeom prst="rect">
            <a:avLst/>
          </a:prstGeom>
          <a:noFill/>
          <a:ln/>
        </p:spPr>
        <p:txBody>
          <a:bodyPr wrap="square" rtlCol="0" anchor="ctr"/>
          <a:lstStyle/>
          <a:p>
            <a:pPr marL="0" indent="0" algn="ctr">
              <a:buNone/>
            </a:pPr>
            <a:r>
              <a:rPr lang="en-US" sz="1100" b="1" dirty="0">
                <a:solidFill>
                  <a:srgbClr val="2A6F7A"/>
                </a:solidFill>
                <a:latin typeface="Calibri" pitchFamily="34" charset="0"/>
                <a:ea typeface="Calibri" pitchFamily="34" charset="-122"/>
                <a:cs typeface="Calibri" pitchFamily="34" charset="-120"/>
              </a:rPr>
              <a:t>MODERATE</a:t>
            </a:r>
            <a:endParaRPr lang="en-US" sz="1100" dirty="0"/>
          </a:p>
        </p:txBody>
      </p:sp>
      <p:sp>
        <p:nvSpPr>
          <p:cNvPr id="17" name="Shape 15"/>
          <p:cNvSpPr/>
          <p:nvPr/>
        </p:nvSpPr>
        <p:spPr>
          <a:xfrm>
            <a:off x="640080" y="3803904"/>
            <a:ext cx="2011680" cy="685800"/>
          </a:xfrm>
          <a:prstGeom prst="rect">
            <a:avLst/>
          </a:prstGeom>
          <a:solidFill>
            <a:srgbClr val="7BA393"/>
          </a:solidFill>
          <a:ln/>
        </p:spPr>
        <p:txBody>
          <a:bodyPr/>
          <a:lstStyle/>
          <a:p>
            <a:endParaRPr lang="en-US"/>
          </a:p>
        </p:txBody>
      </p:sp>
      <p:sp>
        <p:nvSpPr>
          <p:cNvPr id="18" name="Text 16"/>
          <p:cNvSpPr/>
          <p:nvPr/>
        </p:nvSpPr>
        <p:spPr>
          <a:xfrm>
            <a:off x="731520" y="3803904"/>
            <a:ext cx="1828800" cy="68580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4: Fluent Operation</a:t>
            </a:r>
            <a:endParaRPr lang="en-US" sz="1000" dirty="0"/>
          </a:p>
          <a:p>
            <a:pPr marL="0" indent="0">
              <a:buNone/>
            </a:pPr>
            <a:r>
              <a:rPr lang="en-US" sz="1000" b="1" dirty="0">
                <a:solidFill>
                  <a:srgbClr val="FFFFFF"/>
                </a:solidFill>
                <a:latin typeface="Calibri" pitchFamily="34" charset="0"/>
                <a:ea typeface="Calibri" pitchFamily="34" charset="-122"/>
                <a:cs typeface="Calibri" pitchFamily="34" charset="-120"/>
              </a:rPr>
              <a:t>(25+ min)</a:t>
            </a:r>
            <a:endParaRPr lang="en-US" sz="1000" dirty="0"/>
          </a:p>
        </p:txBody>
      </p:sp>
      <p:sp>
        <p:nvSpPr>
          <p:cNvPr id="19" name="Text 17"/>
          <p:cNvSpPr/>
          <p:nvPr/>
        </p:nvSpPr>
        <p:spPr>
          <a:xfrm>
            <a:off x="2834640" y="3803904"/>
            <a:ext cx="4572000" cy="685800"/>
          </a:xfrm>
          <a:prstGeom prst="rect">
            <a:avLst/>
          </a:prstGeom>
          <a:noFill/>
          <a:ln/>
        </p:spPr>
        <p:txBody>
          <a:bodyPr wrap="square" rtlCol="0" anchor="ctr"/>
          <a:lstStyle/>
          <a:p>
            <a:pPr marL="0" indent="0">
              <a:buNone/>
            </a:pPr>
            <a:r>
              <a:rPr lang="en-US" sz="1000" dirty="0">
                <a:solidFill>
                  <a:srgbClr val="2C2C2C"/>
                </a:solidFill>
                <a:latin typeface="Calibri" pitchFamily="34" charset="0"/>
                <a:ea typeface="Calibri" pitchFamily="34" charset="-122"/>
                <a:cs typeface="Calibri" pitchFamily="34" charset="-120"/>
              </a:rPr>
              <a:t>Flow state. Partial automatization provides implicit-level stability. High productivity. Relatively robust — but Type 3 still penetrates.</a:t>
            </a:r>
            <a:endParaRPr lang="en-US" sz="1000" dirty="0"/>
          </a:p>
        </p:txBody>
      </p:sp>
      <p:sp>
        <p:nvSpPr>
          <p:cNvPr id="20" name="Text 18"/>
          <p:cNvSpPr/>
          <p:nvPr/>
        </p:nvSpPr>
        <p:spPr>
          <a:xfrm>
            <a:off x="7498080" y="3803904"/>
            <a:ext cx="1005840" cy="685800"/>
          </a:xfrm>
          <a:prstGeom prst="rect">
            <a:avLst/>
          </a:prstGeom>
          <a:noFill/>
          <a:ln/>
        </p:spPr>
        <p:txBody>
          <a:bodyPr wrap="square" rtlCol="0" anchor="ctr"/>
          <a:lstStyle/>
          <a:p>
            <a:pPr marL="0" indent="0" algn="ctr">
              <a:buNone/>
            </a:pPr>
            <a:r>
              <a:rPr lang="en-US" sz="1100" b="1" dirty="0">
                <a:solidFill>
                  <a:srgbClr val="7BA393"/>
                </a:solidFill>
                <a:latin typeface="Calibri" pitchFamily="34" charset="0"/>
                <a:ea typeface="Calibri" pitchFamily="34" charset="-122"/>
                <a:cs typeface="Calibri" pitchFamily="34" charset="-120"/>
              </a:rPr>
              <a:t>LOW</a:t>
            </a:r>
            <a:endParaRPr lang="en-US" sz="1100" dirty="0"/>
          </a:p>
        </p:txBody>
      </p:sp>
      <p:sp>
        <p:nvSpPr>
          <p:cNvPr id="21" name="Text 19"/>
          <p:cNvSpPr/>
          <p:nvPr/>
        </p:nvSpPr>
        <p:spPr>
          <a:xfrm>
            <a:off x="640080" y="4572000"/>
            <a:ext cx="7863840" cy="411480"/>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Architectural principle: Uninterrupted time is a NON-LINEAR resource.</a:t>
            </a:r>
            <a:endParaRPr lang="en-US" sz="1100" dirty="0"/>
          </a:p>
          <a:p>
            <a:pPr marL="0" indent="0">
              <a:buNone/>
            </a:pPr>
            <a:r>
              <a:rPr lang="en-US" sz="1100" b="1" dirty="0">
                <a:solidFill>
                  <a:srgbClr val="B85042"/>
                </a:solidFill>
                <a:latin typeface="Calibri" pitchFamily="34" charset="0"/>
                <a:ea typeface="Calibri" pitchFamily="34" charset="-122"/>
                <a:cs typeface="Calibri" pitchFamily="34" charset="-120"/>
              </a:rPr>
              <a:t>The first 5 minutes are disproportionately valuable. Design must guarantee this minimum.</a:t>
            </a:r>
            <a:endParaRPr lang="en-US" sz="1100" dirty="0"/>
          </a:p>
        </p:txBody>
      </p:sp>
      <p:sp>
        <p:nvSpPr>
          <p:cNvPr id="22" name="Text 20"/>
          <p:cNvSpPr/>
          <p:nvPr/>
        </p:nvSpPr>
        <p:spPr>
          <a:xfrm>
            <a:off x="457200" y="4709160"/>
            <a:ext cx="8229600" cy="320040"/>
          </a:xfrm>
          <a:prstGeom prst="rect">
            <a:avLst/>
          </a:prstGeom>
          <a:noFill/>
          <a:ln/>
        </p:spPr>
        <p:txBody>
          <a:bodyPr wrap="square" rtlCol="0" anchor="ctr"/>
          <a:lstStyle/>
          <a:p>
            <a:pPr marL="0" indent="0">
              <a:buNone/>
            </a:pPr>
            <a:r>
              <a:rPr lang="en-US" sz="900" dirty="0">
                <a:solidFill>
                  <a:srgbClr val="8B8680"/>
                </a:solidFill>
                <a:latin typeface="Calibri" pitchFamily="34" charset="0"/>
                <a:ea typeface="Calibri" pitchFamily="34" charset="-122"/>
                <a:cs typeface="Calibri" pitchFamily="34" charset="-120"/>
              </a:rPr>
              <a:t>Kirsh — Two Regimes | Clark Lab, 8/10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0"/>
          </a:xfrm>
          <a:prstGeom prst="rect">
            <a:avLst/>
          </a:prstGeom>
          <a:solidFill>
            <a:srgbClr val="5B3A6B"/>
          </a:solidFill>
          <a:ln/>
        </p:spPr>
        <p:txBody>
          <a:bodyPr/>
          <a:lstStyle/>
          <a:p>
            <a:endParaRPr lang="en-US"/>
          </a:p>
        </p:txBody>
      </p:sp>
      <p:sp>
        <p:nvSpPr>
          <p:cNvPr id="3" name="Text 1"/>
          <p:cNvSpPr/>
          <p:nvPr/>
        </p:nvSpPr>
        <p:spPr>
          <a:xfrm>
            <a:off x="457200" y="0"/>
            <a:ext cx="822960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DESIGN MATRIX</a:t>
            </a:r>
            <a:endParaRPr lang="en-US" sz="1000" dirty="0"/>
          </a:p>
        </p:txBody>
      </p:sp>
      <p:sp>
        <p:nvSpPr>
          <p:cNvPr id="4" name="Text 2"/>
          <p:cNvSpPr/>
          <p:nvPr/>
        </p:nvSpPr>
        <p:spPr>
          <a:xfrm>
            <a:off x="640080" y="548640"/>
            <a:ext cx="7863840" cy="548640"/>
          </a:xfrm>
          <a:prstGeom prst="rect">
            <a:avLst/>
          </a:prstGeom>
          <a:noFill/>
          <a:ln/>
        </p:spPr>
        <p:txBody>
          <a:bodyPr wrap="square" rtlCol="0" anchor="ctr"/>
          <a:lstStyle/>
          <a:p>
            <a:pPr marL="0" indent="0">
              <a:buNone/>
            </a:pPr>
            <a:r>
              <a:rPr lang="en-US" sz="2800" b="1" dirty="0">
                <a:solidFill>
                  <a:srgbClr val="1B2A4A"/>
                </a:solidFill>
                <a:latin typeface="Georgia" pitchFamily="34" charset="0"/>
                <a:ea typeface="Georgia" pitchFamily="34" charset="-122"/>
                <a:cs typeface="Georgia" pitchFamily="34" charset="-120"/>
              </a:rPr>
              <a:t>The Two-Regime Design Principle</a:t>
            </a:r>
            <a:endParaRPr lang="en-US" sz="2800" dirty="0"/>
          </a:p>
        </p:txBody>
      </p:sp>
      <p:sp>
        <p:nvSpPr>
          <p:cNvPr id="5" name="Text 3"/>
          <p:cNvSpPr/>
          <p:nvPr/>
        </p:nvSpPr>
        <p:spPr>
          <a:xfrm>
            <a:off x="640080" y="1097280"/>
            <a:ext cx="7863840" cy="365760"/>
          </a:xfrm>
          <a:prstGeom prst="rect">
            <a:avLst/>
          </a:prstGeom>
          <a:noFill/>
          <a:ln/>
        </p:spPr>
        <p:txBody>
          <a:bodyPr wrap="square" rtlCol="0" anchor="ctr"/>
          <a:lstStyle/>
          <a:p>
            <a:pPr marL="0" indent="0">
              <a:buNone/>
            </a:pPr>
            <a:r>
              <a:rPr lang="en-US" sz="1500" b="1" i="1" dirty="0">
                <a:solidFill>
                  <a:srgbClr val="2A6F7A"/>
                </a:solidFill>
                <a:latin typeface="Calibri" pitchFamily="34" charset="0"/>
                <a:ea typeface="Calibri" pitchFamily="34" charset="-122"/>
                <a:cs typeface="Calibri" pitchFamily="34" charset="-120"/>
              </a:rPr>
              <a:t>The best environments provide moderate complexity AND temporal stability simultaneously.</a:t>
            </a:r>
            <a:endParaRPr lang="en-US" sz="1500" dirty="0"/>
          </a:p>
        </p:txBody>
      </p:sp>
      <p:sp>
        <p:nvSpPr>
          <p:cNvPr id="6" name="Shape 4"/>
          <p:cNvSpPr/>
          <p:nvPr/>
        </p:nvSpPr>
        <p:spPr>
          <a:xfrm>
            <a:off x="640080" y="1645920"/>
            <a:ext cx="3749040" cy="1463040"/>
          </a:xfrm>
          <a:prstGeom prst="rect">
            <a:avLst/>
          </a:prstGeom>
          <a:solidFill>
            <a:srgbClr val="7BA393"/>
          </a:solidFill>
          <a:ln/>
        </p:spPr>
        <p:txBody>
          <a:bodyPr/>
          <a:lstStyle/>
          <a:p>
            <a:endParaRPr lang="en-US"/>
          </a:p>
        </p:txBody>
      </p:sp>
      <p:sp>
        <p:nvSpPr>
          <p:cNvPr id="7" name="Text 5"/>
          <p:cNvSpPr/>
          <p:nvPr/>
        </p:nvSpPr>
        <p:spPr>
          <a:xfrm>
            <a:off x="822960" y="1691640"/>
            <a:ext cx="33832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Moderate mean + Low variance</a:t>
            </a:r>
            <a:endParaRPr lang="en-US" sz="1100" dirty="0"/>
          </a:p>
        </p:txBody>
      </p:sp>
      <p:sp>
        <p:nvSpPr>
          <p:cNvPr id="8" name="Text 6"/>
          <p:cNvSpPr/>
          <p:nvPr/>
        </p:nvSpPr>
        <p:spPr>
          <a:xfrm>
            <a:off x="822960" y="2011680"/>
            <a:ext cx="3383280" cy="100584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OPTIMAL: Library reading room, well-designed private office. Both regimes served. Nature view + acoustic stability + personal control.</a:t>
            </a:r>
            <a:endParaRPr lang="en-US" sz="1100" dirty="0"/>
          </a:p>
        </p:txBody>
      </p:sp>
      <p:sp>
        <p:nvSpPr>
          <p:cNvPr id="9" name="Shape 7"/>
          <p:cNvSpPr/>
          <p:nvPr/>
        </p:nvSpPr>
        <p:spPr>
          <a:xfrm>
            <a:off x="4754880" y="1645920"/>
            <a:ext cx="3749040" cy="1463040"/>
          </a:xfrm>
          <a:prstGeom prst="rect">
            <a:avLst/>
          </a:prstGeom>
          <a:solidFill>
            <a:srgbClr val="2A6F7A"/>
          </a:solidFill>
          <a:ln/>
        </p:spPr>
        <p:txBody>
          <a:bodyPr/>
          <a:lstStyle/>
          <a:p>
            <a:endParaRPr lang="en-US"/>
          </a:p>
        </p:txBody>
      </p:sp>
      <p:sp>
        <p:nvSpPr>
          <p:cNvPr id="10" name="Text 8"/>
          <p:cNvSpPr/>
          <p:nvPr/>
        </p:nvSpPr>
        <p:spPr>
          <a:xfrm>
            <a:off x="4937760" y="1691640"/>
            <a:ext cx="3383280" cy="274320"/>
          </a:xfrm>
          <a:prstGeom prst="rect">
            <a:avLst/>
          </a:prstGeom>
          <a:noFill/>
          <a:ln/>
        </p:spPr>
        <p:txBody>
          <a:bodyPr wrap="square" rtlCol="0" anchor="ctr"/>
          <a:lstStyle/>
          <a:p>
            <a:pPr marL="0" indent="0">
              <a:buNone/>
            </a:pPr>
            <a:r>
              <a:rPr lang="en-US" sz="1100" b="1" dirty="0">
                <a:solidFill>
                  <a:srgbClr val="F5F0E8"/>
                </a:solidFill>
                <a:latin typeface="Calibri" pitchFamily="34" charset="0"/>
                <a:ea typeface="Calibri" pitchFamily="34" charset="-122"/>
                <a:cs typeface="Calibri" pitchFamily="34" charset="-120"/>
              </a:rPr>
              <a:t>High mean + Low variance</a:t>
            </a:r>
            <a:endParaRPr lang="en-US" sz="1100" dirty="0"/>
          </a:p>
        </p:txBody>
      </p:sp>
      <p:sp>
        <p:nvSpPr>
          <p:cNvPr id="11" name="Text 9"/>
          <p:cNvSpPr/>
          <p:nvPr/>
        </p:nvSpPr>
        <p:spPr>
          <a:xfrm>
            <a:off x="4937760" y="2011680"/>
            <a:ext cx="3383280" cy="100584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CREATIVE: Lively but predictable. Cafe (steady babble), bustling workshop. Implicit regime thrives, explicit possible if needed.</a:t>
            </a:r>
            <a:endParaRPr lang="en-US" sz="1100" dirty="0"/>
          </a:p>
        </p:txBody>
      </p:sp>
      <p:sp>
        <p:nvSpPr>
          <p:cNvPr id="12" name="Shape 10"/>
          <p:cNvSpPr/>
          <p:nvPr/>
        </p:nvSpPr>
        <p:spPr>
          <a:xfrm>
            <a:off x="640080" y="3200400"/>
            <a:ext cx="3749040" cy="1097280"/>
          </a:xfrm>
          <a:prstGeom prst="rect">
            <a:avLst/>
          </a:prstGeom>
          <a:solidFill>
            <a:srgbClr val="E8E4DC"/>
          </a:solidFill>
          <a:ln/>
        </p:spPr>
        <p:txBody>
          <a:bodyPr/>
          <a:lstStyle/>
          <a:p>
            <a:endParaRPr lang="en-US"/>
          </a:p>
        </p:txBody>
      </p:sp>
      <p:sp>
        <p:nvSpPr>
          <p:cNvPr id="13" name="Text 11"/>
          <p:cNvSpPr/>
          <p:nvPr/>
        </p:nvSpPr>
        <p:spPr>
          <a:xfrm>
            <a:off x="822960" y="3246120"/>
            <a:ext cx="3383280" cy="274320"/>
          </a:xfrm>
          <a:prstGeom prst="rect">
            <a:avLst/>
          </a:prstGeom>
          <a:noFill/>
          <a:ln/>
        </p:spPr>
        <p:txBody>
          <a:bodyPr wrap="square"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Low mean + Low variance</a:t>
            </a:r>
            <a:endParaRPr lang="en-US" sz="1100" dirty="0"/>
          </a:p>
        </p:txBody>
      </p:sp>
      <p:sp>
        <p:nvSpPr>
          <p:cNvPr id="14" name="Text 12"/>
          <p:cNvSpPr/>
          <p:nvPr/>
        </p:nvSpPr>
        <p:spPr>
          <a:xfrm>
            <a:off x="822960" y="3566160"/>
            <a:ext cx="3383280" cy="640080"/>
          </a:xfrm>
          <a:prstGeom prst="rect">
            <a:avLst/>
          </a:prstGeom>
          <a:noFill/>
          <a:ln/>
        </p:spPr>
        <p:txBody>
          <a:bodyPr wrap="square" rtlCol="0" anchor="t"/>
          <a:lstStyle/>
          <a:p>
            <a:pPr marL="0" indent="0">
              <a:buNone/>
            </a:pPr>
            <a:r>
              <a:rPr lang="en-US" sz="1100" dirty="0">
                <a:solidFill>
                  <a:srgbClr val="2C2C2C"/>
                </a:solidFill>
                <a:latin typeface="Calibri" pitchFamily="34" charset="0"/>
                <a:ea typeface="Calibri" pitchFamily="34" charset="-122"/>
                <a:cs typeface="Calibri" pitchFamily="34" charset="-120"/>
              </a:rPr>
              <a:t>BORING: Sensory deprivation, blank walls, silence. Explicit regime protected but implicit regime starved. Focus pod failure mode.</a:t>
            </a:r>
            <a:endParaRPr lang="en-US" sz="1100" dirty="0"/>
          </a:p>
        </p:txBody>
      </p:sp>
      <p:sp>
        <p:nvSpPr>
          <p:cNvPr id="15" name="Shape 13"/>
          <p:cNvSpPr/>
          <p:nvPr/>
        </p:nvSpPr>
        <p:spPr>
          <a:xfrm>
            <a:off x="4754880" y="3200400"/>
            <a:ext cx="3749040" cy="1097280"/>
          </a:xfrm>
          <a:prstGeom prst="rect">
            <a:avLst/>
          </a:prstGeom>
          <a:solidFill>
            <a:srgbClr val="B85042"/>
          </a:solidFill>
          <a:ln/>
        </p:spPr>
        <p:txBody>
          <a:bodyPr/>
          <a:lstStyle/>
          <a:p>
            <a:endParaRPr lang="en-US"/>
          </a:p>
        </p:txBody>
      </p:sp>
      <p:sp>
        <p:nvSpPr>
          <p:cNvPr id="16" name="Text 14"/>
          <p:cNvSpPr/>
          <p:nvPr/>
        </p:nvSpPr>
        <p:spPr>
          <a:xfrm>
            <a:off x="4937760" y="3246120"/>
            <a:ext cx="33832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Any mean + High variance</a:t>
            </a:r>
            <a:endParaRPr lang="en-US" sz="1100" dirty="0"/>
          </a:p>
        </p:txBody>
      </p:sp>
      <p:sp>
        <p:nvSpPr>
          <p:cNvPr id="17" name="Text 15"/>
          <p:cNvSpPr/>
          <p:nvPr/>
        </p:nvSpPr>
        <p:spPr>
          <a:xfrm>
            <a:off x="4937760" y="3566160"/>
            <a:ext cx="3383280" cy="640080"/>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CATASTROPHIC: Open office, hospital ICU. Unpredictable PE spikes collapse explicit regime regardless of mean level. Worst case.</a:t>
            </a:r>
            <a:endParaRPr lang="en-US" sz="1100" dirty="0"/>
          </a:p>
        </p:txBody>
      </p:sp>
      <p:sp>
        <p:nvSpPr>
          <p:cNvPr id="18" name="Text 16"/>
          <p:cNvSpPr/>
          <p:nvPr/>
        </p:nvSpPr>
        <p:spPr>
          <a:xfrm>
            <a:off x="640080" y="4480560"/>
            <a:ext cx="7863840" cy="365760"/>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The variance axis is invisible in standard env psych but dominates explicit-regime performance.</a:t>
            </a:r>
            <a:endParaRPr lang="en-US" sz="1200" dirty="0"/>
          </a:p>
        </p:txBody>
      </p:sp>
      <p:sp>
        <p:nvSpPr>
          <p:cNvPr id="19" name="Text 17"/>
          <p:cNvSpPr/>
          <p:nvPr/>
        </p:nvSpPr>
        <p:spPr>
          <a:xfrm>
            <a:off x="457200" y="4709160"/>
            <a:ext cx="8229600" cy="320040"/>
          </a:xfrm>
          <a:prstGeom prst="rect">
            <a:avLst/>
          </a:prstGeom>
          <a:noFill/>
          <a:ln/>
        </p:spPr>
        <p:txBody>
          <a:bodyPr wrap="square" rtlCol="0" anchor="ctr"/>
          <a:lstStyle/>
          <a:p>
            <a:pPr marL="0" indent="0">
              <a:buNone/>
            </a:pPr>
            <a:r>
              <a:rPr lang="en-US" sz="900" dirty="0">
                <a:solidFill>
                  <a:srgbClr val="8B8680"/>
                </a:solidFill>
                <a:latin typeface="Calibri" pitchFamily="34" charset="0"/>
                <a:ea typeface="Calibri" pitchFamily="34" charset="-122"/>
                <a:cs typeface="Calibri" pitchFamily="34" charset="-120"/>
              </a:rPr>
              <a:t>Kirsh — Two Regimes | Clark Lab, 9/10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91640"/>
          </a:xfrm>
          <a:prstGeom prst="rect">
            <a:avLst/>
          </a:prstGeom>
          <a:solidFill>
            <a:srgbClr val="5B3A6B"/>
          </a:solidFill>
          <a:ln/>
        </p:spPr>
        <p:txBody>
          <a:bodyPr/>
          <a:lstStyle/>
          <a:p>
            <a:endParaRPr lang="en-US"/>
          </a:p>
        </p:txBody>
      </p:sp>
      <p:sp>
        <p:nvSpPr>
          <p:cNvPr id="3" name="Text 1"/>
          <p:cNvSpPr/>
          <p:nvPr/>
        </p:nvSpPr>
        <p:spPr>
          <a:xfrm>
            <a:off x="731520" y="548640"/>
            <a:ext cx="7680960" cy="64008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A Friendly Challenge</a:t>
            </a:r>
            <a:endParaRPr lang="en-US" sz="3400" dirty="0"/>
          </a:p>
        </p:txBody>
      </p:sp>
      <p:sp>
        <p:nvSpPr>
          <p:cNvPr id="4" name="Text 2"/>
          <p:cNvSpPr/>
          <p:nvPr/>
        </p:nvSpPr>
        <p:spPr>
          <a:xfrm>
            <a:off x="731520" y="1280160"/>
            <a:ext cx="7680960" cy="2103120"/>
          </a:xfrm>
          <a:prstGeom prst="rect">
            <a:avLst/>
          </a:prstGeom>
          <a:noFill/>
          <a:ln/>
        </p:spPr>
        <p:txBody>
          <a:bodyPr wrap="square" rtlCol="0" anchor="ctr"/>
          <a:lstStyle/>
          <a:p>
            <a:pPr marL="0" indent="0">
              <a:buNone/>
            </a:pPr>
            <a:r>
              <a:rPr lang="en-US" sz="1600" dirty="0">
                <a:solidFill>
                  <a:srgbClr val="F5F0E8"/>
                </a:solidFill>
                <a:latin typeface="Calibri" pitchFamily="34" charset="0"/>
                <a:ea typeface="Calibri" pitchFamily="34" charset="-122"/>
                <a:cs typeface="Calibri" pitchFamily="34" charset="-120"/>
              </a:rPr>
              <a:t>PP explains implicit processing brilliantly</a:t>
            </a:r>
            <a:endParaRPr lang="en-US" sz="1600" dirty="0"/>
          </a:p>
          <a:p>
            <a:pPr marL="0" indent="0">
              <a:buNone/>
            </a:pPr>
            <a:endParaRPr lang="en-US" sz="1600" dirty="0"/>
          </a:p>
          <a:p>
            <a:pPr marL="0" indent="0">
              <a:buNone/>
            </a:pPr>
            <a:r>
              <a:rPr lang="en-US" sz="1600" dirty="0">
                <a:solidFill>
                  <a:srgbClr val="F5F0E8"/>
                </a:solidFill>
                <a:latin typeface="Calibri" pitchFamily="34" charset="0"/>
                <a:ea typeface="Calibri" pitchFamily="34" charset="-122"/>
                <a:cs typeface="Calibri" pitchFamily="34" charset="-120"/>
              </a:rPr>
              <a:t>But explicit processing needs something PP doesn't (yet?) provide:</a:t>
            </a:r>
            <a:endParaRPr lang="en-US" sz="1600" dirty="0"/>
          </a:p>
          <a:p>
            <a:pPr marL="0" indent="0">
              <a:buNone/>
            </a:pPr>
            <a:r>
              <a:rPr lang="en-US" sz="1400" i="1" dirty="0">
                <a:solidFill>
                  <a:srgbClr val="F5F0E8"/>
                </a:solidFill>
                <a:latin typeface="Calibri" pitchFamily="34" charset="0"/>
                <a:ea typeface="Calibri" pitchFamily="34" charset="-122"/>
                <a:cs typeface="Calibri" pitchFamily="34" charset="-120"/>
              </a:rPr>
              <a:t>Goal representation, compositional binding, the serial bottleneck</a:t>
            </a:r>
            <a:endParaRPr lang="en-US" sz="1600" dirty="0"/>
          </a:p>
          <a:p>
            <a:pPr marL="0" indent="0">
              <a:buNone/>
            </a:pPr>
            <a:endParaRPr lang="en-US" sz="1600" dirty="0"/>
          </a:p>
          <a:p>
            <a:pPr marL="0" indent="0">
              <a:buNone/>
            </a:pPr>
            <a:r>
              <a:rPr lang="en-US" sz="1600" dirty="0">
                <a:solidFill>
                  <a:srgbClr val="F5F0E8"/>
                </a:solidFill>
                <a:latin typeface="Calibri" pitchFamily="34" charset="0"/>
                <a:ea typeface="Calibri" pitchFamily="34" charset="-122"/>
                <a:cs typeface="Calibri" pitchFamily="34" charset="-120"/>
              </a:rPr>
              <a:t>For architecture, this means two different kinds of design:</a:t>
            </a:r>
            <a:endParaRPr lang="en-US" sz="1600" dirty="0"/>
          </a:p>
          <a:p>
            <a:pPr marL="0" indent="0">
              <a:buNone/>
            </a:pPr>
            <a:r>
              <a:rPr lang="en-US" sz="1400" i="1" dirty="0">
                <a:solidFill>
                  <a:srgbClr val="F5F0E8"/>
                </a:solidFill>
                <a:latin typeface="Calibri" pitchFamily="34" charset="0"/>
                <a:ea typeface="Calibri" pitchFamily="34" charset="-122"/>
                <a:cs typeface="Calibri" pitchFamily="34" charset="-120"/>
              </a:rPr>
              <a:t>Optimize PE mean (Goldilocks) vs. minimize PE variance (stability)</a:t>
            </a:r>
            <a:endParaRPr lang="en-US" sz="1600" dirty="0"/>
          </a:p>
          <a:p>
            <a:pPr marL="0" indent="0">
              <a:buNone/>
            </a:pPr>
            <a:endParaRPr lang="en-US" sz="1600" dirty="0"/>
          </a:p>
          <a:p>
            <a:pPr marL="0" indent="0">
              <a:buNone/>
            </a:pPr>
            <a:r>
              <a:rPr lang="en-US" sz="1500" b="1" dirty="0">
                <a:solidFill>
                  <a:srgbClr val="7BA393"/>
                </a:solidFill>
                <a:latin typeface="Calibri" pitchFamily="34" charset="0"/>
                <a:ea typeface="Calibri" pitchFamily="34" charset="-122"/>
                <a:cs typeface="Calibri" pitchFamily="34" charset="-120"/>
              </a:rPr>
              <a:t>Question for Andy: Can PP be extended to handle this,</a:t>
            </a:r>
            <a:endParaRPr lang="en-US" sz="1600" dirty="0"/>
          </a:p>
          <a:p>
            <a:pPr marL="0" indent="0">
              <a:buNone/>
            </a:pPr>
            <a:r>
              <a:rPr lang="en-US" sz="1500" b="1" dirty="0">
                <a:solidFill>
                  <a:srgbClr val="7BA393"/>
                </a:solidFill>
                <a:latin typeface="Calibri" pitchFamily="34" charset="0"/>
                <a:ea typeface="Calibri" pitchFamily="34" charset="-122"/>
                <a:cs typeface="Calibri" pitchFamily="34" charset="-120"/>
              </a:rPr>
              <a:t>or does it need supplementation from GNW/cognitive control?</a:t>
            </a:r>
            <a:endParaRPr lang="en-US" sz="1600" dirty="0"/>
          </a:p>
        </p:txBody>
      </p:sp>
      <p:sp>
        <p:nvSpPr>
          <p:cNvPr id="5" name="Text 3"/>
          <p:cNvSpPr/>
          <p:nvPr/>
        </p:nvSpPr>
        <p:spPr>
          <a:xfrm>
            <a:off x="731520" y="3657600"/>
            <a:ext cx="4572000" cy="4572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Thank you — I'd love to hear what you all think.</a:t>
            </a:r>
            <a:endParaRPr lang="en-US" sz="1600" dirty="0"/>
          </a:p>
        </p:txBody>
      </p:sp>
      <p:sp>
        <p:nvSpPr>
          <p:cNvPr id="6" name="Text 4"/>
          <p:cNvSpPr/>
          <p:nvPr/>
        </p:nvSpPr>
        <p:spPr>
          <a:xfrm>
            <a:off x="731520" y="4206240"/>
            <a:ext cx="4572000" cy="320040"/>
          </a:xfrm>
          <a:prstGeom prst="rect">
            <a:avLst/>
          </a:prstGeom>
          <a:noFill/>
          <a:ln/>
        </p:spPr>
        <p:txBody>
          <a:bodyPr wrap="square" rtlCol="0" anchor="ctr"/>
          <a:lstStyle/>
          <a:p>
            <a:pPr marL="0" indent="0">
              <a:buNone/>
            </a:pPr>
            <a:r>
              <a:rPr lang="en-US" sz="1300" dirty="0">
                <a:solidFill>
                  <a:srgbClr val="F5F0E8"/>
                </a:solidFill>
                <a:latin typeface="Calibri" pitchFamily="34" charset="0"/>
                <a:ea typeface="Calibri" pitchFamily="34" charset="-122"/>
                <a:cs typeface="Calibri" pitchFamily="34" charset="-120"/>
              </a:rPr>
              <a:t>david@cogsci.ucsd.edu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1244</TotalTime>
  <Words>2402</Words>
  <Application>Microsoft Macintosh PowerPoint</Application>
  <PresentationFormat>On-screen Show (16:9)</PresentationFormat>
  <Paragraphs>212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Regimes: A Challenge for Classical PP</dc:title>
  <dc:subject>PptxGenJS Presentation</dc:subject>
  <dc:creator>David Kirsh</dc:creator>
  <cp:lastModifiedBy>David Kirsh</cp:lastModifiedBy>
  <cp:revision>1</cp:revision>
  <dcterms:created xsi:type="dcterms:W3CDTF">2026-02-19T14:13:48Z</dcterms:created>
  <dcterms:modified xsi:type="dcterms:W3CDTF">2026-02-20T14:25:56Z</dcterms:modified>
</cp:coreProperties>
</file>