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4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5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Preference</c:v>
                </c:pt>
              </c:strCache>
            </c:strRef>
          </c:tx>
          <c:spPr>
            <a:solidFill>
              <a:srgbClr val="C47D2B"/>
            </a:solidFill>
            <a:ln w="38100" cap="flat">
              <a:solidFill>
                <a:srgbClr val="C47D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47D2B"/>
              </a:solidFill>
              <a:ln w="9525" cap="flat">
                <a:solidFill>
                  <a:srgbClr val="C47D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Very
Simple</c:v>
                  </c:pt>
                  <c:pt idx="1">
                    <c:v>Simple</c:v>
                  </c:pt>
                  <c:pt idx="2">
                    <c:v>Low-
Mod</c:v>
                  </c:pt>
                  <c:pt idx="3">
                    <c:v>Moderate</c:v>
                  </c:pt>
                  <c:pt idx="4">
                    <c:v>High-
Mod</c:v>
                  </c:pt>
                  <c:pt idx="5">
                    <c:v>Complex</c:v>
                  </c:pt>
                  <c:pt idx="6">
                    <c:v>Very
Complex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38</c:v>
                </c:pt>
                <c:pt idx="1">
                  <c:v>55</c:v>
                </c:pt>
                <c:pt idx="2">
                  <c:v>75</c:v>
                </c:pt>
                <c:pt idx="3">
                  <c:v>91</c:v>
                </c:pt>
                <c:pt idx="4">
                  <c:v>84</c:v>
                </c:pt>
                <c:pt idx="5">
                  <c:v>62</c:v>
                </c:pt>
                <c:pt idx="6">
                  <c:v>35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20"/>
        </c:scaling>
        <c:delete val="0"/>
        <c:axPos val="l"/>
        <c:majorGridlines>
          <c:spPr>
            <a:ln w="6350" cap="flat">
              <a:solidFill>
                <a:srgbClr val="E0D8C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Creative RAT Score</c:v>
                </c:pt>
              </c:strCache>
            </c:strRef>
          </c:tx>
          <c:spPr>
            <a:solidFill>
              <a:srgbClr val="2B8C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2C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&lt;50 dB
Quiet</c:v>
                  </c:pt>
                  <c:pt idx="1">
                    <c:v>~70 dB
Coffee Shop</c:v>
                  </c:pt>
                  <c:pt idx="2">
                    <c:v>&gt;85 dB
Loud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85</c:v>
                </c:pt>
                <c:pt idx="2">
                  <c:v>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2C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D8C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Stress Reduction</c:v>
                </c:pt>
              </c:strCache>
            </c:strRef>
          </c:tx>
          <c:spPr>
            <a:solidFill>
              <a:srgbClr val="4A7C59"/>
            </a:solidFill>
            <a:ln w="38100" cap="flat">
              <a:solidFill>
                <a:srgbClr val="4A7C5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A7C59"/>
              </a:solidFill>
              <a:ln w="9525" cap="flat">
                <a:solidFill>
                  <a:srgbClr val="4A7C5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0%</c:v>
                  </c:pt>
                  <c:pt idx="1">
                    <c:v>15%</c:v>
                  </c:pt>
                  <c:pt idx="2">
                    <c:v>30%</c:v>
                  </c:pt>
                  <c:pt idx="3">
                    <c:v>45%</c:v>
                  </c:pt>
                  <c:pt idx="4">
                    <c:v>60%</c:v>
                  </c:pt>
                  <c:pt idx="5">
                    <c:v>75%</c:v>
                  </c:pt>
                  <c:pt idx="6">
                    <c:v>90%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30</c:v>
                </c:pt>
                <c:pt idx="1">
                  <c:v>55</c:v>
                </c:pt>
                <c:pt idx="2">
                  <c:v>75</c:v>
                </c:pt>
                <c:pt idx="3">
                  <c:v>90</c:v>
                </c:pt>
                <c:pt idx="4">
                  <c:v>78</c:v>
                </c:pt>
                <c:pt idx="5">
                  <c:v>55</c:v>
                </c:pt>
                <c:pt idx="6">
                  <c:v>35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D8C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Reward System</c:v>
                </c:pt>
              </c:strCache>
            </c:strRef>
          </c:tx>
          <c:spPr>
            <a:solidFill>
              <a:srgbClr val="4A7C59"/>
            </a:solidFill>
            <a:ln w="25400" cap="flat">
              <a:solidFill>
                <a:srgbClr val="4A7C5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A7C59"/>
              </a:solidFill>
              <a:ln w="9525" cap="flat">
                <a:solidFill>
                  <a:srgbClr val="4A7C5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Low</c:v>
                  </c:pt>
                  <c:pt idx="1">
                    <c:v/>
                  </c:pt>
                  <c:pt idx="2">
                    <c:v>Mod-Low</c:v>
                  </c:pt>
                  <c:pt idx="3">
                    <c:v/>
                  </c:pt>
                  <c:pt idx="4">
                    <c:v>Moderate</c:v>
                  </c:pt>
                  <c:pt idx="5">
                    <c:v/>
                  </c:pt>
                  <c:pt idx="6">
                    <c:v>Mod-High</c:v>
                  </c:pt>
                  <c:pt idx="7">
                    <c:v/>
                  </c:pt>
                  <c:pt idx="8">
                    <c:v>High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</c:v>
                </c:pt>
                <c:pt idx="1">
                  <c:v>30</c:v>
                </c:pt>
                <c:pt idx="2">
                  <c:v>55</c:v>
                </c:pt>
                <c:pt idx="3">
                  <c:v>72</c:v>
                </c:pt>
                <c:pt idx="4">
                  <c:v>80</c:v>
                </c:pt>
                <c:pt idx="5">
                  <c:v>75</c:v>
                </c:pt>
                <c:pt idx="6">
                  <c:v>60</c:v>
                </c:pt>
                <c:pt idx="7">
                  <c:v>40</c:v>
                </c:pt>
                <c:pt idx="8">
                  <c:v>20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Aversion System</c:v>
                </c:pt>
              </c:strCache>
            </c:strRef>
          </c:tx>
          <c:spPr>
            <a:solidFill>
              <a:srgbClr val="C05050"/>
            </a:solidFill>
            <a:ln w="25400" cap="flat">
              <a:solidFill>
                <a:srgbClr val="C050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50"/>
              </a:solidFill>
              <a:ln w="9525" cap="flat">
                <a:solidFill>
                  <a:srgbClr val="C050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Low</c:v>
                  </c:pt>
                  <c:pt idx="1">
                    <c:v/>
                  </c:pt>
                  <c:pt idx="2">
                    <c:v>Mod-Low</c:v>
                  </c:pt>
                  <c:pt idx="3">
                    <c:v/>
                  </c:pt>
                  <c:pt idx="4">
                    <c:v>Moderate</c:v>
                  </c:pt>
                  <c:pt idx="5">
                    <c:v/>
                  </c:pt>
                  <c:pt idx="6">
                    <c:v>Mod-High</c:v>
                  </c:pt>
                  <c:pt idx="7">
                    <c:v/>
                  </c:pt>
                  <c:pt idx="8">
                    <c:v>High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</c:v>
                </c:pt>
                <c:pt idx="1">
                  <c:v>8</c:v>
                </c:pt>
                <c:pt idx="2">
                  <c:v>12</c:v>
                </c:pt>
                <c:pt idx="3">
                  <c:v>18</c:v>
                </c:pt>
                <c:pt idx="4">
                  <c:v>30</c:v>
                </c:pt>
                <c:pt idx="5">
                  <c:v>48</c:v>
                </c:pt>
                <c:pt idx="6">
                  <c:v>65</c:v>
                </c:pt>
                <c:pt idx="7">
                  <c:v>80</c:v>
                </c:pt>
                <c:pt idx="8">
                  <c:v>92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Net Hedonic Tone</c:v>
                </c:pt>
              </c:strCache>
            </c:strRef>
          </c:tx>
          <c:spPr>
            <a:solidFill>
              <a:srgbClr val="C47D2B"/>
            </a:solidFill>
            <a:ln w="25400" cap="flat">
              <a:solidFill>
                <a:srgbClr val="C47D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47D2B"/>
              </a:solidFill>
              <a:ln w="9525" cap="flat">
                <a:solidFill>
                  <a:srgbClr val="C47D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Low</c:v>
                  </c:pt>
                  <c:pt idx="1">
                    <c:v/>
                  </c:pt>
                  <c:pt idx="2">
                    <c:v>Mod-Low</c:v>
                  </c:pt>
                  <c:pt idx="3">
                    <c:v/>
                  </c:pt>
                  <c:pt idx="4">
                    <c:v>Moderate</c:v>
                  </c:pt>
                  <c:pt idx="5">
                    <c:v/>
                  </c:pt>
                  <c:pt idx="6">
                    <c:v>Mod-High</c:v>
                  </c:pt>
                  <c:pt idx="7">
                    <c:v/>
                  </c:pt>
                  <c:pt idx="8">
                    <c:v>High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5</c:v>
                </c:pt>
                <c:pt idx="1">
                  <c:v>22</c:v>
                </c:pt>
                <c:pt idx="2">
                  <c:v>43</c:v>
                </c:pt>
                <c:pt idx="3">
                  <c:v>54</c:v>
                </c:pt>
                <c:pt idx="4">
                  <c:v>50</c:v>
                </c:pt>
                <c:pt idx="5">
                  <c:v>27</c:v>
                </c:pt>
                <c:pt idx="6">
                  <c:v>-5</c:v>
                </c:pt>
                <c:pt idx="7">
                  <c:v>-40</c:v>
                </c:pt>
                <c:pt idx="8">
                  <c:v>-72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D8C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Western Baseline</c:v>
                </c:pt>
              </c:strCache>
            </c:strRef>
          </c:tx>
          <c:spPr>
            <a:solidFill>
              <a:srgbClr val="3B6A9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Visual
Complexity</c:v>
                  </c:pt>
                  <c:pt idx="1">
                    <c:v>Color
Saturation</c:v>
                  </c:pt>
                  <c:pt idx="2">
                    <c:v>Acoustic
Density</c:v>
                  </c:pt>
                  <c:pt idx="3">
                    <c:v>Thermal
Range</c:v>
                  </c:pt>
                  <c:pt idx="4">
                    <c:v>Spice
Tolerance</c:v>
                  </c:pt>
                  <c:pt idx="5">
                    <c:v>Social
Proximity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</c:v>
                </c:pt>
                <c:pt idx="1">
                  <c:v>45</c:v>
                </c:pt>
                <c:pt idx="2">
                  <c:v>40</c:v>
                </c:pt>
                <c:pt idx="3">
                  <c:v>50</c:v>
                </c:pt>
                <c:pt idx="4">
                  <c:v>35</c:v>
                </c:pt>
                <c:pt idx="5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Varanasi</c:v>
                </c:pt>
              </c:strCache>
            </c:strRef>
          </c:tx>
          <c:spPr>
            <a:solidFill>
              <a:srgbClr val="C47D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Visual
Complexity</c:v>
                  </c:pt>
                  <c:pt idx="1">
                    <c:v>Color
Saturation</c:v>
                  </c:pt>
                  <c:pt idx="2">
                    <c:v>Acoustic
Density</c:v>
                  </c:pt>
                  <c:pt idx="3">
                    <c:v>Thermal
Range</c:v>
                  </c:pt>
                  <c:pt idx="4">
                    <c:v>Spice
Tolerance</c:v>
                  </c:pt>
                  <c:pt idx="5">
                    <c:v>Social
Proximity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78</c:v>
                </c:pt>
                <c:pt idx="1">
                  <c:v>82</c:v>
                </c:pt>
                <c:pt idx="2">
                  <c:v>70</c:v>
                </c:pt>
                <c:pt idx="3">
                  <c:v>75</c:v>
                </c:pt>
                <c:pt idx="4">
                  <c:v>90</c:v>
                </c:pt>
                <c:pt idx="5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D8C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Goldilocks Principle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Environmental Design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47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Brain Prefers the Middle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C47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Kirsh • Cognitive Science • UC San Diego • February 2026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47D2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Claim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137160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0584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visual complexity, acoustic intensity, temperature, material coverage,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fractal geometry, spatial proportions, and light levels—the relationship between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stimulus and human response follows an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C47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inverted-U function.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not seven coincidences. It reflects something fundamental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how the brain engages with environmental stimulation.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3474720"/>
            <a:ext cx="1371600" cy="914400"/>
          </a:xfrm>
          <a:prstGeom prst="ellipse">
            <a:avLst/>
          </a:prstGeom>
          <a:solidFill>
            <a:srgbClr val="C050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34747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Little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86200" y="3474720"/>
            <a:ext cx="1371600" cy="914400"/>
          </a:xfrm>
          <a:prstGeom prst="ellipse">
            <a:avLst/>
          </a:prstGeom>
          <a:solidFill>
            <a:srgbClr val="4A7C5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86200" y="34747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Right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3474720"/>
            <a:ext cx="1371600" cy="914400"/>
          </a:xfrm>
          <a:prstGeom prst="ellipse">
            <a:avLst/>
          </a:prstGeom>
          <a:solidFill>
            <a:srgbClr val="C050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34747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822960" cy="4572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e.g.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Inverted-U in Everyday Spaces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697480" cy="3749040"/>
          </a:xfrm>
          <a:prstGeom prst="rect">
            <a:avLst/>
          </a:prstGeom>
          <a:solidFill>
            <a:srgbClr val="E8EE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2697480" cy="640080"/>
          </a:xfrm>
          <a:prstGeom prst="rect">
            <a:avLst/>
          </a:prstGeom>
          <a:solidFill>
            <a:srgbClr val="3B6A9C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9144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Bare Hospital Corridor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2423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White walls, fluorescent light,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no variation, no views, low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complexity. Patients report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boredom, anxiety, disorientation.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PE ≈ 0: nothing to learn.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914400"/>
            <a:ext cx="2697480" cy="3749040"/>
          </a:xfrm>
          <a:prstGeom prst="rect">
            <a:avLst/>
          </a:prstGeom>
          <a:solidFill>
            <a:srgbClr val="E8F5E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914400"/>
            <a:ext cx="2697480" cy="6400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9144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Well-Designed Café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691640"/>
            <a:ext cx="2423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Wood surfaces (~40%), moderate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music (~65 dB), natural light,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varied seating nooks, plants.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People choose to work here.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PE is moderate: enough variety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to sustain engagement.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914400"/>
            <a:ext cx="2697480" cy="3749040"/>
          </a:xfrm>
          <a:prstGeom prst="rect">
            <a:avLst/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914400"/>
            <a:ext cx="2697480" cy="640080"/>
          </a:xfrm>
          <a:prstGeom prst="rect">
            <a:avLst/>
          </a:prstGeom>
          <a:solidFill>
            <a:srgbClr val="C05050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9144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Times Square at Rush Hour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1691640"/>
            <a:ext cx="2423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Extreme visual complexity,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80+ dB, flashing lights,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crowds, unpredictable motion.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Most people report stress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and a desire to leave.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PE overwhelms the model.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C47D2B"/>
                </a:solidFill>
              </a:rPr>
              <a:t>← Too little PE          Just right PE          Too much PE →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47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Evidence: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Inverted-U Functions Everywhere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Complexity: The Classic Inverted-U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017520" cy="320040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005840"/>
            <a:ext cx="2651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</a:rPr>
              <a:t>Berlyne (1971)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Fechner (1876) first documented it
Birkhoff (1933) formalized it
Berlyne gave it a mechanism
Güçlütürk et al. (2016) confirmed
it computationally
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Architecture: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Stamps (2004): building facades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Salingaros (2003): ornamental density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822960" cy="4572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e.g.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Complexity: Three Building Facades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6974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2697480" cy="548640"/>
          </a:xfrm>
          <a:prstGeom prst="rect">
            <a:avLst/>
          </a:prstGeom>
          <a:solidFill>
            <a:srgbClr val="3B6A9C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9144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Minimalist Glass Box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60020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A corporate glass tower: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repetitive grid, no ornament,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no material variation.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D ≈ 1.0–1.1.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Rated: “cold,” “sterile,”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“forgettable.” Berlyne: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insufficient collative properties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→ no exploratory engagement.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914400"/>
            <a:ext cx="26974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914400"/>
            <a:ext cx="2697480" cy="54864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9144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Gothic Cathedral Facade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5848" y="160020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Chartres Cathedral: D ≈ 1.3–1.4.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Hierarchical ornament at multiple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scales. Rose window, archivolts,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columns, statuary, texture.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Rated: “fascinating,” “inspiring.”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Complexity is high but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organized—self-similar 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multiple scales = 1/f statistics.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914400"/>
            <a:ext cx="26974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914400"/>
            <a:ext cx="2697480" cy="548640"/>
          </a:xfrm>
          <a:prstGeom prst="rect">
            <a:avLst/>
          </a:prstGeom>
          <a:solidFill>
            <a:srgbClr val="C05050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9144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Unrestored Kowloon Walled City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81928" y="160020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D ≈ 1.7–1.9. Random accretion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of structures, no organizing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principle, clashing materials,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no visual hierarchy.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Rated: “overwhelming,”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“chaotic.” PE exceeds model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capacity at every level of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the visual hierarchy.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Channels, One Pattern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920240" cy="1737360"/>
          </a:xfrm>
          <a:prstGeom prst="rect">
            <a:avLst/>
          </a:prstGeom>
          <a:solidFill>
            <a:srgbClr val="C47D2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Visual
Complexity
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D0D0"/>
                </a:solidFill>
              </a:rPr>
              <a:t>Optimum: D ≈ 1.3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06040" y="914400"/>
            <a:ext cx="1920240" cy="1737360"/>
          </a:xfrm>
          <a:prstGeom prst="rect">
            <a:avLst/>
          </a:prstGeom>
          <a:solidFill>
            <a:srgbClr val="2B8C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97480" y="10972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Acoustic
Intensity
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D0D0"/>
                </a:solidFill>
              </a:rPr>
              <a:t>Optimum: ~70 dB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1920240" cy="1737360"/>
          </a:xfrm>
          <a:prstGeom prst="rect">
            <a:avLst/>
          </a:prstGeom>
          <a:solidFill>
            <a:srgbClr val="B8504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0972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Temperature
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D0D0"/>
                </a:solidFill>
              </a:rPr>
              <a:t>Optimum: 22± 2°C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03720" y="914400"/>
            <a:ext cx="1920240" cy="1737360"/>
          </a:xfrm>
          <a:prstGeom prst="rect">
            <a:avLst/>
          </a:prstGeom>
          <a:solidFill>
            <a:srgbClr val="4A7C5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95160" y="10972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Wood
Coverage
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D0D0"/>
                </a:solidFill>
              </a:rPr>
              <a:t>Optimum: ~45%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1920240" cy="1737360"/>
          </a:xfrm>
          <a:prstGeom prst="rect">
            <a:avLst/>
          </a:prstGeom>
          <a:solidFill>
            <a:srgbClr val="6B3B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10896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Fractal D
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D0D0"/>
                </a:solidFill>
              </a:rPr>
              <a:t>Optimum: D ≈ 1.3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06040" y="2926080"/>
            <a:ext cx="1920240" cy="1737360"/>
          </a:xfrm>
          <a:prstGeom prst="rect">
            <a:avLst/>
          </a:prstGeom>
          <a:solidFill>
            <a:srgbClr val="3B6A9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97480" y="310896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Ceiling
Height
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D0D0"/>
                </a:solidFill>
              </a:rPr>
              <a:t>Optimum: 3.0–3.5m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1920240" cy="173736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310896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Light
Level
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D0D0"/>
                </a:solidFill>
              </a:rPr>
              <a:t>Optimum: 500–1000 lux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822960" cy="4572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e.g.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Copenhagen Library Analyzed Across All Seven Channels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94560" y="822960"/>
            <a:ext cx="2194560" cy="822960"/>
          </a:xfrm>
          <a:prstGeom prst="rect">
            <a:avLst/>
          </a:prstGeom>
          <a:solidFill>
            <a:srgbClr val="C050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0" y="8229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NOT this: bare white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box with fluorescent tubes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822960"/>
            <a:ext cx="2194560" cy="822960"/>
          </a:xfrm>
          <a:prstGeom prst="rect">
            <a:avLst/>
          </a:prstGeom>
          <a:solidFill>
            <a:srgbClr val="4A7C5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8229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THIS: varied wood tones,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book spines, reading nooks,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plants = D ≈ 1.3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49440" y="822960"/>
            <a:ext cx="2194560" cy="822960"/>
          </a:xfrm>
          <a:prstGeom prst="rect">
            <a:avLst/>
          </a:prstGeom>
          <a:solidFill>
            <a:srgbClr val="C050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040880" y="8229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NOT this: floor-to-ceiling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random posters and signage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17373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Acoustics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194560" y="1737360"/>
            <a:ext cx="2194560" cy="822960"/>
          </a:xfrm>
          <a:prstGeom prst="rect">
            <a:avLst/>
          </a:prstGeom>
          <a:solidFill>
            <a:srgbClr val="C050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286000" y="17373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Silent exam hall: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&lt; 30 dB, clock ticking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feels oppressive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737360"/>
            <a:ext cx="2194560" cy="822960"/>
          </a:xfrm>
          <a:prstGeom prst="rect">
            <a:avLst/>
          </a:prstGeom>
          <a:solidFill>
            <a:srgbClr val="4A7C5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17373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Soft ambient hum: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~45 dB, muffled footsteps,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page-turning = just right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9440" y="1737360"/>
            <a:ext cx="2194560" cy="822960"/>
          </a:xfrm>
          <a:prstGeom prst="rect">
            <a:avLst/>
          </a:prstGeom>
          <a:solidFill>
            <a:srgbClr val="C050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40880" y="17373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Open-plan co-work: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&gt; 65 dB, phone calls,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music bleeding through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6517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Temperature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194560" y="2651760"/>
            <a:ext cx="2194560" cy="822960"/>
          </a:xfrm>
          <a:prstGeom prst="rect">
            <a:avLst/>
          </a:prstGeom>
          <a:solidFill>
            <a:srgbClr val="C050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286000" y="26517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Under-heated reading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room: 17°C, cold hands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= can’t focus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2651760"/>
            <a:ext cx="2194560" cy="822960"/>
          </a:xfrm>
          <a:prstGeom prst="rect">
            <a:avLst/>
          </a:prstGeom>
          <a:solidFill>
            <a:srgbClr val="4A7C5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63440" y="26517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22°C, imperceptible: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you forget about temp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entirely = optimal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49440" y="2651760"/>
            <a:ext cx="2194560" cy="822960"/>
          </a:xfrm>
          <a:prstGeom prst="rect">
            <a:avLst/>
          </a:prstGeom>
          <a:solidFill>
            <a:srgbClr val="C050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040880" y="26517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Over-heated: 27°C,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drowsy, stuffy = HPA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stress diverts resources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35661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194560" y="3566160"/>
            <a:ext cx="2194560" cy="822960"/>
          </a:xfrm>
          <a:prstGeom prst="rect">
            <a:avLst/>
          </a:prstGeom>
          <a:solidFill>
            <a:srgbClr val="C050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286000" y="3566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Basement stacks: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50 lux, straining 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read, circadian disruption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3566160"/>
            <a:ext cx="2194560" cy="822960"/>
          </a:xfrm>
          <a:prstGeom prst="rect">
            <a:avLst/>
          </a:prstGeom>
          <a:solidFill>
            <a:srgbClr val="4A7C5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63440" y="3566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Reading room: 500 lux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blue-enriched daylight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through clerestory windows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49440" y="3566160"/>
            <a:ext cx="2194560" cy="822960"/>
          </a:xfrm>
          <a:prstGeom prst="rect">
            <a:avLst/>
          </a:prstGeom>
          <a:solidFill>
            <a:srgbClr val="C050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040880" y="3566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Direct sun glare 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screen: 3000+ lux,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visual discomfort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C47D2B"/>
                </a:solidFill>
              </a:rPr>
              <a:t>The same building can be Goldilocks-optimal in one room and violating in the next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Acoustic Intensity: Creative Tasks Only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017520" cy="1463040"/>
          </a:xfrm>
          <a:prstGeom prst="rect">
            <a:avLst/>
          </a:prstGeom>
          <a:solidFill>
            <a:srgbClr val="E8EE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00584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</a:rPr>
              <a:t>Mehta et al. (2012)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Moderate noise mildly defocuses attention → broader associative activation → enhanced creative insight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760720" y="2560320"/>
            <a:ext cx="3017520" cy="1463040"/>
          </a:xfrm>
          <a:prstGeom prst="rect">
            <a:avLst/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0" y="265176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050"/>
                </a:solidFill>
              </a:rPr>
              <a:t>But NOT for focused tasks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Focused work shows monotonically negative effects of noise (Banbury &amp; Berry, 2005)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822960" cy="4572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e.g.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Coffee Shop Effect: Why Writers Go to Cafés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023360" cy="3840480"/>
          </a:xfrm>
          <a:prstGeom prst="rect">
            <a:avLst/>
          </a:prstGeom>
          <a:solidFill>
            <a:srgbClr val="E8F5E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0584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A7C59"/>
                </a:solidFill>
              </a:rPr>
              <a:t>The writer in the café
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Ambient noise at ~65–70 dB: espresso machine, muffled conversation, music.
</a:t>
            </a:r>
            <a:endParaRPr lang="en-US" sz="15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Neural mechanism: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Unpredictable auditory input sends mild phasic LC-NE bursts that partially disrupt the default mode network’s tendency toward ruminative, narrow processing. This opens a wider associative search space without fully capturing attention.
</a:t>
            </a:r>
            <a:endParaRPr lang="en-US" sz="15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C2C2C"/>
                </a:solidFill>
              </a:rPr>
              <a:t>The writer produces more novel ideas than in silence—but the same noise would devastate a coder debugging a complex function.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114800" cy="3840480"/>
          </a:xfrm>
          <a:prstGeom prst="rect">
            <a:avLst/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005840"/>
            <a:ext cx="3749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05050"/>
                </a:solidFill>
              </a:rPr>
              <a:t>The surgeon in the OR
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Operating rooms: random alarms, team chatter, equipment noise. Studies show surgeon error rates rise 30–66% with background music and speech (Miskovic et al., 2008).
</a:t>
            </a:r>
            <a:endParaRPr lang="en-US" sz="15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Neural mechanism: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Surgical tasks demand sustained focused attention (tonic LC mode). ANY phasic disruption causes micro-switches to the ventral attention network, costing 0.5–2 seconds of reorientation per burst.
</a:t>
            </a:r>
            <a:endParaRPr lang="en-US" sz="15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C2C2C"/>
                </a:solidFill>
              </a:rPr>
              <a:t>Same acoustic intensity, opposite cognitive effect—because the task determines where on the inverted-U you need to be.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Wood Surfaces: Peak at ~45% Coverage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017520" cy="3200400"/>
          </a:xfrm>
          <a:prstGeom prst="rect">
            <a:avLst/>
          </a:prstGeom>
          <a:solidFill>
            <a:srgbClr val="E8F5E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005840"/>
            <a:ext cx="2651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7C59"/>
                </a:solidFill>
              </a:rPr>
              <a:t>Three theories converge:
</a:t>
            </a: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</a:rPr>
              <a:t>1. Biophilia
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Evolved affiliation with natural materials
</a:t>
            </a: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</a:rPr>
              <a:t>2. Fractal Fluency
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V1/V2 processing efficiency for 1/f grain
</a:t>
            </a: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</a:rPr>
              <a:t>3. Predictive Processing
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Low prediction error for natural statistics
</a:t>
            </a:r>
            <a:endParaRPr lang="en-US" sz="1300" dirty="0"/>
          </a:p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&gt;90% wood = monotony + claustrophobia</a:t>
            </a:r>
            <a:endParaRPr lang="en-US" sz="1300" dirty="0"/>
          </a:p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(Nyrud &amp; Bringslimark, 2010)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822960" cy="4572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e.g.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Wood: Three Rooms at 15%, 45%, and 90%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6974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2697480" cy="548640"/>
          </a:xfrm>
          <a:prstGeom prst="rect">
            <a:avLst/>
          </a:prstGeom>
          <a:solidFill>
            <a:srgbClr val="3B6A9C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9144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 Wood: Token Accent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60020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A white-walled office with 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wooden shelf. The wood 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insufficient to register as 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coherent material signal.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Fractal grain visible on only 15%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of visual field → too few 1/f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samples for V1/V2 to establish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processing fluency.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d ≈ 0.10–0.15 (barely detectable).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914400"/>
            <a:ext cx="26974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914400"/>
            <a:ext cx="2697480" cy="54864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9144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 Wood: The Sweet Spot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55848" y="160020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Japanese hinoki room: wooden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floor, one accent wall, ceiling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beams. White plaster counterpoint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provides contrast and variety.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Fractal grain covers enough visual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field for processing fluency without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monotony. Multiple materials = 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stays in the learnable range.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d ≈ 0.45–0.55 for ↓ cortisol.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Sakuragawa et al. (2005).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914400"/>
            <a:ext cx="26974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914400"/>
            <a:ext cx="2697480" cy="548640"/>
          </a:xfrm>
          <a:prstGeom prst="rect">
            <a:avLst/>
          </a:prstGeom>
          <a:solidFill>
            <a:srgbClr val="C05050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9144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 Wood: The Log Cabin Problem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81928" y="160020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Floor, walls, ceiling, furniture 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wood. The room feels “closed in,”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“heavy,” “suffocating.”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No material variation → PE ≈ 0.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Pattern monotony triggers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Berlyne boredom response.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Visual field becomes uniform 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no information gain at any scale.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d &lt; 0.10 (Tsunetsugu et al., 2007).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47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Boring vs. Stimulating: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Berlyne’s Full Framework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Berlyne’s Four Collative Variables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1920240" cy="640080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2C2C"/>
                </a:solidFill>
              </a:rPr>
              <a:t>Number &amp; variety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C2C2C"/>
                </a:solidFill>
              </a:rPr>
              <a:t>of elements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3703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7D2B"/>
                </a:solidFill>
              </a:rPr>
              <a:t>Each produces its own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C47D2B"/>
                </a:solidFill>
              </a:rPr>
              <a:t>inverted-U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91440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914400"/>
            <a:ext cx="1920240" cy="640080"/>
          </a:xfrm>
          <a:prstGeom prst="rect">
            <a:avLst/>
          </a:prstGeom>
          <a:solidFill>
            <a:srgbClr val="2B8C8C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960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Novelty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0" y="1691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2C2C"/>
                </a:solidFill>
              </a:rPr>
              <a:t>Difference from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C2C2C"/>
                </a:solidFill>
              </a:rPr>
              <a:t>expectation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3703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7D2B"/>
                </a:solidFill>
              </a:rPr>
              <a:t>Each produces its own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C47D2B"/>
                </a:solidFill>
              </a:rPr>
              <a:t>inverted-U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91440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914400"/>
            <a:ext cx="1920240" cy="6400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960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Incongruity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1691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2C2C"/>
                </a:solidFill>
              </a:rPr>
              <a:t>Elements conflict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C2C2C"/>
                </a:solidFill>
              </a:rPr>
              <a:t>with context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3703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7D2B"/>
                </a:solidFill>
              </a:rPr>
              <a:t>Each produces its own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C47D2B"/>
                </a:solidFill>
              </a:rPr>
              <a:t>inverted-U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03720" y="91440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914400"/>
            <a:ext cx="1920240" cy="640080"/>
          </a:xfrm>
          <a:prstGeom prst="rect">
            <a:avLst/>
          </a:prstGeom>
          <a:solidFill>
            <a:srgbClr val="6B3B8C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960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Surprisingness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1691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2C2C"/>
                </a:solidFill>
              </a:rPr>
              <a:t>Violates specific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C2C2C"/>
                </a:solidFill>
              </a:rPr>
              <a:t>predictions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3703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7D2B"/>
                </a:solidFill>
              </a:rPr>
              <a:t>Each produces its own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C47D2B"/>
                </a:solidFill>
              </a:rPr>
              <a:t>inverted-U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822960" cy="4572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e.g.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Berlyne’s Four Variables in Architecture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109728" cy="914400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777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47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0" y="77724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Gaudi’s Sagrada Familia vs. a Mies van der Rohe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pavilion. Sagrada: extreme ornamental complexity 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every scale—yet organized by biological logic, so 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feels rich rather than chaotic. Mies: elegant simplicity—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but walk through it for 30 minutes and boredom sets in.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The inverted-U explains both reactions.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56232"/>
            <a:ext cx="109728" cy="914400"/>
          </a:xfrm>
          <a:prstGeom prst="rect">
            <a:avLst/>
          </a:prstGeom>
          <a:solidFill>
            <a:srgbClr val="2B8C8C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85623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Novelty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0" y="1856232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Your first day in a new city vs. your 100th day. Day 1: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everything is novel, attention is heightened, cortisol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elevated, exploration intense. Day 100: habituation has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reduced PE to near zero for familiar routes. Novel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architecture ages: a striking building becomes invisible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with familiarity. The inverted-U shifts along the x-axis.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935224"/>
            <a:ext cx="109728" cy="9144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935224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Incongruity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11680" y="2935224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Gehry’s Guggenheim Bilbao in a 19th-century Spanish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city: titanium curves amid stone facades. Moderate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incongruity → delight and engagement (tourists travel 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see it). Imagine the same building in a nature preserve: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excessive incongruity → offense and protest.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4014216"/>
            <a:ext cx="109728" cy="914400"/>
          </a:xfrm>
          <a:prstGeom prst="rect">
            <a:avLst/>
          </a:prstGeom>
          <a:solidFill>
            <a:srgbClr val="6B3B8C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4014216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3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Surprisingness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11680" y="4014216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Tadao Ando’s Church of the Light: a plain concrete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box—then a cruciform slit floods the altar with light.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The surprise violates your prediction of a dark interior.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Moderate surprisingness = awe. Extreme surprisingness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(a floor that gives way, a wall that moves) = anxiety.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Berlyne’s Two-System Model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914400"/>
            <a:ext cx="2834640" cy="228600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26480" y="1005840"/>
            <a:ext cx="2651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Modern translation:
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</a:rPr>
              <a:t>Reward =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mesolimbic dopamine for learnable PE
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05050"/>
                </a:solidFill>
              </a:rPr>
              <a:t>Aversion =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anterior insula + dACC for PE exceeding model
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47D2B"/>
                </a:solidFill>
              </a:rPr>
              <a:t>Net =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the inverted-U: peak where dopamine &gt; insula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822960" cy="4572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e.g.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 Systems at Work: Walking Through a Museum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393192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91440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</a:rPr>
              <a:t>Imagine walking through the Louvre:
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B6A9C"/>
                </a:solidFill>
              </a:rPr>
              <a:t>Room 1: Empty white hallway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(transition corridor). Reward system barely activated—nothing to predict, nothing to learn. Aversion system mildly activated—something feels wrong about the emptiness. Net: slight negative. You walk faster.
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7C59"/>
                </a:solidFill>
              </a:rPr>
              <a:t>Room 2: Vermeer gallery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(6 paintings, warm light, intimate scale). Reward system strongly activated—each painting provides learnable surprise, the light is warm, the scale is human. Aversion system barely activated—nothing threatening or overwhelming. Net: strong positive. You linger.
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05050"/>
                </a:solidFill>
              </a:rPr>
              <a:t>Room 3: Grande Galerie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(500m of paintings floor-to-ceiling, tourist crowds). Reward system activated—so much to see—but aversion system also strongly activated: too many PE sources competing for attention, social density, acoustic chaos. Net: mixed → “museum fatigue.” You need to sit down.
</a:t>
            </a:r>
            <a:endParaRPr lang="en-US" sz="1400" dirty="0"/>
          </a:p>
          <a:p>
            <a:pPr indent="0" marL="0">
              <a:buNone/>
            </a:pPr>
            <a:r>
              <a:rPr lang="en-US" sz="1100" b="1" i="1" dirty="0">
                <a:solidFill>
                  <a:srgbClr val="C47D2B"/>
                </a:solidFill>
              </a:rPr>
              <a:t>The museum walk is a journey along the inverted-U: under-stimulation → sweet spot → over-stimulation, all within the same building.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Berlyne Missed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09728" cy="1097280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7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Multi-Channel Independence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280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The inverted-U operates independently in each sensory channel.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Channels interact through shared arousal pathways (LC-NE).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109728" cy="1097280"/>
          </a:xfrm>
          <a:prstGeom prst="rect">
            <a:avLst/>
          </a:prstGeom>
          <a:solidFill>
            <a:srgbClr val="2B8C8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Dependence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Creative tasks prefer higher stimulation; focused tasks prefer lower.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The optimal level shifts with what you’re doing.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109728" cy="10972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 Variation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40233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Goldilocks set-points shift across cultures. India fieldwork shows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correlated elevation across ALL modalities simultaneously.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822960" cy="4572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e.g.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Dependence: Same Room, Two Tasks, Opposite Effects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4023360" cy="3931920"/>
          </a:xfrm>
          <a:prstGeom prst="rect">
            <a:avLst/>
          </a:prstGeom>
          <a:solidFill>
            <a:srgbClr val="E8F5E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914400"/>
            <a:ext cx="3657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</a:rPr>
              <a:t>Brainstorming session (10am)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Room: Open atrium, 4m ceiling, south windows, coffee-shop acoustics (~65 dB), wood and plants.
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Effect: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High ceiling primes abstract thinking (T007, d≈0.4). Moderate noise broadens associative search. Natural light and views sustain engagement without fatigue. Compound d ≈ 0.6.
</a:t>
            </a:r>
            <a:endParaRPr lang="en-US" sz="1400" dirty="0"/>
          </a:p>
          <a:p>
            <a:pPr indent="0" marL="0">
              <a:buNone/>
            </a:pPr>
            <a:r>
              <a:rPr lang="en-US" sz="1100" b="1" i="1" dirty="0">
                <a:solidFill>
                  <a:srgbClr val="4A7C59"/>
                </a:solidFill>
              </a:rPr>
              <a:t>This room is OPTIMAL for creative work.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114800" cy="3931920"/>
          </a:xfrm>
          <a:prstGeom prst="rect">
            <a:avLst/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914400"/>
            <a:ext cx="3749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5050"/>
                </a:solidFill>
              </a:rPr>
              <a:t>Code review session (2pm)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Same room. Same team. Same environment.
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Effect: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High ceiling IMPAIRS detail focus (T007neg, d≈–0.3). Coffee-shop noise causes constant phasic LC interruption. Nature view captures involuntary attention away from screen.
Compound d ≈ –0.15 to +0.10.
</a:t>
            </a:r>
            <a:endParaRPr lang="en-US" sz="1400" dirty="0"/>
          </a:p>
          <a:p>
            <a:pPr indent="0" marL="0">
              <a:buNone/>
            </a:pPr>
            <a:r>
              <a:rPr lang="en-US" sz="1100" b="1" i="1" dirty="0">
                <a:solidFill>
                  <a:srgbClr val="C05050"/>
                </a:solidFill>
              </a:rPr>
              <a:t>This room is ANTI-OPTIMAL for focused work.</a:t>
            </a:r>
            <a:endParaRPr lang="en-US" sz="1400" dirty="0"/>
          </a:p>
          <a:p>
            <a:pPr indent="0" marL="0">
              <a:buNone/>
            </a:pPr>
            <a:r>
              <a:rPr lang="en-US" sz="1100" b="1" i="1" dirty="0">
                <a:solidFill>
                  <a:srgbClr val="C05050"/>
                </a:solidFill>
              </a:rPr>
              <a:t>Same environment. Different task. Opposite Goldilocks position.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47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Processing: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Best Framework, But Not Enough</a:t>
            </a:r>
            <a:endParaRPr lang="en-US" sz="3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PP Explains WHY the Inverted-U Exists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3474720"/>
          </a:xfrm>
          <a:prstGeom prst="rect">
            <a:avLst/>
          </a:prstGeom>
          <a:solidFill>
            <a:srgbClr val="E8EE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2560320" cy="548640"/>
          </a:xfrm>
          <a:prstGeom prst="rect">
            <a:avLst/>
          </a:prstGeom>
          <a:solidFill>
            <a:srgbClr val="3B6A9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PE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No information gain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Neural habituation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Reduced dopamine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BOREDOM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914400"/>
            <a:ext cx="2560320" cy="3474720"/>
          </a:xfrm>
          <a:prstGeom prst="rect">
            <a:avLst/>
          </a:prstGeom>
          <a:solidFill>
            <a:srgbClr val="E8F5E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914400"/>
            <a:ext cx="2560320" cy="54864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960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Moderate PE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164592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Learnable surprise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Model updating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Dopamine reward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ENGAGEMENT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914400"/>
            <a:ext cx="2560320" cy="3474720"/>
          </a:xfrm>
          <a:prstGeom prst="rect">
            <a:avLst/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914400"/>
            <a:ext cx="2560320" cy="548640"/>
          </a:xfrm>
          <a:prstGeom prst="rect">
            <a:avLst/>
          </a:prstGeom>
          <a:solidFill>
            <a:srgbClr val="C05050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960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Excessive PE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164592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Model failure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Insula + dACC alarm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HPA cortisol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ANXIETY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822960" cy="4572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e.g.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PE Zones in Your Morning Commute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26974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2697480" cy="640080"/>
          </a:xfrm>
          <a:prstGeom prst="rect">
            <a:avLst/>
          </a:prstGeom>
          <a:solidFill>
            <a:srgbClr val="3B6A9C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86868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PE: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Familiar Route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64592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You’ve driven this road 2,000 times.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Every turn is predicted. The visual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model generates zero error. Your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mind wanders—you arrive and can’t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remember the drive. LC is in low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tonic mode. Attention is elsewhere.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Architectural parallel: a corridor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you’ve walked 10,000 times.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Invisible. No cognitive engagement.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868680"/>
            <a:ext cx="26974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868680"/>
            <a:ext cx="2697480" cy="6400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86868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Moderate PE: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New Side Street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55848" y="164592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You take a different route. New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buildings, unfamiliar intersections,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a park you didn’t know existed.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Each turn generates learnable PE.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You’re alert, curious, noticing.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Dopamine reward for successful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navigation.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Architectural parallel: a building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with just enough variation 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sustain interest on the 100th visit.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868680"/>
            <a:ext cx="26974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868680"/>
            <a:ext cx="2697480" cy="640080"/>
          </a:xfrm>
          <a:prstGeom prst="rect">
            <a:avLst/>
          </a:prstGeom>
          <a:solidFill>
            <a:srgbClr val="C05050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86868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Excessive PE: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Lost in a Foreign City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81928" y="164592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No street signs you can read. No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familiar landmarks. Traffic rules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you don’t understand. Every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intersection is a model failure.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Cortisol rises. Anxiety builds.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You want to find somewhere safe.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Architectural parallel: a building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with no wayfinding cues, random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layouts, disorienting geometry.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Limitations of PP for the Goldilocks Principle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86868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Normative Gap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26080" y="868680"/>
            <a:ext cx="5486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PP says minimize PE. Goldilocks says optimize it. The dark room problem.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09928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70992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Task-Specific Optima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1709928"/>
            <a:ext cx="5486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PP doesn’t predict creative tasks prefer higher PE than focused tasks.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51176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55117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Multi-Channel Structure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2551176"/>
            <a:ext cx="5486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PP operates within modalities. Doesn’t predict cross-modal compensation.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92424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392424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Cultural Set-Points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3392424"/>
            <a:ext cx="5486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PP predicts modality-specific prior shifts. India shows correlated shift.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233672"/>
            <a:ext cx="8229600" cy="713232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423367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Prospect-Refuge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26080" y="4233672"/>
            <a:ext cx="5486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PP predicts max prospect + max refuge. But intermediate is preferred.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822960" cy="4572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e.g.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PP Fails: The Dark Room and the Prospect-Refuge Puzzle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4023360" cy="3931920"/>
          </a:xfrm>
          <a:prstGeom prst="rect">
            <a:avLst/>
          </a:prstGeom>
          <a:solidFill>
            <a:srgbClr val="E8EE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914400"/>
            <a:ext cx="3657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</a:rPr>
              <a:t>The Dark Room Problem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PP says: minimize prediction error.
The best way to minimize PE is to sit in a dark, silent, unchanging room where nothing ever surprises you. PE = 0. Free energy minimized.
But nobody wants to live in a dark room. People voluntarily seek out novelty, variety, stimulation. Why?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PP’s answer: “active inference” and “expected free energy.” But these are additions to the framework, not predictions from it.
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Goldilocks’ answer: the brain doesn’t minimize PE. It OPTIMIZES it. Zero PE is as bad as excessive PE. The target is moderate PE.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114800" cy="393192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914400"/>
            <a:ext cx="3749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47D2B"/>
                </a:solidFill>
              </a:rPr>
              <a:t>The Prospect-Refuge Puzzle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PP predicts: max prospect (open view = max prediction) + max refuge (enclosure = max safety) should be monotonically preferred.
But Dosen &amp; Ostwald (2016) found people prefer INTERMEDIATE enclosure: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• Fully enclosed (100%): claustrophobic
• Fully open (0%): exposed, vulnerable
• Alcove with partial view (40–60%): safe + engaged
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C2C2C"/>
                </a:solidFill>
              </a:rPr>
              <a:t>Think: reading in a bay window. Your back is protected. You can see the street. Not too open, not too closed.
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47D2B"/>
                </a:solidFill>
              </a:rPr>
              <a:t>PP cannot derive this inverted-U. Goldilocks predicts it.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47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Fieldwork: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 Goldilocks Set-Points</a:t>
            </a:r>
            <a:endParaRPr lang="en-US" sz="3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Multi-Modal Set-Point Elevation: Varanasi vs. Western Baselines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84124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47D2B"/>
                </a:solidFill>
              </a:rPr>
              <a:t>All modalities shift in the same direction → single underlying parameter?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822960" cy="4572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e.g.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Varanasi Ghat vs. Stockholm Apartment: Two Goldilocks Profiles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4023360" cy="393192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914400"/>
            <a:ext cx="3657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47D2B"/>
                </a:solidFill>
              </a:rPr>
              <a:t>Dashashwamedh Ghat, Varanasi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Visual: D ≈ 1.6–1.8. Hundreds of colors, saris, temple carvings, boats, fires, flowers. Constant motion.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Acoustic: 70–80 dB. Bells, chanting, vendors, river sounds, all simultaneous.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Thermal: 35°C+ in summer. Tolerated.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Olfactory: Incense + marigold + cooking + river. Dense, layered, intense.
</a:t>
            </a:r>
            <a:endParaRPr lang="en-US" sz="1400" dirty="0"/>
          </a:p>
          <a:p>
            <a:pPr indent="0" marL="0">
              <a:buNone/>
            </a:pPr>
            <a:r>
              <a:rPr lang="en-US" sz="1100" b="1" i="1" dirty="0">
                <a:solidFill>
                  <a:srgbClr val="C47D2B"/>
                </a:solidFill>
              </a:rPr>
              <a:t>People sit here for hours. They are COMFORTABLE. This is their Goldilocks zone.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114800" cy="3931920"/>
          </a:xfrm>
          <a:prstGeom prst="rect">
            <a:avLst/>
          </a:prstGeom>
          <a:solidFill>
            <a:srgbClr val="E8EE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914400"/>
            <a:ext cx="3749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6A9C"/>
                </a:solidFill>
              </a:rPr>
              <a:t>Apartment, Stockholm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Visual: D ≈ 1.1–1.2. White walls, blond wood, one plant, clean lines. Almost no ornament.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Acoustic: &lt; 35 dB. Triple-glazed windows. Clock ticking is audible.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Thermal: 21°C. Precisely regulated.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Olfactory: Neutral. Perhaps faint coffee.
</a:t>
            </a:r>
            <a:endParaRPr lang="en-US" sz="1400" dirty="0"/>
          </a:p>
          <a:p>
            <a:pPr indent="0" marL="0">
              <a:buNone/>
            </a:pPr>
            <a:r>
              <a:rPr lang="en-US" sz="1100" b="1" i="1" dirty="0">
                <a:solidFill>
                  <a:srgbClr val="3B6A9C"/>
                </a:solidFill>
              </a:rPr>
              <a:t>Residents find this COMFORTABLE. The Varanasi ghat would be overwhelming.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b="1" i="1" dirty="0">
                <a:solidFill>
                  <a:srgbClr val="3B6A9C"/>
                </a:solidFill>
              </a:rPr>
              <a:t>This is THEIR Goldilocks zone.</a:t>
            </a:r>
            <a:endParaRPr lang="en-US" sz="1400" dirty="0"/>
          </a:p>
          <a:p>
            <a:pPr indent="0" marL="0">
              <a:buNone/>
            </a:pPr>
            <a:r>
              <a:rPr lang="en-US" sz="1100" b="1" i="1" dirty="0">
                <a:solidFill>
                  <a:srgbClr val="3B6A9C"/>
                </a:solidFill>
              </a:rPr>
              <a:t>Same principle. Different parameters.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47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Applications: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Designing with the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Goldilocks Principle</a:t>
            </a:r>
            <a:endParaRPr lang="en-US" sz="3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Hospitals: The Multi-Channel Goldilocks Catastrophe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1645920"/>
          </a:xfrm>
          <a:prstGeom prst="rect">
            <a:avLst/>
          </a:prstGeom>
          <a:solidFill>
            <a:srgbClr val="C050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515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Visual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EXTREME complexity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(equipment, signage)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37560" y="914400"/>
            <a:ext cx="2651760" cy="1645920"/>
          </a:xfrm>
          <a:prstGeom prst="rect">
            <a:avLst/>
          </a:prstGeom>
          <a:solidFill>
            <a:srgbClr val="C050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0515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Acoustic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UNPREDICTABLE alarms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at random intervals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914400"/>
            <a:ext cx="2651760" cy="1645920"/>
          </a:xfrm>
          <a:prstGeom prst="rect">
            <a:avLst/>
          </a:prstGeom>
          <a:solidFill>
            <a:srgbClr val="C050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55080" y="10515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Thermal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INCONSISTENT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(cold corridors, warm rooms)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2651760" cy="1645920"/>
          </a:xfrm>
          <a:prstGeom prst="rect">
            <a:avLst/>
          </a:prstGeom>
          <a:solidFill>
            <a:srgbClr val="C050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9718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Olfactory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INCONGRUENT chemicals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in healing contexts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37560" y="2834640"/>
            <a:ext cx="2651760" cy="1645920"/>
          </a:xfrm>
          <a:prstGeom prst="rect">
            <a:avLst/>
          </a:prstGeom>
          <a:solidFill>
            <a:srgbClr val="C050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0" y="29718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Spatial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NO REFUGE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(long exposed corridors)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834640"/>
            <a:ext cx="2651760" cy="1645920"/>
          </a:xfrm>
          <a:prstGeom prst="rect">
            <a:avLst/>
          </a:prstGeom>
          <a:solidFill>
            <a:srgbClr val="4A7C5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29718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Goldilocks Fix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COORDINATED multi-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channel intervention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822960" cy="4572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e.g.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 Before/After: The Khoo Teck Puat Hospital, Singapore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4023360" cy="3931920"/>
          </a:xfrm>
          <a:prstGeom prst="rect">
            <a:avLst/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914400"/>
            <a:ext cx="3657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5050"/>
                </a:solidFill>
              </a:rPr>
              <a:t>Typical Hospital Ward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Visual: fluorescent panels on dropped ceiling tiles. Equipment, cords, monitors everywhere. D ≈ 1.6–1.8 but disorganized—high complexity without hierarchy.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Acoustic: alarms fire every 45–90 seconds on a typical ward (Cvach, 2012). Each alarm = phasic LC burst = attention capture. Cumulative: hundreds of attention interruptions per hour.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Olfactory: cleaning chemicals (ammonia, bleach) in a context where the brain expects “healing.” Cross-modal incongruence PE.
</a:t>
            </a:r>
            <a:endParaRPr lang="en-US" sz="14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05050"/>
                </a:solidFill>
              </a:rPr>
              <a:t>Patient outcome: elevated cortisol, disrupted sleep, slower wound healing (Ulrich et al., 2008).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114800" cy="3931920"/>
          </a:xfrm>
          <a:prstGeom prst="rect">
            <a:avLst/>
          </a:prstGeom>
          <a:solidFill>
            <a:srgbClr val="E8F5E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914400"/>
            <a:ext cx="3749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</a:rPr>
              <a:t>Khoo Teck Puat Hospital
(Biophilic, multi-channel)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Visual: garden views from every bed. Organized complexity (D ≈ 1.3) from vegetation at multiple scales. Warm wood accents at ~35–40%.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Acoustic: smart alarm triage reduces false alarms by 70%. Water features provide constant broadband masking (~45 dB), suppressing phasic responses.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Olfactory: garden scents enter wards through operable windows. Congruent with “healing garden” context.
</a:t>
            </a:r>
            <a:endParaRPr lang="en-US" sz="14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A7C59"/>
                </a:solidFill>
              </a:rPr>
              <a:t>Outcome: 30% faster recovery, 50% less sedative use, significantly improved patient satisfaction (Tan, 2013).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Open-Plan Offices: The LC-NE Disaster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914400"/>
          </a:xfrm>
          <a:prstGeom prst="rect">
            <a:avLst/>
          </a:prstGeom>
          <a:solidFill>
            <a:srgbClr val="C050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Unpredictable Speech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→ Phasic LC bursts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1005840"/>
            <a:ext cx="2560320" cy="914400"/>
          </a:xfrm>
          <a:prstGeom prst="rect">
            <a:avLst/>
          </a:prstGeom>
          <a:solidFill>
            <a:srgbClr val="3B6A9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10058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Poor Interior Daylight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→ Weak tonic LC mode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005840"/>
            <a:ext cx="2560320" cy="914400"/>
          </a:xfrm>
          <a:prstGeom prst="rect">
            <a:avLst/>
          </a:prstGeom>
          <a:solidFill>
            <a:srgbClr val="B8504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26480" y="10058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 Refuge Zones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→ No escape from intrusion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194560"/>
            <a:ext cx="2560320" cy="82296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21945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7D2B"/>
                </a:solidFill>
              </a:rPr>
              <a:t>Locus Coeruleus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47D2B"/>
                </a:solidFill>
              </a:rPr>
              <a:t>Exploration Mode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71600" y="3291840"/>
            <a:ext cx="6400800" cy="73152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71600" y="32918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</a:rPr>
              <a:t>Low tonic NE + frequent phasic bursts = the OPPOSITE of deep work mode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4A7C5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Fix: Bright blue-enriched light (tonic LC) + acoustic control (phasic suppression) + focus pods (refuge)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822960" cy="4572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e.g.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Before/After: A Real Office Goldilocks Intervention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4023360" cy="3931920"/>
          </a:xfrm>
          <a:prstGeom prst="rect">
            <a:avLst/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914400"/>
            <a:ext cx="3657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5050"/>
                </a:solidFill>
              </a:rPr>
              <a:t>Before: Standard Open Plan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Light: Interior desks get 150–200 lux from overhead fluorescents. No blue-enrichment. Tonic LC = weak.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Sound: Avg 58 dB with speech peaks to 72 dB every 30–60 sec. Each peak = phasic LC burst. ~120 attention interruptions/hour.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Spatial: No enclosure option. Can’t escape visual or auditory intrusion. Prospect without refuge.
</a:t>
            </a:r>
            <a:endParaRPr lang="en-US" sz="14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05050"/>
                </a:solidFill>
              </a:rPr>
              <a:t>Result: Developers report 2–3 hours of uninterrupted focus per 8-hour day. Headphone use at 85%.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114800" cy="3931920"/>
          </a:xfrm>
          <a:prstGeom prst="rect">
            <a:avLst/>
          </a:prstGeom>
          <a:solidFill>
            <a:srgbClr val="E8F5E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914400"/>
            <a:ext cx="3749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</a:rPr>
              <a:t>After: Goldilocks Intervention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Light: Circadian LED panels at 500+ lux, blue-enriched 6500K mornings, warm 3000K afternoons. Tonic LC = strong.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Sound: Acoustic felt panels + white noise masking (42 dB floor). Speech peaks drop to 48 dB. Phasic interruptions reduced 80%.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Spatial: 4 enclosed focus pods (2.5m ceiling, wood-lined, sound-isolated). Prospect-refuge: open desk = prospect, pod = refuge.
</a:t>
            </a:r>
            <a:endParaRPr lang="en-US" sz="14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A7C59"/>
                </a:solidFill>
              </a:rPr>
              <a:t>Result: Uninterrupted focus time doubles to 4–5 hours. Self-reported satisfaction +40%. Headphone use drops to 25%.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Cross-Modal Compensation: Channels Trade Off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840480" cy="1828800"/>
          </a:xfrm>
          <a:prstGeom prst="rect">
            <a:avLst/>
          </a:prstGeom>
          <a:solidFill>
            <a:srgbClr val="E8EE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0584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</a:rPr>
              <a:t>Quiet + Low Visual Complexity
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Total PE too low. Under-stimulation.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Fix: increase visual complexity.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3840480" cy="182880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00584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7D2B"/>
                </a:solidFill>
              </a:rPr>
              <a:t>Noisy + High Visual Complexity
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Total PE too high. Overwhelm.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Fix: reduce visual complexity.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3017520"/>
            <a:ext cx="6400800" cy="137160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54480" y="310896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7D2B"/>
                </a:solidFill>
              </a:rPr>
              <a:t>Channels compensate through shared LC-NE arousal pathway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Visual and acoustic design are NOT independent.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Jointly optimized against a total PE budget.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822960" cy="4572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e.g.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Cross-Modal Compensation in Practice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68680"/>
            <a:ext cx="4114800" cy="54864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686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Japanese Tea House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Extremely quiet (&lt; 30 dB). Minimal furniture. Neutral palette. By acoustic and visual measures alone: UNDER-stimulating.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But: tatami mat texture, tokonoma alcove with one scroll and one flower, shoji screen casting moving shadows, garden view framed by the window.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The visual channel provides just enough 1/f fractal complexity and gentle motion to compensate for acoustic and material minimalism. Total PE stays in the learnable range.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68680"/>
            <a:ext cx="4114800" cy="548640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8686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Indian Railway Station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554480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Extremely loud (&gt; 80 dB). Extreme social density. Visual chaos. By Western standards: OVER-stimulating.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But: experienced Indian commuters show low cortisol. The acoustic PE is partially compensated by spatial familiarity (zero PE in navigation) and social warmth (interpersonal density = positive valence, not threat).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The familiar spatial channel compensates for the overloaded acoustic channel. Different cultures have different compensation strategies.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Future: Dynamic Goldilocks Profiles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011680" cy="731520"/>
          </a:xfrm>
          <a:prstGeom prst="rect">
            <a:avLst/>
          </a:prstGeom>
          <a:solidFill>
            <a:srgbClr val="3B6A9C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144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8am
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Morning Focus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Bright blue light,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quiet, neutral walls,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22°C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91440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914400"/>
            <a:ext cx="2011680" cy="731520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9144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11am
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Collaboration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51760" y="182880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Moderate ambient,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nature views, warm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colors, 23°C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91440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914400"/>
            <a:ext cx="2011680" cy="73152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9144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2pm
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Creative Session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46320" y="182880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Higher complexity,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permissive acoustics,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coffee-shop vibe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91440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914400"/>
            <a:ext cx="201168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9144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4pm
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Deep Work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040880" y="182880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Dim warm light,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very quiet pods,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low complexity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47D2B"/>
                </a:solidFill>
              </a:rPr>
              <a:t>Circadian × Task × Culture = Dynamic multi-channel optimization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822960" cy="4572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e.g.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Smart Office Through the Day: Pixel HQ (Hypothetical)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3931920"/>
          </a:xfrm>
          <a:prstGeom prst="rect">
            <a:avLst/>
          </a:prstGeom>
          <a:solidFill>
            <a:srgbClr val="E8EE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91440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6A9C"/>
                </a:solidFill>
              </a:rPr>
              <a:t>8:30 AM — Arrival + Email Triage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Ceiling panels: 6500K blue-enriched at 600 lux (ipRGC → SCN entrainment → cortisol peak → alert). White noise floor: 42 dB. Thermal: 22°C. Open desk area. Task: email requires moderate focus. Goldilocks channel check: all green.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7C59"/>
                </a:solidFill>
              </a:rPr>
              <a:t>10:00 AM — Design Sprint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Team moves to “Studio” zone. 4m ceilings. Walls shift to warm oak panels with projected mood boards. Acoustic masking raises to 48 dB with “café hum.” Temperature up to 23°C. Goldilocks shift: higher visual complexity + moderate acoustic stimulation to support divergent thinking.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1:30 PM — Post-Lunch Code Review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Individuals retreat to focus pods: 2.5m ceiling, 4000K neutral light at 400 lux, wood-lined, acoustic isolation (&lt;35 dB), 21°C. Goldilocks shift: minimize all non-task PE to maximize sustained attention bandwidth. The pod IS the Goldilocks intervention for the task.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47D2B"/>
                </a:solidFill>
              </a:rPr>
              <a:t>4:00 PM — Wind Down + Planning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Lights shift to 3000K warm at 350 lux (SCN reads “sunset,” begins melatonin pre-cursor). Lounge area: soft seating, nature view, garden sounds. Goldilocks profile matches circadian phase: lower optimal stimulation as the day winds down.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7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Goldilocks Principle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1. The brain prefers intermediate environmental stimulation across all modalities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2. Berlyne’s framework is richer than “boring vs. stimulating” but misses multi-channel structure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3. PP provides the best mechanism but can’t explain the normative, task-specific, or cultural features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4. Goldilocks set-points are culturally tunable parameters of the extended cognitive system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5. Design implication: optimize the multi-sensory Goldilocks profile for task, culture, and person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6. The system provides the tools: templates, mechanism chains, Bayesian composition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</a:rPr>
              <a:t>David Kirsh • kirsh@ucsd.edu • Cognitive Science, UCSD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Goldilocks Principle in Environmental Design</dc:title>
  <dc:subject>PptxGenJS Presentation</dc:subject>
  <dc:creator>David Kirsh</dc:creator>
  <cp:lastModifiedBy>David Kirsh</cp:lastModifiedBy>
  <cp:revision>1</cp:revision>
  <dcterms:created xsi:type="dcterms:W3CDTF">2026-02-18T23:40:48Z</dcterms:created>
  <dcterms:modified xsi:type="dcterms:W3CDTF">2026-02-18T23:40:48Z</dcterms:modified>
</cp:coreProperties>
</file>