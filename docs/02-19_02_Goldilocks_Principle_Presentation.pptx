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Preference Rating</c:v>
                </c:pt>
              </c:strCache>
            </c:strRef>
          </c:tx>
          <c:spPr>
            <a:solidFill>
              <a:srgbClr val="C47D2B"/>
            </a:solidFill>
            <a:ln w="38100" cap="flat">
              <a:solidFill>
                <a:srgbClr val="C47D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7D2B"/>
              </a:solidFill>
              <a:ln w="9525" cap="flat">
                <a:solidFill>
                  <a:srgbClr val="C47D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Very
Simple</c:v>
                  </c:pt>
                  <c:pt idx="1">
                    <c:v>Simple</c:v>
                  </c:pt>
                  <c:pt idx="2">
                    <c:v>Low-
Mod</c:v>
                  </c:pt>
                  <c:pt idx="3">
                    <c:v>Moderate</c:v>
                  </c:pt>
                  <c:pt idx="4">
                    <c:v>High-
Mod</c:v>
                  </c:pt>
                  <c:pt idx="5">
                    <c:v>Complex</c:v>
                  </c:pt>
                  <c:pt idx="6">
                    <c:v>Very
Complex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</c:v>
                </c:pt>
                <c:pt idx="1">
                  <c:v>65</c:v>
                </c:pt>
                <c:pt idx="2">
                  <c:v>83</c:v>
                </c:pt>
                <c:pt idx="3">
                  <c:v>91</c:v>
                </c:pt>
                <c:pt idx="4">
                  <c:v>84</c:v>
                </c:pt>
                <c:pt idx="5">
                  <c:v>64</c:v>
                </c:pt>
                <c:pt idx="6">
                  <c:v>27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E0D8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Creative RAT Score</c:v>
                </c:pt>
              </c:strCache>
            </c:strRef>
          </c:tx>
          <c:spPr>
            <a:solidFill>
              <a:srgbClr val="2B8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&lt;50 dB
Quiet</c:v>
                  </c:pt>
                  <c:pt idx="1">
                    <c:v>~70 dB
Coffee Shop</c:v>
                  </c:pt>
                  <c:pt idx="2">
                    <c:v>&gt;85 dB
Loud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85</c:v>
                </c:pt>
                <c:pt idx="2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 Reduction</c:v>
                </c:pt>
              </c:strCache>
            </c:strRef>
          </c:tx>
          <c:spPr>
            <a:solidFill>
              <a:srgbClr val="4A7C59"/>
            </a:solidFill>
            <a:ln w="38100" cap="flat">
              <a:solidFill>
                <a:srgbClr val="4A7C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7C59"/>
              </a:solidFill>
              <a:ln w="9525" cap="flat">
                <a:solidFill>
                  <a:srgbClr val="4A7C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0%</c:v>
                  </c:pt>
                  <c:pt idx="1">
                    <c:v>15%</c:v>
                  </c:pt>
                  <c:pt idx="2">
                    <c:v>30%</c:v>
                  </c:pt>
                  <c:pt idx="3">
                    <c:v>45%</c:v>
                  </c:pt>
                  <c:pt idx="4">
                    <c:v>60%</c:v>
                  </c:pt>
                  <c:pt idx="5">
                    <c:v>75%</c:v>
                  </c:pt>
                  <c:pt idx="6">
                    <c:v>90%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55</c:v>
                </c:pt>
                <c:pt idx="2">
                  <c:v>75</c:v>
                </c:pt>
                <c:pt idx="3">
                  <c:v>90</c:v>
                </c:pt>
                <c:pt idx="4">
                  <c:v>78</c:v>
                </c:pt>
                <c:pt idx="5">
                  <c:v>55</c:v>
                </c:pt>
                <c:pt idx="6">
                  <c:v>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 System</c:v>
                </c:pt>
              </c:strCache>
            </c:strRef>
          </c:tx>
          <c:spPr>
            <a:solidFill>
              <a:srgbClr val="4A7C59"/>
            </a:solidFill>
            <a:ln w="25400" cap="flat">
              <a:solidFill>
                <a:srgbClr val="4A7C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7C59"/>
              </a:solidFill>
              <a:ln w="9525" cap="flat">
                <a:solidFill>
                  <a:srgbClr val="4A7C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Low</c:v>
                  </c:pt>
                  <c:pt idx="1">
                    <c:v/>
                  </c:pt>
                  <c:pt idx="2">
                    <c:v>Mod-Low</c:v>
                  </c:pt>
                  <c:pt idx="3">
                    <c:v/>
                  </c:pt>
                  <c:pt idx="4">
                    <c:v>Moderate</c:v>
                  </c:pt>
                  <c:pt idx="5">
                    <c:v/>
                  </c:pt>
                  <c:pt idx="6">
                    <c:v>Mod-High</c:v>
                  </c:pt>
                  <c:pt idx="7">
                    <c:v/>
                  </c:pt>
                  <c:pt idx="8">
                    <c:v>High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30</c:v>
                </c:pt>
                <c:pt idx="2">
                  <c:v>55</c:v>
                </c:pt>
                <c:pt idx="3">
                  <c:v>72</c:v>
                </c:pt>
                <c:pt idx="4">
                  <c:v>80</c:v>
                </c:pt>
                <c:pt idx="5">
                  <c:v>75</c:v>
                </c:pt>
                <c:pt idx="6">
                  <c:v>60</c:v>
                </c:pt>
                <c:pt idx="7">
                  <c:v>40</c:v>
                </c:pt>
                <c:pt idx="8">
                  <c:v>20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Aversion System</c:v>
                </c:pt>
              </c:strCache>
            </c:strRef>
          </c:tx>
          <c:spPr>
            <a:solidFill>
              <a:srgbClr val="C05050"/>
            </a:solidFill>
            <a:ln w="25400" cap="flat">
              <a:solidFill>
                <a:srgbClr val="C050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50"/>
              </a:solidFill>
              <a:ln w="9525" cap="flat">
                <a:solidFill>
                  <a:srgbClr val="C050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Low</c:v>
                  </c:pt>
                  <c:pt idx="1">
                    <c:v/>
                  </c:pt>
                  <c:pt idx="2">
                    <c:v>Mod-Low</c:v>
                  </c:pt>
                  <c:pt idx="3">
                    <c:v/>
                  </c:pt>
                  <c:pt idx="4">
                    <c:v>Moderate</c:v>
                  </c:pt>
                  <c:pt idx="5">
                    <c:v/>
                  </c:pt>
                  <c:pt idx="6">
                    <c:v>Mod-High</c:v>
                  </c:pt>
                  <c:pt idx="7">
                    <c:v/>
                  </c:pt>
                  <c:pt idx="8">
                    <c:v>High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</c:v>
                </c:pt>
                <c:pt idx="1">
                  <c:v>8</c:v>
                </c:pt>
                <c:pt idx="2">
                  <c:v>12</c:v>
                </c:pt>
                <c:pt idx="3">
                  <c:v>18</c:v>
                </c:pt>
                <c:pt idx="4">
                  <c:v>30</c:v>
                </c:pt>
                <c:pt idx="5">
                  <c:v>48</c:v>
                </c:pt>
                <c:pt idx="6">
                  <c:v>65</c:v>
                </c:pt>
                <c:pt idx="7">
                  <c:v>80</c:v>
                </c:pt>
                <c:pt idx="8">
                  <c:v>92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Hedonic Tone</c:v>
                </c:pt>
              </c:strCache>
            </c:strRef>
          </c:tx>
          <c:spPr>
            <a:solidFill>
              <a:srgbClr val="C47D2B"/>
            </a:solidFill>
            <a:ln w="25400" cap="flat">
              <a:solidFill>
                <a:srgbClr val="C47D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7D2B"/>
              </a:solidFill>
              <a:ln w="9525" cap="flat">
                <a:solidFill>
                  <a:srgbClr val="C47D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Low</c:v>
                  </c:pt>
                  <c:pt idx="1">
                    <c:v/>
                  </c:pt>
                  <c:pt idx="2">
                    <c:v>Mod-Low</c:v>
                  </c:pt>
                  <c:pt idx="3">
                    <c:v/>
                  </c:pt>
                  <c:pt idx="4">
                    <c:v>Moderate</c:v>
                  </c:pt>
                  <c:pt idx="5">
                    <c:v/>
                  </c:pt>
                  <c:pt idx="6">
                    <c:v>Mod-High</c:v>
                  </c:pt>
                  <c:pt idx="7">
                    <c:v/>
                  </c:pt>
                  <c:pt idx="8">
                    <c:v>High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</c:v>
                </c:pt>
                <c:pt idx="1">
                  <c:v>22</c:v>
                </c:pt>
                <c:pt idx="2">
                  <c:v>43</c:v>
                </c:pt>
                <c:pt idx="3">
                  <c:v>54</c:v>
                </c:pt>
                <c:pt idx="4">
                  <c:v>50</c:v>
                </c:pt>
                <c:pt idx="5">
                  <c:v>27</c:v>
                </c:pt>
                <c:pt idx="6">
                  <c:v>-5</c:v>
                </c:pt>
                <c:pt idx="7">
                  <c:v>-40</c:v>
                </c:pt>
                <c:pt idx="8">
                  <c:v>-72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Comfort/Safety Rating</c:v>
                </c:pt>
              </c:strCache>
            </c:strRef>
          </c:tx>
          <c:spPr>
            <a:solidFill>
              <a:srgbClr val="1B3A5C"/>
            </a:solidFill>
            <a:ln w="38100" cap="flat">
              <a:solidFill>
                <a:srgbClr val="1B3A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3A5C"/>
              </a:solidFill>
              <a:ln w="9525" cap="flat">
                <a:solidFill>
                  <a:srgbClr val="1B3A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Fully
Enclosed</c:v>
                  </c:pt>
                  <c:pt idx="1">
                    <c:v>High
Enclosure</c:v>
                  </c:pt>
                  <c:pt idx="2">
                    <c:v>Moderate
Enclosure</c:v>
                  </c:pt>
                  <c:pt idx="3">
                    <c:v>Balanced
P-R</c:v>
                  </c:pt>
                  <c:pt idx="4">
                    <c:v>Moderate
Openness</c:v>
                  </c:pt>
                  <c:pt idx="5">
                    <c:v>High
Openness</c:v>
                  </c:pt>
                  <c:pt idx="6">
                    <c:v>Fully
Exposed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55</c:v>
                </c:pt>
                <c:pt idx="2">
                  <c:v>72</c:v>
                </c:pt>
                <c:pt idx="3">
                  <c:v>90</c:v>
                </c:pt>
                <c:pt idx="4">
                  <c:v>75</c:v>
                </c:pt>
                <c:pt idx="5">
                  <c:v>50</c:v>
                </c:pt>
                <c:pt idx="6">
                  <c:v>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Western Baseline</c:v>
                </c:pt>
              </c:strCache>
            </c:strRef>
          </c:tx>
          <c:spPr>
            <a:solidFill>
              <a:srgbClr val="3B6A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Visual
Complexity</c:v>
                  </c:pt>
                  <c:pt idx="1">
                    <c:v>Color
Saturation</c:v>
                  </c:pt>
                  <c:pt idx="2">
                    <c:v>Acoustic
Density</c:v>
                  </c:pt>
                  <c:pt idx="3">
                    <c:v>Thermal
Range</c:v>
                  </c:pt>
                  <c:pt idx="4">
                    <c:v>Spice
Tolerance</c:v>
                  </c:pt>
                  <c:pt idx="5">
                    <c:v>Social
Proximity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45</c:v>
                </c:pt>
                <c:pt idx="2">
                  <c:v>40</c:v>
                </c:pt>
                <c:pt idx="3">
                  <c:v>50</c:v>
                </c:pt>
                <c:pt idx="4">
                  <c:v>35</c:v>
                </c:pt>
                <c:pt idx="5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Varanasi</c:v>
                </c:pt>
              </c:strCache>
            </c:strRef>
          </c:tx>
          <c:spPr>
            <a:solidFill>
              <a:srgbClr val="C47D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Visual
Complexity</c:v>
                  </c:pt>
                  <c:pt idx="1">
                    <c:v>Color
Saturation</c:v>
                  </c:pt>
                  <c:pt idx="2">
                    <c:v>Acoustic
Density</c:v>
                  </c:pt>
                  <c:pt idx="3">
                    <c:v>Thermal
Range</c:v>
                  </c:pt>
                  <c:pt idx="4">
                    <c:v>Spice
Tolerance</c:v>
                  </c:pt>
                  <c:pt idx="5">
                    <c:v>Social
Proximity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78</c:v>
                </c:pt>
                <c:pt idx="1">
                  <c:v>82</c:v>
                </c:pt>
                <c:pt idx="2">
                  <c:v>70</c:v>
                </c:pt>
                <c:pt idx="3">
                  <c:v>75</c:v>
                </c:pt>
                <c:pt idx="4">
                  <c:v>90</c:v>
                </c:pt>
                <c:pt idx="5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Goldilocks Principle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Environmental Design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Brain Prefers the Middle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4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Kirsh • Cognitive Science • UC San Diego • February 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47D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Claim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visual complexity, acoustic intensity, temperature, material coverage,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geometry, spatial proportions, and light levels—the relationship between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stimulus and human response follows an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47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inverted-U function.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seven coincidences.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reflects something fundamental about how the brain engages with stimulation.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3657600"/>
            <a:ext cx="1371600" cy="914400"/>
          </a:xfrm>
          <a:prstGeom prst="ellipse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3749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86200" y="3657600"/>
            <a:ext cx="1371600" cy="914400"/>
          </a:xfrm>
          <a:prstGeom prst="ellipse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3749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3657600"/>
            <a:ext cx="1371600" cy="914400"/>
          </a:xfrm>
          <a:prstGeom prst="ellipse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749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Inverted-U Functions Everywhere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Complexity: The Classic Inverted-U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017520" cy="32004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0584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Berlyne (1971)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Fechner (1876) first documented it
Birkhoff (1933) formalized it
Berlyne gave it a mechanism
Güçlütürk et al. (2016) confirmed
it computationally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Architecture: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Stamps (2004) found the same for building facades; Salingaros (2003) for ornamental density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Channels, One Pattern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1737360"/>
          </a:xfrm>
          <a:prstGeom prst="rect">
            <a:avLst/>
          </a:prstGeom>
          <a:solidFill>
            <a:srgbClr val="C47D2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Visual
Complexity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D ≈ 1.3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1920240" cy="1737360"/>
          </a:xfrm>
          <a:prstGeom prst="rect">
            <a:avLst/>
          </a:prstGeom>
          <a:solidFill>
            <a:srgbClr val="2B8C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97480" y="10972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Acoustic
Intensity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~70 dB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1920240" cy="173736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972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Temperature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22± 2°C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914400"/>
            <a:ext cx="1920240" cy="173736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10972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Wood
Coverage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~45%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920240" cy="1737360"/>
          </a:xfrm>
          <a:prstGeom prst="rect">
            <a:avLst/>
          </a:prstGeom>
          <a:solidFill>
            <a:srgbClr val="6B3B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Fractal D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D ≈ 1.3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06040" y="2926080"/>
            <a:ext cx="1920240" cy="1737360"/>
          </a:xfrm>
          <a:prstGeom prst="rect">
            <a:avLst/>
          </a:prstGeom>
          <a:solidFill>
            <a:srgbClr val="3B6A9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9748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Ceiling
Height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3.0–3.5m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1920240" cy="17373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1089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Light
Level
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Optimum: 500–1000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0D0D0"/>
                </a:solidFill>
              </a:rPr>
              <a:t>lux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Acoustic Intensity: Creative Tasks Only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017520" cy="146304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058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Mehta et al. (2012)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Moderate noise mildly defocuses attention → broader associative activation → enhanced creative insight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2560320"/>
            <a:ext cx="3017520" cy="146304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265176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50"/>
                </a:solidFill>
              </a:rPr>
              <a:t>But NOT for focused tasks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Focused work shows monotonically negative effects of noise (Banbury &amp; Berry, 2005)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Wood Surfaces: Peak at ~45% Coverage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017520" cy="3200400"/>
          </a:xfrm>
          <a:prstGeom prst="rect">
            <a:avLst/>
          </a:prstGeom>
          <a:solidFill>
            <a:srgbClr val="E8F5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00584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</a:rPr>
              <a:t>Three theories converge: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1. Biophilia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— evolved affiliation with natural materials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2. Fractal Fluency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— V1/V2 processing efficiency for 1/f grain patterns
</a:t>
            </a: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3. Predictive Processing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— low prediction error for natural visual statistics
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&gt;90% wood = monotony, claustrophobia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(Nyrud &amp; Bringslimark, 2010)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Boring vs. Stimulating: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Berlyne’s Full Framework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Berlyne’s Four Collative Variables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1920240" cy="640080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Number &amp; variety of elements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NOT just “busy.”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Structural richness.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Each produces its own inverted-U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91440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914400"/>
            <a:ext cx="1920240" cy="640080"/>
          </a:xfrm>
          <a:prstGeom prst="rect">
            <a:avLst/>
          </a:prstGeom>
          <a:solidFill>
            <a:srgbClr val="2B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Novelty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Difference from expectations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New environments engage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diversive exploration.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Each produces its own inverted-U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914400"/>
            <a:ext cx="1920240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Incongruity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Elements conflict with 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 glass tower in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medieval village.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Each produces its own inverted-U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914400"/>
            <a:ext cx="1920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914400"/>
            <a:ext cx="1920240" cy="640080"/>
          </a:xfrm>
          <a:prstGeom prst="rect">
            <a:avLst/>
          </a:prstGeom>
          <a:solidFill>
            <a:srgbClr val="6B3B8C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Surprisingness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</a:rPr>
              <a:t>Violates specific predictions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The invisible staircase.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The sunken garden.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3703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D2B"/>
                </a:solidFill>
              </a:rPr>
              <a:t>Each produces its own inverted-U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Berlyne’s Two-System Model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14400"/>
            <a:ext cx="2834640" cy="22860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00584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Modern translation: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</a:rPr>
              <a:t>Reward =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mesolimbic dopamine for learnable prediction errors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05050"/>
                </a:solidFill>
              </a:rPr>
              <a:t>Aversion =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anterior insula + dACC activation for PE exceeding model capacity
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47D2B"/>
                </a:solidFill>
              </a:rPr>
              <a:t>Net =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the inverted-U: peak where dopamine &gt; insula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Berlyne Missed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" cy="1097280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Multi-Channel Independence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The inverted-U operates independently in each sensory channel. Channels interact through shared arousal pathways (LC-NE). Berlyne had only one arousal 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09728" cy="1097280"/>
          </a:xfrm>
          <a:prstGeom prst="rect">
            <a:avLst/>
          </a:prstGeom>
          <a:solidFill>
            <a:srgbClr val="2B8C8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Dependence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Creative tasks prefer higher stimulation; focused tasks prefer lower. The optimal level shifts with what you’re doing. Berlyne did not address task specificity.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09728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Variation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Goldilocks set-points shift across cultures. Our India fieldwork shows correlated elevation across ALL modalities. Berlyne had no cultural framework.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Processing: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Framework, But Not Enough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 Explains WHY the Inverted-U Exists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47472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548640"/>
          </a:xfrm>
          <a:prstGeom prst="rect">
            <a:avLst/>
          </a:prstGeom>
          <a:solidFill>
            <a:srgbClr val="3B6A9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No information gain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Neural habituation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Reduced dopamine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BOREDOM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914400"/>
            <a:ext cx="2560320" cy="3474720"/>
          </a:xfrm>
          <a:prstGeom prst="rect">
            <a:avLst/>
          </a:prstGeom>
          <a:solidFill>
            <a:srgbClr val="E8F5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914400"/>
            <a:ext cx="2560320" cy="54864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 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Learnable surprise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Model updating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Dopamine reward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ENGAGEMENT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914400"/>
            <a:ext cx="2560320" cy="347472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914400"/>
            <a:ext cx="2560320" cy="548640"/>
          </a:xfrm>
          <a:prstGeom prst="rect">
            <a:avLst/>
          </a:prstGeom>
          <a:solidFill>
            <a:srgbClr val="C0505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Excessive 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Model failure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Insula + dACC alarm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HPA cortisol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ANXIETY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Limitations of PP for the Goldilocks Principle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686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Normative Gap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86868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describes. Goldilocks prescribes.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The “dark room problem”: PP predicts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minimize PE, not optimize 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099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Task-Specific Optima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709928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doesn’t predict that creative tasks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prefer higher PE than focused tasks.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55117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Multi-Channel 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551176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operates within modalities. It doesn’t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predict cross-modal compensation.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39242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Cultural Set-Points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392424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predicts modality-specific prior shifts.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India data shows correlated cross-modal shift.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33672"/>
            <a:ext cx="8229600" cy="713232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2336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Prospect-Refuge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4233672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predicts max prospect + max refuge.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But intermediate levels are preferred.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PP cannot derive this inverted-U.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PP Fails: The Prospect-Refuge Inverted-U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14400"/>
            <a:ext cx="3200400" cy="320040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100584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5050"/>
                </a:solidFill>
              </a:rPr>
              <a:t>PP predicts: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Max prospect + max refuge = max safety = monotonically preferred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</a:rPr>
              <a:t>Goldilocks observes: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Intermediate preferred. Full enclosure = claustrophobia. Full exposure = vulnerability.
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Dosen &amp; Ostwald (2016)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meta-analysis confirms</a:t>
            </a:r>
            <a:endParaRPr lang="en-US" sz="13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intermediate preference.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Fieldwork: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Goldilocks Set-Points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Multi-Modal Set-Point Elevation: Varanasi vs. Western Baselines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47D2B"/>
                </a:solidFill>
              </a:rPr>
              <a:t>All modalities shift in the same direction → suggests a single underlying parameter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Implications: Evidence-Based Design is NOT Culturally Universal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347472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Scandinavian Design Guidelines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Wood: ~45% coverage
Color: muted, cool palettes
Complexity: D ≈ 1.2–1.3
Temperature: 21–23°C
Noise: &lt; 45 dB for focus
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Optimized for Northern European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sensory set-points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4747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0584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7D2B"/>
                </a:solidFill>
              </a:rPr>
              <a:t>Varanasi Context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Wood: ~55–65% may be optimal
Color: vivid, high-saturation
Complexity: D ≈ 1.4–1.6
Temperature: 18–30°C adaptive
Noise: 50–70 dB tolerated
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Same principles, different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parameters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with the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Goldilocks Principle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Hospitals: The Multi-Channel Goldilocks Catastrophe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69164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👁️ Visual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EXTREME complexity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(equipment, signage, monitors)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914400"/>
            <a:ext cx="2651760" cy="169164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0515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🔊 Acoustic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UNPREDICTABLE alarms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at random intervals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651760" cy="169164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05156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🌡️ Thermal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INCONSISTENT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(cold corridors, warm rooms)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2651760" cy="169164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01752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👃 Olfactory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INCONGRUENT chemicals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in healing contexts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2880360"/>
            <a:ext cx="2651760" cy="169164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01752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🚪 Spatial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NO REFUGE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(long exposed corridors)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880360"/>
            <a:ext cx="2651760" cy="169164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301752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✨ Goldilocks Fix
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COORDINATED multi-channel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intervention needed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Open-Plan Offices: The LC-NE Disaster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914400"/>
          </a:xfrm>
          <a:prstGeom prst="rect">
            <a:avLst/>
          </a:prstGeom>
          <a:solidFill>
            <a:srgbClr val="C0505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Unpredictable Speech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Phasic LC bursts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914400"/>
          </a:xfrm>
          <a:prstGeom prst="rect">
            <a:avLst/>
          </a:prstGeom>
          <a:solidFill>
            <a:srgbClr val="3B6A9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Poor Interior Daylight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Weak tonic LC mode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560320" cy="91440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1005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Refuge Zones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No escape from intrusion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560320" cy="8229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1945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7D2B"/>
                </a:solidFill>
              </a:rPr>
              <a:t>Locus Coeruleus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47D2B"/>
                </a:solidFill>
              </a:rPr>
              <a:t>Exploration Mode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3291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Result: Low tonic NE + frequent phasic bursts = the OPPOSITE of deep work mode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Fix: Bright blue-enriched light (tonic LC) + acoustic control (phasic suppression) + focus pods (refuge)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Cross-Modal Compensation: A Novel Prediction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1828800"/>
          </a:xfrm>
          <a:prstGeom prst="rect">
            <a:avLst/>
          </a:prstGeom>
          <a:solidFill>
            <a:srgbClr val="E8EEF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</a:rPr>
              <a:t>Quiet Room + Low Visual Complexity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Total PE load is too low.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Result: under-stimulation, drowsiness.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Fix: increase visual complexity.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18288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058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D2B"/>
                </a:solidFill>
              </a:rPr>
              <a:t>Noisy Room + High Visual Complexity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Total PE load is too high.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Result: overwhelm, distraction.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</a:rPr>
              <a:t>Fix: reduce visual complexity.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017520"/>
            <a:ext cx="6400800" cy="13716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310896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7D2B"/>
                </a:solidFill>
              </a:rPr>
              <a:t>Channels compensate through shared LC-NE arousal pathway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Visual and acoustic design are NOT independent.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They must be jointly optimized against a total PE budget.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Future: Dynamic Goldilocks Profiles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011680" cy="731520"/>
          </a:xfrm>
          <a:prstGeom prst="rect">
            <a:avLst/>
          </a:prstGeom>
          <a:solidFill>
            <a:srgbClr val="3B6A9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8am
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Morning Focus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Bright blue-enriched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light, quiet, neutral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walls, warm 22°C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9144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914400"/>
            <a:ext cx="2011680" cy="731520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11am
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Collaboration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18288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Moderate ambient sound,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nature views, warmer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colors, 23°C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2011680" cy="73152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2pm
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Creative Session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Higher complexity,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permissive acoustics,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coffee-shop vibe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91440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914400"/>
            <a:ext cx="201168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914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4pm
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Deep Work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40880" y="182880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Dim warm light, 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quiet focus pods, 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complexity, 21°C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47D2B"/>
                </a:solidFill>
              </a:rPr>
              <a:t>Circadian × Task × Culture = Dynamic multi-channel Goldilocks 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7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Goldilocks Principle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1. The brain prefers intermediate environmental stimulation across all modalities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2. Berlyne’s framework is richer than “boring vs. stimulating” but misses multi-channel structure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3. PP provides the best mechanism but cannot explain the normative, task-specific, or cultural features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4. Goldilocks set-points are culturally tunable parameters of the extended cognitive system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5. Design implication: optimize the multi-sensory Goldilocks profile for task, culture, and person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6. The system provides the tools: templates, mechanism chains, Bayesian composition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47D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David Kirsh • kirsh@ucsd.edu • Cognitive Science, UCSD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Goldilocks Principle in Environmental Design</dc:title>
  <dc:subject>PptxGenJS Presentation</dc:subject>
  <dc:creator>David Kirsh</dc:creator>
  <cp:lastModifiedBy>David Kirsh</cp:lastModifiedBy>
  <cp:revision>1</cp:revision>
  <dcterms:created xsi:type="dcterms:W3CDTF">2026-02-18T23:15:22Z</dcterms:created>
  <dcterms:modified xsi:type="dcterms:W3CDTF">2026-02-18T23:15:22Z</dcterms:modified>
</cp:coreProperties>
</file>