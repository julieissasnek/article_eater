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168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8371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6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7157" y="1577429"/>
            <a:ext cx="6349686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 Types in</a:t>
            </a:r>
            <a:endParaRPr lang="en-US" sz="3300" dirty="0"/>
          </a:p>
          <a:p>
            <a:pPr marL="0" indent="0" algn="ctr">
              <a:lnSpc>
                <a:spcPts val="33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Environment–Behavior Research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000500" y="2644229"/>
            <a:ext cx="1143000" cy="38100"/>
          </a:xfrm>
          <a:prstGeom prst="rect">
            <a:avLst/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51603" y="2910929"/>
            <a:ext cx="264079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Taxonomy for Neuroarchitecture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250540" y="3379440"/>
            <a:ext cx="26429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Eater • Article Finder • Rule Ontology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28600"/>
            <a:ext cx="44011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Rules: This Causes That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66700" y="533400"/>
            <a:ext cx="87828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relationships between environmental features and human outcomes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6700" y="1756470"/>
            <a:ext cx="2793950" cy="1479947"/>
          </a:xfrm>
          <a:prstGeom prst="roundRect">
            <a:avLst>
              <a:gd name="adj" fmla="val 3218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85750" y="1756470"/>
            <a:ext cx="0" cy="1479947"/>
          </a:xfrm>
          <a:prstGeom prst="line">
            <a:avLst/>
          </a:prstGeom>
          <a:noFill/>
          <a:ln w="38100">
            <a:solidFill>
              <a:srgbClr val="1A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9100" y="1870770"/>
            <a:ext cx="25777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A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419100" y="2181225"/>
            <a:ext cx="25777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Ceilings to Abstract Thinking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19100" y="2544961"/>
            <a:ext cx="25777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 with 10ft+ ceilings promote big-picture, conceptual thought.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9100" y="3002161"/>
            <a:ext cx="25777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Meyers-Levy and Zhu (2007)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174950" y="1756470"/>
            <a:ext cx="2793950" cy="1479947"/>
          </a:xfrm>
          <a:prstGeom prst="roundRect">
            <a:avLst>
              <a:gd name="adj" fmla="val 3218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194000" y="1756470"/>
            <a:ext cx="0" cy="1479947"/>
          </a:xfrm>
          <a:prstGeom prst="line">
            <a:avLst/>
          </a:prstGeom>
          <a:noFill/>
          <a:ln w="38100">
            <a:solidFill>
              <a:srgbClr val="1A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27350" y="1870770"/>
            <a:ext cx="25777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A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327350" y="2181225"/>
            <a:ext cx="25777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Views to Stress Reduction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327350" y="2544961"/>
            <a:ext cx="25777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overlooking greenery lower cortisol and perceived stress.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27350" y="3002161"/>
            <a:ext cx="25777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Ulrich (1984); Kaplan (2001)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6083201" y="1823145"/>
            <a:ext cx="2793950" cy="1346597"/>
          </a:xfrm>
          <a:prstGeom prst="roundRect">
            <a:avLst>
              <a:gd name="adj" fmla="val 3537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102251" y="1823145"/>
            <a:ext cx="0" cy="1346597"/>
          </a:xfrm>
          <a:prstGeom prst="line">
            <a:avLst/>
          </a:prstGeom>
          <a:noFill/>
          <a:ln w="38100">
            <a:solidFill>
              <a:srgbClr val="1A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35601" y="1937445"/>
            <a:ext cx="25777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A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3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6235601" y="2247900"/>
            <a:ext cx="25777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Layout to More Social Contact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6235601" y="2611636"/>
            <a:ext cx="25777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colleagues encourage spontaneous conversation.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235601" y="2935486"/>
            <a:ext cx="25777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Allen (1977); Backhouse and Drew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266700" y="4299645"/>
            <a:ext cx="8610600" cy="285750"/>
          </a:xfrm>
          <a:prstGeom prst="roundRect">
            <a:avLst>
              <a:gd name="adj" fmla="val 13333"/>
            </a:avLst>
          </a:prstGeom>
          <a:solidFill>
            <a:srgbClr val="2D4A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81000" y="4375845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Interaction:</a:t>
            </a: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 layout ALSO increases distraction—these rules compete. Net effect depends on task type.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66700" y="4794945"/>
            <a:ext cx="87828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rules form the structure of Bayesian networks—they define which nodes connect.</a:t>
            </a:r>
            <a:endParaRPr lang="en-US" sz="6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28600"/>
            <a:ext cx="83305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A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 Rules: How Much and What Shape?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66700" y="571500"/>
            <a:ext cx="878281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character of relationships—linear, threshold, or inverted-U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66700" y="1431727"/>
            <a:ext cx="2781300" cy="2110383"/>
          </a:xfrm>
          <a:prstGeom prst="roundRect">
            <a:avLst>
              <a:gd name="adj" fmla="val 2708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85750" y="1431727"/>
            <a:ext cx="0" cy="2110383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150" y="1565077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EFFECT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38150" y="1907977"/>
            <a:ext cx="25260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Light → More Alert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150" y="2304157"/>
            <a:ext cx="252603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300 to 1000 lux, alertness increases steadily. Simple dose-response.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13385" y="2844998"/>
            <a:ext cx="252603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38150" y="3275409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Cajochen et al. (2000)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181350" y="1431727"/>
            <a:ext cx="2781300" cy="2110383"/>
          </a:xfrm>
          <a:prstGeom prst="roundRect">
            <a:avLst>
              <a:gd name="adj" fmla="val 2708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00400" y="1431727"/>
            <a:ext cx="0" cy="2110383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52800" y="1565077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INVERTED-U (GOLDILOCKS)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352800" y="1907977"/>
            <a:ext cx="25260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Visual Complexity Best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52800" y="2304157"/>
            <a:ext cx="252603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simple = boring. Too complex = overwhelming. Sweet spot in middle.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328035" y="2844998"/>
            <a:ext cx="252603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⛰️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352800" y="3275409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Berlyne (1971); Kaplan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096000" y="1431727"/>
            <a:ext cx="2781300" cy="2110383"/>
          </a:xfrm>
          <a:prstGeom prst="roundRect">
            <a:avLst>
              <a:gd name="adj" fmla="val 2708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115050" y="1431727"/>
            <a:ext cx="0" cy="2110383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67450" y="1565077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EFFECT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267450" y="1907977"/>
            <a:ext cx="25260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Above 55dB Distracts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67450" y="2304157"/>
            <a:ext cx="252603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threshold, minimal effect. Above it, concentration drops sharply.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242685" y="2844998"/>
            <a:ext cx="252603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67450" y="3275409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Sundstrom (1986)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66700" y="4229249"/>
            <a:ext cx="8610600" cy="337096"/>
          </a:xfrm>
          <a:prstGeom prst="roundRect">
            <a:avLst>
              <a:gd name="adj" fmla="val 14128"/>
            </a:avLst>
          </a:prstGeom>
          <a:solidFill>
            <a:srgbClr val="2D4A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00050" y="4324499"/>
            <a:ext cx="85107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SHAPE matters as much as the effect. Designing for "moderate" requires knowing where the peak is.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266700" y="4794945"/>
            <a:ext cx="87828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CPD hints populate conditional probability tables in Bayesian networks with quantitative parameters.</a:t>
            </a:r>
            <a:endParaRPr lang="en-US" sz="6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28600"/>
            <a:ext cx="63886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A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 Rules: What is the Baseline?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66700" y="571500"/>
            <a:ext cx="878281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points before any intervention—population defaults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66700" y="1665982"/>
            <a:ext cx="2781300" cy="1641872"/>
          </a:xfrm>
          <a:prstGeom prst="roundRect">
            <a:avLst>
              <a:gd name="adj" fmla="val 3481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85750" y="1665982"/>
            <a:ext cx="0" cy="1641872"/>
          </a:xfrm>
          <a:prstGeom prst="line">
            <a:avLst/>
          </a:prstGeom>
          <a:noFill/>
          <a:ln w="381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150" y="1799332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BASELINE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38150" y="2142232"/>
            <a:ext cx="25260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of Office Workers Dissatisfied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150" y="2538413"/>
            <a:ext cx="252603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change anything, most workers report some complaint. That is your starting point.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38150" y="3041154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Leaman and Bordass (2007)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181350" y="1665982"/>
            <a:ext cx="2781300" cy="1641872"/>
          </a:xfrm>
          <a:prstGeom prst="roundRect">
            <a:avLst>
              <a:gd name="adj" fmla="val 3481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00400" y="1665982"/>
            <a:ext cx="0" cy="1641872"/>
          </a:xfrm>
          <a:prstGeom prst="line">
            <a:avLst/>
          </a:prstGeom>
          <a:noFill/>
          <a:ln w="381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52800" y="1799332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BASELINE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52800" y="2142232"/>
            <a:ext cx="25260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 Lowers Mood 0.3 SD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52800" y="2538413"/>
            <a:ext cx="252603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high latitudes, baseline positive affect shifts down in winter—independent of building.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352800" y="3041154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Kasper et al. (1989)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096000" y="1665982"/>
            <a:ext cx="2781300" cy="1641872"/>
          </a:xfrm>
          <a:prstGeom prst="roundRect">
            <a:avLst>
              <a:gd name="adj" fmla="val 3481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115050" y="1665982"/>
            <a:ext cx="0" cy="1641872"/>
          </a:xfrm>
          <a:prstGeom prst="line">
            <a:avLst/>
          </a:prstGeom>
          <a:noFill/>
          <a:ln w="381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67450" y="1799332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AGE-RELATED BASELINE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267450" y="2142232"/>
            <a:ext cx="25260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Adults: Lower WM Capacity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67450" y="2538413"/>
            <a:ext cx="252603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Adults 65+ start with lower working memory. Environmental supports must compensate.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267450" y="3041154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Salthouse (1994)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66700" y="4229249"/>
            <a:ext cx="8610600" cy="337096"/>
          </a:xfrm>
          <a:prstGeom prst="roundRect">
            <a:avLst>
              <a:gd name="adj" fmla="val 14128"/>
            </a:avLst>
          </a:prstGeom>
          <a:solidFill>
            <a:srgbClr val="2D4A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00050" y="4324499"/>
            <a:ext cx="85107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Interaction:</a:t>
            </a: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Priors combine multiplicatively. Older adults in winter in typical office face compounding disadvantages.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266700" y="4794945"/>
            <a:ext cx="87828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Priors set marginal distributions in Bayesian networks before conditioning on environmental variables.</a:t>
            </a:r>
            <a:endParaRPr lang="en-US" sz="6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28600"/>
            <a:ext cx="70202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A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 Rules: But Only If...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66700" y="571500"/>
            <a:ext cx="878281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conditions that enable, disable, or limit when other rules apply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66700" y="1665982"/>
            <a:ext cx="2781300" cy="1641872"/>
          </a:xfrm>
          <a:prstGeom prst="roundRect">
            <a:avLst>
              <a:gd name="adj" fmla="val 3481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85750" y="1665982"/>
            <a:ext cx="0" cy="1641872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150" y="1799332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CONSTRAINT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38150" y="2142232"/>
            <a:ext cx="25260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Circadian Light Needs 30+ Min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150" y="2538413"/>
            <a:ext cx="252603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Blue-enriched lighting only affects alertness if exposure exceeds 30 minutes. Brief = no effect.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38150" y="3041154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 et al. (2008)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181350" y="1665982"/>
            <a:ext cx="2781300" cy="1641872"/>
          </a:xfrm>
          <a:prstGeom prst="roundRect">
            <a:avLst>
              <a:gd name="adj" fmla="val 3481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00400" y="1665982"/>
            <a:ext cx="0" cy="1641872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52800" y="1799332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CONSTRAINT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52800" y="2142232"/>
            <a:ext cx="25260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Ceiling Effect Fails for Some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52800" y="2538413"/>
            <a:ext cx="252603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ceiling to creativity link may not replicate in high autism-spectrum populations.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352800" y="3041154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Hypothetical boundary condition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096000" y="1665982"/>
            <a:ext cx="2781300" cy="1641872"/>
          </a:xfrm>
          <a:prstGeom prst="roundRect">
            <a:avLst>
              <a:gd name="adj" fmla="val 3481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115050" y="1665982"/>
            <a:ext cx="0" cy="1641872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67450" y="1799332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CONSTRAINT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267450" y="2142232"/>
            <a:ext cx="25260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Plan Flips with Focus Tasks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67450" y="2538413"/>
            <a:ext cx="252603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layout helps collaboration—unless task requires concentration. Then distraction dominates.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267450" y="3041154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Brennan et al. (2002)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66700" y="4229249"/>
            <a:ext cx="8610600" cy="337096"/>
          </a:xfrm>
          <a:prstGeom prst="roundRect">
            <a:avLst>
              <a:gd name="adj" fmla="val 14128"/>
            </a:avLst>
          </a:prstGeom>
          <a:solidFill>
            <a:srgbClr val="2D4A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00050" y="4324499"/>
            <a:ext cx="85107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Interaction:</a:t>
            </a: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Constraints act as switches—they turn rules ON or OFF entirely. Missing a constraint = wrong prediction.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266700" y="4794945"/>
            <a:ext cx="87828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define the scope of generalizability—when rules can be projected to new populations and contexts.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28600"/>
            <a:ext cx="6000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A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Interaction Rules: It Depends On...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66700" y="571500"/>
            <a:ext cx="878281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one factor's effect changes based on another factor's level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66700" y="1434554"/>
            <a:ext cx="2781300" cy="2104876"/>
          </a:xfrm>
          <a:prstGeom prst="roundRect">
            <a:avLst>
              <a:gd name="adj" fmla="val 2715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85750" y="1434554"/>
            <a:ext cx="0" cy="2104876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150" y="1567904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CROSS-MODAL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38150" y="1910804"/>
            <a:ext cx="25260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Daylight x Noise Level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150" y="2306985"/>
            <a:ext cx="25260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Daylight improves mood MORE when quiet: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38150" y="2644080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 room: d = 0.5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38150" y="2929830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 room: d = 0.2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38150" y="3272730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Veitch et al. (2008)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181350" y="1434554"/>
            <a:ext cx="2781300" cy="2104876"/>
          </a:xfrm>
          <a:prstGeom prst="roundRect">
            <a:avLst>
              <a:gd name="adj" fmla="val 2715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00400" y="1434554"/>
            <a:ext cx="0" cy="2104876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52800" y="1567904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X ENVIRONMENT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52800" y="1910804"/>
            <a:ext cx="25260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Plan x Introversion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52800" y="2306985"/>
            <a:ext cx="25260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space, opposite effects: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352800" y="2644080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Introverts: productivity -0.4d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352800" y="2929830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Extraverts: productivity +0.1d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352800" y="3272730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Maher and von Hippel (2005)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096000" y="1434554"/>
            <a:ext cx="2781300" cy="2104876"/>
          </a:xfrm>
          <a:prstGeom prst="roundRect">
            <a:avLst>
              <a:gd name="adj" fmla="val 2715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115050" y="1434554"/>
            <a:ext cx="0" cy="2104876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67450" y="1567904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X SPATIAL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267450" y="1910804"/>
            <a:ext cx="25260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Light x Time of Day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67450" y="2306985"/>
            <a:ext cx="25260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light, different effects: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267450" y="2644080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Morning: alertness +0.6d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267450" y="2929830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Evening: sleep quality -0.3d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267450" y="3272730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Lockley et al. (2006)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66700" y="4229249"/>
            <a:ext cx="8610600" cy="337096"/>
          </a:xfrm>
          <a:prstGeom prst="roundRect">
            <a:avLst>
              <a:gd name="adj" fmla="val 14128"/>
            </a:avLst>
          </a:prstGeom>
          <a:solidFill>
            <a:srgbClr val="2D4A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00050" y="4324499"/>
            <a:ext cx="85107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Interactions mean you cannot just add effects. One-size-fits-all design fails because effects are conditional.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266700" y="4794945"/>
            <a:ext cx="87828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rules require multi-factor experimental designs to discover—single-variable studies miss them.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28600"/>
            <a:ext cx="44011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Kind of Outcome?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66700" y="533400"/>
            <a:ext cx="87828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States, Dispositions, and Structures differ fundamentally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6700" y="1310729"/>
            <a:ext cx="2806750" cy="2885777"/>
          </a:xfrm>
          <a:prstGeom prst="roundRect">
            <a:avLst>
              <a:gd name="adj" fmla="val 2036"/>
            </a:avLst>
          </a:prstGeom>
          <a:solidFill>
            <a:srgbClr val="CCE5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66700" y="1329779"/>
            <a:ext cx="2806750" cy="0"/>
          </a:xfrm>
          <a:prstGeom prst="line">
            <a:avLst/>
          </a:prstGeom>
          <a:noFill/>
          <a:ln w="38100">
            <a:solidFill>
              <a:srgbClr val="004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1000" y="1463129"/>
            <a:ext cx="26297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4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1813620"/>
            <a:ext cx="26297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004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Transient - Context-bound - Fast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1000" y="2175570"/>
            <a:ext cx="2578150" cy="451396"/>
          </a:xfrm>
          <a:prstGeom prst="roundRect">
            <a:avLst>
              <a:gd name="adj" fmla="val 84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2251770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Mood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57200" y="2417415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daylight = uplifted now. Leave room, mood fades.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1000" y="2836515"/>
            <a:ext cx="2578150" cy="584746"/>
          </a:xfrm>
          <a:prstGeom prst="roundRect">
            <a:avLst>
              <a:gd name="adj" fmla="val 65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2912715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Attentional Focus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57200" y="3078361"/>
            <a:ext cx="24742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 corner = concentrated. Noise intrudes, focus broken.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81000" y="3630811"/>
            <a:ext cx="2578150" cy="451396"/>
          </a:xfrm>
          <a:prstGeom prst="roundRect">
            <a:avLst>
              <a:gd name="adj" fmla="val 84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7200" y="3707011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Startle Response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57200" y="3872657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Sudden noise = heart races. Gone in seconds.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168700" y="1377404"/>
            <a:ext cx="2806750" cy="2752427"/>
          </a:xfrm>
          <a:prstGeom prst="roundRect">
            <a:avLst>
              <a:gd name="adj" fmla="val 2076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168700" y="1396454"/>
            <a:ext cx="2806750" cy="0"/>
          </a:xfrm>
          <a:prstGeom prst="line">
            <a:avLst/>
          </a:prstGeom>
          <a:noFill/>
          <a:ln w="38100">
            <a:solidFill>
              <a:srgbClr val="8564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83000" y="1529804"/>
            <a:ext cx="26297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83000" y="1880295"/>
            <a:ext cx="26297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- Activatable - Slow change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283000" y="2242245"/>
            <a:ext cx="2578150" cy="451396"/>
          </a:xfrm>
          <a:prstGeom prst="roundRect">
            <a:avLst>
              <a:gd name="adj" fmla="val 84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59200" y="2318445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Preference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3359200" y="2484090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good visits = gravitate to that cafe. Tendency.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283000" y="2903190"/>
            <a:ext cx="2578150" cy="451396"/>
          </a:xfrm>
          <a:prstGeom prst="roundRect">
            <a:avLst>
              <a:gd name="adj" fmla="val 84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59200" y="2979390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Approach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3359200" y="3145036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space = readiness to engage. May or may not act.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83000" y="3564136"/>
            <a:ext cx="2578150" cy="451396"/>
          </a:xfrm>
          <a:prstGeom prst="roundRect">
            <a:avLst>
              <a:gd name="adj" fmla="val 84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59200" y="3640336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Efficacy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3359200" y="3805982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Having control = feeling capable of adjusting space.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070699" y="1377404"/>
            <a:ext cx="2806750" cy="2752427"/>
          </a:xfrm>
          <a:prstGeom prst="roundRect">
            <a:avLst>
              <a:gd name="adj" fmla="val 2076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070699" y="1396454"/>
            <a:ext cx="2806750" cy="0"/>
          </a:xfrm>
          <a:prstGeom prst="line">
            <a:avLst/>
          </a:prstGeom>
          <a:noFill/>
          <a:ln w="38100">
            <a:solidFill>
              <a:srgbClr val="1557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84999" y="1529804"/>
            <a:ext cx="26297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84999" y="1880295"/>
            <a:ext cx="26297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Enduring - Slow to modify - Hard to reverse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184999" y="2242245"/>
            <a:ext cx="2578150" cy="451396"/>
          </a:xfrm>
          <a:prstGeom prst="roundRect">
            <a:avLst>
              <a:gd name="adj" fmla="val 84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61199" y="2318445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Map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6261199" y="2484090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navigating = mental model. Persists when away.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184999" y="2903190"/>
            <a:ext cx="2578150" cy="451396"/>
          </a:xfrm>
          <a:prstGeom prst="roundRect">
            <a:avLst>
              <a:gd name="adj" fmla="val 84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261199" y="2979390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Attachment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6261199" y="3145036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in home = deep bond. Part of identity.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184999" y="3564136"/>
            <a:ext cx="2578150" cy="451396"/>
          </a:xfrm>
          <a:prstGeom prst="roundRect">
            <a:avLst>
              <a:gd name="adj" fmla="val 84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261199" y="3640336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Identity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6261199" y="3805982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Childhood in nature = lifelong values.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66700" y="4794945"/>
            <a:ext cx="87828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consequent types require different measurement methods, timescales, and intervention strategies.</a:t>
            </a:r>
            <a:endParaRPr lang="en-US" sz="6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699" y="228600"/>
            <a:ext cx="63603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Dynamics: When Does It Happen?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66700" y="533400"/>
            <a:ext cx="87828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environment, different timescales—milliseconds to decades</a:t>
            </a:r>
            <a:endParaRPr lang="en-US" sz="900" dirty="0"/>
          </a:p>
        </p:txBody>
      </p:sp>
      <p:pic>
        <p:nvPicPr>
          <p:cNvPr id="4" name="Image 0" descr="/tmp/rasterized-gradient-9295c3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1338709"/>
            <a:ext cx="2806750" cy="7314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1950" y="1662559"/>
            <a:ext cx="26685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Startle from Sudden Noise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61950" y="1841599"/>
            <a:ext cx="26685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 = heart spike = gone in 5 seconds</a:t>
            </a:r>
            <a:endParaRPr lang="en-US" sz="750" dirty="0"/>
          </a:p>
        </p:txBody>
      </p:sp>
      <p:pic>
        <p:nvPicPr>
          <p:cNvPr id="7" name="Image 1" descr="/tmp/rasterized-gradient-4e0294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700" y="1338709"/>
            <a:ext cx="2806750" cy="7314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3950" y="1662559"/>
            <a:ext cx="26685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 Shift Entering Space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263950" y="1841599"/>
            <a:ext cx="26685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atrium = uplift in 30 sec = fades after leaving</a:t>
            </a:r>
            <a:endParaRPr lang="en-US" sz="750" dirty="0"/>
          </a:p>
        </p:txBody>
      </p:sp>
      <p:pic>
        <p:nvPicPr>
          <p:cNvPr id="10" name="Image 2" descr="/tmp/rasterized-gradient-dfd5986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0699" y="1338709"/>
            <a:ext cx="2806750" cy="7314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65949" y="1662559"/>
            <a:ext cx="26685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Restoration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6165949" y="1841599"/>
            <a:ext cx="26685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walk 20+ min = attention recovers = lasts hours</a:t>
            </a:r>
            <a:endParaRPr lang="en-US" sz="750" dirty="0"/>
          </a:p>
        </p:txBody>
      </p:sp>
      <p:pic>
        <p:nvPicPr>
          <p:cNvPr id="13" name="Image 3" descr="/tmp/rasterized-gradient-c05590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00" y="2941886"/>
            <a:ext cx="2806750" cy="73149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61950" y="3265736"/>
            <a:ext cx="26685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Disposition Formation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361950" y="3444776"/>
            <a:ext cx="26685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10-30 visits = place preference develops = decays slowly</a:t>
            </a:r>
            <a:endParaRPr lang="en-US" sz="750" dirty="0"/>
          </a:p>
        </p:txBody>
      </p:sp>
      <p:pic>
        <p:nvPicPr>
          <p:cNvPr id="16" name="Image 4" descr="/tmp/rasterized-gradient-5855b18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8700" y="2941886"/>
            <a:ext cx="2806750" cy="73149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63950" y="3265736"/>
            <a:ext cx="26685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Health Effects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3263950" y="3444776"/>
            <a:ext cx="26685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lighting daily = circadian disruption = depression risk</a:t>
            </a:r>
            <a:endParaRPr lang="en-US" sz="750" dirty="0"/>
          </a:p>
        </p:txBody>
      </p:sp>
      <p:pic>
        <p:nvPicPr>
          <p:cNvPr id="19" name="Image 5" descr="/tmp/rasterized-gradient-8ac320e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0699" y="2941886"/>
            <a:ext cx="2806750" cy="73149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165949" y="3265736"/>
            <a:ext cx="26685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Developmental Structure</a:t>
            </a:r>
            <a:endParaRPr lang="en-US" sz="900" dirty="0"/>
          </a:p>
        </p:txBody>
      </p:sp>
      <p:sp>
        <p:nvSpPr>
          <p:cNvPr id="21" name="Text 13"/>
          <p:cNvSpPr/>
          <p:nvPr/>
        </p:nvSpPr>
        <p:spPr>
          <a:xfrm>
            <a:off x="6165949" y="3444776"/>
            <a:ext cx="26685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Childhood nature ages 5-12 = adult values = permanent</a:t>
            </a:r>
            <a:endParaRPr lang="en-US" sz="750" dirty="0"/>
          </a:p>
        </p:txBody>
      </p:sp>
      <p:sp>
        <p:nvSpPr>
          <p:cNvPr id="22" name="Text 14"/>
          <p:cNvSpPr/>
          <p:nvPr/>
        </p:nvSpPr>
        <p:spPr>
          <a:xfrm>
            <a:off x="266700" y="4299645"/>
            <a:ext cx="8610600" cy="285750"/>
          </a:xfrm>
          <a:prstGeom prst="roundRect">
            <a:avLst>
              <a:gd name="adj" fmla="val 16667"/>
            </a:avLst>
          </a:prstGeom>
          <a:solidFill>
            <a:srgbClr val="2D4A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5"/>
          <p:cNvSpPr/>
          <p:nvPr/>
        </p:nvSpPr>
        <p:spPr>
          <a:xfrm>
            <a:off x="381000" y="4375845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Interaction:</a:t>
            </a: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Repeated states become dispositions become structures. Brief interventions cannot achieve structural outcomes.</a:t>
            </a:r>
            <a:endParaRPr lang="en-US" sz="750" dirty="0"/>
          </a:p>
        </p:txBody>
      </p:sp>
      <p:sp>
        <p:nvSpPr>
          <p:cNvPr id="24" name="Text 16"/>
          <p:cNvSpPr/>
          <p:nvPr/>
        </p:nvSpPr>
        <p:spPr>
          <a:xfrm>
            <a:off x="266700" y="4794945"/>
            <a:ext cx="87828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parameters must be encoded: onset, duration, decay profile, accumulation potential.</a:t>
            </a:r>
            <a:endParaRPr lang="en-US" sz="6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28600"/>
            <a:ext cx="73501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Cross-Level Effects: Person to Group to System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66700" y="533400"/>
            <a:ext cx="87828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effects aggregate into collective phenomena—often non-linearly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6700" y="1397496"/>
            <a:ext cx="4238625" cy="260896"/>
          </a:xfrm>
          <a:prstGeom prst="roundRect">
            <a:avLst>
              <a:gd name="adj" fmla="val 18254"/>
            </a:avLst>
          </a:prstGeom>
          <a:solidFill>
            <a:srgbClr val="1A6B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1950" y="1454646"/>
            <a:ext cx="41290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UPWARD: Individual to Collective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266700" y="1734592"/>
            <a:ext cx="4238625" cy="1066651"/>
          </a:xfrm>
          <a:prstGeom prst="roundRect">
            <a:avLst>
              <a:gd name="adj" fmla="val 4465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1950" y="1829842"/>
            <a:ext cx="41290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Layout to Network Density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61950" y="2014538"/>
            <a:ext cx="4129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Individual sees others (perception)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61950" y="2147888"/>
            <a:ext cx="4129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Feels accessible (affect)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61950" y="2281238"/>
            <a:ext cx="4129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More conversations (behavior)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1950" y="2414588"/>
            <a:ext cx="4129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Network densifies (group)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1950" y="2586038"/>
            <a:ext cx="4129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Timescale: days to weeks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266700" y="2877443"/>
            <a:ext cx="4238625" cy="1066651"/>
          </a:xfrm>
          <a:prstGeom prst="roundRect">
            <a:avLst>
              <a:gd name="adj" fmla="val 4465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1950" y="2972693"/>
            <a:ext cx="41290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View to Team Wellbeing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61950" y="3157389"/>
            <a:ext cx="4129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Each person stress-reduced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61950" y="3290739"/>
            <a:ext cx="4129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Less irritability in interactions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61950" y="3424089"/>
            <a:ext cx="4129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More cooperative climate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61950" y="3557439"/>
            <a:ext cx="4129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Lower team conflict rates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61950" y="3728889"/>
            <a:ext cx="4129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 is non-linear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638675" y="1397496"/>
            <a:ext cx="4238625" cy="260896"/>
          </a:xfrm>
          <a:prstGeom prst="roundRect">
            <a:avLst>
              <a:gd name="adj" fmla="val 18254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33925" y="1454646"/>
            <a:ext cx="41290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DOWNWARD: Collective to Individual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638675" y="1734592"/>
            <a:ext cx="4238625" cy="1066651"/>
          </a:xfrm>
          <a:prstGeom prst="roundRect">
            <a:avLst>
              <a:gd name="adj" fmla="val 4465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33925" y="1829842"/>
            <a:ext cx="41290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Crowding + Quiet Norm = Lower Stress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733925" y="2014538"/>
            <a:ext cx="4129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Dense occupancy (environment)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33925" y="2147888"/>
            <a:ext cx="4129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Group develops quiet norm (emergent)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33925" y="2281238"/>
            <a:ext cx="4129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Individuals lower voices (compliance)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33925" y="2414588"/>
            <a:ext cx="4129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Stress lower than crowding alone predicts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33925" y="2586038"/>
            <a:ext cx="4129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 moderates direct effect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638675" y="2877443"/>
            <a:ext cx="4238625" cy="1066651"/>
          </a:xfrm>
          <a:prstGeom prst="roundRect">
            <a:avLst>
              <a:gd name="adj" fmla="val 4465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33925" y="2972693"/>
            <a:ext cx="41290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Culture to Space Use to Experience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733925" y="3157389"/>
            <a:ext cx="4129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Company values collaboration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33925" y="3290739"/>
            <a:ext cx="4129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People use informal zones more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33925" y="3424089"/>
            <a:ext cx="4129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Same space, different activation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733925" y="3557439"/>
            <a:ext cx="4129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Individual feels more belonging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733925" y="3728889"/>
            <a:ext cx="4129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 selects affordances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266700" y="4629150"/>
            <a:ext cx="8610600" cy="285750"/>
          </a:xfrm>
          <a:prstGeom prst="roundRect">
            <a:avLst>
              <a:gd name="adj" fmla="val 16667"/>
            </a:avLst>
          </a:prstGeom>
          <a:solidFill>
            <a:srgbClr val="2D4A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Open-Plan Paradox:</a:t>
            </a: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Individual: concentration down. Dyadic: communication up. Group: awareness up. Which is real? All of them.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28600"/>
            <a:ext cx="49646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 Interactions: Synergy vs. Antagonism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66700" y="839242"/>
            <a:ext cx="87828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do not just add—they amplify, compete, or conditionally override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6700" y="1503164"/>
            <a:ext cx="4229100" cy="312390"/>
          </a:xfrm>
          <a:prstGeom prst="roundRect">
            <a:avLst>
              <a:gd name="adj" fmla="val 15245"/>
            </a:avLst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579364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SYNERGISTIC (1+1=3)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66700" y="1891754"/>
            <a:ext cx="4229100" cy="935236"/>
          </a:xfrm>
          <a:prstGeom prst="roundRect">
            <a:avLst>
              <a:gd name="adj" fmla="val 5092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1000" y="2006054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Biophilic Clustering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223195"/>
            <a:ext cx="4080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view (d=0.3) + Natural materials (d=0.2) + Natural light (d=0.25)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1000" y="2394645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Expected: d=0.75 | Actual: d=0.9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2579340"/>
            <a:ext cx="4080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Coherent biophilic message amplifies effect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66700" y="2903190"/>
            <a:ext cx="4229100" cy="935236"/>
          </a:xfrm>
          <a:prstGeom prst="roundRect">
            <a:avLst>
              <a:gd name="adj" fmla="val 5092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81000" y="3017490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Congruent Metaphors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1000" y="3234630"/>
            <a:ext cx="4080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ceiling (spacious) + Light colors (airy) + Open layout (free)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81000" y="3406080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reinforce FREEDOM concept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3590776"/>
            <a:ext cx="4080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Cross-modal metaphor consistency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48200" y="1503164"/>
            <a:ext cx="4229100" cy="312390"/>
          </a:xfrm>
          <a:prstGeom prst="roundRect">
            <a:avLst>
              <a:gd name="adj" fmla="val 15245"/>
            </a:avLst>
          </a:prstGeom>
          <a:solidFill>
            <a:srgbClr val="DC3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62500" y="1579364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ANTAGONISTIC (Competing)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48200" y="1891754"/>
            <a:ext cx="4229100" cy="935236"/>
          </a:xfrm>
          <a:prstGeom prst="roundRect">
            <a:avLst>
              <a:gd name="adj" fmla="val 5092"/>
            </a:avLst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62500" y="2006054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Visual-Acoustic Conflict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62500" y="2223195"/>
            <a:ext cx="4080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plan: visual community (+) BUT acoustic distraction (-)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62500" y="2394645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Acoustic wins for knowledge work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762500" y="2579340"/>
            <a:ext cx="4080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onset, higher attention priority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48200" y="2903190"/>
            <a:ext cx="4229100" cy="935236"/>
          </a:xfrm>
          <a:prstGeom prst="roundRect">
            <a:avLst>
              <a:gd name="adj" fmla="val 5092"/>
            </a:avLst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62500" y="3017490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Prospect-Refuge Tension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62500" y="3234630"/>
            <a:ext cx="4080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prospect: control (+) BUT exposure vulnerability (-)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62500" y="3406080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extreme is net negative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762500" y="3590776"/>
            <a:ext cx="4080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= balanced middle ground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66700" y="4629150"/>
            <a:ext cx="8610600" cy="285750"/>
          </a:xfrm>
          <a:prstGeom prst="roundRect">
            <a:avLst>
              <a:gd name="adj" fmla="val 16667"/>
            </a:avLst>
          </a:prstGeom>
          <a:solidFill>
            <a:srgbClr val="2D4A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Implication:</a:t>
            </a: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Cluster synergistic features. Resolve antagonism by prioritizing outcomes or spatial/temporal separation.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9891</TotalTime>
  <Words>1348</Words>
  <Application>Microsoft Macintosh PowerPoint</Application>
  <PresentationFormat>On-screen Show (16:9)</PresentationFormat>
  <Paragraphs>196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Rule Types in Environment-Behavior Research</dc:title>
  <dc:subject>PptxGenJS Presentation</dc:subject>
  <dc:creator>Neuroarchitecture Research</dc:creator>
  <cp:lastModifiedBy>David Kirsh</cp:lastModifiedBy>
  <cp:revision>2</cp:revision>
  <dcterms:created xsi:type="dcterms:W3CDTF">2026-01-04T14:10:20Z</dcterms:created>
  <dcterms:modified xsi:type="dcterms:W3CDTF">2026-02-26T14:11:20Z</dcterms:modified>
</cp:coreProperties>
</file>