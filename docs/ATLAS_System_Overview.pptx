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2171B5"/>
                </a:solidFill>
                <a:latin typeface="Helvetica"/>
              </a:defRPr>
            </a:pPr>
            <a:r>
              <a:t>ATLAS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  <a:latin typeface="Helvetica"/>
              </a:defRPr>
            </a:pPr>
            <a:r>
              <a:t>Article Eater — Post-Quinean Epistemic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Helvetica"/>
              </a:defRPr>
            </a:pPr>
            <a:r>
              <a:t>A coherentist belief management system for 1,083 research papers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754880"/>
            <a:ext cx="3931920" cy="18288"/>
          </a:xfrm>
          <a:prstGeom prst="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Helvetica"/>
              </a:defRPr>
            </a:pPr>
            <a:r>
              <a:t>Prof. David Kirsh  •  UCSD Cognitive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577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Helvetica"/>
              </a:defRPr>
            </a:pPr>
            <a:r>
              <a:t>Built with AG (Antigravity) + Claude Code  •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71B5"/>
                </a:solidFill>
                <a:latin typeface="Helvetica"/>
              </a:defRPr>
            </a:pPr>
            <a:r>
              <a:t>What Is ATLAS?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Helvetica"/>
              </a:defRPr>
            </a:pPr>
            <a:r>
              <a:t>Unlike RAG systems that retrieve documents, ATLAS builds an Epistemic Network — a coherent web of beliefs where every claim has provenance, credence, and warrant 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  <a:latin typeface="Helvetica"/>
              </a:defRPr>
            </a:pPr>
            <a:r>
              <a:t>• 1,083 papers processed → 33,000+ extraction findings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  <a:latin typeface="Helvetica"/>
              </a:defRPr>
            </a:pPr>
            <a:r>
              <a:t>• 4,888+ beliefs in the Web of Belief, linked by coherence constraints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  <a:latin typeface="Helvetica"/>
              </a:defRPr>
            </a:pPr>
            <a:r>
              <a:t>• 596 dynamically-inferred T3 beliefs emerging from cross-paper evidence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  <a:latin typeface="Helvetica"/>
              </a:defRPr>
            </a:pPr>
            <a:r>
              <a:t>• 13 domain theories (T1.5): ART, SRT, Biophilia, Place Attachment, BRECVEMA...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  <a:latin typeface="Helvetica"/>
              </a:defRPr>
            </a:pPr>
            <a:r>
              <a:t>• 10 foundational frameworks (T1): Predictive Processing, Embodied Cognition, Active Inference...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  <a:latin typeface="Helvetica"/>
              </a:defRPr>
            </a:pPr>
            <a:r>
              <a:t>• 14 invariants monitored by the Overseer (Dijkstra-inspired watchdog)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  <a:latin typeface="Helvetica"/>
              </a:defRPr>
            </a:pPr>
            <a:r>
              <a:t>• Philosophical basis: Quine's web of belief + Haack's foundherentism + Pearl's causality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71B5"/>
                </a:solidFill>
                <a:latin typeface="Helvetica"/>
              </a:defRPr>
            </a:pPr>
            <a:r>
              <a:t>System Architecture — 20 Subsystems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Helvetica"/>
              </a:defRPr>
            </a:pPr>
            <a:r>
              <a:t>Data flows left-to-right from paper acquisition through belief integration.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011680" cy="640080"/>
          </a:xfrm>
          <a:prstGeom prst="round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PDF Acquisition</a:t>
            </a:r>
            <a:br/>
            <a:r>
              <a:t>6K LOC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14600" y="1572768"/>
            <a:ext cx="365760" cy="228600"/>
          </a:xfrm>
          <a:prstGeom prst="rightArrow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34640" y="1371600"/>
            <a:ext cx="2011680" cy="640080"/>
          </a:xfrm>
          <a:prstGeom prst="round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Gemini Extraction</a:t>
            </a:r>
            <a:br/>
            <a:r>
              <a:t>5K LOC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92040" y="1572768"/>
            <a:ext cx="365760" cy="228600"/>
          </a:xfrm>
          <a:prstGeom prst="rightArrow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0" y="1371600"/>
            <a:ext cx="2011680" cy="640080"/>
          </a:xfrm>
          <a:prstGeom prst="round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QA Validation</a:t>
            </a:r>
            <a:br/>
            <a:r>
              <a:t>10K LOC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269480" y="1572768"/>
            <a:ext cx="365760" cy="228600"/>
          </a:xfrm>
          <a:prstGeom prst="rightArrow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89520" y="1371600"/>
            <a:ext cx="2011680" cy="640080"/>
          </a:xfrm>
          <a:prstGeom prst="round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Integration</a:t>
            </a:r>
            <a:br/>
            <a:r>
              <a:t>5K LOC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646920" y="1572768"/>
            <a:ext cx="365760" cy="228600"/>
          </a:xfrm>
          <a:prstGeom prst="rightArrow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66960" y="1371600"/>
            <a:ext cx="201168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Web of Belief</a:t>
            </a:r>
            <a:br/>
            <a:r>
              <a:t>7K LOC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0320"/>
            <a:ext cx="2286000" cy="594360"/>
          </a:xfrm>
          <a:prstGeom prst="roundRect">
            <a:avLst/>
          </a:prstGeom>
          <a:solidFill>
            <a:srgbClr val="CB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Overseer (14 invariants)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560320"/>
            <a:ext cx="2286000" cy="59436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Bayesian 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2560320"/>
            <a:ext cx="2286000" cy="59436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Argumentation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560320"/>
            <a:ext cx="2286000" cy="59436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Theory &amp; Templates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57600"/>
            <a:ext cx="3200400" cy="5943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QA Handler (14 question types)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31920" y="3657600"/>
            <a:ext cx="3200400" cy="59436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Enrichment Orchestrator (9 steps)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657600"/>
            <a:ext cx="3200400" cy="5943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Helvetica"/>
              </a:defRPr>
            </a:pPr>
            <a:r>
              <a:t>IIS — Interpretive 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2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Helvetica"/>
              </a:defRPr>
            </a:pPr>
            <a:r>
              <a:t>Bottom layer: Provenance (Haack), Warrant Classification, Credence Intervals, Confounder Risk, Gap Prediction (VOI-ranked)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71B5"/>
                </a:solidFill>
                <a:latin typeface="Helvetica"/>
              </a:defRPr>
            </a:pPr>
            <a:r>
              <a:t>80,400+ LOC  •  5,789 tests  •  2 AI agents collaborating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71B5"/>
                </a:solidFill>
                <a:latin typeface="Helvetica"/>
              </a:defRPr>
            </a:pPr>
            <a:r>
              <a:t>The Epistemic Network (EN)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Helvetica"/>
              </a:defRPr>
            </a:pPr>
            <a:r>
              <a:t>Inspired by Quine's "Two Dogmas of Empiricism" — knowledge as a web, not a tower.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Helvetica"/>
              </a:defRPr>
            </a:pPr>
            <a:r>
              <a:t>• NOT a citation graph. NOT a knowledge graph. It's an epistemic coherence network.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Helvetica"/>
              </a:defRPr>
            </a:pPr>
            <a:r>
              <a:t>• Every belief has: text, credence [0,1], provenance chain, warrant decomposition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Helvetica"/>
              </a:defRPr>
            </a:pPr>
            <a:r>
              <a:t>• Beliefs connected by CONSTRAINTS: supports, undermines, requires, resembles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Helvetica"/>
              </a:defRPr>
            </a:pPr>
            <a:r>
              <a:t>• Credence is the system's posterior after weighing ALL evidence, not author confidence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Helvetica"/>
              </a:defRPr>
            </a:pPr>
            <a:r>
              <a:t>• Following Haack's foundherentism: beliefs need both ANCHORS and COHERENCE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71B5"/>
                </a:solidFill>
                <a:latin typeface="Helvetica"/>
              </a:defRPr>
            </a:pPr>
            <a:r>
              <a:t>Example T3 Belief (one of 596)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171B5"/>
                </a:solidFill>
                <a:latin typeface="Helvetica"/>
              </a:defRPr>
            </a:pPr>
            <a:r>
              <a:t>• "Natural environments reduce cortisol by 15-25% within 20 min"</a:t>
            </a:r>
          </a:p>
          <a:p>
            <a:pPr>
              <a:spcAft>
                <a:spcPts val="500"/>
              </a:spcAft>
              <a:defRPr sz="1200">
                <a:solidFill>
                  <a:srgbClr val="2171B5"/>
                </a:solidFill>
                <a:latin typeface="Helvetica"/>
              </a:defRPr>
            </a:pPr>
            <a:r>
              <a:t>• credence: 0.82  CI: [0.76, 0.88]</a:t>
            </a:r>
          </a:p>
          <a:p>
            <a:pPr>
              <a:spcAft>
                <a:spcPts val="500"/>
              </a:spcAft>
              <a:defRPr sz="1200">
                <a:solidFill>
                  <a:srgbClr val="2171B5"/>
                </a:solidFill>
                <a:latin typeface="Helvetica"/>
              </a:defRPr>
            </a:pPr>
            <a:r>
              <a:t>• tier: T3 (cross-paper synthesis, 12 studies)</a:t>
            </a:r>
          </a:p>
          <a:p>
            <a:pPr>
              <a:spcAft>
                <a:spcPts val="500"/>
              </a:spcAft>
              <a:defRPr sz="1200">
                <a:solidFill>
                  <a:srgbClr val="2171B5"/>
                </a:solidFill>
                <a:latin typeface="Helvetica"/>
              </a:defRPr>
            </a:pPr>
            <a:r>
              <a:t>• theories: SRT + ART + Biophilia + Goldilocks</a:t>
            </a:r>
          </a:p>
          <a:p>
            <a:pPr>
              <a:spcAft>
                <a:spcPts val="500"/>
              </a:spcAft>
              <a:defRPr sz="1200">
                <a:solidFill>
                  <a:srgbClr val="2171B5"/>
                </a:solidFill>
                <a:latin typeface="Helvetica"/>
              </a:defRPr>
            </a:pPr>
            <a:r>
              <a:t>• anchor: MEASUREMENT</a:t>
            </a:r>
          </a:p>
          <a:p>
            <a:pPr>
              <a:spcAft>
                <a:spcPts val="500"/>
              </a:spcAft>
              <a:defRPr sz="1200">
                <a:solidFill>
                  <a:srgbClr val="2171B5"/>
                </a:solidFill>
                <a:latin typeface="Helvetica"/>
              </a:defRPr>
            </a:pPr>
            <a:r>
              <a:t>• warrant: statistical 0.4, mechanistic 0.3, testimonial 0.2, analogical 0.1</a:t>
            </a:r>
          </a:p>
          <a:p>
            <a:pPr>
              <a:spcAft>
                <a:spcPts val="500"/>
              </a:spcAft>
              <a:defRPr sz="1200">
                <a:solidFill>
                  <a:srgbClr val="2171B5"/>
                </a:solidFill>
                <a:latin typeface="Helvetica"/>
              </a:defRPr>
            </a:pPr>
            <a:r>
              <a:t>• supports: T3-0015 (biophilia reduces arousal)</a:t>
            </a:r>
          </a:p>
          <a:p>
            <a:pPr>
              <a:spcAft>
                <a:spcPts val="500"/>
              </a:spcAft>
              <a:defRPr sz="1200">
                <a:solidFill>
                  <a:srgbClr val="2171B5"/>
                </a:solidFill>
                <a:latin typeface="Helvetica"/>
              </a:defRPr>
            </a:pPr>
            <a:r>
              <a:t>• undermines: T3-0112 (urban ≠ wilderness effect)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71B5"/>
                </a:solidFill>
                <a:latin typeface="Helvetica"/>
              </a:defRPr>
            </a:pPr>
            <a:r>
              <a:t>Warrant Decomposition — Why Should You Believe?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Helvetica"/>
              </a:defRPr>
            </a:pPr>
            <a:r>
              <a:t>Every belief's credence is decomposed into contributing warrant types.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011680" cy="777240"/>
          </a:xfrm>
          <a:prstGeom prst="round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Helvetica"/>
              </a:defRPr>
            </a:pPr>
            <a:r>
              <a:t>STATISTICAL</a:t>
            </a:r>
            <a:br/>
            <a:r>
              <a:t>40%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6459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Helvetica"/>
              </a:defRPr>
            </a:pPr>
            <a:r>
              <a:t>Meta-analytic strength, p-values, effect sizes, sample sizes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2011680" cy="7772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Helvetica"/>
              </a:defRPr>
            </a:pPr>
            <a:r>
              <a:t>MECHANISTIC</a:t>
            </a:r>
            <a:br/>
            <a:r>
              <a:t>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743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Helvetica"/>
              </a:defRPr>
            </a:pPr>
            <a:r>
              <a:t>Causal chain (e.g., cortisol → HPA axis → stress reduction)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2011680" cy="77724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Helvetica"/>
              </a:defRPr>
            </a:pPr>
            <a:r>
              <a:t>TESTIMONIAL</a:t>
            </a:r>
            <a:br/>
            <a: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384047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Helvetica"/>
              </a:defRPr>
            </a:pPr>
            <a:r>
              <a:t>Expert consensus, systematic reviews, institutional authority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846320"/>
            <a:ext cx="2011680" cy="7772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Helvetica"/>
              </a:defRPr>
            </a:pPr>
            <a:r>
              <a:t>ANALOGICAL</a:t>
            </a:r>
            <a:br/>
            <a:r>
              <a:t>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4937759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Helvetica"/>
              </a:defRPr>
            </a:pPr>
            <a:r>
              <a:t>Cross-domain parallels (e.g., biophilia in VR environments)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Helvetica"/>
              </a:defRPr>
            </a:pPr>
            <a:r>
              <a:t>Warrant weights are computed per belief from evidence characteristics — never assigned manually.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71B5"/>
                </a:solidFill>
                <a:latin typeface="Helvetica"/>
              </a:defRPr>
            </a:pPr>
            <a:r>
              <a:t>The Tier System — Levels of Epistemic Authority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188720" cy="914400"/>
          </a:xfrm>
          <a:prstGeom prst="roundRect">
            <a:avLst/>
          </a:prstGeom>
          <a:solidFill>
            <a:srgbClr val="CB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T1</a:t>
            </a:r>
            <a:br/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B4335"/>
                </a:solidFill>
                <a:latin typeface="Helvetica"/>
              </a:defRPr>
            </a:pPr>
            <a:r>
              <a:t>Foundational Frameworks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64591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Helvetica"/>
              </a:defRPr>
            </a:pPr>
            <a:r>
              <a:t>Predictive Processing, Embodied Cognition, Active Inference, Ecological Psychology...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39"/>
            <a:ext cx="1188720" cy="9144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T1.5</a:t>
            </a:r>
            <a:br/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4688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Helvetica"/>
              </a:defRPr>
            </a:pPr>
            <a:r>
              <a:t>Domain Theories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92607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Helvetica"/>
              </a:defRPr>
            </a:pPr>
            <a:r>
              <a:t>ART, SRT, Prospect-Refuge, Biophilia, BRECVEMA, Place Attachment, Adaptive Comfort...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657600"/>
            <a:ext cx="1188720" cy="914400"/>
          </a:xfrm>
          <a:prstGeom prst="round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T2</a:t>
            </a:r>
            <a:br/>
            <a:r>
              <a:t>33K+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71B5"/>
                </a:solidFill>
                <a:latin typeface="Helvetica"/>
              </a:defRPr>
            </a:pPr>
            <a:r>
              <a:t>Extraction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Helvetica"/>
              </a:defRPr>
            </a:pPr>
            <a:r>
              <a:t>Direct claims from papers with statistical evidence (antecedent → consequent)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59"/>
            <a:ext cx="1188720" cy="9144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  <a:latin typeface="Helvetica"/>
              </a:defRPr>
            </a:pPr>
            <a:r>
              <a:t>T3</a:t>
            </a:r>
            <a:br/>
            <a:r>
              <a:t>596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502919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Helvetica"/>
              </a:defRPr>
            </a:pPr>
            <a:r>
              <a:t>Inferred Beliefs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48639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Helvetica"/>
              </a:defRPr>
            </a:pPr>
            <a:r>
              <a:t>Cross-paper synthesis — emerge from constraint satisfaction across multiple studies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Helvetica"/>
              </a:defRPr>
            </a:pPr>
            <a:r>
              <a:t>T1 are AXIOMS (high credence, rarely revised). T3 are HYPOTHESES (emerge, get tested, may be retracted).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E44AD"/>
                </a:solidFill>
                <a:latin typeface="Helvetica"/>
              </a:defRPr>
            </a:pPr>
            <a:r>
              <a:t>IIS — Interpretive Intelligence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  <a:latin typeface="Helvetica"/>
              </a:defRPr>
            </a:pPr>
            <a:r>
              <a:t>The brain that decides HOW to explain, not just WHAT to explain.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Helvetica"/>
              </a:defRPr>
            </a:pPr>
            <a:r>
              <a:t>• Classifies every question into an explanation PATTERN (causal, comparative, definitional...)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Helvetica"/>
              </a:defRPr>
            </a:pPr>
            <a:r>
              <a:t>• Selects pedagogical MODE based on user expertise (researcher → student → clinician)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Helvetica"/>
              </a:defRPr>
            </a:pPr>
            <a:r>
              <a:t>• Chooses which epistemic OPERATIONS to foreground (warrant trace? framework voices?)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Helvetica"/>
              </a:defRPr>
            </a:pPr>
            <a:r>
              <a:t>• Determines DETAIL LEVEL: overview vs. deep-dive vs. technical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Helvetica"/>
              </a:defRPr>
            </a:pPr>
            <a:r>
              <a:t>• Maps to 9 enrichment steps — each optional, each with graceful degradation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44AD"/>
                </a:solidFill>
                <a:latin typeface="Helvetica"/>
              </a:defRPr>
            </a:pPr>
            <a:r>
              <a:t>Example: How does IIS respond?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8288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8E44AD"/>
                </a:solidFill>
                <a:latin typeface="Helvetica"/>
              </a:defRPr>
            </a:pPr>
            <a:r>
              <a:t>• Q: "Why does nature reduce stress?"</a:t>
            </a:r>
          </a:p>
          <a:p>
            <a:pPr>
              <a:spcAft>
                <a:spcPts val="500"/>
              </a:spcAft>
              <a:defRPr sz="1300">
                <a:solidFill>
                  <a:srgbClr val="8E44AD"/>
                </a:solidFill>
                <a:latin typeface="Helvetica"/>
              </a:defRPr>
            </a:pPr>
            <a:r>
              <a:t>• → Pattern: CAUSAL explanation</a:t>
            </a:r>
          </a:p>
          <a:p>
            <a:pPr>
              <a:spcAft>
                <a:spcPts val="500"/>
              </a:spcAft>
              <a:defRPr sz="1300">
                <a:solidFill>
                  <a:srgbClr val="8E44AD"/>
                </a:solidFill>
                <a:latin typeface="Helvetica"/>
              </a:defRPr>
            </a:pPr>
            <a:r>
              <a:t>• → User: researcher → technical detail</a:t>
            </a:r>
          </a:p>
          <a:p>
            <a:pPr>
              <a:spcAft>
                <a:spcPts val="500"/>
              </a:spcAft>
              <a:defRPr sz="1300">
                <a:solidFill>
                  <a:srgbClr val="8E44AD"/>
                </a:solidFill>
                <a:latin typeface="Helvetica"/>
              </a:defRPr>
            </a:pPr>
            <a:r>
              <a:t>• → Operations: mechanism chain + warrant trace</a:t>
            </a:r>
          </a:p>
          <a:p>
            <a:pPr>
              <a:spcAft>
                <a:spcPts val="500"/>
              </a:spcAft>
              <a:defRPr sz="1300">
                <a:solidFill>
                  <a:srgbClr val="8E44AD"/>
                </a:solidFill>
                <a:latin typeface="Helvetica"/>
              </a:defRPr>
            </a:pPr>
            <a:r>
              <a:t>• → Theories activated: SRT + ART + Biophilia</a:t>
            </a:r>
          </a:p>
          <a:p>
            <a:pPr>
              <a:spcAft>
                <a:spcPts val="500"/>
              </a:spcAft>
              <a:defRPr sz="1300">
                <a:solidFill>
                  <a:srgbClr val="8E44AD"/>
                </a:solidFill>
                <a:latin typeface="Helvetica"/>
              </a:defRPr>
            </a:pPr>
            <a:r>
              <a:t>• → Output: multi-theory causal account</a:t>
            </a:r>
          </a:p>
          <a:p>
            <a:pPr>
              <a:spcAft>
                <a:spcPts val="500"/>
              </a:spcAft>
              <a:defRPr sz="1300">
                <a:solidFill>
                  <a:srgbClr val="8E44AD"/>
                </a:solidFill>
                <a:latin typeface="Helvetica"/>
              </a:defRPr>
            </a:pPr>
            <a:r>
              <a:t>•    with 82% credence [0.76, 0.88] and provenance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71B5"/>
                </a:solidFill>
                <a:latin typeface="Helvetica"/>
              </a:defRPr>
            </a:pPr>
            <a:r>
              <a:t>Answer Enrichment — 9-Step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Helvetica"/>
              </a:defRPr>
            </a:pPr>
            <a:r>
              <a:t>Every answer passes through 9 optional enrichment steps (5s global latency budget).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828800" cy="685800"/>
          </a:xfrm>
          <a:prstGeom prst="round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1. Credence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41731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Helvetica"/>
              </a:defRPr>
            </a:pPr>
            <a:r>
              <a:t>Bayesian confidence intervals on beliefs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1828800" cy="685800"/>
          </a:xfrm>
          <a:prstGeom prst="roundRect">
            <a:avLst/>
          </a:prstGeom>
          <a:solidFill>
            <a:srgbClr val="217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2. Warrant 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331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Helvetica"/>
              </a:defRPr>
            </a:pPr>
            <a:r>
              <a:t>Decompose into 4 warrant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1828800" cy="685800"/>
          </a:xfrm>
          <a:prstGeom prst="roundRect">
            <a:avLst/>
          </a:prstGeom>
          <a:solidFill>
            <a:srgbClr val="CB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3. Confounder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246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Helvetica"/>
              </a:defRPr>
            </a:pPr>
            <a:r>
              <a:t>Flag observational studies without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23360"/>
            <a:ext cx="1828800" cy="68580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4. Framework Voices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160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Helvetica"/>
              </a:defRPr>
            </a:pPr>
            <a:r>
              <a:t>T1 theoretical perspectives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937760"/>
            <a:ext cx="1828800" cy="685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5. Gap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5074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Helvetica"/>
              </a:defRPr>
            </a:pPr>
            <a:r>
              <a:t>What's MISSING from our evidence?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1828800" cy="685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6. Follow-ups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1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Helvetica"/>
              </a:defRPr>
            </a:pPr>
            <a:r>
              <a:t>VOI-ranked research questions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194560"/>
            <a:ext cx="1828800" cy="6858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7. Language Adapt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3317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Helvetica"/>
              </a:defRPr>
            </a:pPr>
            <a:r>
              <a:t>Vocabulary/structure per user 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08960"/>
            <a:ext cx="1828800" cy="685800"/>
          </a:xfrm>
          <a:prstGeom prst="round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8. Figure Suggest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246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Helvetica"/>
              </a:defRPr>
            </a:pPr>
            <a:r>
              <a:t>42 figures: which illuminate this?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023360"/>
            <a:ext cx="1828800" cy="6858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Helvetica"/>
              </a:defRPr>
            </a:pPr>
            <a:r>
              <a:t>9. IIS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160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Helvetica"/>
              </a:defRPr>
            </a:pPr>
            <a:r>
              <a:t>Classify explanation pattern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8D"/>
                </a:solidFill>
                <a:latin typeface="Helvetica"/>
              </a:defRPr>
            </a:pPr>
            <a:r>
              <a:t>Each step: try/except isolation + 2s timeout + graceful degradation. Failures never block answers.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CB4335"/>
                </a:solidFill>
                <a:latin typeface="Helvetica"/>
              </a:defRPr>
            </a:pPr>
            <a:r>
              <a:t>The Overseer — Dijkstra's Watchdog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F8C8D"/>
                </a:solidFill>
                <a:latin typeface="Helvetica"/>
              </a:defRPr>
            </a:pPr>
            <a:r>
              <a:t>Monitors 14 invariants to ensure epistemic coherence.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INV-0: System is OPERATIONAL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INV-1: Every belief has provenance (Haack)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INV-2: BN edges reflect web credences (Pearl)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INV-3: All beliefs conform to ClaimV2 schema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INV-4: Credences bounded [0, 1]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INV-5: No orphan beliefs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INV-6: Pipeline utilization ratio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INV-7: Template coverage across theories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INV-8: Theory linkage density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INV-9: Evidence diversity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B4335"/>
                </a:solidFill>
                <a:latin typeface="Helvetica"/>
              </a:defRPr>
            </a:pPr>
            <a:r>
              <a:t>Trigger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POST_INTEGRATION: ~5s after paper integrates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PERIODIC: nightly 15-min full audit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ALERT: immediately on constraint violations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ON_DEMAND: manual inspection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B4335"/>
                </a:solidFill>
                <a:latin typeface="Helvetica"/>
              </a:defRPr>
            </a:pPr>
            <a:r>
              <a:t>AESHI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114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Helvetica"/>
              </a:defRPr>
            </a:pPr>
            <a:r>
              <a:t>Aggregate Epistemic System</a:t>
            </a:r>
            <a:br/>
            <a:r>
              <a:t>Health Index</a:t>
            </a:r>
            <a:br/>
            <a:br/>
            <a:r>
              <a:t>Current: 93.0 ● GREEN</a:t>
            </a:r>
            <a:br/>
            <a:r>
              <a:t>(0-60 RED, 60-85 YELLOW, 85+ GREEN)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171B5"/>
                </a:solidFill>
                <a:latin typeface="Helvetica"/>
              </a:defRPr>
            </a:pPr>
            <a:r>
              <a:t>ATLAS vs. RAG — Deep Knowledge vs. Book Knowledge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4114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03520" cy="41148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B4335"/>
                </a:solidFill>
                <a:latin typeface="Helvetica"/>
              </a:defRPr>
            </a:pPr>
            <a:r>
              <a:t>RAG (Retrieval-Augmented Generation)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7F8C8D"/>
                </a:solidFill>
                <a:latin typeface="Helvetica"/>
              </a:defRPr>
            </a:pPr>
            <a:r>
              <a:t>• Retrieves relevant text chunks</a:t>
            </a:r>
          </a:p>
          <a:p>
            <a:pPr>
              <a:spcAft>
                <a:spcPts val="500"/>
              </a:spcAft>
              <a:defRPr sz="1300">
                <a:solidFill>
                  <a:srgbClr val="7F8C8D"/>
                </a:solidFill>
                <a:latin typeface="Helvetica"/>
              </a:defRPr>
            </a:pPr>
            <a:r>
              <a:t>• Pastes context into LLM prompt</a:t>
            </a:r>
          </a:p>
          <a:p>
            <a:pPr>
              <a:spcAft>
                <a:spcPts val="500"/>
              </a:spcAft>
              <a:defRPr sz="1300">
                <a:solidFill>
                  <a:srgbClr val="7F8C8D"/>
                </a:solidFill>
                <a:latin typeface="Helvetica"/>
              </a:defRPr>
            </a:pPr>
            <a:r>
              <a:t>• Answer = LLM's synthesis of chunks</a:t>
            </a:r>
          </a:p>
          <a:p>
            <a:pPr>
              <a:spcAft>
                <a:spcPts val="500"/>
              </a:spcAft>
              <a:defRPr sz="1300">
                <a:solidFill>
                  <a:srgbClr val="7F8C8D"/>
                </a:solidFill>
                <a:latin typeface="Helvetica"/>
              </a:defRPr>
            </a:pPr>
            <a:r>
              <a:t>• No belief network, no coherence</a:t>
            </a:r>
          </a:p>
          <a:p>
            <a:pPr>
              <a:spcAft>
                <a:spcPts val="500"/>
              </a:spcAft>
              <a:defRPr sz="1300">
                <a:solidFill>
                  <a:srgbClr val="7F8C8D"/>
                </a:solidFill>
                <a:latin typeface="Helvetica"/>
              </a:defRPr>
            </a:pPr>
            <a:r>
              <a:t>• No warrant decomposition</a:t>
            </a:r>
          </a:p>
          <a:p>
            <a:pPr>
              <a:spcAft>
                <a:spcPts val="500"/>
              </a:spcAft>
              <a:defRPr sz="1300">
                <a:solidFill>
                  <a:srgbClr val="7F8C8D"/>
                </a:solidFill>
                <a:latin typeface="Helvetica"/>
              </a:defRPr>
            </a:pPr>
            <a:r>
              <a:t>• No credence intervals</a:t>
            </a:r>
          </a:p>
          <a:p>
            <a:pPr>
              <a:spcAft>
                <a:spcPts val="500"/>
              </a:spcAft>
              <a:defRPr sz="1300">
                <a:solidFill>
                  <a:srgbClr val="7F8C8D"/>
                </a:solidFill>
                <a:latin typeface="Helvetica"/>
              </a:defRPr>
            </a:pPr>
            <a:r>
              <a:t>• Can't detect cross-paper contradictions</a:t>
            </a:r>
          </a:p>
          <a:p>
            <a:pPr>
              <a:spcAft>
                <a:spcPts val="500"/>
              </a:spcAft>
              <a:defRPr sz="1300">
                <a:solidFill>
                  <a:srgbClr val="7F8C8D"/>
                </a:solidFill>
                <a:latin typeface="Helvetica"/>
              </a:defRPr>
            </a:pPr>
            <a:r>
              <a:t>• No theory-grounded 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Helvetica"/>
              </a:defRPr>
            </a:pPr>
            <a:r>
              <a:t>ATLAS (Epistemic Network)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Pre-processes papers into structured beliefs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Constraints connect beliefs (supports, undermines)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Answer = EN traversal with warrant trace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Coherence-checked against 14 invariants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Every claim decomposed into 4 warrant types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Bayesian credence intervals on every belief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Argumentation engine detects tensions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IIS selects explanation pattern per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171B5"/>
                </a:solidFill>
                <a:latin typeface="Helvetica"/>
              </a:defRPr>
            </a:pPr>
            <a:r>
              <a:t>RAG gives you book knowledge — what's written in the papers. ATLAS gives you epistemic knowledge — what the evidence WARRANTS you to believe, with credence intervals and provenance.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171B5"/>
                </a:solidFill>
                <a:latin typeface="Helvetica"/>
              </a:defRPr>
            </a:pPr>
            <a:r>
              <a:t>Two-Agent Collaboration — AG + Claude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21031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71B5"/>
                </a:solidFill>
                <a:latin typeface="Helvetica"/>
              </a:defRPr>
            </a:pPr>
            <a:r>
              <a:t>AG (Antigravity)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Pipeline engineering &amp; infrastructure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Test suite (5,789 tests, 0 failures)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Ruthless engineering audits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PDF acquisition &amp; API integration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Auto-ingestion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03520" cy="21031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E44AD"/>
                </a:solidFill>
                <a:latin typeface="Helvetica"/>
              </a:defRPr>
            </a:pPr>
            <a:r>
              <a:t>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Master document authorship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Enrichment orchestrator design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Visualization &amp; documentation norms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Smart Book validation system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Extraction prompt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171B5"/>
                </a:solidFill>
                <a:latin typeface="Helvetica"/>
              </a:defRPr>
            </a:pPr>
            <a:r>
              <a:t>Coordination Infrastructure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MESSAGE_BOARD.md — structured messages with priority, status, acknowledgment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COORDINATION_STATE.json — who's working on what, last check-in/check-out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CHANGELOG.md — canonical history of all changes with timestamps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Helvetica"/>
              </a:defRPr>
            </a:pPr>
            <a:r>
              <a:t>• Cross-review protocol — each agent reviews the other's work before merge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171B5"/>
                </a:solidFill>
                <a:latin typeface="Helvetica"/>
              </a:defRPr>
            </a:pPr>
            <a: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  <a:latin typeface="Helvetica"/>
              </a:defRPr>
            </a:pPr>
            <a:r>
              <a:t>• Human Dashboard — Streamlit Mission Control: AESHI, HITL queue, pipeline health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  <a:latin typeface="Helvetica"/>
              </a:defRPr>
            </a:pPr>
            <a:r>
              <a:t>• RAG vs ATLAS Experiment — direct comparison on identical question sets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  <a:latin typeface="Helvetica"/>
              </a:defRPr>
            </a:pPr>
            <a:r>
              <a:t>• Foundational Paper Extraction — 53 theoretical papers (7 downloaded, 23 in HITL queue)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  <a:latin typeface="Helvetica"/>
              </a:defRPr>
            </a:pPr>
            <a:r>
              <a:t>• T3 Evidence Expansion — generated 30 Scholar queries from T3 beliefs for confirmation/disconfirmation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  <a:latin typeface="Helvetica"/>
              </a:defRPr>
            </a:pPr>
            <a:r>
              <a:t>• BN Bidirectional Propagation — T3 beliefs update Bayesian Network priors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  <a:latin typeface="Helvetica"/>
              </a:defRPr>
            </a:pPr>
            <a:r>
              <a:t>• Smart Book System — auto-validates master document against code changes</a:t>
            </a:r>
          </a:p>
          <a:p>
            <a:pPr>
              <a:spcAft>
                <a:spcPts val="500"/>
              </a:spcAft>
              <a:defRPr sz="1600">
                <a:solidFill>
                  <a:srgbClr val="333333"/>
                </a:solidFill>
                <a:latin typeface="Helvetica"/>
              </a:defRPr>
            </a:pPr>
            <a:r>
              <a:t>• Multi-LLM Audits — Gemini + Claude + AG three-way perspectives on system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303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F8C8D"/>
                </a:solidFill>
                <a:latin typeface="Helvetica"/>
              </a:defRPr>
            </a:pPr>
            <a:r>
              <a:t>"The force of the total field is such that no statement is immune from revision."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8521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F8C8D"/>
                </a:solidFill>
                <a:latin typeface="Helvetica"/>
              </a:defRPr>
            </a:pPr>
            <a:r>
              <a:t>— W.V.O. Quine, Two Dogmas of Empiricism (1951)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