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Thank you Andy for hosting. I want to share a project that I think connects directly to several things your lab is working on. Article Eater is a system for turning what the field of neuroarchitecture knows — scattered across thousands of papers — into something computationally rigorous. A web of belief, in the Quinean sense, that makes the implicit knowledge of environmental psychology and neuroscience explicit and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an example. Open offices. The environmental psychology literature on this is ENORMOUS — hundreds of papers, multiple systematic reviews, data from over 42,000 workers. Bernstein and Turban in 2018 wired up a real company with wearable sensors before and after the transition — face-to-face interaction dropped SEVENTY PERCENT. Email went UP 50%. Kim and de Dear analyzed 42,000 workers across 303 buildings and found that private offices outperform open-plan on EVERY measure. Their conclusion: the results 'categorically contradict industry-accepted wisdom.' Multiple systematic reviews — James, De Croon, Oommen — covering hundreds of papers, 90% showing negative effects. The Steelcase study of 10,500 workers found 86 minutes lost per day. Brennan's longitudinal study showed satisfaction drops that NEVER recover. This is rock-solid, replicated science. But NONE of it explains WHY. That's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watch what happens when you compose four independently established neuroscience findings. ONE: Bregman showed that language processing is obligatory through semantic access. You CANNOT not parse speech in your native language. In an open office, every conversation within earshot competes for your workspace — and you have no off switch. TWO: Corbetta and Shulman showed that moving objects in peripheral vision trigger mandatory orienting through the superior colliculus. This is evolutionary — potential threats. Every person walking past your desk forces an involuntary saccade. Thirty walk-bys per hour means thirty interruptions you didn't choose. THREE: Frith and Frith showed that theory of mind is never background processing. Visible colleagues aren't furniture — your brain automatically tracks their intentions, emotions, and actions. That's constant cognitive load. FOUR: open offices eliminate all personal environmental control. Every parameter is externally imposed. Self-generated changes have near-zero prediction error; imposed changes have maximum prediction error variance. Your predictive system never learns because it has no control signal. Each of these is rock-solid neuroscience established independently. But COMPOSING them gives you the most complete mechanistic explanation for why open offices fail — and it's an explanation no single study could provide. That's what Article Eater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all 16 Tier 1 theories — the theoretical resources the system draws on. On the left, foundational frameworks from environmental psychology and related fields. On the right, neuroscience engines that provide the mechanistic detail. Each theory generates multiple Tier 2 templates — over 75 so far. But how does a theory BECOME a template? That's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a theory become a template? Let me walk you through one example. Predictive processing says the brain generates predictions about sensory input, and mismatches — prediction errors — drive attention, learning, and emotion. Precision weighting determines which errors matter most. That's the THEORY. Now here's template T4, Attentional Capture. It takes that general theoretical claim and instantiates it for a specific environmental situation: high-precision prediction errors from unexpected motion or intelligible speech trigger mandatory orienting responses. The environmental trigger is peripheral movement, speech, or social signals in open environments. The prediction: environments with uncontrollable high-precision signals will degrade sustained attention. The design consequence: you need to partition or eliminate the high-PE channels — mere attenuation doesn't work, because a blurred signal is still high-precision enough to trigger conflict monitoring. Notice what happened: the theory says something general about prediction errors. The template specifies exactly which errors, from which features, producing what effects, with what design consequences. And one theory generates MANY templates — predictive processing alone gives us T1 through T28 across different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payoff comes when theories COMPOSE. Take daylight. There are TWO independent pathways. The non-visual pathway — melanopsin-driven circadian photoentrainment discovered by Berson in 2002 — needs bright, blue-enriched light hitting intrinsically photosensitive retinal ganglion cells. It does NOT need a window. You could do this with LEDs. The image-forming pathway — what predictive processing and attention restoration theory address — requires visual complexity, depth cues, nature content. It NEEDS a view. When you compose these two theories, you get a prediction that's in NO single paper: a windowless room with properly tuned LEDs gives you circadian support but zero attentional restoration. A small window gives you a view but may have insufficient circadian signal depending on orientation and depth. These require DIFFERENT design specifications. But Heschong's famous 1999 daylighting study — the one that launched a thousand design guidelines — CONFLATED THEM. She measured learning outcomes and attributed everything to 'daylight' without distinguishing the two pathways. The same principle of theory composition produced the open-office explanation on slide 3, and it predicts that translucent barriers are worse than no barriers at all — which we'll see later. But representing these interactions computationally requires the right formalism. And the obvious choice — Bayesian networks —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with Bayesian networks — and for good reason. A BN is a directed acyclic graph where nodes represent variables and edges represent causal or probabilistic dependencies. Each node has a conditional probability table specifying how it depends on its parents. You specify the graph structure, then learn the probabilities from data or set them from expert knowledge. BNs are brilliant at what they do. Observe one variable, and belief propagation updates your beliefs about every other variable in a principled way. Pearl's do-calculus lets you reason about interventions — not just 'what correlates with what' but 'what happens if we SET this variable.' They handle missing data and uncertainty gracefully. They've been enormously successful in medical diagnosis, fault detection, and bioinformatics. So we built our first prototype as a BN. And it worked — for isolated findings. 'Noise level affects satisfaction.' 'Daylight affects productivity.' Simple causal chains. But then we tried to add THEORIES — and that's where everything broke.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exactly where BNs break. FIRST: theories restructure the graph. A BN requires a fixed graph structure — you decide the nodes and edges, then learn probabilities. But when you adopt predictive processing, 'prediction error' becomes a node that DIDN'T EXIST under behaviorism. 'Precision weighting' appears. 'Stimulus-response association' disappears. The theory doesn't adjust probabilities — it redefines the ontology. The graph itself changes. SECOND: theories create non-local dependencies. BNs rely on the Markov property — conditional independence. Know the parent, and children are screened off from grandparents. But accepting PP as your framework changes beliefs about light, sound, thermal comfort, and spatial layout SIMULTANEOUSLY. These are holistic, non-local dependencies that violate the very assumption BNs are built on. THIRD: expert reasoning is model selection, not parameter estimation. BNs are designed to update probabilities within a fixed model. But scientists choose BETWEEN models. Is this distractibility effect an attention restoration phenomenon or a stress recovery phenomenon? That's model selection — a different inferential level — and BNs conflate it with parameter updating. FOURTH: BNs have no representation of explanatory scope. They can't encode that PP explains phenomena 1 through 7 while ART only explains 1 through 3. There's no node for 'explanatory power.' No edge for 'unifies these observations.' The very criterion that makes one theory better than another is invisible to a BN.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Quinean web is a radical departure from Bayesian networks. In a BN, belief is justified by conditional probability — P of hypothesis given evidence. In a Quinean web, belief is justified by COHERENCE — how well does this belief fit with everything else we believe? Quine and Ullian's key insight: no belief is foundational, no belief is immune to revision. Even core theories — even predictive processing — could in principle be revised if enough peripheral evidence accumulated against them. Core theories are just more ENTRENCHED — connected to more other beliefs, harder to revise without cascading consequences. But 'harder' is not 'impossible.' Revision is holistic. Change one central belief and the consequences propagate through the entire web. This is EXACTLY how scientific revolutions work — Kuhn described it, Quine formalized it. Now, pure coherentism has a famous problem: a perfectly coherent fiction is as 'justified' as a scientific theory. Susan Haack's foundherentism — from her 1993 book Evidence and Inquiry — solves this by adding empirical anchors. Some nodes in the web are grounded in observation: Kim and de Dear's 42,000-worker study, Bernstein's wearable-sensor data, Berson's identification of melanopsin cells. These aren't more 'certain' — they can be revised too — but they provide empirical grounding that prevents the web from floating free of reality. Our implementation uses Thagard's ECHO model — Explanatory Coherence by Harmony Optimization. Edges represent explanation, contradiction, and analogy. The evaluation metric is global coherence computed by constraint satisfaction. A theory isn't 'probable' in our system — it's coherent or incoherent with the web. This is what lets us represent 16 theories, their interactions, their evidence, and their disagreements as a single computable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method is the expert panel. We simulate scientific discourse by having panels of 8-15 scientists — real researchers whose positions we model from their published work. Each panelist states their position with evidence, then they cross-examine each other. We capture not just consensus but WHERE they disagree and WHY. This is argumentation theory — the structure of scientific warrant — applied computationally. The web of belief is POPULATED by expert panel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it gets exciting. Take daylight — one of the most robust findings in environmental psychology. When we decompose it through neuro templates, we discover there are TWO independent pathways. The image-forming pathway — rods and cones, visual cortex, scene perception — this is the Ulrich pathway. The VIEW matters. But there's also the non-image-forming pathway through melanopsin-containing retinal ganglion cells that project to the SCN for circadian regulation. These are DIFFERENT mechanisms with DIFFERENT design implications. Heschong's finding that daylight improves learning conflates both. A windowless room with tunable LEDs can provide the circadian pathway without any view. A tiny window facing nature provides the view pathway without adequate circadian light. The template decomposition tells you exactly what each room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prediction no one has made outside this framework. Architects love translucent glass — frosted partitions, etched glass, reeded panels. They look modern. They 'maintain visual connection while providing privacy.' But the neuroscience says they're WORSE than no barrier at all. Here's why. With no barrier, movement is fully visible. Your orienting system fires, you look, you see it's just someone walking past, you habituate over time. The system learns to down-weight. With an opaque barrier — zero signal, zero cost. The explicit workspace is fully protected. But translucent? You get a BLURRED movement signal. Too weak to trigger full orienting and resolution. Too strong to be safely ignored. So what happens? The anterior cingulate — the conflict monitor — fires on every event. Detect. Evaluate. Suppress. Detect. Evaluate. Suppress. Twenty times an hour. And Botvinick and Shenhav showed that conflict monitoring has a METABOLIC COST PER EVENT — even when suppression succeeds. So translucent barriers maximize the number of conflict events while preventing any of them from being resolved. They drain the cognitive control budget faster than actual interruptions would. The architectural recommendation is counterintuitive: opaque or nothing. Translucent is the worst of all worlds.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finding that puzzled environmental psychologists for years. Exposed wood consistently outperforms other materials on wellbeing measures — lower cortisol, lower blood pressure, higher satisfaction. But wood isn't one thing. When we decompose it through templates, we find it engages FIVE sensory channels simultaneously. Visually: fractal grain patterns near the optimal D of 1.3. Olfactorily: terpenes that activate parasympathetic response. Tactilely: thermal neutrality activating pleasant touch pathways. Acoustically: natural absorption reducing harsh reflections. Semantically: cultural associations with shelter and nature. This led us to a general principle: multi-channel convergence. Natural stimuli like wood, daylight, and nature views are special because they engage multiple prediction channels simultaneously for super-additive benefits. This is a NOVEL prediction from the template framework — you couldn't get it from any single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doesn't just collect facts — it captures argument structures. Following Toulmin: every design claim has data (the empirical finding), a warrant (the mechanistic template that explains WHY the data supports the claim), and backing (the neuroscience evidence supporting the mechanism). This gives us three things you can't get from a literature review. First, Value of Information — we can compute which experiments would most change the web. Where are the weakest warrants? Those are the most valuable experiments. Second, defeasibility — every claim has conditions under which it fails, and the warrant structure makes these explicit. Third, expert intuitions formalized. When an expert says 'I'm not confident about that finding' — they're making an implicit assessment of warrant strength. The web makes this explicit and computable.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two organizational schemes connected by a cross-referencing layer. Mechanism-first: organized by brain systems. A scientist asks 'what does the LC-NE system do for architecture?' and gets all relevant templates. Attribute-first: organized by architectural features. A designer asks 'what do we know about ceiling height?' and gets all relevant mechanisms. The cross-referencing layer connects them. Ceiling height connects to at least four mechanisms: LC-NE arousal modulation, prospect-refuge theory, spatial scale processing, and thermal stratification. This dual organization lets both scientists and designers enter the web from their natural starting point and discover connections to the other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what a template actually looks like in detail. This is T3 — prospect-refuge. The mechanism: an evolved threat-assessment system. Open sightlines signal escape routes, reducing amygdala activation. Enclosed back eliminates rear threat, reducing hypervigilance. The environmental trigger: spatial configuration — specifically the ratio of visual openness to rear enclosure. The prediction: prospect-refuge spaces produce lower cortisol and heart rate. The evidence with citations and confidence rating. And calibration parameters — specific numbers an architect can use. This is ONE template. We have 52 across 10 domains. Each is this specific. And they connect to each other through the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prediction that ONLY comes from the template framework. Environmental psychology says 'pleasant smells improve experience.' But when we decompose olfaction through neuro templates, we discover something striking. Olfactory receptors adapt in 2-3 minutes — smell encodes ARRIVALS, not steady states. Olfaction has direct limbic access without thalamic relay — unique among senses. And it's tightly coupled to hippocampal place cells for context encoding. Put these together and you get a novel architectural prediction: design smell for THRESHOLDS. Use it at building entries, room transitions, activity-zone boundaries. Don't try to maintain a steady pleasant scent — your nose adapts in minutes and it's wasted. Use olfaction to mark spatial transitions. This prediction doesn't exist in the env psych literature. It comes from composing neuroscience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current state. All 10 domains have reached four-star coverage status — meaning every major mechanism in the domain has at least one calibrated template. 52 templates across the domains, plus another 17 in music/acoustic interaction and 6 cross-modal templates. Each template has the full structure I showed you — mechanism, trigger, prediction, evidence,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flag something I think is philosophically interesting — and Andy, I'd love your thoughts on this. What we're doing with Article Eater is a kind of theory reduction that I think is genuinely novel in philosophy of science. PP is a theory of everything — perception, action, emotion, learning. But it doesn't directly tell an architect what ceiling height to use. The template reduction takes PP and derives specific, falsifiable, actionable claims. This is analogous to the reduction from quantum field theory to materials science to engineering specifications in physics. We're building the materials science of the mind-environment interface. The template IS the novel contribution — it's where theory meets design, and it's where most cognitive science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payoff: the system can evaluate real buildings. You give it a building description — floor plans, photos, post-occupancy data — and it evaluates against every relevant template. The output isn't 'improve acoustics.' It's 'reduce speech intelligibility index below 0.20 in focus zones to prevent obligatory semantic processing, because template EC-9 predicts that intelligible speech triggers workspace conflict monitoring even when successfully suppressed.' Every recommendation has a citation trail back through the web to its theoretical foundations. You can trace why the system says what it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we're going. VR validation — partner with VR labs to test predictions in controlled environments where you can isolate single mechanisms. Goldilocks integration — the next talk will explain how the Goldilocks Principle becomes a meta-template domain. Explicit cognition — the third talk introduces a new template domain for the implicit/explicit processing distinction. India fieldwork — we're collecting data on cultural set-point variation that tests a specific prediction about parameter structure. And long-term — release the web as an open, queryable resource. A living document that updates as new findings come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connect this to work in your lab specifically, Andy. The extended mind thesis — if the environment is part of the cognitive system, then architecture IS cognitive infrastructure. Article Eater operationalizes this claim with specific mechanisms. Your radical PP provides our unifying framework — but we push it, as you'll see in the third talk. The 'Happily Entangled' work on emotion and prediction — our hedonic tagging templates formalize this for environmental design. And cultural niche construction — our India fieldwork directly tests how cultural niches shape the precision landscape. Same mechanisms, different parameters. I think there are real collaboration possibilities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3474720"/>
            <a:ext cx="9144000" cy="1691640"/>
          </a:xfrm>
          <a:prstGeom prst="rect">
            <a:avLst/>
          </a:prstGeom>
          <a:solidFill>
            <a:srgbClr val="2A6F7A"/>
          </a:solidFill>
          <a:ln/>
        </p:spPr>
      </p:sp>
      <p:sp>
        <p:nvSpPr>
          <p:cNvPr id="3" name="Text 1"/>
          <p:cNvSpPr/>
          <p:nvPr/>
        </p:nvSpPr>
        <p:spPr>
          <a:xfrm>
            <a:off x="731520" y="914400"/>
            <a:ext cx="7680960" cy="1097280"/>
          </a:xfrm>
          <a:prstGeom prst="rect">
            <a:avLst/>
          </a:prstGeom>
          <a:noFill/>
          <a:ln/>
        </p:spPr>
        <p:txBody>
          <a:bodyPr wrap="square"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Article Eater</a:t>
            </a:r>
            <a:endParaRPr lang="en-US" sz="4400" dirty="0"/>
          </a:p>
        </p:txBody>
      </p:sp>
      <p:sp>
        <p:nvSpPr>
          <p:cNvPr id="4" name="Text 2"/>
          <p:cNvSpPr/>
          <p:nvPr/>
        </p:nvSpPr>
        <p:spPr>
          <a:xfrm>
            <a:off x="731520" y="1920240"/>
            <a:ext cx="7680960" cy="914400"/>
          </a:xfrm>
          <a:prstGeom prst="rect">
            <a:avLst/>
          </a:prstGeom>
          <a:noFill/>
          <a:ln/>
        </p:spPr>
        <p:txBody>
          <a:bodyPr wrap="square" rtlCol="0" anchor="ctr"/>
          <a:lstStyle/>
          <a:p>
            <a:pPr indent="0" marL="0">
              <a:buNone/>
            </a:pPr>
            <a:r>
              <a:rPr lang="en-US" sz="2200" i="1" dirty="0">
                <a:solidFill>
                  <a:srgbClr val="7BA393"/>
                </a:solidFill>
                <a:latin typeface="Georgia" pitchFamily="34" charset="0"/>
                <a:ea typeface="Georgia" pitchFamily="34" charset="-122"/>
                <a:cs typeface="Georgia" pitchFamily="34" charset="-120"/>
              </a:rPr>
              <a:t>Computational Epistemology for</a:t>
            </a:r>
            <a:endParaRPr lang="en-US" sz="2200" dirty="0"/>
          </a:p>
          <a:p>
            <a:pPr indent="0" marL="0">
              <a:buNone/>
            </a:pPr>
            <a:r>
              <a:rPr lang="en-US" sz="2200" i="1" dirty="0">
                <a:solidFill>
                  <a:srgbClr val="7BA393"/>
                </a:solidFill>
                <a:latin typeface="Georgia" pitchFamily="34" charset="0"/>
                <a:ea typeface="Georgia" pitchFamily="34" charset="-122"/>
                <a:cs typeface="Georgia" pitchFamily="34" charset="-120"/>
              </a:rPr>
              <a:t>Neuroarchitecture</a:t>
            </a:r>
            <a:endParaRPr lang="en-US" sz="2200" dirty="0"/>
          </a:p>
        </p:txBody>
      </p:sp>
      <p:sp>
        <p:nvSpPr>
          <p:cNvPr id="5" name="Text 3"/>
          <p:cNvSpPr/>
          <p:nvPr/>
        </p:nvSpPr>
        <p:spPr>
          <a:xfrm>
            <a:off x="731520" y="3657600"/>
            <a:ext cx="4572000" cy="73152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David Kirsh</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Cognitive Science, UC San Diego</a:t>
            </a:r>
            <a:endParaRPr lang="en-US" sz="1600" dirty="0"/>
          </a:p>
        </p:txBody>
      </p:sp>
      <p:sp>
        <p:nvSpPr>
          <p:cNvPr id="6" name="Text 4"/>
          <p:cNvSpPr/>
          <p:nvPr/>
        </p:nvSpPr>
        <p:spPr>
          <a:xfrm>
            <a:off x="731520" y="4297680"/>
            <a:ext cx="4572000" cy="365760"/>
          </a:xfrm>
          <a:prstGeom prst="rect">
            <a:avLst/>
          </a:prstGeom>
          <a:noFill/>
          <a:ln/>
        </p:spPr>
        <p:txBody>
          <a:bodyPr wrap="square" rtlCol="0" anchor="ctr"/>
          <a:lstStyle/>
          <a:p>
            <a:pPr indent="0" marL="0">
              <a:buNone/>
            </a:pPr>
            <a:r>
              <a:rPr lang="en-US" sz="1300" dirty="0">
                <a:solidFill>
                  <a:srgbClr val="F5F0E8"/>
                </a:solidFill>
                <a:latin typeface="Calibri" pitchFamily="34" charset="0"/>
                <a:ea typeface="Calibri" pitchFamily="34" charset="-122"/>
                <a:cs typeface="Calibri" pitchFamily="34" charset="-120"/>
              </a:rPr>
              <a:t>Clark Lab Visit — February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 CAN THE THEORY SAY?</a:t>
            </a:r>
            <a:endParaRPr lang="en-US" sz="1000" dirty="0"/>
          </a:p>
        </p:txBody>
      </p:sp>
      <p:sp>
        <p:nvSpPr>
          <p:cNvPr id="4" name="Text 2"/>
          <p:cNvSpPr/>
          <p:nvPr/>
        </p:nvSpPr>
        <p:spPr>
          <a:xfrm>
            <a:off x="640080" y="502920"/>
            <a:ext cx="7863840" cy="6858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Open Offices Were Designed</a:t>
            </a:r>
            <a:endParaRPr lang="en-US" sz="2800" dirty="0"/>
          </a:p>
          <a:p>
            <a:pPr indent="0" marL="0">
              <a:buNone/>
            </a:pPr>
            <a:r>
              <a:rPr lang="en-US" sz="2800" b="1" dirty="0">
                <a:solidFill>
                  <a:srgbClr val="1B2A4A"/>
                </a:solidFill>
                <a:latin typeface="Georgia" pitchFamily="34" charset="0"/>
                <a:ea typeface="Georgia" pitchFamily="34" charset="-122"/>
                <a:cs typeface="Georgia" pitchFamily="34" charset="-120"/>
              </a:rPr>
              <a:t>to Increase Collaboration</a:t>
            </a:r>
            <a:endParaRPr lang="en-US" sz="2800" dirty="0"/>
          </a:p>
        </p:txBody>
      </p:sp>
      <p:sp>
        <p:nvSpPr>
          <p:cNvPr id="5" name="Shape 3"/>
          <p:cNvSpPr/>
          <p:nvPr/>
        </p:nvSpPr>
        <p:spPr>
          <a:xfrm>
            <a:off x="640080" y="1325880"/>
            <a:ext cx="7863840" cy="2743200"/>
          </a:xfrm>
          <a:prstGeom prst="rect">
            <a:avLst/>
          </a:prstGeom>
          <a:solidFill>
            <a:srgbClr val="B85042"/>
          </a:solidFill>
          <a:ln/>
        </p:spPr>
      </p:sp>
      <p:sp>
        <p:nvSpPr>
          <p:cNvPr id="6" name="Text 4"/>
          <p:cNvSpPr/>
          <p:nvPr/>
        </p:nvSpPr>
        <p:spPr>
          <a:xfrm>
            <a:off x="822960" y="1371600"/>
            <a:ext cx="7498080" cy="228600"/>
          </a:xfrm>
          <a:prstGeom prst="rect">
            <a:avLst/>
          </a:prstGeom>
          <a:noFill/>
          <a:ln/>
        </p:spPr>
        <p:txBody>
          <a:bodyPr wrap="square" rtlCol="0" anchor="ctr"/>
          <a:lstStyle/>
          <a:p>
            <a:pPr indent="0" marL="0">
              <a:buNone/>
            </a:pPr>
            <a:r>
              <a:rPr lang="en-US" sz="1000" b="1" dirty="0">
                <a:solidFill>
                  <a:srgbClr val="F5F0E8"/>
                </a:solidFill>
                <a:latin typeface="Calibri" pitchFamily="34" charset="0"/>
                <a:ea typeface="Calibri" pitchFamily="34" charset="-122"/>
                <a:cs typeface="Calibri" pitchFamily="34" charset="-120"/>
              </a:rPr>
              <a:t>THE ENVIRONMENTAL PSYCHOLOGY FINDINGS</a:t>
            </a:r>
            <a:endParaRPr lang="en-US" sz="1000" dirty="0"/>
          </a:p>
        </p:txBody>
      </p:sp>
      <p:sp>
        <p:nvSpPr>
          <p:cNvPr id="7" name="Text 5"/>
          <p:cNvSpPr/>
          <p:nvPr/>
        </p:nvSpPr>
        <p:spPr>
          <a:xfrm>
            <a:off x="822960" y="1645920"/>
            <a:ext cx="7498080" cy="2377440"/>
          </a:xfrm>
          <a:prstGeom prst="rect">
            <a:avLst/>
          </a:prstGeom>
          <a:noFill/>
          <a:ln/>
        </p:spPr>
        <p:txBody>
          <a:bodyPr wrap="square"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Face-to-face interaction dropped 70%</a:t>
            </a:r>
            <a:endParaRPr lang="en-US" sz="1800" dirty="0"/>
          </a:p>
          <a:p>
            <a:pPr indent="0" marL="0">
              <a:buNone/>
            </a:pPr>
            <a:r>
              <a:rPr lang="en-US" sz="1100" dirty="0">
                <a:solidFill>
                  <a:srgbClr val="F5F0E8"/>
                </a:solidFill>
                <a:latin typeface="Calibri" pitchFamily="34" charset="0"/>
                <a:ea typeface="Calibri" pitchFamily="34" charset="-122"/>
                <a:cs typeface="Calibri" pitchFamily="34" charset="-120"/>
              </a:rPr>
              <a:t>  Bernstein &amp; Turban (2018) — wearable sensors, before/after relocation</a:t>
            </a:r>
            <a:endParaRPr lang="en-US" sz="1800" dirty="0"/>
          </a:p>
          <a:p>
            <a:pPr indent="0" marL="0">
              <a:buNone/>
            </a:pPr>
            <a:endParaRPr lang="en-US" sz="1800" dirty="0"/>
          </a:p>
          <a:p>
            <a:pPr indent="0" marL="0">
              <a:buNone/>
            </a:pPr>
            <a:r>
              <a:rPr lang="en-US" sz="1800" b="1" dirty="0">
                <a:solidFill>
                  <a:srgbClr val="FFFFFF"/>
                </a:solidFill>
                <a:latin typeface="Calibri" pitchFamily="34" charset="0"/>
                <a:ea typeface="Calibri" pitchFamily="34" charset="-122"/>
                <a:cs typeface="Calibri" pitchFamily="34" charset="-120"/>
              </a:rPr>
              <a:t>42,000 workers: private offices outperform open-plan on ALL measures</a:t>
            </a:r>
            <a:endParaRPr lang="en-US" sz="1800" dirty="0"/>
          </a:p>
          <a:p>
            <a:pPr indent="0" marL="0">
              <a:buNone/>
            </a:pPr>
            <a:r>
              <a:rPr lang="en-US" sz="1100" dirty="0">
                <a:solidFill>
                  <a:srgbClr val="F5F0E8"/>
                </a:solidFill>
                <a:latin typeface="Calibri" pitchFamily="34" charset="0"/>
                <a:ea typeface="Calibri" pitchFamily="34" charset="-122"/>
                <a:cs typeface="Calibri" pitchFamily="34" charset="-120"/>
              </a:rPr>
              <a:t>  Kim &amp; de Dear (2013) — CBE database, 303 buildings</a:t>
            </a:r>
            <a:endParaRPr lang="en-US" sz="1800" dirty="0"/>
          </a:p>
          <a:p>
            <a:pPr indent="0" marL="0">
              <a:buNone/>
            </a:pPr>
            <a:endParaRPr lang="en-US" sz="1800" dirty="0"/>
          </a:p>
          <a:p>
            <a:pPr indent="0" marL="0">
              <a:buNone/>
            </a:pPr>
            <a:r>
              <a:rPr lang="en-US" sz="1800" b="1" dirty="0">
                <a:solidFill>
                  <a:srgbClr val="FFFFFF"/>
                </a:solidFill>
                <a:latin typeface="Calibri" pitchFamily="34" charset="0"/>
                <a:ea typeface="Calibri" pitchFamily="34" charset="-122"/>
                <a:cs typeface="Calibri" pitchFamily="34" charset="-120"/>
              </a:rPr>
              <a:t>429 papers reviewed → 90% show negative effects</a:t>
            </a:r>
            <a:endParaRPr lang="en-US" sz="1800" dirty="0"/>
          </a:p>
          <a:p>
            <a:pPr indent="0" marL="0">
              <a:buNone/>
            </a:pPr>
            <a:r>
              <a:rPr lang="en-US" sz="1100" dirty="0">
                <a:solidFill>
                  <a:srgbClr val="F5F0E8"/>
                </a:solidFill>
                <a:latin typeface="Calibri" pitchFamily="34" charset="0"/>
                <a:ea typeface="Calibri" pitchFamily="34" charset="-122"/>
                <a:cs typeface="Calibri" pitchFamily="34" charset="-120"/>
              </a:rPr>
              <a:t>  James et al. (2021), De Croon et al. (2005), Oommen et al. (2008) — systematic reviews spanning decades</a:t>
            </a:r>
            <a:endParaRPr lang="en-US" sz="1800" dirty="0"/>
          </a:p>
        </p:txBody>
      </p:sp>
      <p:sp>
        <p:nvSpPr>
          <p:cNvPr id="8" name="Text 6"/>
          <p:cNvSpPr/>
          <p:nvPr/>
        </p:nvSpPr>
        <p:spPr>
          <a:xfrm>
            <a:off x="640080" y="4206240"/>
            <a:ext cx="7863840" cy="548640"/>
          </a:xfrm>
          <a:prstGeom prst="rect">
            <a:avLst/>
          </a:prstGeom>
          <a:noFill/>
          <a:ln/>
        </p:spPr>
        <p:txBody>
          <a:bodyPr wrap="square" rtlCol="0" anchor="ctr"/>
          <a:lstStyle/>
          <a:p>
            <a:pPr indent="0" marL="0">
              <a:buNone/>
            </a:pPr>
            <a:r>
              <a:rPr lang="en-US" sz="1600" b="1" i="1" dirty="0">
                <a:solidFill>
                  <a:srgbClr val="1B2A4A"/>
                </a:solidFill>
                <a:latin typeface="Calibri" pitchFamily="34" charset="0"/>
                <a:ea typeface="Calibri" pitchFamily="34" charset="-122"/>
                <a:cs typeface="Calibri" pitchFamily="34" charset="-120"/>
              </a:rPr>
              <a:t>Decades of research. Massive samples. Replicated worldwide.</a:t>
            </a:r>
            <a:endParaRPr lang="en-US" sz="1600" dirty="0"/>
          </a:p>
          <a:p>
            <a:pPr indent="0" marL="0">
              <a:buNone/>
            </a:pPr>
            <a:r>
              <a:rPr lang="en-US" sz="1600" b="1" i="1" dirty="0">
                <a:solidFill>
                  <a:srgbClr val="1B2A4A"/>
                </a:solidFill>
                <a:latin typeface="Calibri" pitchFamily="34" charset="0"/>
                <a:ea typeface="Calibri" pitchFamily="34" charset="-122"/>
                <a:cs typeface="Calibri" pitchFamily="34" charset="-120"/>
              </a:rPr>
              <a:t>But NO mechanistic explanation. Why do they fail?</a:t>
            </a:r>
            <a:endParaRPr lang="en-US" sz="1600" dirty="0"/>
          </a:p>
        </p:txBody>
      </p:sp>
      <p:sp>
        <p:nvSpPr>
          <p:cNvPr id="9" name="Text 7"/>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2/23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COMPOSING ACROSS NEUROSCIENCE</a:t>
            </a:r>
            <a:endParaRPr lang="en-US" sz="1000" dirty="0"/>
          </a:p>
        </p:txBody>
      </p:sp>
      <p:sp>
        <p:nvSpPr>
          <p:cNvPr id="4" name="Text 2"/>
          <p:cNvSpPr/>
          <p:nvPr/>
        </p:nvSpPr>
        <p:spPr>
          <a:xfrm>
            <a:off x="640080" y="502920"/>
            <a:ext cx="7863840" cy="6858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Four Independent Mechanisms</a:t>
            </a:r>
            <a:endParaRPr lang="en-US" sz="2800" dirty="0"/>
          </a:p>
          <a:p>
            <a:pPr indent="0" marL="0">
              <a:buNone/>
            </a:pPr>
            <a:r>
              <a:rPr lang="en-US" sz="2800" b="1" dirty="0">
                <a:solidFill>
                  <a:srgbClr val="1B2A4A"/>
                </a:solidFill>
                <a:latin typeface="Georgia" pitchFamily="34" charset="0"/>
                <a:ea typeface="Georgia" pitchFamily="34" charset="-122"/>
                <a:cs typeface="Georgia" pitchFamily="34" charset="-120"/>
              </a:rPr>
              <a:t>Explain the Failure</a:t>
            </a:r>
            <a:endParaRPr lang="en-US" sz="2800" dirty="0"/>
          </a:p>
        </p:txBody>
      </p:sp>
      <p:sp>
        <p:nvSpPr>
          <p:cNvPr id="5" name="Shape 3"/>
          <p:cNvSpPr/>
          <p:nvPr/>
        </p:nvSpPr>
        <p:spPr>
          <a:xfrm>
            <a:off x="640080" y="1325880"/>
            <a:ext cx="365760" cy="777240"/>
          </a:xfrm>
          <a:prstGeom prst="rect">
            <a:avLst/>
          </a:prstGeom>
          <a:solidFill>
            <a:srgbClr val="1B2A4A"/>
          </a:solidFill>
          <a:ln/>
        </p:spPr>
      </p:sp>
      <p:sp>
        <p:nvSpPr>
          <p:cNvPr id="6" name="Text 4"/>
          <p:cNvSpPr/>
          <p:nvPr/>
        </p:nvSpPr>
        <p:spPr>
          <a:xfrm>
            <a:off x="640080" y="1325880"/>
            <a:ext cx="365760" cy="7772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143000" y="1325880"/>
            <a:ext cx="7406640" cy="256032"/>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Obligatory speech processing</a:t>
            </a:r>
            <a:pPr indent="0" marL="0">
              <a:buNone/>
            </a:pPr>
            <a:r>
              <a:rPr lang="en-US" sz="900" dirty="0">
                <a:solidFill>
                  <a:srgbClr val="8B8680"/>
                </a:solidFill>
                <a:latin typeface="Calibri" pitchFamily="34" charset="0"/>
                <a:ea typeface="Calibri" pitchFamily="34" charset="-122"/>
                <a:cs typeface="Calibri" pitchFamily="34" charset="-120"/>
              </a:rPr>
              <a:t>  Bregman (1990)</a:t>
            </a:r>
            <a:endParaRPr lang="en-US" sz="1200" dirty="0"/>
          </a:p>
        </p:txBody>
      </p:sp>
      <p:sp>
        <p:nvSpPr>
          <p:cNvPr id="8" name="Text 6"/>
          <p:cNvSpPr/>
          <p:nvPr/>
        </p:nvSpPr>
        <p:spPr>
          <a:xfrm>
            <a:off x="1143000" y="1581912"/>
            <a:ext cx="3657600" cy="457200"/>
          </a:xfrm>
          <a:prstGeom prst="rect">
            <a:avLst/>
          </a:prstGeom>
          <a:noFill/>
          <a:ln/>
        </p:spPr>
        <p:txBody>
          <a:bodyPr wrap="square" rtlCol="0" anchor="t"/>
          <a:lstStyle/>
          <a:p>
            <a:pPr indent="0" marL="0">
              <a:buNone/>
            </a:pPr>
            <a:r>
              <a:rPr lang="en-US" sz="950" dirty="0">
                <a:solidFill>
                  <a:srgbClr val="2C2C2C"/>
                </a:solidFill>
                <a:latin typeface="Calibri" pitchFamily="34" charset="0"/>
                <a:ea typeface="Calibri" pitchFamily="34" charset="-122"/>
                <a:cs typeface="Calibri" pitchFamily="34" charset="-120"/>
              </a:rPr>
              <a:t>Language is parsed pre-attentively through semantic access. Cannot be suppressed by effort or intention.</a:t>
            </a:r>
            <a:endParaRPr lang="en-US" sz="950" dirty="0"/>
          </a:p>
        </p:txBody>
      </p:sp>
      <p:sp>
        <p:nvSpPr>
          <p:cNvPr id="9" name="Text 7"/>
          <p:cNvSpPr/>
          <p:nvPr/>
        </p:nvSpPr>
        <p:spPr>
          <a:xfrm>
            <a:off x="4754880" y="1581912"/>
            <a:ext cx="274320" cy="457200"/>
          </a:xfrm>
          <a:prstGeom prst="rect">
            <a:avLst/>
          </a:prstGeom>
          <a:noFill/>
          <a:ln/>
        </p:spPr>
        <p:txBody>
          <a:bodyPr wrap="square" rtlCol="0" anchor="ctr"/>
          <a:lstStyle/>
          <a:p>
            <a:pPr indent="0" marL="0">
              <a:buNone/>
            </a:pPr>
            <a:r>
              <a:rPr lang="en-US" sz="1600" dirty="0">
                <a:solidFill>
                  <a:srgbClr val="1B2A4A"/>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5029200" y="1581912"/>
            <a:ext cx="3566160" cy="457200"/>
          </a:xfrm>
          <a:prstGeom prst="rect">
            <a:avLst/>
          </a:prstGeom>
          <a:noFill/>
          <a:ln/>
        </p:spPr>
        <p:txBody>
          <a:bodyPr wrap="square" rtlCol="0" anchor="t"/>
          <a:lstStyle/>
          <a:p>
            <a:pPr indent="0" marL="0">
              <a:buNone/>
            </a:pPr>
            <a:r>
              <a:rPr lang="en-US" sz="950" b="1" dirty="0">
                <a:solidFill>
                  <a:srgbClr val="1B2A4A"/>
                </a:solidFill>
                <a:latin typeface="Calibri" pitchFamily="34" charset="0"/>
                <a:ea typeface="Calibri" pitchFamily="34" charset="-122"/>
                <a:cs typeface="Calibri" pitchFamily="34" charset="-120"/>
              </a:rPr>
              <a:t>Every conversation within earshot competes for workspace — you CANNOT not understand speech in your native language.</a:t>
            </a:r>
            <a:endParaRPr lang="en-US" sz="950" dirty="0"/>
          </a:p>
        </p:txBody>
      </p:sp>
      <p:sp>
        <p:nvSpPr>
          <p:cNvPr id="11" name="Shape 9"/>
          <p:cNvSpPr/>
          <p:nvPr/>
        </p:nvSpPr>
        <p:spPr>
          <a:xfrm>
            <a:off x="640080" y="2194560"/>
            <a:ext cx="365760" cy="777240"/>
          </a:xfrm>
          <a:prstGeom prst="rect">
            <a:avLst/>
          </a:prstGeom>
          <a:solidFill>
            <a:srgbClr val="2A6F7A"/>
          </a:solidFill>
          <a:ln/>
        </p:spPr>
      </p:sp>
      <p:sp>
        <p:nvSpPr>
          <p:cNvPr id="12" name="Text 10"/>
          <p:cNvSpPr/>
          <p:nvPr/>
        </p:nvSpPr>
        <p:spPr>
          <a:xfrm>
            <a:off x="640080" y="2194560"/>
            <a:ext cx="365760" cy="7772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143000" y="2194560"/>
            <a:ext cx="7406640" cy="256032"/>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Peripheral motion capture</a:t>
            </a:r>
            <a:pPr indent="0" marL="0">
              <a:buNone/>
            </a:pPr>
            <a:r>
              <a:rPr lang="en-US" sz="900" dirty="0">
                <a:solidFill>
                  <a:srgbClr val="8B8680"/>
                </a:solidFill>
                <a:latin typeface="Calibri" pitchFamily="34" charset="0"/>
                <a:ea typeface="Calibri" pitchFamily="34" charset="-122"/>
                <a:cs typeface="Calibri" pitchFamily="34" charset="-120"/>
              </a:rPr>
              <a:t>  Corbetta &amp; Shulman (2002)</a:t>
            </a:r>
            <a:endParaRPr lang="en-US" sz="1200" dirty="0"/>
          </a:p>
        </p:txBody>
      </p:sp>
      <p:sp>
        <p:nvSpPr>
          <p:cNvPr id="14" name="Text 12"/>
          <p:cNvSpPr/>
          <p:nvPr/>
        </p:nvSpPr>
        <p:spPr>
          <a:xfrm>
            <a:off x="1143000" y="2450592"/>
            <a:ext cx="3657600" cy="457200"/>
          </a:xfrm>
          <a:prstGeom prst="rect">
            <a:avLst/>
          </a:prstGeom>
          <a:noFill/>
          <a:ln/>
        </p:spPr>
        <p:txBody>
          <a:bodyPr wrap="square" rtlCol="0" anchor="t"/>
          <a:lstStyle/>
          <a:p>
            <a:pPr indent="0" marL="0">
              <a:buNone/>
            </a:pPr>
            <a:r>
              <a:rPr lang="en-US" sz="950" dirty="0">
                <a:solidFill>
                  <a:srgbClr val="2C2C2C"/>
                </a:solidFill>
                <a:latin typeface="Calibri" pitchFamily="34" charset="0"/>
                <a:ea typeface="Calibri" pitchFamily="34" charset="-122"/>
                <a:cs typeface="Calibri" pitchFamily="34" charset="-120"/>
              </a:rPr>
              <a:t>Moving objects in peripheral vision trigger mandatory orienting via superior colliculus.</a:t>
            </a:r>
            <a:endParaRPr lang="en-US" sz="950" dirty="0"/>
          </a:p>
        </p:txBody>
      </p:sp>
      <p:sp>
        <p:nvSpPr>
          <p:cNvPr id="15" name="Text 13"/>
          <p:cNvSpPr/>
          <p:nvPr/>
        </p:nvSpPr>
        <p:spPr>
          <a:xfrm>
            <a:off x="4754880" y="2450592"/>
            <a:ext cx="274320" cy="457200"/>
          </a:xfrm>
          <a:prstGeom prst="rect">
            <a:avLst/>
          </a:prstGeom>
          <a:noFill/>
          <a:ln/>
        </p:spPr>
        <p:txBody>
          <a:bodyPr wrap="square" rtlCol="0" anchor="ctr"/>
          <a:lstStyle/>
          <a:p>
            <a:pPr indent="0" marL="0">
              <a:buNone/>
            </a:pPr>
            <a:r>
              <a:rPr lang="en-US" sz="1600" dirty="0">
                <a:solidFill>
                  <a:srgbClr val="2A6F7A"/>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5029200" y="2450592"/>
            <a:ext cx="3566160" cy="457200"/>
          </a:xfrm>
          <a:prstGeom prst="rect">
            <a:avLst/>
          </a:prstGeom>
          <a:noFill/>
          <a:ln/>
        </p:spPr>
        <p:txBody>
          <a:bodyPr wrap="square" rtlCol="0" anchor="t"/>
          <a:lstStyle/>
          <a:p>
            <a:pPr indent="0" marL="0">
              <a:buNone/>
            </a:pPr>
            <a:r>
              <a:rPr lang="en-US" sz="950" b="1" dirty="0">
                <a:solidFill>
                  <a:srgbClr val="2A6F7A"/>
                </a:solidFill>
                <a:latin typeface="Calibri" pitchFamily="34" charset="0"/>
                <a:ea typeface="Calibri" pitchFamily="34" charset="-122"/>
                <a:cs typeface="Calibri" pitchFamily="34" charset="-120"/>
              </a:rPr>
              <a:t>Every person walking past your desk forces an involuntary saccade. 30 walk-bys/hour = 30 interruptions you didn't choose.</a:t>
            </a:r>
            <a:endParaRPr lang="en-US" sz="950" dirty="0"/>
          </a:p>
        </p:txBody>
      </p:sp>
      <p:sp>
        <p:nvSpPr>
          <p:cNvPr id="17" name="Shape 15"/>
          <p:cNvSpPr/>
          <p:nvPr/>
        </p:nvSpPr>
        <p:spPr>
          <a:xfrm>
            <a:off x="640080" y="3063240"/>
            <a:ext cx="365760" cy="777240"/>
          </a:xfrm>
          <a:prstGeom prst="rect">
            <a:avLst/>
          </a:prstGeom>
          <a:solidFill>
            <a:srgbClr val="7BA393"/>
          </a:solidFill>
          <a:ln/>
        </p:spPr>
      </p:sp>
      <p:sp>
        <p:nvSpPr>
          <p:cNvPr id="18" name="Text 16"/>
          <p:cNvSpPr/>
          <p:nvPr/>
        </p:nvSpPr>
        <p:spPr>
          <a:xfrm>
            <a:off x="640080" y="3063240"/>
            <a:ext cx="365760" cy="7772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1143000" y="3063240"/>
            <a:ext cx="7406640" cy="256032"/>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Mandatory social processing</a:t>
            </a:r>
            <a:pPr indent="0" marL="0">
              <a:buNone/>
            </a:pPr>
            <a:r>
              <a:rPr lang="en-US" sz="900" dirty="0">
                <a:solidFill>
                  <a:srgbClr val="8B8680"/>
                </a:solidFill>
                <a:latin typeface="Calibri" pitchFamily="34" charset="0"/>
                <a:ea typeface="Calibri" pitchFamily="34" charset="-122"/>
                <a:cs typeface="Calibri" pitchFamily="34" charset="-120"/>
              </a:rPr>
              <a:t>  Frith &amp; Frith (2006)</a:t>
            </a:r>
            <a:endParaRPr lang="en-US" sz="1200" dirty="0"/>
          </a:p>
        </p:txBody>
      </p:sp>
      <p:sp>
        <p:nvSpPr>
          <p:cNvPr id="20" name="Text 18"/>
          <p:cNvSpPr/>
          <p:nvPr/>
        </p:nvSpPr>
        <p:spPr>
          <a:xfrm>
            <a:off x="1143000" y="3319272"/>
            <a:ext cx="3657600" cy="457200"/>
          </a:xfrm>
          <a:prstGeom prst="rect">
            <a:avLst/>
          </a:prstGeom>
          <a:noFill/>
          <a:ln/>
        </p:spPr>
        <p:txBody>
          <a:bodyPr wrap="square" rtlCol="0" anchor="t"/>
          <a:lstStyle/>
          <a:p>
            <a:pPr indent="0" marL="0">
              <a:buNone/>
            </a:pPr>
            <a:r>
              <a:rPr lang="en-US" sz="950" dirty="0">
                <a:solidFill>
                  <a:srgbClr val="2C2C2C"/>
                </a:solidFill>
                <a:latin typeface="Calibri" pitchFamily="34" charset="0"/>
                <a:ea typeface="Calibri" pitchFamily="34" charset="-122"/>
                <a:cs typeface="Calibri" pitchFamily="34" charset="-120"/>
              </a:rPr>
              <a:t>Conspecific behavior receives forced high-precision attention. Theory of mind is never 'background.'</a:t>
            </a:r>
            <a:endParaRPr lang="en-US" sz="950" dirty="0"/>
          </a:p>
        </p:txBody>
      </p:sp>
      <p:sp>
        <p:nvSpPr>
          <p:cNvPr id="21" name="Text 19"/>
          <p:cNvSpPr/>
          <p:nvPr/>
        </p:nvSpPr>
        <p:spPr>
          <a:xfrm>
            <a:off x="4754880" y="3319272"/>
            <a:ext cx="274320" cy="457200"/>
          </a:xfrm>
          <a:prstGeom prst="rect">
            <a:avLst/>
          </a:prstGeom>
          <a:noFill/>
          <a:ln/>
        </p:spPr>
        <p:txBody>
          <a:bodyPr wrap="square" rtlCol="0" anchor="ctr"/>
          <a:lstStyle/>
          <a:p>
            <a:pPr indent="0" marL="0">
              <a:buNone/>
            </a:pPr>
            <a:r>
              <a:rPr lang="en-US" sz="1600" dirty="0">
                <a:solidFill>
                  <a:srgbClr val="7BA393"/>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5029200" y="3319272"/>
            <a:ext cx="3566160" cy="457200"/>
          </a:xfrm>
          <a:prstGeom prst="rect">
            <a:avLst/>
          </a:prstGeom>
          <a:noFill/>
          <a:ln/>
        </p:spPr>
        <p:txBody>
          <a:bodyPr wrap="square" rtlCol="0" anchor="t"/>
          <a:lstStyle/>
          <a:p>
            <a:pPr indent="0" marL="0">
              <a:buNone/>
            </a:pPr>
            <a:r>
              <a:rPr lang="en-US" sz="950" b="1" dirty="0">
                <a:solidFill>
                  <a:srgbClr val="7BA393"/>
                </a:solidFill>
                <a:latin typeface="Calibri" pitchFamily="34" charset="0"/>
                <a:ea typeface="Calibri" pitchFamily="34" charset="-122"/>
                <a:cs typeface="Calibri" pitchFamily="34" charset="-120"/>
              </a:rPr>
              <a:t>Visible colleagues aren't furniture — your brain tracks their intentions, emotions, actions automatically. Constant cognitive load.</a:t>
            </a:r>
            <a:endParaRPr lang="en-US" sz="950" dirty="0"/>
          </a:p>
        </p:txBody>
      </p:sp>
      <p:sp>
        <p:nvSpPr>
          <p:cNvPr id="23" name="Shape 21"/>
          <p:cNvSpPr/>
          <p:nvPr/>
        </p:nvSpPr>
        <p:spPr>
          <a:xfrm>
            <a:off x="640080" y="3931920"/>
            <a:ext cx="365760" cy="777240"/>
          </a:xfrm>
          <a:prstGeom prst="rect">
            <a:avLst/>
          </a:prstGeom>
          <a:solidFill>
            <a:srgbClr val="B85042"/>
          </a:solidFill>
          <a:ln/>
        </p:spPr>
      </p:sp>
      <p:sp>
        <p:nvSpPr>
          <p:cNvPr id="24" name="Text 22"/>
          <p:cNvSpPr/>
          <p:nvPr/>
        </p:nvSpPr>
        <p:spPr>
          <a:xfrm>
            <a:off x="640080" y="3931920"/>
            <a:ext cx="365760" cy="7772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3"/>
          <p:cNvSpPr/>
          <p:nvPr/>
        </p:nvSpPr>
        <p:spPr>
          <a:xfrm>
            <a:off x="1143000" y="3931920"/>
            <a:ext cx="7406640" cy="256032"/>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Zero personal control</a:t>
            </a:r>
            <a:pPr indent="0" marL="0">
              <a:buNone/>
            </a:pPr>
            <a:r>
              <a:rPr lang="en-US" sz="900" dirty="0">
                <a:solidFill>
                  <a:srgbClr val="8B8680"/>
                </a:solidFill>
                <a:latin typeface="Calibri" pitchFamily="34" charset="0"/>
                <a:ea typeface="Calibri" pitchFamily="34" charset="-122"/>
                <a:cs typeface="Calibri" pitchFamily="34" charset="-120"/>
              </a:rPr>
              <a:t>  Prediction error framework</a:t>
            </a:r>
            <a:endParaRPr lang="en-US" sz="1200" dirty="0"/>
          </a:p>
        </p:txBody>
      </p:sp>
      <p:sp>
        <p:nvSpPr>
          <p:cNvPr id="26" name="Text 24"/>
          <p:cNvSpPr/>
          <p:nvPr/>
        </p:nvSpPr>
        <p:spPr>
          <a:xfrm>
            <a:off x="1143000" y="4187952"/>
            <a:ext cx="3657600" cy="457200"/>
          </a:xfrm>
          <a:prstGeom prst="rect">
            <a:avLst/>
          </a:prstGeom>
          <a:noFill/>
          <a:ln/>
        </p:spPr>
        <p:txBody>
          <a:bodyPr wrap="square" rtlCol="0" anchor="t"/>
          <a:lstStyle/>
          <a:p>
            <a:pPr indent="0" marL="0">
              <a:buNone/>
            </a:pPr>
            <a:r>
              <a:rPr lang="en-US" sz="950" dirty="0">
                <a:solidFill>
                  <a:srgbClr val="2C2C2C"/>
                </a:solidFill>
                <a:latin typeface="Calibri" pitchFamily="34" charset="0"/>
                <a:ea typeface="Calibri" pitchFamily="34" charset="-122"/>
                <a:cs typeface="Calibri" pitchFamily="34" charset="-120"/>
              </a:rPr>
              <a:t>All environmental parameters externally imposed. Self-generated changes have near-zero PE; imposed changes have maximum PE.</a:t>
            </a:r>
            <a:endParaRPr lang="en-US" sz="950" dirty="0"/>
          </a:p>
        </p:txBody>
      </p:sp>
      <p:sp>
        <p:nvSpPr>
          <p:cNvPr id="27" name="Text 25"/>
          <p:cNvSpPr/>
          <p:nvPr/>
        </p:nvSpPr>
        <p:spPr>
          <a:xfrm>
            <a:off x="4754880" y="4187952"/>
            <a:ext cx="274320" cy="457200"/>
          </a:xfrm>
          <a:prstGeom prst="rect">
            <a:avLst/>
          </a:prstGeom>
          <a:noFill/>
          <a:ln/>
        </p:spPr>
        <p:txBody>
          <a:bodyPr wrap="square" rtlCol="0" anchor="ctr"/>
          <a:lstStyle/>
          <a:p>
            <a:pPr indent="0" marL="0">
              <a:buNone/>
            </a:pPr>
            <a:r>
              <a:rPr lang="en-US" sz="1600" dirty="0">
                <a:solidFill>
                  <a:srgbClr val="B85042"/>
                </a:solidFill>
                <a:latin typeface="Calibri" pitchFamily="34" charset="0"/>
                <a:ea typeface="Calibri" pitchFamily="34" charset="-122"/>
                <a:cs typeface="Calibri" pitchFamily="34" charset="-120"/>
              </a:rPr>
              <a:t>→</a:t>
            </a:r>
            <a:endParaRPr lang="en-US" sz="1600" dirty="0"/>
          </a:p>
        </p:txBody>
      </p:sp>
      <p:sp>
        <p:nvSpPr>
          <p:cNvPr id="28" name="Text 26"/>
          <p:cNvSpPr/>
          <p:nvPr/>
        </p:nvSpPr>
        <p:spPr>
          <a:xfrm>
            <a:off x="5029200" y="4187952"/>
            <a:ext cx="3566160" cy="457200"/>
          </a:xfrm>
          <a:prstGeom prst="rect">
            <a:avLst/>
          </a:prstGeom>
          <a:noFill/>
          <a:ln/>
        </p:spPr>
        <p:txBody>
          <a:bodyPr wrap="square" rtlCol="0" anchor="t"/>
          <a:lstStyle/>
          <a:p>
            <a:pPr indent="0" marL="0">
              <a:buNone/>
            </a:pPr>
            <a:r>
              <a:rPr lang="en-US" sz="950" b="1" dirty="0">
                <a:solidFill>
                  <a:srgbClr val="B85042"/>
                </a:solidFill>
                <a:latin typeface="Calibri" pitchFamily="34" charset="0"/>
                <a:ea typeface="Calibri" pitchFamily="34" charset="-122"/>
                <a:cs typeface="Calibri" pitchFamily="34" charset="-120"/>
              </a:rPr>
              <a:t>You can't adjust anything. Every change is a surprise. The system never learns to predict because it has no control signal.</a:t>
            </a:r>
            <a:endParaRPr lang="en-US" sz="950" dirty="0"/>
          </a:p>
        </p:txBody>
      </p:sp>
      <p:sp>
        <p:nvSpPr>
          <p:cNvPr id="29" name="Shape 27"/>
          <p:cNvSpPr/>
          <p:nvPr/>
        </p:nvSpPr>
        <p:spPr>
          <a:xfrm>
            <a:off x="640080" y="4846320"/>
            <a:ext cx="7863840" cy="292608"/>
          </a:xfrm>
          <a:prstGeom prst="rect">
            <a:avLst/>
          </a:prstGeom>
          <a:solidFill>
            <a:srgbClr val="1B2A4A"/>
          </a:solidFill>
          <a:ln/>
        </p:spPr>
      </p:sp>
      <p:sp>
        <p:nvSpPr>
          <p:cNvPr id="30" name="Text 28"/>
          <p:cNvSpPr/>
          <p:nvPr/>
        </p:nvSpPr>
        <p:spPr>
          <a:xfrm>
            <a:off x="822960" y="4846320"/>
            <a:ext cx="7498080" cy="292608"/>
          </a:xfrm>
          <a:prstGeom prst="rect">
            <a:avLst/>
          </a:prstGeom>
          <a:noFill/>
          <a:ln/>
        </p:spPr>
        <p:txBody>
          <a:bodyPr wrap="square" rtlCol="0" anchor="ctr"/>
          <a:lstStyle/>
          <a:p>
            <a:pPr indent="0" marL="0">
              <a:buNone/>
            </a:pPr>
            <a:r>
              <a:rPr lang="en-US" sz="1100" b="1" dirty="0">
                <a:solidFill>
                  <a:srgbClr val="C4993B"/>
                </a:solidFill>
                <a:latin typeface="Calibri" pitchFamily="34" charset="0"/>
                <a:ea typeface="Calibri" pitchFamily="34" charset="-122"/>
                <a:cs typeface="Calibri" pitchFamily="34" charset="-120"/>
              </a:rPr>
              <a:t>No single study gives this explanation. It comes from composing across domains. That is what Article Eater does.</a:t>
            </a:r>
            <a:endParaRPr lang="en-US" sz="1100" dirty="0"/>
          </a:p>
        </p:txBody>
      </p:sp>
      <p:sp>
        <p:nvSpPr>
          <p:cNvPr id="31" name="Text 29"/>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3/23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THE THEORIES</a:t>
            </a:r>
            <a:endParaRPr lang="en-US" sz="1000" dirty="0"/>
          </a:p>
        </p:txBody>
      </p:sp>
      <p:sp>
        <p:nvSpPr>
          <p:cNvPr id="4" name="Text 2"/>
          <p:cNvSpPr/>
          <p:nvPr/>
        </p:nvSpPr>
        <p:spPr>
          <a:xfrm>
            <a:off x="640080" y="548640"/>
            <a:ext cx="7863840" cy="4572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Tier 1 Theories: The Full Inventory</a:t>
            </a:r>
            <a:endParaRPr lang="en-US" sz="2800" dirty="0"/>
          </a:p>
        </p:txBody>
      </p:sp>
      <p:sp>
        <p:nvSpPr>
          <p:cNvPr id="5" name="Text 3"/>
          <p:cNvSpPr/>
          <p:nvPr/>
        </p:nvSpPr>
        <p:spPr>
          <a:xfrm>
            <a:off x="640080" y="1005840"/>
            <a:ext cx="7863840" cy="274320"/>
          </a:xfrm>
          <a:prstGeom prst="rect">
            <a:avLst/>
          </a:prstGeom>
          <a:noFill/>
          <a:ln/>
        </p:spPr>
        <p:txBody>
          <a:bodyPr wrap="square" rtlCol="0" anchor="ctr"/>
          <a:lstStyle/>
          <a:p>
            <a:pPr indent="0" marL="0">
              <a:buNone/>
            </a:pPr>
            <a:r>
              <a:rPr lang="en-US" sz="1200" i="1" dirty="0">
                <a:solidFill>
                  <a:srgbClr val="2A6F7A"/>
                </a:solidFill>
                <a:latin typeface="Calibri" pitchFamily="34" charset="0"/>
                <a:ea typeface="Calibri" pitchFamily="34" charset="-122"/>
                <a:cs typeface="Calibri" pitchFamily="34" charset="-120"/>
              </a:rPr>
              <a:t>Each theory generates multiple mechanistic templates — specific, testable causal chains.</a:t>
            </a:r>
            <a:endParaRPr lang="en-US" sz="1200" dirty="0"/>
          </a:p>
        </p:txBody>
      </p:sp>
      <p:sp>
        <p:nvSpPr>
          <p:cNvPr id="6" name="Shape 4"/>
          <p:cNvSpPr/>
          <p:nvPr/>
        </p:nvSpPr>
        <p:spPr>
          <a:xfrm>
            <a:off x="640080" y="1417320"/>
            <a:ext cx="3840480" cy="3291840"/>
          </a:xfrm>
          <a:prstGeom prst="rect">
            <a:avLst/>
          </a:prstGeom>
          <a:solidFill>
            <a:srgbClr val="1B2A4A"/>
          </a:solidFill>
          <a:ln/>
        </p:spPr>
      </p:sp>
      <p:sp>
        <p:nvSpPr>
          <p:cNvPr id="7" name="Text 5"/>
          <p:cNvSpPr/>
          <p:nvPr/>
        </p:nvSpPr>
        <p:spPr>
          <a:xfrm>
            <a:off x="822960" y="1463040"/>
            <a:ext cx="3474720" cy="274320"/>
          </a:xfrm>
          <a:prstGeom prst="rect">
            <a:avLst/>
          </a:prstGeom>
          <a:noFill/>
          <a:ln/>
        </p:spPr>
        <p:txBody>
          <a:bodyPr wrap="square" rtlCol="0" anchor="ctr"/>
          <a:lstStyle/>
          <a:p>
            <a:pPr indent="0" marL="0">
              <a:buNone/>
            </a:pPr>
            <a:r>
              <a:rPr lang="en-US" sz="1100" b="1" dirty="0">
                <a:solidFill>
                  <a:srgbClr val="C4993B"/>
                </a:solidFill>
                <a:latin typeface="Calibri" pitchFamily="34" charset="0"/>
                <a:ea typeface="Calibri" pitchFamily="34" charset="-122"/>
                <a:cs typeface="Calibri" pitchFamily="34" charset="-120"/>
              </a:rPr>
              <a:t>FOUNDATIONAL FRAMEWORKS</a:t>
            </a:r>
            <a:endParaRPr lang="en-US" sz="1100" dirty="0"/>
          </a:p>
        </p:txBody>
      </p:sp>
      <p:sp>
        <p:nvSpPr>
          <p:cNvPr id="8" name="Text 6"/>
          <p:cNvSpPr/>
          <p:nvPr/>
        </p:nvSpPr>
        <p:spPr>
          <a:xfrm>
            <a:off x="822960" y="1783080"/>
            <a:ext cx="3474720" cy="320040"/>
          </a:xfrm>
          <a:prstGeom prst="rect">
            <a:avLst/>
          </a:prstGeom>
          <a:noFill/>
          <a:ln/>
        </p:spPr>
        <p:txBody>
          <a:bodyPr wrap="square" rtlCol="0" anchor="ctr"/>
          <a:lstStyle/>
          <a:p>
            <a:pPr indent="0" marL="0">
              <a:buNone/>
            </a:pPr>
            <a:r>
              <a:rPr lang="en-US" sz="1050" dirty="0">
                <a:solidFill>
                  <a:srgbClr val="F5F0E8"/>
                </a:solidFill>
                <a:latin typeface="Calibri" pitchFamily="34" charset="0"/>
                <a:ea typeface="Calibri" pitchFamily="34" charset="-122"/>
                <a:cs typeface="Calibri" pitchFamily="34" charset="-120"/>
              </a:rPr>
              <a:t>Predictive Processing / Free Energy (Friston, Clark)</a:t>
            </a:r>
            <a:endParaRPr lang="en-US" sz="1050" dirty="0"/>
          </a:p>
        </p:txBody>
      </p:sp>
      <p:sp>
        <p:nvSpPr>
          <p:cNvPr id="9" name="Shape 7"/>
          <p:cNvSpPr/>
          <p:nvPr/>
        </p:nvSpPr>
        <p:spPr>
          <a:xfrm>
            <a:off x="822960" y="2075688"/>
            <a:ext cx="3291840" cy="9144"/>
          </a:xfrm>
          <a:prstGeom prst="rect">
            <a:avLst/>
          </a:prstGeom>
          <a:solidFill>
            <a:srgbClr val="3A4A6A"/>
          </a:solidFill>
          <a:ln/>
        </p:spPr>
      </p:sp>
      <p:sp>
        <p:nvSpPr>
          <p:cNvPr id="10" name="Text 8"/>
          <p:cNvSpPr/>
          <p:nvPr/>
        </p:nvSpPr>
        <p:spPr>
          <a:xfrm>
            <a:off x="822960" y="2130552"/>
            <a:ext cx="3474720" cy="320040"/>
          </a:xfrm>
          <a:prstGeom prst="rect">
            <a:avLst/>
          </a:prstGeom>
          <a:noFill/>
          <a:ln/>
        </p:spPr>
        <p:txBody>
          <a:bodyPr wrap="square" rtlCol="0" anchor="ctr"/>
          <a:lstStyle/>
          <a:p>
            <a:pPr indent="0" marL="0">
              <a:buNone/>
            </a:pPr>
            <a:r>
              <a:rPr lang="en-US" sz="1050" dirty="0">
                <a:solidFill>
                  <a:srgbClr val="F5F0E8"/>
                </a:solidFill>
                <a:latin typeface="Calibri" pitchFamily="34" charset="0"/>
                <a:ea typeface="Calibri" pitchFamily="34" charset="-122"/>
                <a:cs typeface="Calibri" pitchFamily="34" charset="-120"/>
              </a:rPr>
              <a:t>Attention Restoration Theory (Kaplan &amp; Kaplan)</a:t>
            </a:r>
            <a:endParaRPr lang="en-US" sz="1050" dirty="0"/>
          </a:p>
        </p:txBody>
      </p:sp>
      <p:sp>
        <p:nvSpPr>
          <p:cNvPr id="11" name="Shape 9"/>
          <p:cNvSpPr/>
          <p:nvPr/>
        </p:nvSpPr>
        <p:spPr>
          <a:xfrm>
            <a:off x="822960" y="2423160"/>
            <a:ext cx="3291840" cy="9144"/>
          </a:xfrm>
          <a:prstGeom prst="rect">
            <a:avLst/>
          </a:prstGeom>
          <a:solidFill>
            <a:srgbClr val="3A4A6A"/>
          </a:solidFill>
          <a:ln/>
        </p:spPr>
      </p:sp>
      <p:sp>
        <p:nvSpPr>
          <p:cNvPr id="12" name="Text 10"/>
          <p:cNvSpPr/>
          <p:nvPr/>
        </p:nvSpPr>
        <p:spPr>
          <a:xfrm>
            <a:off x="822960" y="2478024"/>
            <a:ext cx="3474720" cy="320040"/>
          </a:xfrm>
          <a:prstGeom prst="rect">
            <a:avLst/>
          </a:prstGeom>
          <a:noFill/>
          <a:ln/>
        </p:spPr>
        <p:txBody>
          <a:bodyPr wrap="square" rtlCol="0" anchor="ctr"/>
          <a:lstStyle/>
          <a:p>
            <a:pPr indent="0" marL="0">
              <a:buNone/>
            </a:pPr>
            <a:r>
              <a:rPr lang="en-US" sz="1050" dirty="0">
                <a:solidFill>
                  <a:srgbClr val="F5F0E8"/>
                </a:solidFill>
                <a:latin typeface="Calibri" pitchFamily="34" charset="0"/>
                <a:ea typeface="Calibri" pitchFamily="34" charset="-122"/>
                <a:cs typeface="Calibri" pitchFamily="34" charset="-120"/>
              </a:rPr>
              <a:t>Stress Recovery Theory (Ulrich)</a:t>
            </a:r>
            <a:endParaRPr lang="en-US" sz="1050" dirty="0"/>
          </a:p>
        </p:txBody>
      </p:sp>
      <p:sp>
        <p:nvSpPr>
          <p:cNvPr id="13" name="Shape 11"/>
          <p:cNvSpPr/>
          <p:nvPr/>
        </p:nvSpPr>
        <p:spPr>
          <a:xfrm>
            <a:off x="822960" y="2770632"/>
            <a:ext cx="3291840" cy="9144"/>
          </a:xfrm>
          <a:prstGeom prst="rect">
            <a:avLst/>
          </a:prstGeom>
          <a:solidFill>
            <a:srgbClr val="3A4A6A"/>
          </a:solidFill>
          <a:ln/>
        </p:spPr>
      </p:sp>
      <p:sp>
        <p:nvSpPr>
          <p:cNvPr id="14" name="Text 12"/>
          <p:cNvSpPr/>
          <p:nvPr/>
        </p:nvSpPr>
        <p:spPr>
          <a:xfrm>
            <a:off x="822960" y="2825496"/>
            <a:ext cx="3474720" cy="320040"/>
          </a:xfrm>
          <a:prstGeom prst="rect">
            <a:avLst/>
          </a:prstGeom>
          <a:noFill/>
          <a:ln/>
        </p:spPr>
        <p:txBody>
          <a:bodyPr wrap="square" rtlCol="0" anchor="ctr"/>
          <a:lstStyle/>
          <a:p>
            <a:pPr indent="0" marL="0">
              <a:buNone/>
            </a:pPr>
            <a:r>
              <a:rPr lang="en-US" sz="1050" dirty="0">
                <a:solidFill>
                  <a:srgbClr val="F5F0E8"/>
                </a:solidFill>
                <a:latin typeface="Calibri" pitchFamily="34" charset="0"/>
                <a:ea typeface="Calibri" pitchFamily="34" charset="-122"/>
                <a:cs typeface="Calibri" pitchFamily="34" charset="-120"/>
              </a:rPr>
              <a:t>Prospect-Refuge Theory (Appleton)</a:t>
            </a:r>
            <a:endParaRPr lang="en-US" sz="1050" dirty="0"/>
          </a:p>
        </p:txBody>
      </p:sp>
      <p:sp>
        <p:nvSpPr>
          <p:cNvPr id="15" name="Shape 13"/>
          <p:cNvSpPr/>
          <p:nvPr/>
        </p:nvSpPr>
        <p:spPr>
          <a:xfrm>
            <a:off x="822960" y="3118104"/>
            <a:ext cx="3291840" cy="9144"/>
          </a:xfrm>
          <a:prstGeom prst="rect">
            <a:avLst/>
          </a:prstGeom>
          <a:solidFill>
            <a:srgbClr val="3A4A6A"/>
          </a:solidFill>
          <a:ln/>
        </p:spPr>
      </p:sp>
      <p:sp>
        <p:nvSpPr>
          <p:cNvPr id="16" name="Text 14"/>
          <p:cNvSpPr/>
          <p:nvPr/>
        </p:nvSpPr>
        <p:spPr>
          <a:xfrm>
            <a:off x="822960" y="3172968"/>
            <a:ext cx="3474720" cy="320040"/>
          </a:xfrm>
          <a:prstGeom prst="rect">
            <a:avLst/>
          </a:prstGeom>
          <a:noFill/>
          <a:ln/>
        </p:spPr>
        <p:txBody>
          <a:bodyPr wrap="square" rtlCol="0" anchor="ctr"/>
          <a:lstStyle/>
          <a:p>
            <a:pPr indent="0" marL="0">
              <a:buNone/>
            </a:pPr>
            <a:r>
              <a:rPr lang="en-US" sz="1050" dirty="0">
                <a:solidFill>
                  <a:srgbClr val="F5F0E8"/>
                </a:solidFill>
                <a:latin typeface="Calibri" pitchFamily="34" charset="0"/>
                <a:ea typeface="Calibri" pitchFamily="34" charset="-122"/>
                <a:cs typeface="Calibri" pitchFamily="34" charset="-120"/>
              </a:rPr>
              <a:t>Biophilia Hypothesis (Wilson, Kellert)</a:t>
            </a:r>
            <a:endParaRPr lang="en-US" sz="1050" dirty="0"/>
          </a:p>
        </p:txBody>
      </p:sp>
      <p:sp>
        <p:nvSpPr>
          <p:cNvPr id="17" name="Shape 15"/>
          <p:cNvSpPr/>
          <p:nvPr/>
        </p:nvSpPr>
        <p:spPr>
          <a:xfrm>
            <a:off x="822960" y="3465576"/>
            <a:ext cx="3291840" cy="9144"/>
          </a:xfrm>
          <a:prstGeom prst="rect">
            <a:avLst/>
          </a:prstGeom>
          <a:solidFill>
            <a:srgbClr val="3A4A6A"/>
          </a:solidFill>
          <a:ln/>
        </p:spPr>
      </p:sp>
      <p:sp>
        <p:nvSpPr>
          <p:cNvPr id="18" name="Text 16"/>
          <p:cNvSpPr/>
          <p:nvPr/>
        </p:nvSpPr>
        <p:spPr>
          <a:xfrm>
            <a:off x="822960" y="3520440"/>
            <a:ext cx="3474720" cy="320040"/>
          </a:xfrm>
          <a:prstGeom prst="rect">
            <a:avLst/>
          </a:prstGeom>
          <a:noFill/>
          <a:ln/>
        </p:spPr>
        <p:txBody>
          <a:bodyPr wrap="square" rtlCol="0" anchor="ctr"/>
          <a:lstStyle/>
          <a:p>
            <a:pPr indent="0" marL="0">
              <a:buNone/>
            </a:pPr>
            <a:r>
              <a:rPr lang="en-US" sz="1050" dirty="0">
                <a:solidFill>
                  <a:srgbClr val="F5F0E8"/>
                </a:solidFill>
                <a:latin typeface="Calibri" pitchFamily="34" charset="0"/>
                <a:ea typeface="Calibri" pitchFamily="34" charset="-122"/>
                <a:cs typeface="Calibri" pitchFamily="34" charset="-120"/>
              </a:rPr>
              <a:t>Arousal / Optimal Complexity (Berlyne)</a:t>
            </a:r>
            <a:endParaRPr lang="en-US" sz="1050" dirty="0"/>
          </a:p>
        </p:txBody>
      </p:sp>
      <p:sp>
        <p:nvSpPr>
          <p:cNvPr id="19" name="Shape 17"/>
          <p:cNvSpPr/>
          <p:nvPr/>
        </p:nvSpPr>
        <p:spPr>
          <a:xfrm>
            <a:off x="822960" y="3813048"/>
            <a:ext cx="3291840" cy="9144"/>
          </a:xfrm>
          <a:prstGeom prst="rect">
            <a:avLst/>
          </a:prstGeom>
          <a:solidFill>
            <a:srgbClr val="3A4A6A"/>
          </a:solidFill>
          <a:ln/>
        </p:spPr>
      </p:sp>
      <p:sp>
        <p:nvSpPr>
          <p:cNvPr id="20" name="Text 18"/>
          <p:cNvSpPr/>
          <p:nvPr/>
        </p:nvSpPr>
        <p:spPr>
          <a:xfrm>
            <a:off x="822960" y="3867912"/>
            <a:ext cx="3474720" cy="320040"/>
          </a:xfrm>
          <a:prstGeom prst="rect">
            <a:avLst/>
          </a:prstGeom>
          <a:noFill/>
          <a:ln/>
        </p:spPr>
        <p:txBody>
          <a:bodyPr wrap="square" rtlCol="0" anchor="ctr"/>
          <a:lstStyle/>
          <a:p>
            <a:pPr indent="0" marL="0">
              <a:buNone/>
            </a:pPr>
            <a:r>
              <a:rPr lang="en-US" sz="1050" dirty="0">
                <a:solidFill>
                  <a:srgbClr val="F5F0E8"/>
                </a:solidFill>
                <a:latin typeface="Calibri" pitchFamily="34" charset="0"/>
                <a:ea typeface="Calibri" pitchFamily="34" charset="-122"/>
                <a:cs typeface="Calibri" pitchFamily="34" charset="-120"/>
              </a:rPr>
              <a:t>Allostatic Regulation (Sterling, Barrett)</a:t>
            </a:r>
            <a:endParaRPr lang="en-US" sz="1050" dirty="0"/>
          </a:p>
        </p:txBody>
      </p:sp>
      <p:sp>
        <p:nvSpPr>
          <p:cNvPr id="21" name="Shape 19"/>
          <p:cNvSpPr/>
          <p:nvPr/>
        </p:nvSpPr>
        <p:spPr>
          <a:xfrm>
            <a:off x="822960" y="4160520"/>
            <a:ext cx="3291840" cy="9144"/>
          </a:xfrm>
          <a:prstGeom prst="rect">
            <a:avLst/>
          </a:prstGeom>
          <a:solidFill>
            <a:srgbClr val="3A4A6A"/>
          </a:solidFill>
          <a:ln/>
        </p:spPr>
      </p:sp>
      <p:sp>
        <p:nvSpPr>
          <p:cNvPr id="22" name="Text 20"/>
          <p:cNvSpPr/>
          <p:nvPr/>
        </p:nvSpPr>
        <p:spPr>
          <a:xfrm>
            <a:off x="822960" y="4215384"/>
            <a:ext cx="3474720" cy="320040"/>
          </a:xfrm>
          <a:prstGeom prst="rect">
            <a:avLst/>
          </a:prstGeom>
          <a:noFill/>
          <a:ln/>
        </p:spPr>
        <p:txBody>
          <a:bodyPr wrap="square" rtlCol="0" anchor="ctr"/>
          <a:lstStyle/>
          <a:p>
            <a:pPr indent="0" marL="0">
              <a:buNone/>
            </a:pPr>
            <a:r>
              <a:rPr lang="en-US" sz="1050" dirty="0">
                <a:solidFill>
                  <a:srgbClr val="F5F0E8"/>
                </a:solidFill>
                <a:latin typeface="Calibri" pitchFamily="34" charset="0"/>
                <a:ea typeface="Calibri" pitchFamily="34" charset="-122"/>
                <a:cs typeface="Calibri" pitchFamily="34" charset="-120"/>
              </a:rPr>
              <a:t>Embodied / Extended Cognition (Clark, Kirsh)</a:t>
            </a:r>
            <a:endParaRPr lang="en-US" sz="1050" dirty="0"/>
          </a:p>
        </p:txBody>
      </p:sp>
      <p:sp>
        <p:nvSpPr>
          <p:cNvPr id="23" name="Shape 21"/>
          <p:cNvSpPr/>
          <p:nvPr/>
        </p:nvSpPr>
        <p:spPr>
          <a:xfrm>
            <a:off x="822960" y="4507992"/>
            <a:ext cx="3291840" cy="9144"/>
          </a:xfrm>
          <a:prstGeom prst="rect">
            <a:avLst/>
          </a:prstGeom>
          <a:solidFill>
            <a:srgbClr val="3A4A6A"/>
          </a:solidFill>
          <a:ln/>
        </p:spPr>
      </p:sp>
      <p:sp>
        <p:nvSpPr>
          <p:cNvPr id="24" name="Shape 22"/>
          <p:cNvSpPr/>
          <p:nvPr/>
        </p:nvSpPr>
        <p:spPr>
          <a:xfrm>
            <a:off x="4663440" y="1417320"/>
            <a:ext cx="3840480" cy="3291840"/>
          </a:xfrm>
          <a:prstGeom prst="rect">
            <a:avLst/>
          </a:prstGeom>
          <a:solidFill>
            <a:srgbClr val="2A6F7A"/>
          </a:solidFill>
          <a:ln/>
        </p:spPr>
      </p:sp>
      <p:sp>
        <p:nvSpPr>
          <p:cNvPr id="25" name="Text 23"/>
          <p:cNvSpPr/>
          <p:nvPr/>
        </p:nvSpPr>
        <p:spPr>
          <a:xfrm>
            <a:off x="4846320" y="1463040"/>
            <a:ext cx="3474720" cy="274320"/>
          </a:xfrm>
          <a:prstGeom prst="rect">
            <a:avLst/>
          </a:prstGeom>
          <a:noFill/>
          <a:ln/>
        </p:spPr>
        <p:txBody>
          <a:bodyPr wrap="square" rtlCol="0" anchor="ctr"/>
          <a:lstStyle/>
          <a:p>
            <a:pPr indent="0" marL="0">
              <a:buNone/>
            </a:pPr>
            <a:r>
              <a:rPr lang="en-US" sz="1100" b="1" dirty="0">
                <a:solidFill>
                  <a:srgbClr val="F5F0E8"/>
                </a:solidFill>
                <a:latin typeface="Calibri" pitchFamily="34" charset="0"/>
                <a:ea typeface="Calibri" pitchFamily="34" charset="-122"/>
                <a:cs typeface="Calibri" pitchFamily="34" charset="-120"/>
              </a:rPr>
              <a:t>NEUROSCIENCE ENGINES</a:t>
            </a:r>
            <a:endParaRPr lang="en-US" sz="1100" dirty="0"/>
          </a:p>
        </p:txBody>
      </p:sp>
      <p:sp>
        <p:nvSpPr>
          <p:cNvPr id="26" name="Text 24"/>
          <p:cNvSpPr/>
          <p:nvPr/>
        </p:nvSpPr>
        <p:spPr>
          <a:xfrm>
            <a:off x="4846320" y="1783080"/>
            <a:ext cx="3474720" cy="32004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Global Workspace Theory (Baars, Dehaene)</a:t>
            </a:r>
            <a:endParaRPr lang="en-US" sz="1050" dirty="0"/>
          </a:p>
        </p:txBody>
      </p:sp>
      <p:sp>
        <p:nvSpPr>
          <p:cNvPr id="27" name="Shape 25"/>
          <p:cNvSpPr/>
          <p:nvPr/>
        </p:nvSpPr>
        <p:spPr>
          <a:xfrm>
            <a:off x="4846320" y="2075688"/>
            <a:ext cx="3291840" cy="9144"/>
          </a:xfrm>
          <a:prstGeom prst="rect">
            <a:avLst/>
          </a:prstGeom>
          <a:solidFill>
            <a:srgbClr val="3A7F8A"/>
          </a:solidFill>
          <a:ln/>
        </p:spPr>
      </p:sp>
      <p:sp>
        <p:nvSpPr>
          <p:cNvPr id="28" name="Text 26"/>
          <p:cNvSpPr/>
          <p:nvPr/>
        </p:nvSpPr>
        <p:spPr>
          <a:xfrm>
            <a:off x="4846320" y="2130552"/>
            <a:ext cx="3474720" cy="32004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LC-NE Adaptive Gain (Aston-Jones &amp; Cohen)</a:t>
            </a:r>
            <a:endParaRPr lang="en-US" sz="1050" dirty="0"/>
          </a:p>
        </p:txBody>
      </p:sp>
      <p:sp>
        <p:nvSpPr>
          <p:cNvPr id="29" name="Shape 27"/>
          <p:cNvSpPr/>
          <p:nvPr/>
        </p:nvSpPr>
        <p:spPr>
          <a:xfrm>
            <a:off x="4846320" y="2423160"/>
            <a:ext cx="3291840" cy="9144"/>
          </a:xfrm>
          <a:prstGeom prst="rect">
            <a:avLst/>
          </a:prstGeom>
          <a:solidFill>
            <a:srgbClr val="3A7F8A"/>
          </a:solidFill>
          <a:ln/>
        </p:spPr>
      </p:sp>
      <p:sp>
        <p:nvSpPr>
          <p:cNvPr id="30" name="Text 28"/>
          <p:cNvSpPr/>
          <p:nvPr/>
        </p:nvSpPr>
        <p:spPr>
          <a:xfrm>
            <a:off x="4846320" y="2478024"/>
            <a:ext cx="3474720" cy="32004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Conflict Monitoring (Botvinick, Shenhav)</a:t>
            </a:r>
            <a:endParaRPr lang="en-US" sz="1050" dirty="0"/>
          </a:p>
        </p:txBody>
      </p:sp>
      <p:sp>
        <p:nvSpPr>
          <p:cNvPr id="31" name="Shape 29"/>
          <p:cNvSpPr/>
          <p:nvPr/>
        </p:nvSpPr>
        <p:spPr>
          <a:xfrm>
            <a:off x="4846320" y="2770632"/>
            <a:ext cx="3291840" cy="9144"/>
          </a:xfrm>
          <a:prstGeom prst="rect">
            <a:avLst/>
          </a:prstGeom>
          <a:solidFill>
            <a:srgbClr val="3A7F8A"/>
          </a:solidFill>
          <a:ln/>
        </p:spPr>
      </p:sp>
      <p:sp>
        <p:nvSpPr>
          <p:cNvPr id="32" name="Text 30"/>
          <p:cNvSpPr/>
          <p:nvPr/>
        </p:nvSpPr>
        <p:spPr>
          <a:xfrm>
            <a:off x="4846320" y="2825496"/>
            <a:ext cx="3474720" cy="32004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PFC-BG Gating (Frank, O'Reilly)</a:t>
            </a:r>
            <a:endParaRPr lang="en-US" sz="1050" dirty="0"/>
          </a:p>
        </p:txBody>
      </p:sp>
      <p:sp>
        <p:nvSpPr>
          <p:cNvPr id="33" name="Shape 31"/>
          <p:cNvSpPr/>
          <p:nvPr/>
        </p:nvSpPr>
        <p:spPr>
          <a:xfrm>
            <a:off x="4846320" y="3118104"/>
            <a:ext cx="3291840" cy="9144"/>
          </a:xfrm>
          <a:prstGeom prst="rect">
            <a:avLst/>
          </a:prstGeom>
          <a:solidFill>
            <a:srgbClr val="3A7F8A"/>
          </a:solidFill>
          <a:ln/>
        </p:spPr>
      </p:sp>
      <p:sp>
        <p:nvSpPr>
          <p:cNvPr id="34" name="Text 32"/>
          <p:cNvSpPr/>
          <p:nvPr/>
        </p:nvSpPr>
        <p:spPr>
          <a:xfrm>
            <a:off x="4846320" y="3172968"/>
            <a:ext cx="3474720" cy="32004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Circadian Photoentrainment (Berson)</a:t>
            </a:r>
            <a:endParaRPr lang="en-US" sz="1050" dirty="0"/>
          </a:p>
        </p:txBody>
      </p:sp>
      <p:sp>
        <p:nvSpPr>
          <p:cNvPr id="35" name="Shape 33"/>
          <p:cNvSpPr/>
          <p:nvPr/>
        </p:nvSpPr>
        <p:spPr>
          <a:xfrm>
            <a:off x="4846320" y="3465576"/>
            <a:ext cx="3291840" cy="9144"/>
          </a:xfrm>
          <a:prstGeom prst="rect">
            <a:avLst/>
          </a:prstGeom>
          <a:solidFill>
            <a:srgbClr val="3A7F8A"/>
          </a:solidFill>
          <a:ln/>
        </p:spPr>
      </p:sp>
      <p:sp>
        <p:nvSpPr>
          <p:cNvPr id="36" name="Text 34"/>
          <p:cNvSpPr/>
          <p:nvPr/>
        </p:nvSpPr>
        <p:spPr>
          <a:xfrm>
            <a:off x="4846320" y="3520440"/>
            <a:ext cx="3474720" cy="32004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Auditory Scene Analysis (Bregman)</a:t>
            </a:r>
            <a:endParaRPr lang="en-US" sz="1050" dirty="0"/>
          </a:p>
        </p:txBody>
      </p:sp>
      <p:sp>
        <p:nvSpPr>
          <p:cNvPr id="37" name="Shape 35"/>
          <p:cNvSpPr/>
          <p:nvPr/>
        </p:nvSpPr>
        <p:spPr>
          <a:xfrm>
            <a:off x="4846320" y="3813048"/>
            <a:ext cx="3291840" cy="9144"/>
          </a:xfrm>
          <a:prstGeom prst="rect">
            <a:avLst/>
          </a:prstGeom>
          <a:solidFill>
            <a:srgbClr val="3A7F8A"/>
          </a:solidFill>
          <a:ln/>
        </p:spPr>
      </p:sp>
      <p:sp>
        <p:nvSpPr>
          <p:cNvPr id="38" name="Text 36"/>
          <p:cNvSpPr/>
          <p:nvPr/>
        </p:nvSpPr>
        <p:spPr>
          <a:xfrm>
            <a:off x="4846320" y="3867912"/>
            <a:ext cx="3474720" cy="32004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Dual-Pathway Architectures (multiple)</a:t>
            </a:r>
            <a:endParaRPr lang="en-US" sz="1050" dirty="0"/>
          </a:p>
        </p:txBody>
      </p:sp>
      <p:sp>
        <p:nvSpPr>
          <p:cNvPr id="39" name="Shape 37"/>
          <p:cNvSpPr/>
          <p:nvPr/>
        </p:nvSpPr>
        <p:spPr>
          <a:xfrm>
            <a:off x="4846320" y="4160520"/>
            <a:ext cx="3291840" cy="9144"/>
          </a:xfrm>
          <a:prstGeom prst="rect">
            <a:avLst/>
          </a:prstGeom>
          <a:solidFill>
            <a:srgbClr val="3A7F8A"/>
          </a:solidFill>
          <a:ln/>
        </p:spPr>
      </p:sp>
      <p:sp>
        <p:nvSpPr>
          <p:cNvPr id="40" name="Text 38"/>
          <p:cNvSpPr/>
          <p:nvPr/>
        </p:nvSpPr>
        <p:spPr>
          <a:xfrm>
            <a:off x="4846320" y="4215384"/>
            <a:ext cx="3474720" cy="32004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Affective Touch / C-Tactile (Olausson)</a:t>
            </a:r>
            <a:endParaRPr lang="en-US" sz="1050" dirty="0"/>
          </a:p>
        </p:txBody>
      </p:sp>
      <p:sp>
        <p:nvSpPr>
          <p:cNvPr id="41" name="Shape 39"/>
          <p:cNvSpPr/>
          <p:nvPr/>
        </p:nvSpPr>
        <p:spPr>
          <a:xfrm>
            <a:off x="4846320" y="4507992"/>
            <a:ext cx="3291840" cy="9144"/>
          </a:xfrm>
          <a:prstGeom prst="rect">
            <a:avLst/>
          </a:prstGeom>
          <a:solidFill>
            <a:srgbClr val="3A7F8A"/>
          </a:solidFill>
          <a:ln/>
        </p:spPr>
      </p:sp>
      <p:sp>
        <p:nvSpPr>
          <p:cNvPr id="42" name="Shape 40"/>
          <p:cNvSpPr/>
          <p:nvPr/>
        </p:nvSpPr>
        <p:spPr>
          <a:xfrm>
            <a:off x="3200400" y="4800600"/>
            <a:ext cx="2743200" cy="45720"/>
          </a:xfrm>
          <a:prstGeom prst="rect">
            <a:avLst/>
          </a:prstGeom>
          <a:solidFill>
            <a:srgbClr val="C4993B"/>
          </a:solidFill>
          <a:ln/>
        </p:spPr>
      </p:sp>
      <p:sp>
        <p:nvSpPr>
          <p:cNvPr id="43" name="Text 41"/>
          <p:cNvSpPr/>
          <p:nvPr/>
        </p:nvSpPr>
        <p:spPr>
          <a:xfrm>
            <a:off x="640080" y="4892040"/>
            <a:ext cx="7863840" cy="320040"/>
          </a:xfrm>
          <a:prstGeom prst="rect">
            <a:avLst/>
          </a:prstGeom>
          <a:noFill/>
          <a:ln/>
        </p:spPr>
        <p:txBody>
          <a:bodyPr wrap="square"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16 Tier 1 theories → </a:t>
            </a:r>
            <a:pPr algn="ctr" indent="0" marL="0">
              <a:buNone/>
            </a:pPr>
            <a:r>
              <a:rPr lang="en-US" sz="1400" b="1" dirty="0">
                <a:solidFill>
                  <a:srgbClr val="B85042"/>
                </a:solidFill>
                <a:latin typeface="Calibri" pitchFamily="34" charset="0"/>
                <a:ea typeface="Calibri" pitchFamily="34" charset="-122"/>
                <a:cs typeface="Calibri" pitchFamily="34" charset="-120"/>
              </a:rPr>
              <a:t>75+ Tier 2 mechanistic templates</a:t>
            </a:r>
            <a:pPr algn="ctr" indent="0" marL="0">
              <a:buNone/>
            </a:pPr>
            <a:r>
              <a:rPr lang="en-US" sz="1000" dirty="0">
                <a:solidFill>
                  <a:srgbClr val="8B8680"/>
                </a:solidFill>
                <a:latin typeface="Calibri" pitchFamily="34" charset="0"/>
                <a:ea typeface="Calibri" pitchFamily="34" charset="-122"/>
                <a:cs typeface="Calibri" pitchFamily="34" charset="-120"/>
              </a:rPr>
              <a:t>  (T1–T52, M1–M17, AX1–AX6, EC1–EC12)</a:t>
            </a:r>
            <a:endParaRPr lang="en-US" sz="1400" dirty="0"/>
          </a:p>
        </p:txBody>
      </p:sp>
      <p:sp>
        <p:nvSpPr>
          <p:cNvPr id="44" name="Text 42"/>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4/23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FROM THEORY TO TEMPLATE</a:t>
            </a:r>
            <a:endParaRPr lang="en-US" sz="1000" dirty="0"/>
          </a:p>
        </p:txBody>
      </p:sp>
      <p:sp>
        <p:nvSpPr>
          <p:cNvPr id="4" name="Text 2"/>
          <p:cNvSpPr/>
          <p:nvPr/>
        </p:nvSpPr>
        <p:spPr>
          <a:xfrm>
            <a:off x="640080" y="502920"/>
            <a:ext cx="7863840" cy="6858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How a Theory Generates</a:t>
            </a:r>
            <a:endParaRPr lang="en-US" sz="2800" dirty="0"/>
          </a:p>
          <a:p>
            <a:pPr indent="0" marL="0">
              <a:buNone/>
            </a:pPr>
            <a:r>
              <a:rPr lang="en-US" sz="2800" b="1" dirty="0">
                <a:solidFill>
                  <a:srgbClr val="1B2A4A"/>
                </a:solidFill>
                <a:latin typeface="Georgia" pitchFamily="34" charset="0"/>
                <a:ea typeface="Georgia" pitchFamily="34" charset="-122"/>
                <a:cs typeface="Georgia" pitchFamily="34" charset="-120"/>
              </a:rPr>
              <a:t>a Mechanistic Template</a:t>
            </a:r>
            <a:endParaRPr lang="en-US" sz="2800" dirty="0"/>
          </a:p>
        </p:txBody>
      </p:sp>
      <p:sp>
        <p:nvSpPr>
          <p:cNvPr id="5" name="Text 3"/>
          <p:cNvSpPr/>
          <p:nvPr/>
        </p:nvSpPr>
        <p:spPr>
          <a:xfrm>
            <a:off x="640080" y="1188720"/>
            <a:ext cx="7863840" cy="274320"/>
          </a:xfrm>
          <a:prstGeom prst="rect">
            <a:avLst/>
          </a:prstGeom>
          <a:noFill/>
          <a:ln/>
        </p:spPr>
        <p:txBody>
          <a:bodyPr wrap="square" rtlCol="0" anchor="ctr"/>
          <a:lstStyle/>
          <a:p>
            <a:pPr indent="0" marL="0">
              <a:buNone/>
            </a:pPr>
            <a:r>
              <a:rPr lang="en-US" sz="1200" i="1" dirty="0">
                <a:solidFill>
                  <a:srgbClr val="2A6F7A"/>
                </a:solidFill>
                <a:latin typeface="Calibri" pitchFamily="34" charset="0"/>
                <a:ea typeface="Calibri" pitchFamily="34" charset="-122"/>
                <a:cs typeface="Calibri" pitchFamily="34" charset="-120"/>
              </a:rPr>
              <a:t>Worked example: Predictive Processing → Template T4 (Attentional Capture)</a:t>
            </a:r>
            <a:endParaRPr lang="en-US" sz="1200" dirty="0"/>
          </a:p>
        </p:txBody>
      </p:sp>
      <p:sp>
        <p:nvSpPr>
          <p:cNvPr id="6" name="Shape 4"/>
          <p:cNvSpPr/>
          <p:nvPr/>
        </p:nvSpPr>
        <p:spPr>
          <a:xfrm>
            <a:off x="640080" y="1600200"/>
            <a:ext cx="3474720" cy="1645920"/>
          </a:xfrm>
          <a:prstGeom prst="rect">
            <a:avLst/>
          </a:prstGeom>
          <a:solidFill>
            <a:srgbClr val="1B2A4A"/>
          </a:solidFill>
          <a:ln/>
        </p:spPr>
      </p:sp>
      <p:sp>
        <p:nvSpPr>
          <p:cNvPr id="7" name="Text 5"/>
          <p:cNvSpPr/>
          <p:nvPr/>
        </p:nvSpPr>
        <p:spPr>
          <a:xfrm>
            <a:off x="822960" y="1645920"/>
            <a:ext cx="3108960" cy="274320"/>
          </a:xfrm>
          <a:prstGeom prst="rect">
            <a:avLst/>
          </a:prstGeom>
          <a:noFill/>
          <a:ln/>
        </p:spPr>
        <p:txBody>
          <a:bodyPr wrap="square" rtlCol="0" anchor="ctr"/>
          <a:lstStyle/>
          <a:p>
            <a:pPr indent="0" marL="0">
              <a:buNone/>
            </a:pPr>
            <a:r>
              <a:rPr lang="en-US" sz="1100" b="1" dirty="0">
                <a:solidFill>
                  <a:srgbClr val="C4993B"/>
                </a:solidFill>
                <a:latin typeface="Calibri" pitchFamily="34" charset="0"/>
                <a:ea typeface="Calibri" pitchFamily="34" charset="-122"/>
                <a:cs typeface="Calibri" pitchFamily="34" charset="-120"/>
              </a:rPr>
              <a:t>THEORY: Predictive Processing</a:t>
            </a:r>
            <a:endParaRPr lang="en-US" sz="1100" dirty="0"/>
          </a:p>
        </p:txBody>
      </p:sp>
      <p:sp>
        <p:nvSpPr>
          <p:cNvPr id="8" name="Text 6"/>
          <p:cNvSpPr/>
          <p:nvPr/>
        </p:nvSpPr>
        <p:spPr>
          <a:xfrm>
            <a:off x="822960" y="1965960"/>
            <a:ext cx="3108960" cy="1188720"/>
          </a:xfrm>
          <a:prstGeom prst="rect">
            <a:avLst/>
          </a:prstGeom>
          <a:noFill/>
          <a:ln/>
        </p:spPr>
        <p:txBody>
          <a:bodyPr wrap="square" rtlCol="0" anchor="t"/>
          <a:lstStyle/>
          <a:p>
            <a:pPr indent="0" marL="0">
              <a:buNone/>
            </a:pPr>
            <a:r>
              <a:rPr lang="en-US" sz="1000" dirty="0">
                <a:solidFill>
                  <a:srgbClr val="F5F0E8"/>
                </a:solidFill>
                <a:latin typeface="Calibri" pitchFamily="34" charset="0"/>
                <a:ea typeface="Calibri" pitchFamily="34" charset="-122"/>
                <a:cs typeface="Calibri" pitchFamily="34" charset="-120"/>
              </a:rPr>
              <a:t>The brain continuously generates predictions about incoming sensory signals.</a:t>
            </a:r>
            <a:endParaRPr lang="en-US" sz="1000" dirty="0"/>
          </a:p>
          <a:p>
            <a:pPr indent="0" marL="0">
              <a:buNone/>
            </a:pPr>
            <a:endParaRPr lang="en-US" sz="1000" dirty="0"/>
          </a:p>
          <a:p>
            <a:pPr indent="0" marL="0">
              <a:buNone/>
            </a:pPr>
            <a:r>
              <a:rPr lang="en-US" sz="1000" dirty="0">
                <a:solidFill>
                  <a:srgbClr val="F5F0E8"/>
                </a:solidFill>
                <a:latin typeface="Calibri" pitchFamily="34" charset="0"/>
                <a:ea typeface="Calibri" pitchFamily="34" charset="-122"/>
                <a:cs typeface="Calibri" pitchFamily="34" charset="-120"/>
              </a:rPr>
              <a:t>Prediction errors drive attention, learning, and emotional response.</a:t>
            </a:r>
            <a:endParaRPr lang="en-US" sz="1000" dirty="0"/>
          </a:p>
          <a:p>
            <a:pPr indent="0" marL="0">
              <a:buNone/>
            </a:pPr>
            <a:endParaRPr lang="en-US" sz="1000" dirty="0"/>
          </a:p>
          <a:p>
            <a:pPr indent="0" marL="0">
              <a:buNone/>
            </a:pPr>
            <a:r>
              <a:rPr lang="en-US" sz="1000" dirty="0">
                <a:solidFill>
                  <a:srgbClr val="F5F0E8"/>
                </a:solidFill>
                <a:latin typeface="Calibri" pitchFamily="34" charset="0"/>
                <a:ea typeface="Calibri" pitchFamily="34" charset="-122"/>
                <a:cs typeface="Calibri" pitchFamily="34" charset="-120"/>
              </a:rPr>
              <a:t>Precision weighting determines which errors matter — high precision = forced attention.</a:t>
            </a:r>
            <a:endParaRPr lang="en-US" sz="1000" dirty="0"/>
          </a:p>
        </p:txBody>
      </p:sp>
      <p:sp>
        <p:nvSpPr>
          <p:cNvPr id="9" name="Text 7"/>
          <p:cNvSpPr/>
          <p:nvPr/>
        </p:nvSpPr>
        <p:spPr>
          <a:xfrm>
            <a:off x="4160520" y="2011680"/>
            <a:ext cx="457200" cy="914400"/>
          </a:xfrm>
          <a:prstGeom prst="rect">
            <a:avLst/>
          </a:prstGeom>
          <a:noFill/>
          <a:ln/>
        </p:spPr>
        <p:txBody>
          <a:bodyPr wrap="square" rtlCol="0" anchor="ctr"/>
          <a:lstStyle/>
          <a:p>
            <a:pPr algn="ctr" indent="0" marL="0">
              <a:buNone/>
            </a:pPr>
            <a:r>
              <a:rPr lang="en-US" sz="3600" dirty="0">
                <a:solidFill>
                  <a:srgbClr val="C4993B"/>
                </a:solidFill>
                <a:latin typeface="Calibri" pitchFamily="34" charset="0"/>
                <a:ea typeface="Calibri" pitchFamily="34" charset="-122"/>
                <a:cs typeface="Calibri" pitchFamily="34" charset="-120"/>
              </a:rPr>
              <a:t>→</a:t>
            </a:r>
            <a:endParaRPr lang="en-US" sz="3600" dirty="0"/>
          </a:p>
        </p:txBody>
      </p:sp>
      <p:sp>
        <p:nvSpPr>
          <p:cNvPr id="10" name="Shape 8"/>
          <p:cNvSpPr/>
          <p:nvPr/>
        </p:nvSpPr>
        <p:spPr>
          <a:xfrm>
            <a:off x="4754880" y="1600200"/>
            <a:ext cx="3840480" cy="1645920"/>
          </a:xfrm>
          <a:prstGeom prst="rect">
            <a:avLst/>
          </a:prstGeom>
          <a:solidFill>
            <a:srgbClr val="B85042"/>
          </a:solidFill>
          <a:ln/>
        </p:spPr>
      </p:sp>
      <p:sp>
        <p:nvSpPr>
          <p:cNvPr id="11" name="Text 9"/>
          <p:cNvSpPr/>
          <p:nvPr/>
        </p:nvSpPr>
        <p:spPr>
          <a:xfrm>
            <a:off x="4937760" y="1645920"/>
            <a:ext cx="3474720" cy="274320"/>
          </a:xfrm>
          <a:prstGeom prst="rect">
            <a:avLst/>
          </a:prstGeom>
          <a:noFill/>
          <a:ln/>
        </p:spPr>
        <p:txBody>
          <a:bodyPr wrap="square" rtlCol="0" anchor="ctr"/>
          <a:lstStyle/>
          <a:p>
            <a:pPr indent="0" marL="0">
              <a:buNone/>
            </a:pPr>
            <a:r>
              <a:rPr lang="en-US" sz="1100" b="1" dirty="0">
                <a:solidFill>
                  <a:srgbClr val="F5F0E8"/>
                </a:solidFill>
                <a:latin typeface="Calibri" pitchFamily="34" charset="0"/>
                <a:ea typeface="Calibri" pitchFamily="34" charset="-122"/>
                <a:cs typeface="Calibri" pitchFamily="34" charset="-120"/>
              </a:rPr>
              <a:t>TEMPLATE T4: Attentional Capture</a:t>
            </a:r>
            <a:endParaRPr lang="en-US" sz="1100" dirty="0"/>
          </a:p>
        </p:txBody>
      </p:sp>
      <p:sp>
        <p:nvSpPr>
          <p:cNvPr id="12" name="Text 10"/>
          <p:cNvSpPr/>
          <p:nvPr/>
        </p:nvSpPr>
        <p:spPr>
          <a:xfrm>
            <a:off x="4937760" y="1965960"/>
            <a:ext cx="3474720" cy="1188720"/>
          </a:xfrm>
          <a:prstGeom prst="rect">
            <a:avLst/>
          </a:prstGeom>
          <a:noFill/>
          <a:ln/>
        </p:spPr>
        <p:txBody>
          <a:bodyPr wrap="square"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Mechanism: </a:t>
            </a:r>
            <a:pPr indent="0" marL="0">
              <a:buNone/>
            </a:pPr>
            <a:r>
              <a:rPr lang="en-US" sz="1000" dirty="0">
                <a:solidFill>
                  <a:srgbClr val="FFFFFF"/>
                </a:solidFill>
                <a:latin typeface="Calibri" pitchFamily="34" charset="0"/>
                <a:ea typeface="Calibri" pitchFamily="34" charset="-122"/>
                <a:cs typeface="Calibri" pitchFamily="34" charset="-120"/>
              </a:rPr>
              <a:t>High-precision prediction errors from unexpected motion or speech trigger mandatory orienting.</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Trigger: </a:t>
            </a:r>
            <a:pPr indent="0" marL="0">
              <a:buNone/>
            </a:pPr>
            <a:r>
              <a:rPr lang="en-US" sz="1000" dirty="0">
                <a:solidFill>
                  <a:srgbClr val="FFFFFF"/>
                </a:solidFill>
                <a:latin typeface="Calibri" pitchFamily="34" charset="0"/>
                <a:ea typeface="Calibri" pitchFamily="34" charset="-122"/>
                <a:cs typeface="Calibri" pitchFamily="34" charset="-120"/>
              </a:rPr>
              <a:t>Peripheral movement, intelligible speech, social signals in open environments.</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Prediction: </a:t>
            </a:r>
            <a:pPr indent="0" marL="0">
              <a:buNone/>
            </a:pPr>
            <a:r>
              <a:rPr lang="en-US" sz="1000" dirty="0">
                <a:solidFill>
                  <a:srgbClr val="FFFFFF"/>
                </a:solidFill>
                <a:latin typeface="Calibri" pitchFamily="34" charset="0"/>
                <a:ea typeface="Calibri" pitchFamily="34" charset="-122"/>
                <a:cs typeface="Calibri" pitchFamily="34" charset="-120"/>
              </a:rPr>
              <a:t>Environments with uncontrollable high-precision signals will degrade sustained attention.</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Design consequence: </a:t>
            </a:r>
            <a:pPr indent="0" marL="0">
              <a:buNone/>
            </a:pPr>
            <a:r>
              <a:rPr lang="en-US" sz="1000" dirty="0">
                <a:solidFill>
                  <a:srgbClr val="FFFFFF"/>
                </a:solidFill>
                <a:latin typeface="Calibri" pitchFamily="34" charset="0"/>
                <a:ea typeface="Calibri" pitchFamily="34" charset="-122"/>
                <a:cs typeface="Calibri" pitchFamily="34" charset="-120"/>
              </a:rPr>
              <a:t>Partition or eliminate high-PE channels; don't merely attenuate.</a:t>
            </a:r>
            <a:endParaRPr lang="en-US" sz="1000" dirty="0"/>
          </a:p>
        </p:txBody>
      </p:sp>
      <p:sp>
        <p:nvSpPr>
          <p:cNvPr id="13" name="Shape 11"/>
          <p:cNvSpPr/>
          <p:nvPr/>
        </p:nvSpPr>
        <p:spPr>
          <a:xfrm>
            <a:off x="640080" y="3429000"/>
            <a:ext cx="7863840" cy="548640"/>
          </a:xfrm>
          <a:prstGeom prst="rect">
            <a:avLst/>
          </a:prstGeom>
          <a:solidFill>
            <a:srgbClr val="E8E4DC"/>
          </a:solidFill>
          <a:ln/>
        </p:spPr>
      </p:sp>
      <p:sp>
        <p:nvSpPr>
          <p:cNvPr id="14" name="Text 12"/>
          <p:cNvSpPr/>
          <p:nvPr/>
        </p:nvSpPr>
        <p:spPr>
          <a:xfrm>
            <a:off x="822960" y="3474720"/>
            <a:ext cx="7498080" cy="45720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The template is a specific, testable instantiation of the theory. The theory says 'prediction errors drive attention.' The template says exactly WHICH errors, from WHICH environmental features, with WHAT design consequences.</a:t>
            </a:r>
            <a:endParaRPr lang="en-US" sz="1100" dirty="0"/>
          </a:p>
        </p:txBody>
      </p:sp>
      <p:sp>
        <p:nvSpPr>
          <p:cNvPr id="15" name="Text 13"/>
          <p:cNvSpPr/>
          <p:nvPr/>
        </p:nvSpPr>
        <p:spPr>
          <a:xfrm>
            <a:off x="640080" y="4114800"/>
            <a:ext cx="7863840" cy="2743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One theory generates many templates:</a:t>
            </a:r>
            <a:endParaRPr lang="en-US" sz="1200" dirty="0"/>
          </a:p>
        </p:txBody>
      </p:sp>
      <p:sp>
        <p:nvSpPr>
          <p:cNvPr id="16" name="Shape 14"/>
          <p:cNvSpPr/>
          <p:nvPr/>
        </p:nvSpPr>
        <p:spPr>
          <a:xfrm>
            <a:off x="640080" y="4434840"/>
            <a:ext cx="1554480" cy="502920"/>
          </a:xfrm>
          <a:prstGeom prst="rect">
            <a:avLst/>
          </a:prstGeom>
          <a:solidFill>
            <a:srgbClr val="1B2A4A"/>
          </a:solidFill>
          <a:ln/>
        </p:spPr>
      </p:sp>
      <p:sp>
        <p:nvSpPr>
          <p:cNvPr id="17" name="Text 15"/>
          <p:cNvSpPr/>
          <p:nvPr/>
        </p:nvSpPr>
        <p:spPr>
          <a:xfrm>
            <a:off x="685800" y="4462272"/>
            <a:ext cx="1463040" cy="457200"/>
          </a:xfrm>
          <a:prstGeom prst="rect">
            <a:avLst/>
          </a:prstGeom>
          <a:noFill/>
          <a:ln/>
        </p:spPr>
        <p:txBody>
          <a:bodyPr wrap="square" rtlCol="0" anchor="ctr"/>
          <a:lstStyle/>
          <a:p>
            <a:pPr algn="ctr" indent="0" marL="0">
              <a:buNone/>
            </a:pPr>
            <a:r>
              <a:rPr lang="en-US" sz="1100" b="1" dirty="0">
                <a:solidFill>
                  <a:srgbClr val="C4993B"/>
                </a:solidFill>
                <a:latin typeface="Calibri" pitchFamily="34" charset="0"/>
                <a:ea typeface="Calibri" pitchFamily="34" charset="-122"/>
                <a:cs typeface="Calibri" pitchFamily="34" charset="-120"/>
              </a:rPr>
              <a:t>T1</a:t>
            </a:r>
            <a:endParaRPr lang="en-US" sz="1100" dirty="0"/>
          </a:p>
          <a:p>
            <a:pPr algn="ctr" indent="0" marL="0">
              <a:buNone/>
            </a:pPr>
            <a:r>
              <a:rPr lang="en-US" sz="800" dirty="0">
                <a:solidFill>
                  <a:srgbClr val="F5F0E8"/>
                </a:solidFill>
                <a:latin typeface="Calibri" pitchFamily="34" charset="0"/>
                <a:ea typeface="Calibri" pitchFamily="34" charset="-122"/>
                <a:cs typeface="Calibri" pitchFamily="34" charset="-120"/>
              </a:rPr>
              <a:t>Precision-weighted prediction error</a:t>
            </a:r>
            <a:endParaRPr lang="en-US" sz="1100" dirty="0"/>
          </a:p>
        </p:txBody>
      </p:sp>
      <p:sp>
        <p:nvSpPr>
          <p:cNvPr id="18" name="Shape 16"/>
          <p:cNvSpPr/>
          <p:nvPr/>
        </p:nvSpPr>
        <p:spPr>
          <a:xfrm>
            <a:off x="2304288" y="4434840"/>
            <a:ext cx="1554480" cy="502920"/>
          </a:xfrm>
          <a:prstGeom prst="rect">
            <a:avLst/>
          </a:prstGeom>
          <a:solidFill>
            <a:srgbClr val="1B2A4A"/>
          </a:solidFill>
          <a:ln/>
        </p:spPr>
      </p:sp>
      <p:sp>
        <p:nvSpPr>
          <p:cNvPr id="19" name="Text 17"/>
          <p:cNvSpPr/>
          <p:nvPr/>
        </p:nvSpPr>
        <p:spPr>
          <a:xfrm>
            <a:off x="2350008" y="4462272"/>
            <a:ext cx="1463040" cy="457200"/>
          </a:xfrm>
          <a:prstGeom prst="rect">
            <a:avLst/>
          </a:prstGeom>
          <a:noFill/>
          <a:ln/>
        </p:spPr>
        <p:txBody>
          <a:bodyPr wrap="square" rtlCol="0" anchor="ctr"/>
          <a:lstStyle/>
          <a:p>
            <a:pPr algn="ctr" indent="0" marL="0">
              <a:buNone/>
            </a:pPr>
            <a:r>
              <a:rPr lang="en-US" sz="1100" b="1" dirty="0">
                <a:solidFill>
                  <a:srgbClr val="C4993B"/>
                </a:solidFill>
                <a:latin typeface="Calibri" pitchFamily="34" charset="0"/>
                <a:ea typeface="Calibri" pitchFamily="34" charset="-122"/>
                <a:cs typeface="Calibri" pitchFamily="34" charset="-120"/>
              </a:rPr>
              <a:t>T4</a:t>
            </a:r>
            <a:endParaRPr lang="en-US" sz="1100" dirty="0"/>
          </a:p>
          <a:p>
            <a:pPr algn="ctr" indent="0" marL="0">
              <a:buNone/>
            </a:pPr>
            <a:r>
              <a:rPr lang="en-US" sz="800" dirty="0">
                <a:solidFill>
                  <a:srgbClr val="F5F0E8"/>
                </a:solidFill>
                <a:latin typeface="Calibri" pitchFamily="34" charset="0"/>
                <a:ea typeface="Calibri" pitchFamily="34" charset="-122"/>
                <a:cs typeface="Calibri" pitchFamily="34" charset="-120"/>
              </a:rPr>
              <a:t>Attentional capture</a:t>
            </a:r>
            <a:endParaRPr lang="en-US" sz="1100" dirty="0"/>
          </a:p>
        </p:txBody>
      </p:sp>
      <p:sp>
        <p:nvSpPr>
          <p:cNvPr id="20" name="Shape 18"/>
          <p:cNvSpPr/>
          <p:nvPr/>
        </p:nvSpPr>
        <p:spPr>
          <a:xfrm>
            <a:off x="3968496" y="4434840"/>
            <a:ext cx="1554480" cy="502920"/>
          </a:xfrm>
          <a:prstGeom prst="rect">
            <a:avLst/>
          </a:prstGeom>
          <a:solidFill>
            <a:srgbClr val="1B2A4A"/>
          </a:solidFill>
          <a:ln/>
        </p:spPr>
      </p:sp>
      <p:sp>
        <p:nvSpPr>
          <p:cNvPr id="21" name="Text 19"/>
          <p:cNvSpPr/>
          <p:nvPr/>
        </p:nvSpPr>
        <p:spPr>
          <a:xfrm>
            <a:off x="4014216" y="4462272"/>
            <a:ext cx="1463040" cy="457200"/>
          </a:xfrm>
          <a:prstGeom prst="rect">
            <a:avLst/>
          </a:prstGeom>
          <a:noFill/>
          <a:ln/>
        </p:spPr>
        <p:txBody>
          <a:bodyPr wrap="square" rtlCol="0" anchor="ctr"/>
          <a:lstStyle/>
          <a:p>
            <a:pPr algn="ctr" indent="0" marL="0">
              <a:buNone/>
            </a:pPr>
            <a:r>
              <a:rPr lang="en-US" sz="1100" b="1" dirty="0">
                <a:solidFill>
                  <a:srgbClr val="C4993B"/>
                </a:solidFill>
                <a:latin typeface="Calibri" pitchFamily="34" charset="0"/>
                <a:ea typeface="Calibri" pitchFamily="34" charset="-122"/>
                <a:cs typeface="Calibri" pitchFamily="34" charset="-120"/>
              </a:rPr>
              <a:t>T15</a:t>
            </a:r>
            <a:endParaRPr lang="en-US" sz="1100" dirty="0"/>
          </a:p>
          <a:p>
            <a:pPr algn="ctr" indent="0" marL="0">
              <a:buNone/>
            </a:pPr>
            <a:r>
              <a:rPr lang="en-US" sz="800" dirty="0">
                <a:solidFill>
                  <a:srgbClr val="F5F0E8"/>
                </a:solidFill>
                <a:latin typeface="Calibri" pitchFamily="34" charset="0"/>
                <a:ea typeface="Calibri" pitchFamily="34" charset="-122"/>
                <a:cs typeface="Calibri" pitchFamily="34" charset="-120"/>
              </a:rPr>
              <a:t>Personal control / active inference</a:t>
            </a:r>
            <a:endParaRPr lang="en-US" sz="1100" dirty="0"/>
          </a:p>
        </p:txBody>
      </p:sp>
      <p:sp>
        <p:nvSpPr>
          <p:cNvPr id="22" name="Shape 20"/>
          <p:cNvSpPr/>
          <p:nvPr/>
        </p:nvSpPr>
        <p:spPr>
          <a:xfrm>
            <a:off x="5632704" y="4434840"/>
            <a:ext cx="1554480" cy="502920"/>
          </a:xfrm>
          <a:prstGeom prst="rect">
            <a:avLst/>
          </a:prstGeom>
          <a:solidFill>
            <a:srgbClr val="1B2A4A"/>
          </a:solidFill>
          <a:ln/>
        </p:spPr>
      </p:sp>
      <p:sp>
        <p:nvSpPr>
          <p:cNvPr id="23" name="Text 21"/>
          <p:cNvSpPr/>
          <p:nvPr/>
        </p:nvSpPr>
        <p:spPr>
          <a:xfrm>
            <a:off x="5678424" y="4462272"/>
            <a:ext cx="1463040" cy="457200"/>
          </a:xfrm>
          <a:prstGeom prst="rect">
            <a:avLst/>
          </a:prstGeom>
          <a:noFill/>
          <a:ln/>
        </p:spPr>
        <p:txBody>
          <a:bodyPr wrap="square" rtlCol="0" anchor="ctr"/>
          <a:lstStyle/>
          <a:p>
            <a:pPr algn="ctr" indent="0" marL="0">
              <a:buNone/>
            </a:pPr>
            <a:r>
              <a:rPr lang="en-US" sz="1100" b="1" dirty="0">
                <a:solidFill>
                  <a:srgbClr val="C4993B"/>
                </a:solidFill>
                <a:latin typeface="Calibri" pitchFamily="34" charset="0"/>
                <a:ea typeface="Calibri" pitchFamily="34" charset="-122"/>
                <a:cs typeface="Calibri" pitchFamily="34" charset="-120"/>
              </a:rPr>
              <a:t>T23</a:t>
            </a:r>
            <a:endParaRPr lang="en-US" sz="1100" dirty="0"/>
          </a:p>
          <a:p>
            <a:pPr algn="ctr" indent="0" marL="0">
              <a:buNone/>
            </a:pPr>
            <a:r>
              <a:rPr lang="en-US" sz="800" dirty="0">
                <a:solidFill>
                  <a:srgbClr val="F5F0E8"/>
                </a:solidFill>
                <a:latin typeface="Calibri" pitchFamily="34" charset="0"/>
                <a:ea typeface="Calibri" pitchFamily="34" charset="-122"/>
                <a:cs typeface="Calibri" pitchFamily="34" charset="-120"/>
              </a:rPr>
              <a:t>Spatial prediction / wayfinding</a:t>
            </a:r>
            <a:endParaRPr lang="en-US" sz="1100" dirty="0"/>
          </a:p>
        </p:txBody>
      </p:sp>
      <p:sp>
        <p:nvSpPr>
          <p:cNvPr id="24" name="Shape 22"/>
          <p:cNvSpPr/>
          <p:nvPr/>
        </p:nvSpPr>
        <p:spPr>
          <a:xfrm>
            <a:off x="7296912" y="4434840"/>
            <a:ext cx="1554480" cy="502920"/>
          </a:xfrm>
          <a:prstGeom prst="rect">
            <a:avLst/>
          </a:prstGeom>
          <a:solidFill>
            <a:srgbClr val="1B2A4A"/>
          </a:solidFill>
          <a:ln/>
        </p:spPr>
      </p:sp>
      <p:sp>
        <p:nvSpPr>
          <p:cNvPr id="25" name="Text 23"/>
          <p:cNvSpPr/>
          <p:nvPr/>
        </p:nvSpPr>
        <p:spPr>
          <a:xfrm>
            <a:off x="7342632" y="4462272"/>
            <a:ext cx="1463040" cy="457200"/>
          </a:xfrm>
          <a:prstGeom prst="rect">
            <a:avLst/>
          </a:prstGeom>
          <a:noFill/>
          <a:ln/>
        </p:spPr>
        <p:txBody>
          <a:bodyPr wrap="square" rtlCol="0" anchor="ctr"/>
          <a:lstStyle/>
          <a:p>
            <a:pPr algn="ctr" indent="0" marL="0">
              <a:buNone/>
            </a:pPr>
            <a:r>
              <a:rPr lang="en-US" sz="1100" b="1" dirty="0">
                <a:solidFill>
                  <a:srgbClr val="C4993B"/>
                </a:solidFill>
                <a:latin typeface="Calibri" pitchFamily="34" charset="0"/>
                <a:ea typeface="Calibri" pitchFamily="34" charset="-122"/>
                <a:cs typeface="Calibri" pitchFamily="34" charset="-120"/>
              </a:rPr>
              <a:t>T28</a:t>
            </a:r>
            <a:endParaRPr lang="en-US" sz="1100" dirty="0"/>
          </a:p>
          <a:p>
            <a:pPr algn="ctr" indent="0" marL="0">
              <a:buNone/>
            </a:pPr>
            <a:r>
              <a:rPr lang="en-US" sz="800" dirty="0">
                <a:solidFill>
                  <a:srgbClr val="F5F0E8"/>
                </a:solidFill>
                <a:latin typeface="Calibri" pitchFamily="34" charset="0"/>
                <a:ea typeface="Calibri" pitchFamily="34" charset="-122"/>
                <a:cs typeface="Calibri" pitchFamily="34" charset="-120"/>
              </a:rPr>
              <a:t>Allostatic prediction</a:t>
            </a:r>
            <a:endParaRPr lang="en-US" sz="1100" dirty="0"/>
          </a:p>
        </p:txBody>
      </p:sp>
      <p:sp>
        <p:nvSpPr>
          <p:cNvPr id="26" name="Text 24"/>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5/23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THEORY COMPOSITION</a:t>
            </a:r>
            <a:endParaRPr lang="en-US" sz="1000" dirty="0"/>
          </a:p>
        </p:txBody>
      </p:sp>
      <p:sp>
        <p:nvSpPr>
          <p:cNvPr id="4" name="Text 2"/>
          <p:cNvSpPr/>
          <p:nvPr/>
        </p:nvSpPr>
        <p:spPr>
          <a:xfrm>
            <a:off x="640080" y="502920"/>
            <a:ext cx="7863840" cy="6858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When Theories Compose,</a:t>
            </a:r>
            <a:endParaRPr lang="en-US" sz="2800" dirty="0"/>
          </a:p>
          <a:p>
            <a:pPr indent="0" marL="0">
              <a:buNone/>
            </a:pPr>
            <a:r>
              <a:rPr lang="en-US" sz="2800" b="1" dirty="0">
                <a:solidFill>
                  <a:srgbClr val="1B2A4A"/>
                </a:solidFill>
                <a:latin typeface="Georgia" pitchFamily="34" charset="0"/>
                <a:ea typeface="Georgia" pitchFamily="34" charset="-122"/>
                <a:cs typeface="Georgia" pitchFamily="34" charset="-120"/>
              </a:rPr>
              <a:t>New Predictions Emerge</a:t>
            </a:r>
            <a:endParaRPr lang="en-US" sz="2800" dirty="0"/>
          </a:p>
        </p:txBody>
      </p:sp>
      <p:sp>
        <p:nvSpPr>
          <p:cNvPr id="5" name="Text 3"/>
          <p:cNvSpPr/>
          <p:nvPr/>
        </p:nvSpPr>
        <p:spPr>
          <a:xfrm>
            <a:off x="640080" y="1188720"/>
            <a:ext cx="7863840" cy="274320"/>
          </a:xfrm>
          <a:prstGeom prst="rect">
            <a:avLst/>
          </a:prstGeom>
          <a:noFill/>
          <a:ln/>
        </p:spPr>
        <p:txBody>
          <a:bodyPr wrap="square" rtlCol="0" anchor="ctr"/>
          <a:lstStyle/>
          <a:p>
            <a:pPr indent="0" marL="0">
              <a:buNone/>
            </a:pPr>
            <a:r>
              <a:rPr lang="en-US" sz="1200" i="1" dirty="0">
                <a:solidFill>
                  <a:srgbClr val="2A6F7A"/>
                </a:solidFill>
                <a:latin typeface="Calibri" pitchFamily="34" charset="0"/>
                <a:ea typeface="Calibri" pitchFamily="34" charset="-122"/>
                <a:cs typeface="Calibri" pitchFamily="34" charset="-120"/>
              </a:rPr>
              <a:t>The interesting results come from interactions BETWEEN theories, not from any single one.</a:t>
            </a:r>
            <a:endParaRPr lang="en-US" sz="1200" dirty="0"/>
          </a:p>
        </p:txBody>
      </p:sp>
      <p:sp>
        <p:nvSpPr>
          <p:cNvPr id="6" name="Shape 4"/>
          <p:cNvSpPr/>
          <p:nvPr/>
        </p:nvSpPr>
        <p:spPr>
          <a:xfrm>
            <a:off x="640080" y="1645920"/>
            <a:ext cx="3657600" cy="1371600"/>
          </a:xfrm>
          <a:prstGeom prst="rect">
            <a:avLst/>
          </a:prstGeom>
          <a:solidFill>
            <a:srgbClr val="2A6F7A"/>
          </a:solidFill>
          <a:ln/>
        </p:spPr>
      </p:sp>
      <p:sp>
        <p:nvSpPr>
          <p:cNvPr id="7" name="Text 5"/>
          <p:cNvSpPr/>
          <p:nvPr/>
        </p:nvSpPr>
        <p:spPr>
          <a:xfrm>
            <a:off x="822960" y="1691640"/>
            <a:ext cx="3291840" cy="274320"/>
          </a:xfrm>
          <a:prstGeom prst="rect">
            <a:avLst/>
          </a:prstGeom>
          <a:noFill/>
          <a:ln/>
        </p:spPr>
        <p:txBody>
          <a:bodyPr wrap="square" rtlCol="0" anchor="ctr"/>
          <a:lstStyle/>
          <a:p>
            <a:pPr indent="0" marL="0">
              <a:buNone/>
            </a:pPr>
            <a:r>
              <a:rPr lang="en-US" sz="1100" b="1" dirty="0">
                <a:solidFill>
                  <a:srgbClr val="F5F0E8"/>
                </a:solidFill>
                <a:latin typeface="Calibri" pitchFamily="34" charset="0"/>
                <a:ea typeface="Calibri" pitchFamily="34" charset="-122"/>
                <a:cs typeface="Calibri" pitchFamily="34" charset="-120"/>
              </a:rPr>
              <a:t>Circadian photoentrainment</a:t>
            </a:r>
            <a:endParaRPr lang="en-US" sz="1100" dirty="0"/>
          </a:p>
        </p:txBody>
      </p:sp>
      <p:sp>
        <p:nvSpPr>
          <p:cNvPr id="8" name="Text 6"/>
          <p:cNvSpPr/>
          <p:nvPr/>
        </p:nvSpPr>
        <p:spPr>
          <a:xfrm>
            <a:off x="822960" y="1965960"/>
            <a:ext cx="3291840" cy="9144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Melanopsin-driven non-visual pathway. Needs bright, blue-enriched light at retinal ganglion cells. Does NOT need a window.</a:t>
            </a:r>
            <a:endParaRPr lang="en-US" sz="1000" dirty="0"/>
          </a:p>
        </p:txBody>
      </p:sp>
      <p:sp>
        <p:nvSpPr>
          <p:cNvPr id="9" name="Text 7"/>
          <p:cNvSpPr/>
          <p:nvPr/>
        </p:nvSpPr>
        <p:spPr>
          <a:xfrm>
            <a:off x="4297680" y="1965960"/>
            <a:ext cx="457200" cy="731520"/>
          </a:xfrm>
          <a:prstGeom prst="rect">
            <a:avLst/>
          </a:prstGeom>
          <a:noFill/>
          <a:ln/>
        </p:spPr>
        <p:txBody>
          <a:bodyPr wrap="square" rtlCol="0" anchor="ctr"/>
          <a:lstStyle/>
          <a:p>
            <a:pPr algn="ctr" indent="0" marL="0">
              <a:buNone/>
            </a:pPr>
            <a:r>
              <a:rPr lang="en-US" sz="2800" b="1" dirty="0">
                <a:solidFill>
                  <a:srgbClr val="C4993B"/>
                </a:solidFill>
                <a:latin typeface="Calibri" pitchFamily="34" charset="0"/>
                <a:ea typeface="Calibri" pitchFamily="34" charset="-122"/>
                <a:cs typeface="Calibri" pitchFamily="34" charset="-120"/>
              </a:rPr>
              <a:t>+</a:t>
            </a:r>
            <a:endParaRPr lang="en-US" sz="2800" dirty="0"/>
          </a:p>
        </p:txBody>
      </p:sp>
      <p:sp>
        <p:nvSpPr>
          <p:cNvPr id="10" name="Shape 8"/>
          <p:cNvSpPr/>
          <p:nvPr/>
        </p:nvSpPr>
        <p:spPr>
          <a:xfrm>
            <a:off x="4846320" y="1645920"/>
            <a:ext cx="3657600" cy="1371600"/>
          </a:xfrm>
          <a:prstGeom prst="rect">
            <a:avLst/>
          </a:prstGeom>
          <a:solidFill>
            <a:srgbClr val="1B2A4A"/>
          </a:solidFill>
          <a:ln/>
        </p:spPr>
      </p:sp>
      <p:sp>
        <p:nvSpPr>
          <p:cNvPr id="11" name="Text 9"/>
          <p:cNvSpPr/>
          <p:nvPr/>
        </p:nvSpPr>
        <p:spPr>
          <a:xfrm>
            <a:off x="5029200" y="1691640"/>
            <a:ext cx="3291840" cy="274320"/>
          </a:xfrm>
          <a:prstGeom prst="rect">
            <a:avLst/>
          </a:prstGeom>
          <a:noFill/>
          <a:ln/>
        </p:spPr>
        <p:txBody>
          <a:bodyPr wrap="square" rtlCol="0" anchor="ctr"/>
          <a:lstStyle/>
          <a:p>
            <a:pPr indent="0" marL="0">
              <a:buNone/>
            </a:pPr>
            <a:r>
              <a:rPr lang="en-US" sz="1100" b="1" dirty="0">
                <a:solidFill>
                  <a:srgbClr val="C4993B"/>
                </a:solidFill>
                <a:latin typeface="Calibri" pitchFamily="34" charset="0"/>
                <a:ea typeface="Calibri" pitchFamily="34" charset="-122"/>
                <a:cs typeface="Calibri" pitchFamily="34" charset="-120"/>
              </a:rPr>
              <a:t>Predictive processing / ART</a:t>
            </a:r>
            <a:endParaRPr lang="en-US" sz="1100" dirty="0"/>
          </a:p>
        </p:txBody>
      </p:sp>
      <p:sp>
        <p:nvSpPr>
          <p:cNvPr id="12" name="Text 10"/>
          <p:cNvSpPr/>
          <p:nvPr/>
        </p:nvSpPr>
        <p:spPr>
          <a:xfrm>
            <a:off x="5029200" y="1965960"/>
            <a:ext cx="3291840" cy="914400"/>
          </a:xfrm>
          <a:prstGeom prst="rect">
            <a:avLst/>
          </a:prstGeom>
          <a:noFill/>
          <a:ln/>
        </p:spPr>
        <p:txBody>
          <a:bodyPr wrap="square" rtlCol="0" anchor="ctr"/>
          <a:lstStyle/>
          <a:p>
            <a:pPr indent="0" marL="0">
              <a:buNone/>
            </a:pPr>
            <a:r>
              <a:rPr lang="en-US" sz="1000" dirty="0">
                <a:solidFill>
                  <a:srgbClr val="F5F0E8"/>
                </a:solidFill>
                <a:latin typeface="Calibri" pitchFamily="34" charset="0"/>
                <a:ea typeface="Calibri" pitchFamily="34" charset="-122"/>
                <a:cs typeface="Calibri" pitchFamily="34" charset="-120"/>
              </a:rPr>
              <a:t>Image-forming pathway. View complexity, depth cues, nature content reduce prediction load, enable soft fascination. NEEDS a window with a view.</a:t>
            </a:r>
            <a:endParaRPr lang="en-US" sz="1000" dirty="0"/>
          </a:p>
        </p:txBody>
      </p:sp>
      <p:sp>
        <p:nvSpPr>
          <p:cNvPr id="13" name="Shape 11"/>
          <p:cNvSpPr/>
          <p:nvPr/>
        </p:nvSpPr>
        <p:spPr>
          <a:xfrm>
            <a:off x="640080" y="3200400"/>
            <a:ext cx="7863840" cy="1005840"/>
          </a:xfrm>
          <a:prstGeom prst="rect">
            <a:avLst/>
          </a:prstGeom>
          <a:solidFill>
            <a:srgbClr val="B85042"/>
          </a:solidFill>
          <a:ln/>
        </p:spPr>
      </p:sp>
      <p:sp>
        <p:nvSpPr>
          <p:cNvPr id="14" name="Text 12"/>
          <p:cNvSpPr/>
          <p:nvPr/>
        </p:nvSpPr>
        <p:spPr>
          <a:xfrm>
            <a:off x="822960" y="3246120"/>
            <a:ext cx="7498080" cy="228600"/>
          </a:xfrm>
          <a:prstGeom prst="rect">
            <a:avLst/>
          </a:prstGeom>
          <a:noFill/>
          <a:ln/>
        </p:spPr>
        <p:txBody>
          <a:bodyPr wrap="square" rtlCol="0" anchor="ctr"/>
          <a:lstStyle/>
          <a:p>
            <a:pPr indent="0" marL="0">
              <a:buNone/>
            </a:pPr>
            <a:r>
              <a:rPr lang="en-US" sz="1000" b="1" dirty="0">
                <a:solidFill>
                  <a:srgbClr val="F5F0E8"/>
                </a:solidFill>
                <a:latin typeface="Calibri" pitchFamily="34" charset="0"/>
                <a:ea typeface="Calibri" pitchFamily="34" charset="-122"/>
                <a:cs typeface="Calibri" pitchFamily="34" charset="-120"/>
              </a:rPr>
              <a:t>COMPOSED PREDICTION (not in any single paper):</a:t>
            </a:r>
            <a:endParaRPr lang="en-US" sz="1000" dirty="0"/>
          </a:p>
        </p:txBody>
      </p:sp>
      <p:sp>
        <p:nvSpPr>
          <p:cNvPr id="15" name="Text 13"/>
          <p:cNvSpPr/>
          <p:nvPr/>
        </p:nvSpPr>
        <p:spPr>
          <a:xfrm>
            <a:off x="822960" y="3520440"/>
            <a:ext cx="7498080" cy="64008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 windowless room with tuned LEDs provides circadian support but no restoration.</a:t>
            </a:r>
            <a:endParaRPr lang="en-US" sz="1300" dirty="0"/>
          </a:p>
          <a:p>
            <a:pPr indent="0" marL="0">
              <a:buNone/>
            </a:pPr>
            <a:r>
              <a:rPr lang="en-US" sz="1300" b="1" dirty="0">
                <a:solidFill>
                  <a:srgbClr val="FFFFFF"/>
                </a:solidFill>
                <a:latin typeface="Calibri" pitchFamily="34" charset="0"/>
                <a:ea typeface="Calibri" pitchFamily="34" charset="-122"/>
                <a:cs typeface="Calibri" pitchFamily="34" charset="-120"/>
              </a:rPr>
              <a:t>A small window provides a view but insufficient circadian signal.</a:t>
            </a:r>
            <a:endParaRPr lang="en-US" sz="1300" dirty="0"/>
          </a:p>
          <a:p>
            <a:pPr indent="0" marL="0">
              <a:buNone/>
            </a:pPr>
            <a:r>
              <a:rPr lang="en-US" sz="1300" b="1" dirty="0">
                <a:solidFill>
                  <a:srgbClr val="FFFFFF"/>
                </a:solidFill>
                <a:latin typeface="Calibri" pitchFamily="34" charset="0"/>
                <a:ea typeface="Calibri" pitchFamily="34" charset="-122"/>
                <a:cs typeface="Calibri" pitchFamily="34" charset="-120"/>
              </a:rPr>
              <a:t>These require DIFFERENT design specifications. Heschong (1999) conflated them.</a:t>
            </a:r>
            <a:endParaRPr lang="en-US" sz="1300" dirty="0"/>
          </a:p>
        </p:txBody>
      </p:sp>
      <p:sp>
        <p:nvSpPr>
          <p:cNvPr id="16" name="Text 14"/>
          <p:cNvSpPr/>
          <p:nvPr/>
        </p:nvSpPr>
        <p:spPr>
          <a:xfrm>
            <a:off x="640080" y="4389120"/>
            <a:ext cx="7863840" cy="320040"/>
          </a:xfrm>
          <a:prstGeom prst="rect">
            <a:avLst/>
          </a:prstGeom>
          <a:noFill/>
          <a:ln/>
        </p:spPr>
        <p:txBody>
          <a:bodyPr wrap="square" rtlCol="0" anchor="ctr"/>
          <a:lstStyle/>
          <a:p>
            <a:pPr indent="0" marL="0">
              <a:buNone/>
            </a:pPr>
            <a:r>
              <a:rPr lang="en-US" sz="1100" b="1" i="1" dirty="0">
                <a:solidFill>
                  <a:srgbClr val="1B2A4A"/>
                </a:solidFill>
                <a:latin typeface="Calibri" pitchFamily="34" charset="0"/>
                <a:ea typeface="Calibri" pitchFamily="34" charset="-122"/>
                <a:cs typeface="Calibri" pitchFamily="34" charset="-120"/>
              </a:rPr>
              <a:t>Same principle produced the open-office explanation (slide 3) and predicts translucent barriers are WORSE than none (slide 10).</a:t>
            </a:r>
            <a:endParaRPr lang="en-US" sz="1100" dirty="0"/>
          </a:p>
        </p:txBody>
      </p:sp>
      <p:sp>
        <p:nvSpPr>
          <p:cNvPr id="17" name="Text 15"/>
          <p:cNvSpPr/>
          <p:nvPr/>
        </p:nvSpPr>
        <p:spPr>
          <a:xfrm>
            <a:off x="640080" y="4709160"/>
            <a:ext cx="7863840" cy="320040"/>
          </a:xfrm>
          <a:prstGeom prst="rect">
            <a:avLst/>
          </a:prstGeom>
          <a:noFill/>
          <a:ln/>
        </p:spPr>
        <p:txBody>
          <a:bodyPr wrap="square" rtlCol="0" anchor="ctr"/>
          <a:lstStyle/>
          <a:p>
            <a:pPr indent="0" marL="0">
              <a:buNone/>
            </a:pPr>
            <a:r>
              <a:rPr lang="en-US" sz="1200" i="1" dirty="0">
                <a:solidFill>
                  <a:srgbClr val="2C2C2C"/>
                </a:solidFill>
                <a:latin typeface="Calibri" pitchFamily="34" charset="0"/>
                <a:ea typeface="Calibri" pitchFamily="34" charset="-122"/>
                <a:cs typeface="Calibri" pitchFamily="34" charset="-120"/>
              </a:rPr>
              <a:t>But representing these interactions computationally requires the right formalism. The obvious choice — Bayesian networks — fails.</a:t>
            </a:r>
            <a:endParaRPr lang="en-US" sz="1200" dirty="0"/>
          </a:p>
        </p:txBody>
      </p:sp>
      <p:sp>
        <p:nvSpPr>
          <p:cNvPr id="18" name="Text 16"/>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6/23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COMPUTATIONAL FORMALISM</a:t>
            </a:r>
            <a:endParaRPr lang="en-US" sz="1000" dirty="0"/>
          </a:p>
        </p:txBody>
      </p:sp>
      <p:sp>
        <p:nvSpPr>
          <p:cNvPr id="4" name="Text 2"/>
          <p:cNvSpPr/>
          <p:nvPr/>
        </p:nvSpPr>
        <p:spPr>
          <a:xfrm>
            <a:off x="640080" y="502920"/>
            <a:ext cx="7863840" cy="6858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Bayesian Networks:</a:t>
            </a:r>
            <a:endParaRPr lang="en-US" sz="2800" dirty="0"/>
          </a:p>
          <a:p>
            <a:pPr indent="0" marL="0">
              <a:buNone/>
            </a:pPr>
            <a:r>
              <a:rPr lang="en-US" sz="2800" b="1" dirty="0">
                <a:solidFill>
                  <a:srgbClr val="1B2A4A"/>
                </a:solidFill>
                <a:latin typeface="Georgia" pitchFamily="34" charset="0"/>
                <a:ea typeface="Georgia" pitchFamily="34" charset="-122"/>
                <a:cs typeface="Georgia" pitchFamily="34" charset="-120"/>
              </a:rPr>
              <a:t>What They Are and How They Work</a:t>
            </a:r>
            <a:endParaRPr lang="en-US" sz="2800" dirty="0"/>
          </a:p>
        </p:txBody>
      </p:sp>
      <p:sp>
        <p:nvSpPr>
          <p:cNvPr id="5" name="Text 3"/>
          <p:cNvSpPr/>
          <p:nvPr/>
        </p:nvSpPr>
        <p:spPr>
          <a:xfrm>
            <a:off x="640080" y="1188720"/>
            <a:ext cx="7863840" cy="274320"/>
          </a:xfrm>
          <a:prstGeom prst="rect">
            <a:avLst/>
          </a:prstGeom>
          <a:noFill/>
          <a:ln/>
        </p:spPr>
        <p:txBody>
          <a:bodyPr wrap="square" rtlCol="0" anchor="ctr"/>
          <a:lstStyle/>
          <a:p>
            <a:pPr indent="0" marL="0">
              <a:buNone/>
            </a:pPr>
            <a:r>
              <a:rPr lang="en-US" sz="1200" i="1" dirty="0">
                <a:solidFill>
                  <a:srgbClr val="2A6F7A"/>
                </a:solidFill>
                <a:latin typeface="Calibri" pitchFamily="34" charset="0"/>
                <a:ea typeface="Calibri" pitchFamily="34" charset="-122"/>
                <a:cs typeface="Calibri" pitchFamily="34" charset="-120"/>
              </a:rPr>
              <a:t>Our first formalism. The standard tool for representing uncertain knowledge.</a:t>
            </a:r>
            <a:endParaRPr lang="en-US" sz="1200" dirty="0"/>
          </a:p>
        </p:txBody>
      </p:sp>
      <p:sp>
        <p:nvSpPr>
          <p:cNvPr id="6" name="Shape 4"/>
          <p:cNvSpPr/>
          <p:nvPr/>
        </p:nvSpPr>
        <p:spPr>
          <a:xfrm>
            <a:off x="640080" y="1600200"/>
            <a:ext cx="3840480" cy="2286000"/>
          </a:xfrm>
          <a:prstGeom prst="rect">
            <a:avLst/>
          </a:prstGeom>
          <a:solidFill>
            <a:srgbClr val="E8E4DC"/>
          </a:solidFill>
          <a:ln/>
        </p:spPr>
      </p:sp>
      <p:sp>
        <p:nvSpPr>
          <p:cNvPr id="7" name="Text 5"/>
          <p:cNvSpPr/>
          <p:nvPr/>
        </p:nvSpPr>
        <p:spPr>
          <a:xfrm>
            <a:off x="822960" y="1645920"/>
            <a:ext cx="3474720" cy="228600"/>
          </a:xfrm>
          <a:prstGeom prst="rect">
            <a:avLst/>
          </a:prstGeom>
          <a:noFill/>
          <a:ln/>
        </p:spPr>
        <p:txBody>
          <a:bodyPr wrap="square"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THE STRUCTURE</a:t>
            </a:r>
            <a:endParaRPr lang="en-US" sz="1000" dirty="0"/>
          </a:p>
        </p:txBody>
      </p:sp>
      <p:sp>
        <p:nvSpPr>
          <p:cNvPr id="8" name="Text 6"/>
          <p:cNvSpPr/>
          <p:nvPr/>
        </p:nvSpPr>
        <p:spPr>
          <a:xfrm>
            <a:off x="822960" y="1920240"/>
            <a:ext cx="3474720" cy="1828800"/>
          </a:xfrm>
          <a:prstGeom prst="rect">
            <a:avLst/>
          </a:prstGeom>
          <a:noFill/>
          <a:ln/>
        </p:spPr>
        <p:txBody>
          <a:bodyPr wrap="square" rtlCol="0" anchor="t"/>
          <a:lstStyle/>
          <a:p>
            <a:pPr indent="0" marL="0">
              <a:buNone/>
            </a:pPr>
            <a:r>
              <a:rPr lang="en-US" sz="1100" b="1" dirty="0">
                <a:solidFill>
                  <a:srgbClr val="2C2C2C"/>
                </a:solidFill>
                <a:latin typeface="Calibri" pitchFamily="34" charset="0"/>
                <a:ea typeface="Calibri" pitchFamily="34" charset="-122"/>
                <a:cs typeface="Calibri" pitchFamily="34" charset="-120"/>
              </a:rPr>
              <a:t>A directed acyclic graph (DAG).</a:t>
            </a:r>
            <a:endParaRPr lang="en-US" sz="1100" dirty="0"/>
          </a:p>
          <a:p>
            <a:pPr indent="0" marL="0">
              <a:buNone/>
            </a:pPr>
            <a:endParaRPr lang="en-US" sz="1100" dirty="0"/>
          </a:p>
          <a:p>
            <a:pPr indent="0" marL="0">
              <a:buNone/>
            </a:pPr>
            <a:r>
              <a:rPr lang="en-US" sz="1050" dirty="0">
                <a:solidFill>
                  <a:srgbClr val="2C2C2C"/>
                </a:solidFill>
                <a:latin typeface="Calibri" pitchFamily="34" charset="0"/>
                <a:ea typeface="Calibri" pitchFamily="34" charset="-122"/>
                <a:cs typeface="Calibri" pitchFamily="34" charset="-120"/>
              </a:rPr>
              <a:t>Nodes = variables (e.g., 'noise level,' 'satisfaction,' 'productivity').</a:t>
            </a:r>
            <a:endParaRPr lang="en-US" sz="1100" dirty="0"/>
          </a:p>
          <a:p>
            <a:pPr indent="0" marL="0">
              <a:buNone/>
            </a:pPr>
            <a:endParaRPr lang="en-US" sz="1100" dirty="0"/>
          </a:p>
          <a:p>
            <a:pPr indent="0" marL="0">
              <a:buNone/>
            </a:pPr>
            <a:r>
              <a:rPr lang="en-US" sz="1050" dirty="0">
                <a:solidFill>
                  <a:srgbClr val="2C2C2C"/>
                </a:solidFill>
                <a:latin typeface="Calibri" pitchFamily="34" charset="0"/>
                <a:ea typeface="Calibri" pitchFamily="34" charset="-122"/>
                <a:cs typeface="Calibri" pitchFamily="34" charset="-120"/>
              </a:rPr>
              <a:t>Edges = direct causal or probabilistic dependencies.</a:t>
            </a:r>
            <a:endParaRPr lang="en-US" sz="1100" dirty="0"/>
          </a:p>
          <a:p>
            <a:pPr indent="0" marL="0">
              <a:buNone/>
            </a:pPr>
            <a:endParaRPr lang="en-US" sz="1100" dirty="0"/>
          </a:p>
          <a:p>
            <a:pPr indent="0" marL="0">
              <a:buNone/>
            </a:pPr>
            <a:r>
              <a:rPr lang="en-US" sz="1050" dirty="0">
                <a:solidFill>
                  <a:srgbClr val="2C2C2C"/>
                </a:solidFill>
                <a:latin typeface="Calibri" pitchFamily="34" charset="0"/>
                <a:ea typeface="Calibri" pitchFamily="34" charset="-122"/>
                <a:cs typeface="Calibri" pitchFamily="34" charset="-120"/>
              </a:rPr>
              <a:t>Each node has a conditional probability table (CPT) — P(child | parents).</a:t>
            </a:r>
            <a:endParaRPr lang="en-US" sz="1100" dirty="0"/>
          </a:p>
          <a:p>
            <a:pPr indent="0" marL="0">
              <a:buNone/>
            </a:pPr>
            <a:endParaRPr lang="en-US" sz="1100" dirty="0"/>
          </a:p>
          <a:p>
            <a:pPr indent="0" marL="0">
              <a:buNone/>
            </a:pPr>
            <a:r>
              <a:rPr lang="en-US" sz="1050" dirty="0">
                <a:solidFill>
                  <a:srgbClr val="2C2C2C"/>
                </a:solidFill>
                <a:latin typeface="Calibri" pitchFamily="34" charset="0"/>
                <a:ea typeface="Calibri" pitchFamily="34" charset="-122"/>
                <a:cs typeface="Calibri" pitchFamily="34" charset="-120"/>
              </a:rPr>
              <a:t>You specify the graph, then learn or set the probabilities from data.</a:t>
            </a:r>
            <a:endParaRPr lang="en-US" sz="1100" dirty="0"/>
          </a:p>
        </p:txBody>
      </p:sp>
      <p:sp>
        <p:nvSpPr>
          <p:cNvPr id="9" name="Shape 7"/>
          <p:cNvSpPr/>
          <p:nvPr/>
        </p:nvSpPr>
        <p:spPr>
          <a:xfrm>
            <a:off x="4754880" y="1600200"/>
            <a:ext cx="3840480" cy="2286000"/>
          </a:xfrm>
          <a:prstGeom prst="rect">
            <a:avLst/>
          </a:prstGeom>
          <a:solidFill>
            <a:srgbClr val="2A6F7A"/>
          </a:solidFill>
          <a:ln/>
        </p:spPr>
      </p:sp>
      <p:sp>
        <p:nvSpPr>
          <p:cNvPr id="10" name="Text 8"/>
          <p:cNvSpPr/>
          <p:nvPr/>
        </p:nvSpPr>
        <p:spPr>
          <a:xfrm>
            <a:off x="4937760" y="1645920"/>
            <a:ext cx="3474720" cy="228600"/>
          </a:xfrm>
          <a:prstGeom prst="rect">
            <a:avLst/>
          </a:prstGeom>
          <a:noFill/>
          <a:ln/>
        </p:spPr>
        <p:txBody>
          <a:bodyPr wrap="square" rtlCol="0" anchor="ctr"/>
          <a:lstStyle/>
          <a:p>
            <a:pPr indent="0" marL="0">
              <a:buNone/>
            </a:pPr>
            <a:r>
              <a:rPr lang="en-US" sz="1000" b="1" dirty="0">
                <a:solidFill>
                  <a:srgbClr val="F5F0E8"/>
                </a:solidFill>
                <a:latin typeface="Calibri" pitchFamily="34" charset="0"/>
                <a:ea typeface="Calibri" pitchFamily="34" charset="-122"/>
                <a:cs typeface="Calibri" pitchFamily="34" charset="-120"/>
              </a:rPr>
              <a:t>WHAT THEY DO WELL</a:t>
            </a:r>
            <a:endParaRPr lang="en-US" sz="1000" dirty="0"/>
          </a:p>
        </p:txBody>
      </p:sp>
      <p:sp>
        <p:nvSpPr>
          <p:cNvPr id="11" name="Text 9"/>
          <p:cNvSpPr/>
          <p:nvPr/>
        </p:nvSpPr>
        <p:spPr>
          <a:xfrm>
            <a:off x="4937760" y="1920240"/>
            <a:ext cx="3474720" cy="1828800"/>
          </a:xfrm>
          <a:prstGeom prst="rect">
            <a:avLst/>
          </a:prstGeom>
          <a:noFill/>
          <a:ln/>
        </p:spPr>
        <p:txBody>
          <a:bodyPr wrap="square"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Principled probability propagation</a:t>
            </a:r>
            <a:endParaRPr lang="en-US" sz="1100" dirty="0"/>
          </a:p>
          <a:p>
            <a:pPr indent="0" marL="0">
              <a:buNone/>
            </a:pPr>
            <a:r>
              <a:rPr lang="en-US" sz="1000" dirty="0">
                <a:solidFill>
                  <a:srgbClr val="F5F0E8"/>
                </a:solidFill>
                <a:latin typeface="Calibri" pitchFamily="34" charset="0"/>
                <a:ea typeface="Calibri" pitchFamily="34" charset="-122"/>
                <a:cs typeface="Calibri" pitchFamily="34" charset="-120"/>
              </a:rPr>
              <a:t>Observe one node → update beliefs everywhere.</a:t>
            </a:r>
            <a:endParaRPr lang="en-US" sz="1100" dirty="0"/>
          </a:p>
          <a:p>
            <a:pPr indent="0" marL="0">
              <a:buNone/>
            </a:pP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Causal reasoning and intervention</a:t>
            </a:r>
            <a:endParaRPr lang="en-US" sz="1100" dirty="0"/>
          </a:p>
          <a:p>
            <a:pPr indent="0" marL="0">
              <a:buNone/>
            </a:pPr>
            <a:r>
              <a:rPr lang="en-US" sz="1000" dirty="0">
                <a:solidFill>
                  <a:srgbClr val="F5F0E8"/>
                </a:solidFill>
                <a:latin typeface="Calibri" pitchFamily="34" charset="0"/>
                <a:ea typeface="Calibri" pitchFamily="34" charset="-122"/>
                <a:cs typeface="Calibri" pitchFamily="34" charset="-120"/>
              </a:rPr>
              <a:t>Pearl's do-calculus: what happens if we SET a variable?</a:t>
            </a:r>
            <a:endParaRPr lang="en-US" sz="1100" dirty="0"/>
          </a:p>
          <a:p>
            <a:pPr indent="0" marL="0">
              <a:buNone/>
            </a:pP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Handling missing data and uncertainty</a:t>
            </a:r>
            <a:endParaRPr lang="en-US" sz="1100" dirty="0"/>
          </a:p>
          <a:p>
            <a:pPr indent="0" marL="0">
              <a:buNone/>
            </a:pPr>
            <a:r>
              <a:rPr lang="en-US" sz="1000" dirty="0">
                <a:solidFill>
                  <a:srgbClr val="F5F0E8"/>
                </a:solidFill>
                <a:latin typeface="Calibri" pitchFamily="34" charset="0"/>
                <a:ea typeface="Calibri" pitchFamily="34" charset="-122"/>
                <a:cs typeface="Calibri" pitchFamily="34" charset="-120"/>
              </a:rPr>
              <a:t>Marginalise over unknowns gracefully.</a:t>
            </a:r>
            <a:endParaRPr lang="en-US" sz="1100" dirty="0"/>
          </a:p>
          <a:p>
            <a:pPr indent="0" marL="0">
              <a:buNone/>
            </a:pPr>
            <a:endParaRPr lang="en-US" sz="1100" dirty="0"/>
          </a:p>
          <a:p>
            <a:pPr indent="0" marL="0">
              <a:buNone/>
            </a:pPr>
            <a:r>
              <a:rPr lang="en-US" sz="1000" i="1" dirty="0">
                <a:solidFill>
                  <a:srgbClr val="F5F0E8"/>
                </a:solidFill>
                <a:latin typeface="Calibri" pitchFamily="34" charset="0"/>
                <a:ea typeface="Calibri" pitchFamily="34" charset="-122"/>
                <a:cs typeface="Calibri" pitchFamily="34" charset="-120"/>
              </a:rPr>
              <a:t>Enormous success in medical diagnosis, fault detection, bioinformatics (Koller &amp; Friedman, 2009).</a:t>
            </a:r>
            <a:endParaRPr lang="en-US" sz="1100" dirty="0"/>
          </a:p>
        </p:txBody>
      </p:sp>
      <p:sp>
        <p:nvSpPr>
          <p:cNvPr id="12" name="Text 10"/>
          <p:cNvSpPr/>
          <p:nvPr/>
        </p:nvSpPr>
        <p:spPr>
          <a:xfrm>
            <a:off x="640080" y="4069080"/>
            <a:ext cx="7863840" cy="320040"/>
          </a:xfrm>
          <a:prstGeom prst="rect">
            <a:avLst/>
          </a:prstGeom>
          <a:noFill/>
          <a:ln/>
        </p:spPr>
        <p:txBody>
          <a:bodyPr wrap="square" rtlCol="0" anchor="ctr"/>
          <a:lstStyle/>
          <a:p>
            <a:pPr indent="0" marL="0">
              <a:buNone/>
            </a:pPr>
            <a:r>
              <a:rPr lang="en-US" sz="1200" b="1" i="1" dirty="0">
                <a:solidFill>
                  <a:srgbClr val="1B2A4A"/>
                </a:solidFill>
                <a:latin typeface="Calibri" pitchFamily="34" charset="0"/>
                <a:ea typeface="Calibri" pitchFamily="34" charset="-122"/>
                <a:cs typeface="Calibri" pitchFamily="34" charset="-120"/>
              </a:rPr>
              <a:t>We built our first Article Eater prototype as a BN. It worked for isolated findings. Then we tried to add theories.</a:t>
            </a:r>
            <a:endParaRPr lang="en-US" sz="1200" dirty="0"/>
          </a:p>
        </p:txBody>
      </p:sp>
      <p:sp>
        <p:nvSpPr>
          <p:cNvPr id="13" name="Text 11"/>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7/23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WHERE BNs BREAK</a:t>
            </a:r>
            <a:endParaRPr lang="en-US" sz="1000" dirty="0"/>
          </a:p>
        </p:txBody>
      </p:sp>
      <p:sp>
        <p:nvSpPr>
          <p:cNvPr id="4" name="Text 2"/>
          <p:cNvSpPr/>
          <p:nvPr/>
        </p:nvSpPr>
        <p:spPr>
          <a:xfrm>
            <a:off x="640080" y="502920"/>
            <a:ext cx="7863840" cy="6858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Why Bayesian Networks Cannot</a:t>
            </a:r>
            <a:endParaRPr lang="en-US" sz="2800" dirty="0"/>
          </a:p>
          <a:p>
            <a:pPr indent="0" marL="0">
              <a:buNone/>
            </a:pPr>
            <a:r>
              <a:rPr lang="en-US" sz="2800" b="1" dirty="0">
                <a:solidFill>
                  <a:srgbClr val="1B2A4A"/>
                </a:solidFill>
                <a:latin typeface="Georgia" pitchFamily="34" charset="0"/>
                <a:ea typeface="Georgia" pitchFamily="34" charset="-122"/>
                <a:cs typeface="Georgia" pitchFamily="34" charset="-120"/>
              </a:rPr>
              <a:t>Represent Theories</a:t>
            </a:r>
            <a:endParaRPr lang="en-US" sz="2800" dirty="0"/>
          </a:p>
        </p:txBody>
      </p:sp>
      <p:sp>
        <p:nvSpPr>
          <p:cNvPr id="5" name="Shape 3"/>
          <p:cNvSpPr/>
          <p:nvPr/>
        </p:nvSpPr>
        <p:spPr>
          <a:xfrm>
            <a:off x="640080" y="1325880"/>
            <a:ext cx="73152" cy="822960"/>
          </a:xfrm>
          <a:prstGeom prst="rect">
            <a:avLst/>
          </a:prstGeom>
          <a:solidFill>
            <a:srgbClr val="B85042"/>
          </a:solidFill>
          <a:ln/>
        </p:spPr>
      </p:sp>
      <p:sp>
        <p:nvSpPr>
          <p:cNvPr id="6" name="Text 4"/>
          <p:cNvSpPr/>
          <p:nvPr/>
        </p:nvSpPr>
        <p:spPr>
          <a:xfrm>
            <a:off x="868680" y="1325880"/>
            <a:ext cx="7680960" cy="256032"/>
          </a:xfrm>
          <a:prstGeom prst="rect">
            <a:avLst/>
          </a:prstGeom>
          <a:noFill/>
          <a:ln/>
        </p:spPr>
        <p:txBody>
          <a:bodyPr wrap="square" rtlCol="0" anchor="ctr"/>
          <a:lstStyle/>
          <a:p>
            <a:pPr indent="0" marL="0">
              <a:buNone/>
            </a:pPr>
            <a:r>
              <a:rPr lang="en-US" sz="1200" b="1" dirty="0">
                <a:solidFill>
                  <a:srgbClr val="B85042"/>
                </a:solidFill>
                <a:latin typeface="Calibri" pitchFamily="34" charset="0"/>
                <a:ea typeface="Calibri" pitchFamily="34" charset="-122"/>
                <a:cs typeface="Calibri" pitchFamily="34" charset="-120"/>
              </a:rPr>
              <a:t>Theories restructure the graph</a:t>
            </a:r>
            <a:endParaRPr lang="en-US" sz="1200" dirty="0"/>
          </a:p>
        </p:txBody>
      </p:sp>
      <p:sp>
        <p:nvSpPr>
          <p:cNvPr id="7" name="Text 5"/>
          <p:cNvSpPr/>
          <p:nvPr/>
        </p:nvSpPr>
        <p:spPr>
          <a:xfrm>
            <a:off x="868680" y="1600200"/>
            <a:ext cx="7680960" cy="50292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A BN requires you to fix the graph structure, then learn parameters within it. But adopting predictive processing as a framework CHANGES which nodes exist — 'prediction error' wasn't a node under behaviorism. Theories don't adjust probabilities; they redefine the ontology.</a:t>
            </a:r>
            <a:endParaRPr lang="en-US" sz="1000" dirty="0"/>
          </a:p>
        </p:txBody>
      </p:sp>
      <p:sp>
        <p:nvSpPr>
          <p:cNvPr id="8" name="Shape 6"/>
          <p:cNvSpPr/>
          <p:nvPr/>
        </p:nvSpPr>
        <p:spPr>
          <a:xfrm>
            <a:off x="640080" y="2240280"/>
            <a:ext cx="73152" cy="822960"/>
          </a:xfrm>
          <a:prstGeom prst="rect">
            <a:avLst/>
          </a:prstGeom>
          <a:solidFill>
            <a:srgbClr val="1B2A4A"/>
          </a:solidFill>
          <a:ln/>
        </p:spPr>
      </p:sp>
      <p:sp>
        <p:nvSpPr>
          <p:cNvPr id="9" name="Text 7"/>
          <p:cNvSpPr/>
          <p:nvPr/>
        </p:nvSpPr>
        <p:spPr>
          <a:xfrm>
            <a:off x="868680" y="2240280"/>
            <a:ext cx="7680960" cy="256032"/>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Theories create non-local dependencies</a:t>
            </a:r>
            <a:endParaRPr lang="en-US" sz="1200" dirty="0"/>
          </a:p>
        </p:txBody>
      </p:sp>
      <p:sp>
        <p:nvSpPr>
          <p:cNvPr id="10" name="Text 8"/>
          <p:cNvSpPr/>
          <p:nvPr/>
        </p:nvSpPr>
        <p:spPr>
          <a:xfrm>
            <a:off x="868680" y="2514600"/>
            <a:ext cx="7680960" cy="50292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BNs rely on conditional independence: knowing a parent screens off children from grandparents. But accepting PP as true changes your beliefs about light, sound, thermal comfort, and spatial layout SIMULTANEOUSLY. These holistic dependencies violate the Markov property.</a:t>
            </a:r>
            <a:endParaRPr lang="en-US" sz="1000" dirty="0"/>
          </a:p>
        </p:txBody>
      </p:sp>
      <p:sp>
        <p:nvSpPr>
          <p:cNvPr id="11" name="Shape 9"/>
          <p:cNvSpPr/>
          <p:nvPr/>
        </p:nvSpPr>
        <p:spPr>
          <a:xfrm>
            <a:off x="640080" y="3154680"/>
            <a:ext cx="73152" cy="822960"/>
          </a:xfrm>
          <a:prstGeom prst="rect">
            <a:avLst/>
          </a:prstGeom>
          <a:solidFill>
            <a:srgbClr val="2A6F7A"/>
          </a:solidFill>
          <a:ln/>
        </p:spPr>
      </p:sp>
      <p:sp>
        <p:nvSpPr>
          <p:cNvPr id="12" name="Text 10"/>
          <p:cNvSpPr/>
          <p:nvPr/>
        </p:nvSpPr>
        <p:spPr>
          <a:xfrm>
            <a:off x="868680" y="3154680"/>
            <a:ext cx="7680960" cy="256032"/>
          </a:xfrm>
          <a:prstGeom prst="rect">
            <a:avLst/>
          </a:prstGeom>
          <a:noFill/>
          <a:ln/>
        </p:spPr>
        <p:txBody>
          <a:bodyPr wrap="square" rtlCol="0" anchor="ctr"/>
          <a:lstStyle/>
          <a:p>
            <a:pPr indent="0" marL="0">
              <a:buNone/>
            </a:pPr>
            <a:r>
              <a:rPr lang="en-US" sz="1200" b="1" dirty="0">
                <a:solidFill>
                  <a:srgbClr val="2A6F7A"/>
                </a:solidFill>
                <a:latin typeface="Calibri" pitchFamily="34" charset="0"/>
                <a:ea typeface="Calibri" pitchFamily="34" charset="-122"/>
                <a:cs typeface="Calibri" pitchFamily="34" charset="-120"/>
              </a:rPr>
              <a:t>Expert reasoning is model selection, not parameter estimation</a:t>
            </a:r>
            <a:endParaRPr lang="en-US" sz="1200" dirty="0"/>
          </a:p>
        </p:txBody>
      </p:sp>
      <p:sp>
        <p:nvSpPr>
          <p:cNvPr id="13" name="Text 11"/>
          <p:cNvSpPr/>
          <p:nvPr/>
        </p:nvSpPr>
        <p:spPr>
          <a:xfrm>
            <a:off x="868680" y="3429000"/>
            <a:ext cx="7680960" cy="50292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BNs update probabilities within a fixed model. But scientists choose BETWEEN models — 'Is this an attention restoration effect or a stress recovery effect?' That's a different inferential level entirely, and BNs can't represent it.</a:t>
            </a:r>
            <a:endParaRPr lang="en-US" sz="1000" dirty="0"/>
          </a:p>
        </p:txBody>
      </p:sp>
      <p:sp>
        <p:nvSpPr>
          <p:cNvPr id="14" name="Shape 12"/>
          <p:cNvSpPr/>
          <p:nvPr/>
        </p:nvSpPr>
        <p:spPr>
          <a:xfrm>
            <a:off x="640080" y="4069080"/>
            <a:ext cx="73152" cy="822960"/>
          </a:xfrm>
          <a:prstGeom prst="rect">
            <a:avLst/>
          </a:prstGeom>
          <a:solidFill>
            <a:srgbClr val="7BA393"/>
          </a:solidFill>
          <a:ln/>
        </p:spPr>
      </p:sp>
      <p:sp>
        <p:nvSpPr>
          <p:cNvPr id="15" name="Text 13"/>
          <p:cNvSpPr/>
          <p:nvPr/>
        </p:nvSpPr>
        <p:spPr>
          <a:xfrm>
            <a:off x="868680" y="4069080"/>
            <a:ext cx="7680960" cy="256032"/>
          </a:xfrm>
          <a:prstGeom prst="rect">
            <a:avLst/>
          </a:prstGeom>
          <a:noFill/>
          <a:ln/>
        </p:spPr>
        <p:txBody>
          <a:bodyPr wrap="square" rtlCol="0" anchor="ctr"/>
          <a:lstStyle/>
          <a:p>
            <a:pPr indent="0" marL="0">
              <a:buNone/>
            </a:pPr>
            <a:r>
              <a:rPr lang="en-US" sz="1200" b="1" dirty="0">
                <a:solidFill>
                  <a:srgbClr val="7BA393"/>
                </a:solidFill>
                <a:latin typeface="Calibri" pitchFamily="34" charset="0"/>
                <a:ea typeface="Calibri" pitchFamily="34" charset="-122"/>
                <a:cs typeface="Calibri" pitchFamily="34" charset="-120"/>
              </a:rPr>
              <a:t>No representation of explanatory scope</a:t>
            </a:r>
            <a:endParaRPr lang="en-US" sz="1200" dirty="0"/>
          </a:p>
        </p:txBody>
      </p:sp>
      <p:sp>
        <p:nvSpPr>
          <p:cNvPr id="16" name="Text 14"/>
          <p:cNvSpPr/>
          <p:nvPr/>
        </p:nvSpPr>
        <p:spPr>
          <a:xfrm>
            <a:off x="868680" y="4343400"/>
            <a:ext cx="7680960" cy="50292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BNs cannot encode that 'PP explains phenomena 1–7 while ART only explains 1–3.' There's no node for 'explanatory power.' No edge for 'unifies these observations under one principle.' The very thing that makes one theory better than another is invisible to a BN.</a:t>
            </a:r>
            <a:endParaRPr lang="en-US" sz="1000" dirty="0"/>
          </a:p>
        </p:txBody>
      </p:sp>
      <p:sp>
        <p:nvSpPr>
          <p:cNvPr id="17" name="Text 15"/>
          <p:cNvSpPr/>
          <p:nvPr/>
        </p:nvSpPr>
        <p:spPr>
          <a:xfrm>
            <a:off x="640080" y="5029200"/>
            <a:ext cx="7863840" cy="274320"/>
          </a:xfrm>
          <a:prstGeom prst="rect">
            <a:avLst/>
          </a:prstGeom>
          <a:noFill/>
          <a:ln/>
        </p:spPr>
        <p:txBody>
          <a:bodyPr wrap="square" rtlCol="0" anchor="ctr"/>
          <a:lstStyle/>
          <a:p>
            <a:pPr indent="0" marL="0">
              <a:buNone/>
            </a:pPr>
            <a:r>
              <a:rPr lang="en-US" sz="1200" b="1" i="1" dirty="0">
                <a:solidFill>
                  <a:srgbClr val="1B2A4A"/>
                </a:solidFill>
                <a:latin typeface="Calibri" pitchFamily="34" charset="0"/>
                <a:ea typeface="Calibri" pitchFamily="34" charset="-122"/>
                <a:cs typeface="Calibri" pitchFamily="34" charset="-120"/>
              </a:rPr>
              <a:t>We needed a formalism that represents theories AS theories — not as parameters in someone else's graph.</a:t>
            </a:r>
            <a:endParaRPr lang="en-US" sz="1200" dirty="0"/>
          </a:p>
        </p:txBody>
      </p:sp>
      <p:sp>
        <p:nvSpPr>
          <p:cNvPr id="18" name="Text 16"/>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8/23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THE QUINEAN WEB</a:t>
            </a:r>
            <a:endParaRPr lang="en-US" sz="1000" dirty="0"/>
          </a:p>
        </p:txBody>
      </p:sp>
      <p:sp>
        <p:nvSpPr>
          <p:cNvPr id="4" name="Text 2"/>
          <p:cNvSpPr/>
          <p:nvPr/>
        </p:nvSpPr>
        <p:spPr>
          <a:xfrm>
            <a:off x="640080" y="502920"/>
            <a:ext cx="7863840" cy="6858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The Quinean Web of Belief:</a:t>
            </a:r>
            <a:endParaRPr lang="en-US" sz="2800" dirty="0"/>
          </a:p>
          <a:p>
            <a:pPr indent="0" marL="0">
              <a:buNone/>
            </a:pPr>
            <a:r>
              <a:rPr lang="en-US" sz="2800" b="1" dirty="0">
                <a:solidFill>
                  <a:srgbClr val="1B2A4A"/>
                </a:solidFill>
                <a:latin typeface="Georgia" pitchFamily="34" charset="0"/>
                <a:ea typeface="Georgia" pitchFamily="34" charset="-122"/>
                <a:cs typeface="Georgia" pitchFamily="34" charset="-120"/>
              </a:rPr>
              <a:t>Coherentism Meets Evidence</a:t>
            </a:r>
            <a:endParaRPr lang="en-US" sz="2800" dirty="0"/>
          </a:p>
        </p:txBody>
      </p:sp>
      <p:sp>
        <p:nvSpPr>
          <p:cNvPr id="5" name="Text 3"/>
          <p:cNvSpPr/>
          <p:nvPr/>
        </p:nvSpPr>
        <p:spPr>
          <a:xfrm>
            <a:off x="640080" y="1188720"/>
            <a:ext cx="7863840" cy="274320"/>
          </a:xfrm>
          <a:prstGeom prst="rect">
            <a:avLst/>
          </a:prstGeom>
          <a:noFill/>
          <a:ln/>
        </p:spPr>
        <p:txBody>
          <a:bodyPr wrap="square" rtlCol="0" anchor="ctr"/>
          <a:lstStyle/>
          <a:p>
            <a:pPr indent="0" marL="0">
              <a:buNone/>
            </a:pPr>
            <a:r>
              <a:rPr lang="en-US" sz="1200" i="1" dirty="0">
                <a:solidFill>
                  <a:srgbClr val="2A6F7A"/>
                </a:solidFill>
                <a:latin typeface="Calibri" pitchFamily="34" charset="0"/>
                <a:ea typeface="Calibri" pitchFamily="34" charset="-122"/>
                <a:cs typeface="Calibri" pitchFamily="34" charset="-120"/>
              </a:rPr>
              <a:t>A radical departure. Belief justification through coherence, not conditional probability.</a:t>
            </a:r>
            <a:endParaRPr lang="en-US" sz="1200" dirty="0"/>
          </a:p>
        </p:txBody>
      </p:sp>
      <p:sp>
        <p:nvSpPr>
          <p:cNvPr id="6" name="Shape 4"/>
          <p:cNvSpPr/>
          <p:nvPr/>
        </p:nvSpPr>
        <p:spPr>
          <a:xfrm>
            <a:off x="640080" y="1645920"/>
            <a:ext cx="3840480" cy="1828800"/>
          </a:xfrm>
          <a:prstGeom prst="rect">
            <a:avLst/>
          </a:prstGeom>
          <a:solidFill>
            <a:srgbClr val="1B2A4A"/>
          </a:solidFill>
          <a:ln/>
        </p:spPr>
      </p:sp>
      <p:sp>
        <p:nvSpPr>
          <p:cNvPr id="7" name="Text 5"/>
          <p:cNvSpPr/>
          <p:nvPr/>
        </p:nvSpPr>
        <p:spPr>
          <a:xfrm>
            <a:off x="822960" y="1691640"/>
            <a:ext cx="3474720" cy="228600"/>
          </a:xfrm>
          <a:prstGeom prst="rect">
            <a:avLst/>
          </a:prstGeom>
          <a:noFill/>
          <a:ln/>
        </p:spPr>
        <p:txBody>
          <a:bodyPr wrap="square" rtlCol="0" anchor="ctr"/>
          <a:lstStyle/>
          <a:p>
            <a:pPr indent="0" marL="0">
              <a:buNone/>
            </a:pPr>
            <a:r>
              <a:rPr lang="en-US" sz="1100" b="1" dirty="0">
                <a:solidFill>
                  <a:srgbClr val="C4993B"/>
                </a:solidFill>
                <a:latin typeface="Calibri" pitchFamily="34" charset="0"/>
                <a:ea typeface="Calibri" pitchFamily="34" charset="-122"/>
                <a:cs typeface="Calibri" pitchFamily="34" charset="-120"/>
              </a:rPr>
              <a:t>COHERENTISM</a:t>
            </a:r>
            <a:endParaRPr lang="en-US" sz="1100" dirty="0"/>
          </a:p>
        </p:txBody>
      </p:sp>
      <p:sp>
        <p:nvSpPr>
          <p:cNvPr id="8" name="Text 6"/>
          <p:cNvSpPr/>
          <p:nvPr/>
        </p:nvSpPr>
        <p:spPr>
          <a:xfrm>
            <a:off x="822960" y="1965960"/>
            <a:ext cx="3474720" cy="1371600"/>
          </a:xfrm>
          <a:prstGeom prst="rect">
            <a:avLst/>
          </a:prstGeom>
          <a:noFill/>
          <a:ln/>
        </p:spPr>
        <p:txBody>
          <a:bodyPr wrap="square" rtlCol="0" anchor="t"/>
          <a:lstStyle/>
          <a:p>
            <a:pPr indent="0" marL="0">
              <a:buNone/>
            </a:pPr>
            <a:r>
              <a:rPr lang="en-US" sz="1050" dirty="0">
                <a:solidFill>
                  <a:srgbClr val="F5F0E8"/>
                </a:solidFill>
                <a:latin typeface="Calibri" pitchFamily="34" charset="0"/>
                <a:ea typeface="Calibri" pitchFamily="34" charset="-122"/>
                <a:cs typeface="Calibri" pitchFamily="34" charset="-120"/>
              </a:rPr>
              <a:t>A belief is justified by how well it COHERES with the rest of the web (Quine &amp; Ullian, 1978).</a:t>
            </a:r>
            <a:endParaRPr lang="en-US" sz="1050" dirty="0"/>
          </a:p>
          <a:p>
            <a:pPr indent="0" marL="0">
              <a:buNone/>
            </a:pPr>
            <a:endParaRPr lang="en-US" sz="1050" dirty="0"/>
          </a:p>
          <a:p>
            <a:pPr indent="0" marL="0">
              <a:buNone/>
            </a:pPr>
            <a:r>
              <a:rPr lang="en-US" sz="1100" b="1" dirty="0">
                <a:solidFill>
                  <a:srgbClr val="FFFFFF"/>
                </a:solidFill>
                <a:latin typeface="Calibri" pitchFamily="34" charset="0"/>
                <a:ea typeface="Calibri" pitchFamily="34" charset="-122"/>
                <a:cs typeface="Calibri" pitchFamily="34" charset="-120"/>
              </a:rPr>
              <a:t>No belief is foundational.</a:t>
            </a:r>
            <a:endParaRPr lang="en-US" sz="1050" dirty="0"/>
          </a:p>
          <a:p>
            <a:pPr indent="0" marL="0">
              <a:buNone/>
            </a:pPr>
            <a:r>
              <a:rPr lang="en-US" sz="1000" dirty="0">
                <a:solidFill>
                  <a:srgbClr val="F5F0E8"/>
                </a:solidFill>
                <a:latin typeface="Calibri" pitchFamily="34" charset="0"/>
                <a:ea typeface="Calibri" pitchFamily="34" charset="-122"/>
                <a:cs typeface="Calibri" pitchFamily="34" charset="-120"/>
              </a:rPr>
              <a:t>Even core theories can be revised if enough peripheral evidence accumulates against them.</a:t>
            </a:r>
            <a:endParaRPr lang="en-US" sz="1050" dirty="0"/>
          </a:p>
          <a:p>
            <a:pPr indent="0" marL="0">
              <a:buNone/>
            </a:pPr>
            <a:endParaRPr lang="en-US" sz="1050" dirty="0"/>
          </a:p>
          <a:p>
            <a:pPr indent="0" marL="0">
              <a:buNone/>
            </a:pPr>
            <a:r>
              <a:rPr lang="en-US" sz="1100" b="1" dirty="0">
                <a:solidFill>
                  <a:srgbClr val="FFFFFF"/>
                </a:solidFill>
                <a:latin typeface="Calibri" pitchFamily="34" charset="0"/>
                <a:ea typeface="Calibri" pitchFamily="34" charset="-122"/>
                <a:cs typeface="Calibri" pitchFamily="34" charset="-120"/>
              </a:rPr>
              <a:t>Revision is holistic.</a:t>
            </a:r>
            <a:endParaRPr lang="en-US" sz="1050" dirty="0"/>
          </a:p>
          <a:p>
            <a:pPr indent="0" marL="0">
              <a:buNone/>
            </a:pPr>
            <a:r>
              <a:rPr lang="en-US" sz="1000" dirty="0">
                <a:solidFill>
                  <a:srgbClr val="F5F0E8"/>
                </a:solidFill>
                <a:latin typeface="Calibri" pitchFamily="34" charset="0"/>
                <a:ea typeface="Calibri" pitchFamily="34" charset="-122"/>
                <a:cs typeface="Calibri" pitchFamily="34" charset="-120"/>
              </a:rPr>
              <a:t>Change one central belief → propagation through the entire web. This IS how scientific revolutions work.</a:t>
            </a:r>
            <a:endParaRPr lang="en-US" sz="1050" dirty="0"/>
          </a:p>
        </p:txBody>
      </p:sp>
      <p:sp>
        <p:nvSpPr>
          <p:cNvPr id="9" name="Shape 7"/>
          <p:cNvSpPr/>
          <p:nvPr/>
        </p:nvSpPr>
        <p:spPr>
          <a:xfrm>
            <a:off x="4754880" y="1645920"/>
            <a:ext cx="3840480" cy="1828800"/>
          </a:xfrm>
          <a:prstGeom prst="rect">
            <a:avLst/>
          </a:prstGeom>
          <a:solidFill>
            <a:srgbClr val="B85042"/>
          </a:solidFill>
          <a:ln/>
        </p:spPr>
      </p:sp>
      <p:sp>
        <p:nvSpPr>
          <p:cNvPr id="10" name="Text 8"/>
          <p:cNvSpPr/>
          <p:nvPr/>
        </p:nvSpPr>
        <p:spPr>
          <a:xfrm>
            <a:off x="4937760" y="1691640"/>
            <a:ext cx="3474720" cy="228600"/>
          </a:xfrm>
          <a:prstGeom prst="rect">
            <a:avLst/>
          </a:prstGeom>
          <a:noFill/>
          <a:ln/>
        </p:spPr>
        <p:txBody>
          <a:bodyPr wrap="square" rtlCol="0" anchor="ctr"/>
          <a:lstStyle/>
          <a:p>
            <a:pPr indent="0" marL="0">
              <a:buNone/>
            </a:pPr>
            <a:r>
              <a:rPr lang="en-US" sz="1100" b="1" dirty="0">
                <a:solidFill>
                  <a:srgbClr val="F5F0E8"/>
                </a:solidFill>
                <a:latin typeface="Calibri" pitchFamily="34" charset="0"/>
                <a:ea typeface="Calibri" pitchFamily="34" charset="-122"/>
                <a:cs typeface="Calibri" pitchFamily="34" charset="-120"/>
              </a:rPr>
              <a:t>FOUNDHERENTISM (Haack, 1993)</a:t>
            </a:r>
            <a:endParaRPr lang="en-US" sz="1100" dirty="0"/>
          </a:p>
        </p:txBody>
      </p:sp>
      <p:sp>
        <p:nvSpPr>
          <p:cNvPr id="11" name="Text 9"/>
          <p:cNvSpPr/>
          <p:nvPr/>
        </p:nvSpPr>
        <p:spPr>
          <a:xfrm>
            <a:off x="4937760" y="1965960"/>
            <a:ext cx="3474720" cy="1371600"/>
          </a:xfrm>
          <a:prstGeom prst="rect">
            <a:avLst/>
          </a:prstGeom>
          <a:noFill/>
          <a:ln/>
        </p:spPr>
        <p:txBody>
          <a:bodyPr wrap="square" rtlCol="0" anchor="t"/>
          <a:lstStyle/>
          <a:p>
            <a:pPr indent="0" marL="0">
              <a:buNone/>
            </a:pPr>
            <a:r>
              <a:rPr lang="en-US" sz="1050" dirty="0">
                <a:solidFill>
                  <a:srgbClr val="FFFFFF"/>
                </a:solidFill>
                <a:latin typeface="Calibri" pitchFamily="34" charset="0"/>
                <a:ea typeface="Calibri" pitchFamily="34" charset="-122"/>
                <a:cs typeface="Calibri" pitchFamily="34" charset="-120"/>
              </a:rPr>
              <a:t>Pure coherentism has a problem: a perfectly coherent fiction is as 'justified' as science.</a:t>
            </a:r>
            <a:endParaRPr lang="en-US" sz="1050" dirty="0"/>
          </a:p>
          <a:p>
            <a:pPr indent="0" marL="0">
              <a:buNone/>
            </a:pPr>
            <a:endParaRPr lang="en-US" sz="1050" dirty="0"/>
          </a:p>
          <a:p>
            <a:pPr indent="0" marL="0">
              <a:buNone/>
            </a:pPr>
            <a:r>
              <a:rPr lang="en-US" sz="1100" b="1" dirty="0">
                <a:solidFill>
                  <a:srgbClr val="FFFFFF"/>
                </a:solidFill>
                <a:latin typeface="Calibri" pitchFamily="34" charset="0"/>
                <a:ea typeface="Calibri" pitchFamily="34" charset="-122"/>
                <a:cs typeface="Calibri" pitchFamily="34" charset="-120"/>
              </a:rPr>
              <a:t>Foundherentism adds empirical anchors.</a:t>
            </a:r>
            <a:endParaRPr lang="en-US" sz="1050" dirty="0"/>
          </a:p>
          <a:p>
            <a:pPr indent="0" marL="0">
              <a:buNone/>
            </a:pPr>
            <a:r>
              <a:rPr lang="en-US" sz="1000" dirty="0">
                <a:solidFill>
                  <a:srgbClr val="F5F0E8"/>
                </a:solidFill>
                <a:latin typeface="Calibri" pitchFamily="34" charset="0"/>
                <a:ea typeface="Calibri" pitchFamily="34" charset="-122"/>
                <a:cs typeface="Calibri" pitchFamily="34" charset="-120"/>
              </a:rPr>
              <a:t>Some nodes are grounded in observation — experimental results, measured effects, replicated findings.</a:t>
            </a:r>
            <a:endParaRPr lang="en-US" sz="1050" dirty="0"/>
          </a:p>
          <a:p>
            <a:pPr indent="0" marL="0">
              <a:buNone/>
            </a:pPr>
            <a:endParaRPr lang="en-US" sz="1050" dirty="0"/>
          </a:p>
          <a:p>
            <a:pPr indent="0" marL="0">
              <a:buNone/>
            </a:pPr>
            <a:r>
              <a:rPr lang="en-US" sz="1100" b="1" dirty="0">
                <a:solidFill>
                  <a:srgbClr val="FFFFFF"/>
                </a:solidFill>
                <a:latin typeface="Calibri" pitchFamily="34" charset="0"/>
                <a:ea typeface="Calibri" pitchFamily="34" charset="-122"/>
                <a:cs typeface="Calibri" pitchFamily="34" charset="-120"/>
              </a:rPr>
              <a:t>Our web has BOTH:</a:t>
            </a:r>
            <a:endParaRPr lang="en-US" sz="1050" dirty="0"/>
          </a:p>
          <a:p>
            <a:pPr indent="0" marL="0">
              <a:buNone/>
            </a:pPr>
            <a:r>
              <a:rPr lang="en-US" sz="1000" dirty="0">
                <a:solidFill>
                  <a:srgbClr val="F5F0E8"/>
                </a:solidFill>
                <a:latin typeface="Calibri" pitchFamily="34" charset="0"/>
                <a:ea typeface="Calibri" pitchFamily="34" charset="-122"/>
                <a:cs typeface="Calibri" pitchFamily="34" charset="-120"/>
              </a:rPr>
              <a:t>empirical anchors (Kim &amp; de Dear, Bernstein) AND coherence constraints (PP, allostasis, ART).</a:t>
            </a:r>
            <a:endParaRPr lang="en-US" sz="1050" dirty="0"/>
          </a:p>
        </p:txBody>
      </p:sp>
      <p:sp>
        <p:nvSpPr>
          <p:cNvPr id="12" name="Shape 10"/>
          <p:cNvSpPr/>
          <p:nvPr/>
        </p:nvSpPr>
        <p:spPr>
          <a:xfrm>
            <a:off x="640080" y="3657600"/>
            <a:ext cx="7863840" cy="1051560"/>
          </a:xfrm>
          <a:prstGeom prst="rect">
            <a:avLst/>
          </a:prstGeom>
          <a:solidFill>
            <a:srgbClr val="E8E4DC"/>
          </a:solidFill>
          <a:ln/>
        </p:spPr>
      </p:sp>
      <p:sp>
        <p:nvSpPr>
          <p:cNvPr id="13" name="Text 11"/>
          <p:cNvSpPr/>
          <p:nvPr/>
        </p:nvSpPr>
        <p:spPr>
          <a:xfrm>
            <a:off x="822960" y="3703320"/>
            <a:ext cx="7498080" cy="228600"/>
          </a:xfrm>
          <a:prstGeom prst="rect">
            <a:avLst/>
          </a:prstGeom>
          <a:noFill/>
          <a:ln/>
        </p:spPr>
        <p:txBody>
          <a:bodyPr wrap="square"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COMPUTATIONAL BACKBONE: Thagard's ECHO (1989, 2000)</a:t>
            </a:r>
            <a:endParaRPr lang="en-US" sz="1000" dirty="0"/>
          </a:p>
        </p:txBody>
      </p:sp>
      <p:sp>
        <p:nvSpPr>
          <p:cNvPr id="14" name="Text 12"/>
          <p:cNvSpPr/>
          <p:nvPr/>
        </p:nvSpPr>
        <p:spPr>
          <a:xfrm>
            <a:off x="822960" y="3977640"/>
            <a:ext cx="7498080" cy="685800"/>
          </a:xfrm>
          <a:prstGeom prst="rect">
            <a:avLst/>
          </a:prstGeom>
          <a:noFill/>
          <a:ln/>
        </p:spPr>
        <p:txBody>
          <a:bodyPr wrap="square" rtlCol="0" anchor="t"/>
          <a:lstStyle/>
          <a:p>
            <a:pPr indent="0" marL="0">
              <a:buNone/>
            </a:pPr>
            <a:r>
              <a:rPr lang="en-US" sz="1050" b="1" dirty="0">
                <a:solidFill>
                  <a:srgbClr val="2C2C2C"/>
                </a:solidFill>
                <a:latin typeface="Calibri" pitchFamily="34" charset="0"/>
                <a:ea typeface="Calibri" pitchFamily="34" charset="-122"/>
                <a:cs typeface="Calibri" pitchFamily="34" charset="-120"/>
              </a:rPr>
              <a:t>Edges represent: </a:t>
            </a:r>
            <a:pPr indent="0" marL="0">
              <a:buNone/>
            </a:pPr>
            <a:r>
              <a:rPr lang="en-US" sz="1050" dirty="0">
                <a:solidFill>
                  <a:srgbClr val="2C2C2C"/>
                </a:solidFill>
                <a:latin typeface="Calibri" pitchFamily="34" charset="0"/>
                <a:ea typeface="Calibri" pitchFamily="34" charset="-122"/>
                <a:cs typeface="Calibri" pitchFamily="34" charset="-120"/>
              </a:rPr>
              <a:t>explanation (theory T explains datum D), contradiction (T₁ vs T₂ on phenomenon P), analogy (T applies to new domain).</a:t>
            </a:r>
            <a:endParaRPr lang="en-US" sz="1050" dirty="0"/>
          </a:p>
          <a:p>
            <a:pPr indent="0" marL="0">
              <a:buNone/>
            </a:pPr>
            <a:r>
              <a:rPr lang="en-US" sz="1050" b="1" dirty="0">
                <a:solidFill>
                  <a:srgbClr val="2C2C2C"/>
                </a:solidFill>
                <a:latin typeface="Calibri" pitchFamily="34" charset="0"/>
                <a:ea typeface="Calibri" pitchFamily="34" charset="-122"/>
                <a:cs typeface="Calibri" pitchFamily="34" charset="-120"/>
              </a:rPr>
              <a:t>Evaluation metric = global coherence. </a:t>
            </a:r>
            <a:pPr indent="0" marL="0">
              <a:buNone/>
            </a:pPr>
            <a:r>
              <a:rPr lang="en-US" sz="1050" dirty="0">
                <a:solidFill>
                  <a:srgbClr val="2C2C2C"/>
                </a:solidFill>
                <a:latin typeface="Calibri" pitchFamily="34" charset="0"/>
                <a:ea typeface="Calibri" pitchFamily="34" charset="-122"/>
                <a:cs typeface="Calibri" pitchFamily="34" charset="-120"/>
              </a:rPr>
              <a:t>A theory isn't 'probable' — it's coherent or incoherent with the web. Coherence is computed by constraint satisfaction over the whole network.</a:t>
            </a:r>
            <a:endParaRPr lang="en-US" sz="1050" dirty="0"/>
          </a:p>
        </p:txBody>
      </p:sp>
      <p:sp>
        <p:nvSpPr>
          <p:cNvPr id="15" name="Text 13"/>
          <p:cNvSpPr/>
          <p:nvPr/>
        </p:nvSpPr>
        <p:spPr>
          <a:xfrm>
            <a:off x="640080" y="4754880"/>
            <a:ext cx="7863840" cy="320040"/>
          </a:xfrm>
          <a:prstGeom prst="rect">
            <a:avLst/>
          </a:prstGeom>
          <a:noFill/>
          <a:ln/>
        </p:spPr>
        <p:txBody>
          <a:bodyPr wrap="square" rtlCol="0" anchor="ctr"/>
          <a:lstStyle/>
          <a:p>
            <a:pPr indent="0" marL="0">
              <a:buNone/>
            </a:pPr>
            <a:r>
              <a:rPr lang="en-US" sz="1200" b="1" i="1" dirty="0">
                <a:solidFill>
                  <a:srgbClr val="1B2A4A"/>
                </a:solidFill>
                <a:latin typeface="Calibri" pitchFamily="34" charset="0"/>
                <a:ea typeface="Calibri" pitchFamily="34" charset="-122"/>
                <a:cs typeface="Calibri" pitchFamily="34" charset="-120"/>
              </a:rPr>
              <a:t>This is what lets us represent 16 theories, their interactions, and their evidence — as a single computable structure.</a:t>
            </a:r>
            <a:endParaRPr lang="en-US" sz="1200" dirty="0"/>
          </a:p>
        </p:txBody>
      </p:sp>
      <p:sp>
        <p:nvSpPr>
          <p:cNvPr id="16" name="Text 14"/>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9/23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HOW IT WORKS</a:t>
            </a:r>
            <a:endParaRPr lang="en-US" sz="1000" dirty="0"/>
          </a:p>
        </p:txBody>
      </p:sp>
      <p:sp>
        <p:nvSpPr>
          <p:cNvPr id="4" name="Text 2"/>
          <p:cNvSpPr/>
          <p:nvPr/>
        </p:nvSpPr>
        <p:spPr>
          <a:xfrm>
            <a:off x="640080" y="502920"/>
            <a:ext cx="7863840" cy="6858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Expert Panels: Simulated</a:t>
            </a:r>
            <a:endParaRPr lang="en-US" sz="2800" dirty="0"/>
          </a:p>
          <a:p>
            <a:pPr indent="0" marL="0">
              <a:buNone/>
            </a:pPr>
            <a:r>
              <a:rPr lang="en-US" sz="2800" b="1" dirty="0">
                <a:solidFill>
                  <a:srgbClr val="1B2A4A"/>
                </a:solidFill>
                <a:latin typeface="Georgia" pitchFamily="34" charset="0"/>
                <a:ea typeface="Georgia" pitchFamily="34" charset="-122"/>
                <a:cs typeface="Georgia" pitchFamily="34" charset="-120"/>
              </a:rPr>
              <a:t>Scientific Discourse</a:t>
            </a:r>
            <a:endParaRPr lang="en-US" sz="2800" dirty="0"/>
          </a:p>
        </p:txBody>
      </p:sp>
      <p:sp>
        <p:nvSpPr>
          <p:cNvPr id="5" name="Text 3"/>
          <p:cNvSpPr/>
          <p:nvPr/>
        </p:nvSpPr>
        <p:spPr>
          <a:xfrm>
            <a:off x="640080" y="1188720"/>
            <a:ext cx="7863840" cy="320040"/>
          </a:xfrm>
          <a:prstGeom prst="rect">
            <a:avLst/>
          </a:prstGeom>
          <a:noFill/>
          <a:ln/>
        </p:spPr>
        <p:txBody>
          <a:bodyPr wrap="square" rtlCol="0" anchor="ctr"/>
          <a:lstStyle/>
          <a:p>
            <a:pPr indent="0" marL="0">
              <a:buNone/>
            </a:pPr>
            <a:r>
              <a:rPr lang="en-US" sz="1300" i="1" dirty="0">
                <a:solidFill>
                  <a:srgbClr val="2A6F7A"/>
                </a:solidFill>
                <a:latin typeface="Calibri" pitchFamily="34" charset="0"/>
                <a:ea typeface="Calibri" pitchFamily="34" charset="-122"/>
                <a:cs typeface="Calibri" pitchFamily="34" charset="-120"/>
              </a:rPr>
              <a:t>Teams of 8-15 scientists evaluate what the field knows and believes</a:t>
            </a:r>
            <a:endParaRPr lang="en-US" sz="1300" dirty="0"/>
          </a:p>
        </p:txBody>
      </p:sp>
      <p:sp>
        <p:nvSpPr>
          <p:cNvPr id="6" name="Shape 4"/>
          <p:cNvSpPr/>
          <p:nvPr/>
        </p:nvSpPr>
        <p:spPr>
          <a:xfrm>
            <a:off x="365760" y="1737360"/>
            <a:ext cx="411480" cy="411480"/>
          </a:xfrm>
          <a:prstGeom prst="rect">
            <a:avLst/>
          </a:prstGeom>
          <a:solidFill>
            <a:srgbClr val="C4993B"/>
          </a:solidFill>
          <a:ln/>
        </p:spPr>
      </p:sp>
      <p:sp>
        <p:nvSpPr>
          <p:cNvPr id="7" name="Text 5"/>
          <p:cNvSpPr/>
          <p:nvPr/>
        </p:nvSpPr>
        <p:spPr>
          <a:xfrm>
            <a:off x="365760" y="173736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82880" y="2240280"/>
            <a:ext cx="777240"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Convene</a:t>
            </a:r>
            <a:endParaRPr lang="en-US" sz="1300" dirty="0"/>
          </a:p>
        </p:txBody>
      </p:sp>
      <p:sp>
        <p:nvSpPr>
          <p:cNvPr id="9" name="Text 7"/>
          <p:cNvSpPr/>
          <p:nvPr/>
        </p:nvSpPr>
        <p:spPr>
          <a:xfrm>
            <a:off x="-91440" y="2560320"/>
            <a:ext cx="1463040" cy="640080"/>
          </a:xfrm>
          <a:prstGeom prst="rect">
            <a:avLst/>
          </a:prstGeom>
          <a:noFill/>
          <a:ln/>
        </p:spPr>
        <p:txBody>
          <a:bodyPr wrap="square" rtlCol="0" anchor="ctr"/>
          <a:lstStyle/>
          <a:p>
            <a:pPr algn="ctr" indent="0" marL="0">
              <a:buNone/>
            </a:pPr>
            <a:r>
              <a:rPr lang="en-US" sz="1000" dirty="0">
                <a:solidFill>
                  <a:srgbClr val="2C2C2C"/>
                </a:solidFill>
                <a:latin typeface="Calibri" pitchFamily="34" charset="0"/>
                <a:ea typeface="Calibri" pitchFamily="34" charset="-122"/>
                <a:cs typeface="Calibri" pitchFamily="34" charset="-120"/>
              </a:rPr>
              <a:t>Select experts by</a:t>
            </a:r>
            <a:endParaRPr lang="en-US" sz="1000" dirty="0"/>
          </a:p>
          <a:p>
            <a:pPr algn="ctr" indent="0" marL="0">
              <a:buNone/>
            </a:pPr>
            <a:r>
              <a:rPr lang="en-US" sz="1000" dirty="0">
                <a:solidFill>
                  <a:srgbClr val="2C2C2C"/>
                </a:solidFill>
                <a:latin typeface="Calibri" pitchFamily="34" charset="0"/>
                <a:ea typeface="Calibri" pitchFamily="34" charset="-122"/>
                <a:cs typeface="Calibri" pitchFamily="34" charset="-120"/>
              </a:rPr>
              <a:t>theoretical position</a:t>
            </a:r>
            <a:endParaRPr lang="en-US" sz="1000" dirty="0"/>
          </a:p>
        </p:txBody>
      </p:sp>
      <p:sp>
        <p:nvSpPr>
          <p:cNvPr id="10" name="Shape 8"/>
          <p:cNvSpPr/>
          <p:nvPr/>
        </p:nvSpPr>
        <p:spPr>
          <a:xfrm>
            <a:off x="2103120" y="1737360"/>
            <a:ext cx="411480" cy="411480"/>
          </a:xfrm>
          <a:prstGeom prst="rect">
            <a:avLst/>
          </a:prstGeom>
          <a:solidFill>
            <a:srgbClr val="C4993B"/>
          </a:solidFill>
          <a:ln/>
        </p:spPr>
      </p:sp>
      <p:sp>
        <p:nvSpPr>
          <p:cNvPr id="11" name="Text 9"/>
          <p:cNvSpPr/>
          <p:nvPr/>
        </p:nvSpPr>
        <p:spPr>
          <a:xfrm>
            <a:off x="2103120" y="173736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920240" y="2240280"/>
            <a:ext cx="777240"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Present</a:t>
            </a:r>
            <a:endParaRPr lang="en-US" sz="1300" dirty="0"/>
          </a:p>
        </p:txBody>
      </p:sp>
      <p:sp>
        <p:nvSpPr>
          <p:cNvPr id="13" name="Text 11"/>
          <p:cNvSpPr/>
          <p:nvPr/>
        </p:nvSpPr>
        <p:spPr>
          <a:xfrm>
            <a:off x="1645920" y="2560320"/>
            <a:ext cx="1463040" cy="640080"/>
          </a:xfrm>
          <a:prstGeom prst="rect">
            <a:avLst/>
          </a:prstGeom>
          <a:noFill/>
          <a:ln/>
        </p:spPr>
        <p:txBody>
          <a:bodyPr wrap="square" rtlCol="0" anchor="ctr"/>
          <a:lstStyle/>
          <a:p>
            <a:pPr algn="ctr" indent="0" marL="0">
              <a:buNone/>
            </a:pPr>
            <a:r>
              <a:rPr lang="en-US" sz="1000" dirty="0">
                <a:solidFill>
                  <a:srgbClr val="2C2C2C"/>
                </a:solidFill>
                <a:latin typeface="Calibri" pitchFamily="34" charset="0"/>
                <a:ea typeface="Calibri" pitchFamily="34" charset="-122"/>
                <a:cs typeface="Calibri" pitchFamily="34" charset="-120"/>
              </a:rPr>
              <a:t>Each expert states</a:t>
            </a:r>
            <a:endParaRPr lang="en-US" sz="1000" dirty="0"/>
          </a:p>
          <a:p>
            <a:pPr algn="ctr" indent="0" marL="0">
              <a:buNone/>
            </a:pPr>
            <a:r>
              <a:rPr lang="en-US" sz="1000" dirty="0">
                <a:solidFill>
                  <a:srgbClr val="2C2C2C"/>
                </a:solidFill>
                <a:latin typeface="Calibri" pitchFamily="34" charset="0"/>
                <a:ea typeface="Calibri" pitchFamily="34" charset="-122"/>
                <a:cs typeface="Calibri" pitchFamily="34" charset="-120"/>
              </a:rPr>
              <a:t>position + evidence</a:t>
            </a:r>
            <a:endParaRPr lang="en-US" sz="1000" dirty="0"/>
          </a:p>
        </p:txBody>
      </p:sp>
      <p:sp>
        <p:nvSpPr>
          <p:cNvPr id="14" name="Shape 12"/>
          <p:cNvSpPr/>
          <p:nvPr/>
        </p:nvSpPr>
        <p:spPr>
          <a:xfrm>
            <a:off x="3840480" y="1737360"/>
            <a:ext cx="411480" cy="411480"/>
          </a:xfrm>
          <a:prstGeom prst="rect">
            <a:avLst/>
          </a:prstGeom>
          <a:solidFill>
            <a:srgbClr val="C4993B"/>
          </a:solidFill>
          <a:ln/>
        </p:spPr>
      </p:sp>
      <p:sp>
        <p:nvSpPr>
          <p:cNvPr id="15" name="Text 13"/>
          <p:cNvSpPr/>
          <p:nvPr/>
        </p:nvSpPr>
        <p:spPr>
          <a:xfrm>
            <a:off x="3840480" y="173736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3657600" y="2240280"/>
            <a:ext cx="777240"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Dispute</a:t>
            </a:r>
            <a:endParaRPr lang="en-US" sz="1300" dirty="0"/>
          </a:p>
        </p:txBody>
      </p:sp>
      <p:sp>
        <p:nvSpPr>
          <p:cNvPr id="17" name="Text 15"/>
          <p:cNvSpPr/>
          <p:nvPr/>
        </p:nvSpPr>
        <p:spPr>
          <a:xfrm>
            <a:off x="3383280" y="2560320"/>
            <a:ext cx="1463040" cy="640080"/>
          </a:xfrm>
          <a:prstGeom prst="rect">
            <a:avLst/>
          </a:prstGeom>
          <a:noFill/>
          <a:ln/>
        </p:spPr>
        <p:txBody>
          <a:bodyPr wrap="square" rtlCol="0" anchor="ctr"/>
          <a:lstStyle/>
          <a:p>
            <a:pPr algn="ctr" indent="0" marL="0">
              <a:buNone/>
            </a:pPr>
            <a:r>
              <a:rPr lang="en-US" sz="1000" dirty="0">
                <a:solidFill>
                  <a:srgbClr val="2C2C2C"/>
                </a:solidFill>
                <a:latin typeface="Calibri" pitchFamily="34" charset="0"/>
                <a:ea typeface="Calibri" pitchFamily="34" charset="-122"/>
                <a:cs typeface="Calibri" pitchFamily="34" charset="-120"/>
              </a:rPr>
              <a:t>Cross-examination,</a:t>
            </a:r>
            <a:endParaRPr lang="en-US" sz="1000" dirty="0"/>
          </a:p>
          <a:p>
            <a:pPr algn="ctr" indent="0" marL="0">
              <a:buNone/>
            </a:pPr>
            <a:r>
              <a:rPr lang="en-US" sz="1000" dirty="0">
                <a:solidFill>
                  <a:srgbClr val="2C2C2C"/>
                </a:solidFill>
                <a:latin typeface="Calibri" pitchFamily="34" charset="0"/>
                <a:ea typeface="Calibri" pitchFamily="34" charset="-122"/>
                <a:cs typeface="Calibri" pitchFamily="34" charset="-120"/>
              </a:rPr>
              <a:t>challenges, refinements</a:t>
            </a:r>
            <a:endParaRPr lang="en-US" sz="1000" dirty="0"/>
          </a:p>
        </p:txBody>
      </p:sp>
      <p:sp>
        <p:nvSpPr>
          <p:cNvPr id="18" name="Shape 16"/>
          <p:cNvSpPr/>
          <p:nvPr/>
        </p:nvSpPr>
        <p:spPr>
          <a:xfrm>
            <a:off x="5577840" y="1737360"/>
            <a:ext cx="411480" cy="411480"/>
          </a:xfrm>
          <a:prstGeom prst="rect">
            <a:avLst/>
          </a:prstGeom>
          <a:solidFill>
            <a:srgbClr val="C4993B"/>
          </a:solidFill>
          <a:ln/>
        </p:spPr>
      </p:sp>
      <p:sp>
        <p:nvSpPr>
          <p:cNvPr id="19" name="Text 17"/>
          <p:cNvSpPr/>
          <p:nvPr/>
        </p:nvSpPr>
        <p:spPr>
          <a:xfrm>
            <a:off x="5577840" y="173736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5394960" y="2240280"/>
            <a:ext cx="777240"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Converge</a:t>
            </a:r>
            <a:endParaRPr lang="en-US" sz="1300" dirty="0"/>
          </a:p>
        </p:txBody>
      </p:sp>
      <p:sp>
        <p:nvSpPr>
          <p:cNvPr id="21" name="Text 19"/>
          <p:cNvSpPr/>
          <p:nvPr/>
        </p:nvSpPr>
        <p:spPr>
          <a:xfrm>
            <a:off x="5120640" y="2560320"/>
            <a:ext cx="1463040" cy="640080"/>
          </a:xfrm>
          <a:prstGeom prst="rect">
            <a:avLst/>
          </a:prstGeom>
          <a:noFill/>
          <a:ln/>
        </p:spPr>
        <p:txBody>
          <a:bodyPr wrap="square" rtlCol="0" anchor="ctr"/>
          <a:lstStyle/>
          <a:p>
            <a:pPr algn="ctr" indent="0" marL="0">
              <a:buNone/>
            </a:pPr>
            <a:r>
              <a:rPr lang="en-US" sz="1000" dirty="0">
                <a:solidFill>
                  <a:srgbClr val="2C2C2C"/>
                </a:solidFill>
                <a:latin typeface="Calibri" pitchFamily="34" charset="0"/>
                <a:ea typeface="Calibri" pitchFamily="34" charset="-122"/>
                <a:cs typeface="Calibri" pitchFamily="34" charset="-120"/>
              </a:rPr>
              <a:t>Identify consensus</a:t>
            </a:r>
            <a:endParaRPr lang="en-US" sz="1000" dirty="0"/>
          </a:p>
          <a:p>
            <a:pPr algn="ctr" indent="0" marL="0">
              <a:buNone/>
            </a:pPr>
            <a:r>
              <a:rPr lang="en-US" sz="1000" dirty="0">
                <a:solidFill>
                  <a:srgbClr val="2C2C2C"/>
                </a:solidFill>
                <a:latin typeface="Calibri" pitchFamily="34" charset="0"/>
                <a:ea typeface="Calibri" pitchFamily="34" charset="-122"/>
                <a:cs typeface="Calibri" pitchFamily="34" charset="-120"/>
              </a:rPr>
              <a:t>and remaining disputes</a:t>
            </a:r>
            <a:endParaRPr lang="en-US" sz="1000" dirty="0"/>
          </a:p>
        </p:txBody>
      </p:sp>
      <p:sp>
        <p:nvSpPr>
          <p:cNvPr id="22" name="Shape 20"/>
          <p:cNvSpPr/>
          <p:nvPr/>
        </p:nvSpPr>
        <p:spPr>
          <a:xfrm>
            <a:off x="7315200" y="1737360"/>
            <a:ext cx="411480" cy="411480"/>
          </a:xfrm>
          <a:prstGeom prst="rect">
            <a:avLst/>
          </a:prstGeom>
          <a:solidFill>
            <a:srgbClr val="C4993B"/>
          </a:solidFill>
          <a:ln/>
        </p:spPr>
      </p:sp>
      <p:sp>
        <p:nvSpPr>
          <p:cNvPr id="23" name="Text 21"/>
          <p:cNvSpPr/>
          <p:nvPr/>
        </p:nvSpPr>
        <p:spPr>
          <a:xfrm>
            <a:off x="7315200" y="1737360"/>
            <a:ext cx="411480" cy="41148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4" name="Text 22"/>
          <p:cNvSpPr/>
          <p:nvPr/>
        </p:nvSpPr>
        <p:spPr>
          <a:xfrm>
            <a:off x="7132320" y="2240280"/>
            <a:ext cx="777240"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Template</a:t>
            </a:r>
            <a:endParaRPr lang="en-US" sz="1300" dirty="0"/>
          </a:p>
        </p:txBody>
      </p:sp>
      <p:sp>
        <p:nvSpPr>
          <p:cNvPr id="25" name="Text 23"/>
          <p:cNvSpPr/>
          <p:nvPr/>
        </p:nvSpPr>
        <p:spPr>
          <a:xfrm>
            <a:off x="6858000" y="2560320"/>
            <a:ext cx="1463040" cy="640080"/>
          </a:xfrm>
          <a:prstGeom prst="rect">
            <a:avLst/>
          </a:prstGeom>
          <a:noFill/>
          <a:ln/>
        </p:spPr>
        <p:txBody>
          <a:bodyPr wrap="square" rtlCol="0" anchor="ctr"/>
          <a:lstStyle/>
          <a:p>
            <a:pPr algn="ctr" indent="0" marL="0">
              <a:buNone/>
            </a:pPr>
            <a:r>
              <a:rPr lang="en-US" sz="1000" dirty="0">
                <a:solidFill>
                  <a:srgbClr val="2C2C2C"/>
                </a:solidFill>
                <a:latin typeface="Calibri" pitchFamily="34" charset="0"/>
                <a:ea typeface="Calibri" pitchFamily="34" charset="-122"/>
                <a:cs typeface="Calibri" pitchFamily="34" charset="-120"/>
              </a:rPr>
              <a:t>Generate mechanistic</a:t>
            </a:r>
            <a:endParaRPr lang="en-US" sz="1000" dirty="0"/>
          </a:p>
          <a:p>
            <a:pPr algn="ctr" indent="0" marL="0">
              <a:buNone/>
            </a:pPr>
            <a:r>
              <a:rPr lang="en-US" sz="1000" dirty="0">
                <a:solidFill>
                  <a:srgbClr val="2C2C2C"/>
                </a:solidFill>
                <a:latin typeface="Calibri" pitchFamily="34" charset="0"/>
                <a:ea typeface="Calibri" pitchFamily="34" charset="-122"/>
                <a:cs typeface="Calibri" pitchFamily="34" charset="-120"/>
              </a:rPr>
              <a:t>templates from output</a:t>
            </a:r>
            <a:endParaRPr lang="en-US" sz="1000" dirty="0"/>
          </a:p>
        </p:txBody>
      </p:sp>
      <p:sp>
        <p:nvSpPr>
          <p:cNvPr id="26" name="Shape 24"/>
          <p:cNvSpPr/>
          <p:nvPr/>
        </p:nvSpPr>
        <p:spPr>
          <a:xfrm>
            <a:off x="640080" y="3383280"/>
            <a:ext cx="7863840" cy="640080"/>
          </a:xfrm>
          <a:prstGeom prst="rect">
            <a:avLst/>
          </a:prstGeom>
          <a:solidFill>
            <a:srgbClr val="E8E4DC"/>
          </a:solidFill>
          <a:ln/>
        </p:spPr>
      </p:sp>
      <p:sp>
        <p:nvSpPr>
          <p:cNvPr id="27" name="Text 25"/>
          <p:cNvSpPr/>
          <p:nvPr/>
        </p:nvSpPr>
        <p:spPr>
          <a:xfrm>
            <a:off x="822960" y="3429000"/>
            <a:ext cx="7498080" cy="54864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Panels capture not just consensus but disagreements and their significance.</a:t>
            </a:r>
            <a:endParaRPr lang="en-US" sz="1200" dirty="0"/>
          </a:p>
          <a:p>
            <a:pPr indent="0" marL="0">
              <a:buNone/>
            </a:pPr>
            <a:r>
              <a:rPr lang="en-US" sz="1200" dirty="0">
                <a:solidFill>
                  <a:srgbClr val="2C2C2C"/>
                </a:solidFill>
                <a:latin typeface="Calibri" pitchFamily="34" charset="0"/>
                <a:ea typeface="Calibri" pitchFamily="34" charset="-122"/>
                <a:cs typeface="Calibri" pitchFamily="34" charset="-120"/>
              </a:rPr>
              <a:t>This is argumentation theory applied to scientific knowledge — not just facts, but warrant structures.</a:t>
            </a:r>
            <a:endParaRPr lang="en-US" sz="1200" dirty="0"/>
          </a:p>
        </p:txBody>
      </p:sp>
      <p:sp>
        <p:nvSpPr>
          <p:cNvPr id="28" name="Text 26"/>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10/23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NEURO MEETS ENV PSYCH — EXAMPLE 1</a:t>
            </a:r>
            <a:endParaRPr lang="en-US" sz="1000" dirty="0"/>
          </a:p>
        </p:txBody>
      </p:sp>
      <p:sp>
        <p:nvSpPr>
          <p:cNvPr id="4" name="Text 2"/>
          <p:cNvSpPr/>
          <p:nvPr/>
        </p:nvSpPr>
        <p:spPr>
          <a:xfrm>
            <a:off x="640080" y="548640"/>
            <a:ext cx="7863840" cy="82296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Daylight: Two Pathways,</a:t>
            </a:r>
            <a:endParaRPr lang="en-US" sz="2800" dirty="0"/>
          </a:p>
          <a:p>
            <a:pPr indent="0" marL="0">
              <a:buNone/>
            </a:pPr>
            <a:r>
              <a:rPr lang="en-US" sz="2800" b="1" dirty="0">
                <a:solidFill>
                  <a:srgbClr val="1B2A4A"/>
                </a:solidFill>
                <a:latin typeface="Georgia" pitchFamily="34" charset="0"/>
                <a:ea typeface="Georgia" pitchFamily="34" charset="-122"/>
                <a:cs typeface="Georgia" pitchFamily="34" charset="-120"/>
              </a:rPr>
              <a:t>Two Design Strategies</a:t>
            </a:r>
            <a:endParaRPr lang="en-US" sz="2800" dirty="0"/>
          </a:p>
        </p:txBody>
      </p:sp>
      <p:sp>
        <p:nvSpPr>
          <p:cNvPr id="5" name="Shape 3"/>
          <p:cNvSpPr/>
          <p:nvPr/>
        </p:nvSpPr>
        <p:spPr>
          <a:xfrm>
            <a:off x="640080" y="1554480"/>
            <a:ext cx="73152" cy="1463040"/>
          </a:xfrm>
          <a:prstGeom prst="rect">
            <a:avLst/>
          </a:prstGeom>
          <a:solidFill>
            <a:srgbClr val="C4993B"/>
          </a:solidFill>
          <a:ln/>
        </p:spPr>
      </p:sp>
      <p:sp>
        <p:nvSpPr>
          <p:cNvPr id="6" name="Text 4"/>
          <p:cNvSpPr/>
          <p:nvPr/>
        </p:nvSpPr>
        <p:spPr>
          <a:xfrm>
            <a:off x="914400" y="1554480"/>
            <a:ext cx="3657600" cy="32004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IMAGE-FORMING PATHWAY</a:t>
            </a:r>
            <a:endParaRPr lang="en-US" sz="1300" dirty="0"/>
          </a:p>
        </p:txBody>
      </p:sp>
      <p:sp>
        <p:nvSpPr>
          <p:cNvPr id="7" name="Text 5"/>
          <p:cNvSpPr/>
          <p:nvPr/>
        </p:nvSpPr>
        <p:spPr>
          <a:xfrm>
            <a:off x="914400" y="1920240"/>
            <a:ext cx="3657600" cy="109728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Rods/cones → V1 → ventral stream → scene perception</a:t>
            </a:r>
            <a:endParaRPr lang="en-US" sz="1100" dirty="0"/>
          </a:p>
          <a:p>
            <a:pPr indent="0" marL="0">
              <a:buNone/>
            </a:pPr>
            <a:r>
              <a:rPr lang="en-US" sz="1100" dirty="0">
                <a:solidFill>
                  <a:srgbClr val="2C2C2C"/>
                </a:solidFill>
                <a:latin typeface="Calibri" pitchFamily="34" charset="0"/>
                <a:ea typeface="Calibri" pitchFamily="34" charset="-122"/>
                <a:cs typeface="Calibri" pitchFamily="34" charset="-120"/>
              </a:rPr>
              <a:t>Provides: visual complexity, fractal content, biophilic stimulation</a:t>
            </a:r>
            <a:endParaRPr lang="en-US" sz="1100" dirty="0"/>
          </a:p>
          <a:p>
            <a:pPr indent="0" marL="0">
              <a:buNone/>
            </a:pPr>
            <a:r>
              <a:rPr lang="en-US" sz="1100" dirty="0">
                <a:solidFill>
                  <a:srgbClr val="2C2C2C"/>
                </a:solidFill>
                <a:latin typeface="Calibri" pitchFamily="34" charset="0"/>
                <a:ea typeface="Calibri" pitchFamily="34" charset="-122"/>
                <a:cs typeface="Calibri" pitchFamily="34" charset="-120"/>
              </a:rPr>
              <a:t>Design: Window SIZE, VIEW CONTENT (nature vs. parking lot)</a:t>
            </a:r>
            <a:endParaRPr lang="en-US" sz="1100" dirty="0"/>
          </a:p>
          <a:p>
            <a:pPr indent="0" marL="0">
              <a:buNone/>
            </a:pPr>
            <a:r>
              <a:rPr lang="en-US" sz="1100" dirty="0">
                <a:solidFill>
                  <a:srgbClr val="2C2C2C"/>
                </a:solidFill>
                <a:latin typeface="Calibri" pitchFamily="34" charset="0"/>
                <a:ea typeface="Calibri" pitchFamily="34" charset="-122"/>
                <a:cs typeface="Calibri" pitchFamily="34" charset="-120"/>
              </a:rPr>
              <a:t>The Ulrich effect operates here — it's the image that heals</a:t>
            </a:r>
            <a:endParaRPr lang="en-US" sz="1100" dirty="0"/>
          </a:p>
        </p:txBody>
      </p:sp>
      <p:sp>
        <p:nvSpPr>
          <p:cNvPr id="8" name="Shape 6"/>
          <p:cNvSpPr/>
          <p:nvPr/>
        </p:nvSpPr>
        <p:spPr>
          <a:xfrm>
            <a:off x="4846320" y="1554480"/>
            <a:ext cx="73152" cy="1463040"/>
          </a:xfrm>
          <a:prstGeom prst="rect">
            <a:avLst/>
          </a:prstGeom>
          <a:solidFill>
            <a:srgbClr val="2A6F7A"/>
          </a:solidFill>
          <a:ln/>
        </p:spPr>
      </p:sp>
      <p:sp>
        <p:nvSpPr>
          <p:cNvPr id="9" name="Text 7"/>
          <p:cNvSpPr/>
          <p:nvPr/>
        </p:nvSpPr>
        <p:spPr>
          <a:xfrm>
            <a:off x="5120640" y="1554480"/>
            <a:ext cx="3657600" cy="320040"/>
          </a:xfrm>
          <a:prstGeom prst="rect">
            <a:avLst/>
          </a:prstGeom>
          <a:noFill/>
          <a:ln/>
        </p:spPr>
        <p:txBody>
          <a:bodyPr wrap="square" rtlCol="0" anchor="ctr"/>
          <a:lstStyle/>
          <a:p>
            <a:pPr indent="0" marL="0">
              <a:buNone/>
            </a:pPr>
            <a:r>
              <a:rPr lang="en-US" sz="1300" b="1" dirty="0">
                <a:solidFill>
                  <a:srgbClr val="2A6F7A"/>
                </a:solidFill>
                <a:latin typeface="Calibri" pitchFamily="34" charset="0"/>
                <a:ea typeface="Calibri" pitchFamily="34" charset="-122"/>
                <a:cs typeface="Calibri" pitchFamily="34" charset="-120"/>
              </a:rPr>
              <a:t>NON-IMAGE-FORMING PATHWAY</a:t>
            </a:r>
            <a:endParaRPr lang="en-US" sz="1300" dirty="0"/>
          </a:p>
        </p:txBody>
      </p:sp>
      <p:sp>
        <p:nvSpPr>
          <p:cNvPr id="10" name="Text 8"/>
          <p:cNvSpPr/>
          <p:nvPr/>
        </p:nvSpPr>
        <p:spPr>
          <a:xfrm>
            <a:off x="5120640" y="1920240"/>
            <a:ext cx="3657600" cy="109728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ipRGCs (melanopsin) → SCN → circadian regulation</a:t>
            </a:r>
            <a:endParaRPr lang="en-US" sz="1100" dirty="0"/>
          </a:p>
          <a:p>
            <a:pPr indent="0" marL="0">
              <a:buNone/>
            </a:pPr>
            <a:r>
              <a:rPr lang="en-US" sz="1100" dirty="0">
                <a:solidFill>
                  <a:srgbClr val="2C2C2C"/>
                </a:solidFill>
                <a:latin typeface="Calibri" pitchFamily="34" charset="0"/>
                <a:ea typeface="Calibri" pitchFamily="34" charset="-122"/>
                <a:cs typeface="Calibri" pitchFamily="34" charset="-120"/>
              </a:rPr>
              <a:t>Provides: circadian entrainment, alertness, melatonin timing</a:t>
            </a:r>
            <a:endParaRPr lang="en-US" sz="1100" dirty="0"/>
          </a:p>
          <a:p>
            <a:pPr indent="0" marL="0">
              <a:buNone/>
            </a:pPr>
            <a:r>
              <a:rPr lang="en-US" sz="1100" dirty="0">
                <a:solidFill>
                  <a:srgbClr val="2C2C2C"/>
                </a:solidFill>
                <a:latin typeface="Calibri" pitchFamily="34" charset="0"/>
                <a:ea typeface="Calibri" pitchFamily="34" charset="-122"/>
                <a:cs typeface="Calibri" pitchFamily="34" charset="-120"/>
              </a:rPr>
              <a:t>Design: LIGHT SPECTRUM, TIMING, INTENSITY</a:t>
            </a:r>
            <a:endParaRPr lang="en-US" sz="1100" dirty="0"/>
          </a:p>
          <a:p>
            <a:pPr indent="0" marL="0">
              <a:buNone/>
            </a:pPr>
            <a:r>
              <a:rPr lang="en-US" sz="1100" dirty="0">
                <a:solidFill>
                  <a:srgbClr val="2C2C2C"/>
                </a:solidFill>
                <a:latin typeface="Calibri" pitchFamily="34" charset="0"/>
                <a:ea typeface="Calibri" pitchFamily="34" charset="-122"/>
                <a:cs typeface="Calibri" pitchFamily="34" charset="-120"/>
              </a:rPr>
              <a:t>Heschong's learning effect includes this — blue light at 10am</a:t>
            </a:r>
            <a:endParaRPr lang="en-US" sz="1100" dirty="0"/>
          </a:p>
        </p:txBody>
      </p:sp>
      <p:sp>
        <p:nvSpPr>
          <p:cNvPr id="11" name="Shape 9"/>
          <p:cNvSpPr/>
          <p:nvPr/>
        </p:nvSpPr>
        <p:spPr>
          <a:xfrm>
            <a:off x="640080" y="3291840"/>
            <a:ext cx="7863840" cy="1097280"/>
          </a:xfrm>
          <a:prstGeom prst="rect">
            <a:avLst/>
          </a:prstGeom>
          <a:solidFill>
            <a:srgbClr val="E8E4DC"/>
          </a:solidFill>
          <a:ln/>
        </p:spPr>
      </p:sp>
      <p:sp>
        <p:nvSpPr>
          <p:cNvPr id="12" name="Text 10"/>
          <p:cNvSpPr/>
          <p:nvPr/>
        </p:nvSpPr>
        <p:spPr>
          <a:xfrm>
            <a:off x="822960" y="3337560"/>
            <a:ext cx="7498080" cy="1005840"/>
          </a:xfrm>
          <a:prstGeom prst="rect">
            <a:avLst/>
          </a:prstGeom>
          <a:noFill/>
          <a:ln/>
        </p:spPr>
        <p:txBody>
          <a:bodyPr wrap="square" rtlCol="0" anchor="t"/>
          <a:lstStyle/>
          <a:p>
            <a:pPr indent="0" marL="0">
              <a:buNone/>
            </a:pPr>
            <a:r>
              <a:rPr lang="en-US" sz="1300" b="1" dirty="0">
                <a:solidFill>
                  <a:srgbClr val="2C2C2C"/>
                </a:solidFill>
                <a:latin typeface="Calibri" pitchFamily="34" charset="0"/>
                <a:ea typeface="Calibri" pitchFamily="34" charset="-122"/>
                <a:cs typeface="Calibri" pitchFamily="34" charset="-120"/>
              </a:rPr>
              <a:t>The insight: </a:t>
            </a:r>
            <a:pPr indent="0" marL="0">
              <a:buNone/>
            </a:pPr>
            <a:r>
              <a:rPr lang="en-US" sz="1300" dirty="0">
                <a:solidFill>
                  <a:srgbClr val="2C2C2C"/>
                </a:solidFill>
                <a:latin typeface="Calibri" pitchFamily="34" charset="0"/>
                <a:ea typeface="Calibri" pitchFamily="34" charset="-122"/>
                <a:cs typeface="Calibri" pitchFamily="34" charset="-120"/>
              </a:rPr>
              <a:t>Heschong's "daylight improves learning" conflates two independent mechanisms.</a:t>
            </a:r>
            <a:pPr indent="0" marL="0">
              <a:buNone/>
            </a:pPr>
            <a:endParaRPr lang="en-US" sz="1300" dirty="0"/>
          </a:p>
          <a:p>
            <a:pPr indent="0" marL="0">
              <a:buNone/>
            </a:pPr>
            <a:r>
              <a:rPr lang="en-US" sz="1200" i="1" dirty="0">
                <a:solidFill>
                  <a:srgbClr val="2C2C2C"/>
                </a:solidFill>
                <a:latin typeface="Calibri" pitchFamily="34" charset="0"/>
                <a:ea typeface="Calibri" pitchFamily="34" charset="-122"/>
                <a:cs typeface="Calibri" pitchFamily="34" charset="-120"/>
              </a:rPr>
              <a:t>A windowless room with tunable LEDs can provide pathway 2 (circadian) without pathway 1 (view).</a:t>
            </a:r>
            <a:endParaRPr lang="en-US" sz="1300" dirty="0"/>
          </a:p>
          <a:p>
            <a:pPr indent="0" marL="0">
              <a:buNone/>
            </a:pPr>
            <a:endParaRPr lang="en-US" sz="1300" dirty="0"/>
          </a:p>
          <a:p>
            <a:pPr indent="0" marL="0">
              <a:buNone/>
            </a:pPr>
            <a:r>
              <a:rPr lang="en-US" sz="1200" i="1" dirty="0">
                <a:solidFill>
                  <a:srgbClr val="2C2C2C"/>
                </a:solidFill>
                <a:latin typeface="Calibri" pitchFamily="34" charset="0"/>
                <a:ea typeface="Calibri" pitchFamily="34" charset="-122"/>
                <a:cs typeface="Calibri" pitchFamily="34" charset="-120"/>
              </a:rPr>
              <a:t>A room with a small window facing nature provides pathway 1 without adequate pathway 2.</a:t>
            </a:r>
            <a:endParaRPr lang="en-US" sz="1300" dirty="0"/>
          </a:p>
          <a:p>
            <a:pPr indent="0" marL="0">
              <a:buNone/>
            </a:pPr>
            <a:endParaRPr lang="en-US" sz="1300" dirty="0"/>
          </a:p>
          <a:p>
            <a:pPr indent="0" marL="0">
              <a:buNone/>
            </a:pPr>
            <a:r>
              <a:rPr lang="en-US" sz="1200" b="1" dirty="0">
                <a:solidFill>
                  <a:srgbClr val="2C2C2C"/>
                </a:solidFill>
                <a:latin typeface="Calibri" pitchFamily="34" charset="0"/>
                <a:ea typeface="Calibri" pitchFamily="34" charset="-122"/>
                <a:cs typeface="Calibri" pitchFamily="34" charset="-120"/>
              </a:rPr>
              <a:t>The template decomposition generates different architectural specifications for each.</a:t>
            </a:r>
            <a:endParaRPr lang="en-US" sz="1300" dirty="0"/>
          </a:p>
        </p:txBody>
      </p:sp>
      <p:sp>
        <p:nvSpPr>
          <p:cNvPr id="13" name="Text 11"/>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11/23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NEURO MEETS ENV PSYCH — EXAMPLE 2</a:t>
            </a:r>
            <a:endParaRPr lang="en-US" sz="1000" dirty="0"/>
          </a:p>
        </p:txBody>
      </p:sp>
      <p:sp>
        <p:nvSpPr>
          <p:cNvPr id="4" name="Text 2"/>
          <p:cNvSpPr/>
          <p:nvPr/>
        </p:nvSpPr>
        <p:spPr>
          <a:xfrm>
            <a:off x="640080" y="548640"/>
            <a:ext cx="7863840" cy="82296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Why Translucent Partitions</a:t>
            </a:r>
            <a:endParaRPr lang="en-US" sz="2800" dirty="0"/>
          </a:p>
          <a:p>
            <a:pPr indent="0" marL="0">
              <a:buNone/>
            </a:pPr>
            <a:r>
              <a:rPr lang="en-US" sz="2800" b="1" dirty="0">
                <a:solidFill>
                  <a:srgbClr val="1B2A4A"/>
                </a:solidFill>
                <a:latin typeface="Georgia" pitchFamily="34" charset="0"/>
                <a:ea typeface="Georgia" pitchFamily="34" charset="-122"/>
                <a:cs typeface="Georgia" pitchFamily="34" charset="-120"/>
              </a:rPr>
              <a:t>Are Worse Than No Partitions</a:t>
            </a:r>
            <a:endParaRPr lang="en-US" sz="2800" dirty="0"/>
          </a:p>
        </p:txBody>
      </p:sp>
      <p:sp>
        <p:nvSpPr>
          <p:cNvPr id="5" name="Text 3"/>
          <p:cNvSpPr/>
          <p:nvPr/>
        </p:nvSpPr>
        <p:spPr>
          <a:xfrm>
            <a:off x="640080" y="1417320"/>
            <a:ext cx="7863840" cy="320040"/>
          </a:xfrm>
          <a:prstGeom prst="rect">
            <a:avLst/>
          </a:prstGeom>
          <a:noFill/>
          <a:ln/>
        </p:spPr>
        <p:txBody>
          <a:bodyPr wrap="square" rtlCol="0" anchor="ctr"/>
          <a:lstStyle/>
          <a:p>
            <a:pPr indent="0" marL="0">
              <a:buNone/>
            </a:pPr>
            <a:r>
              <a:rPr lang="en-US" sz="1200" i="1" dirty="0">
                <a:solidFill>
                  <a:srgbClr val="2A6F7A"/>
                </a:solidFill>
                <a:latin typeface="Calibri" pitchFamily="34" charset="0"/>
                <a:ea typeface="Calibri" pitchFamily="34" charset="-122"/>
                <a:cs typeface="Calibri" pitchFamily="34" charset="-120"/>
              </a:rPr>
              <a:t>A prediction that ONLY comes from composing conflict monitoring theory with workspace architecture:</a:t>
            </a:r>
            <a:endParaRPr lang="en-US" sz="1200" dirty="0"/>
          </a:p>
        </p:txBody>
      </p:sp>
      <p:sp>
        <p:nvSpPr>
          <p:cNvPr id="6" name="Shape 4"/>
          <p:cNvSpPr/>
          <p:nvPr/>
        </p:nvSpPr>
        <p:spPr>
          <a:xfrm>
            <a:off x="640080" y="1828800"/>
            <a:ext cx="2651760" cy="2103120"/>
          </a:xfrm>
          <a:prstGeom prst="rect">
            <a:avLst/>
          </a:prstGeom>
          <a:solidFill>
            <a:srgbClr val="E8E4DC"/>
          </a:solidFill>
          <a:ln/>
        </p:spPr>
      </p:sp>
      <p:sp>
        <p:nvSpPr>
          <p:cNvPr id="7" name="Text 5"/>
          <p:cNvSpPr/>
          <p:nvPr/>
        </p:nvSpPr>
        <p:spPr>
          <a:xfrm>
            <a:off x="731520" y="1874520"/>
            <a:ext cx="2468880" cy="320040"/>
          </a:xfrm>
          <a:prstGeom prst="rect">
            <a:avLst/>
          </a:prstGeom>
          <a:noFill/>
          <a:ln/>
        </p:spPr>
        <p:txBody>
          <a:bodyPr wrap="square" rtlCol="0" anchor="ctr"/>
          <a:lstStyle/>
          <a:p>
            <a:pPr indent="0" marL="0">
              <a:buNone/>
            </a:pPr>
            <a:r>
              <a:rPr lang="en-US" sz="1400" b="1" dirty="0">
                <a:solidFill>
                  <a:srgbClr val="2C2C2C"/>
                </a:solidFill>
                <a:latin typeface="Calibri" pitchFamily="34" charset="0"/>
                <a:ea typeface="Calibri" pitchFamily="34" charset="-122"/>
                <a:cs typeface="Calibri" pitchFamily="34" charset="-120"/>
              </a:rPr>
              <a:t>No barrier</a:t>
            </a:r>
            <a:endParaRPr lang="en-US" sz="1400" dirty="0"/>
          </a:p>
        </p:txBody>
      </p:sp>
      <p:sp>
        <p:nvSpPr>
          <p:cNvPr id="8" name="Text 6"/>
          <p:cNvSpPr/>
          <p:nvPr/>
        </p:nvSpPr>
        <p:spPr>
          <a:xfrm>
            <a:off x="731520" y="2240280"/>
            <a:ext cx="2468880" cy="1188720"/>
          </a:xfrm>
          <a:prstGeom prst="rect">
            <a:avLst/>
          </a:prstGeom>
          <a:noFill/>
          <a:ln/>
        </p:spPr>
        <p:txBody>
          <a:bodyPr wrap="square" rtlCol="0" anchor="t"/>
          <a:lstStyle/>
          <a:p>
            <a:pPr indent="0" marL="0">
              <a:buNone/>
            </a:pPr>
            <a:r>
              <a:rPr lang="en-US" sz="1000" dirty="0">
                <a:solidFill>
                  <a:srgbClr val="2C2C2C"/>
                </a:solidFill>
                <a:latin typeface="Calibri" pitchFamily="34" charset="0"/>
                <a:ea typeface="Calibri" pitchFamily="34" charset="-122"/>
                <a:cs typeface="Calibri" pitchFamily="34" charset="-120"/>
              </a:rPr>
              <a:t>Movement visible → orienting → interruption.</a:t>
            </a:r>
            <a:endParaRPr lang="en-US" sz="1000" dirty="0"/>
          </a:p>
          <a:p>
            <a:pPr indent="0" marL="0">
              <a:buNone/>
            </a:pPr>
            <a:r>
              <a:rPr lang="en-US" sz="1000" dirty="0">
                <a:solidFill>
                  <a:srgbClr val="2C2C2C"/>
                </a:solidFill>
                <a:latin typeface="Calibri" pitchFamily="34" charset="0"/>
                <a:ea typeface="Calibri" pitchFamily="34" charset="-122"/>
                <a:cs typeface="Calibri" pitchFamily="34" charset="-120"/>
              </a:rPr>
              <a:t>BUT: you habituate. The system learns</a:t>
            </a:r>
            <a:endParaRPr lang="en-US" sz="1000" dirty="0"/>
          </a:p>
          <a:p>
            <a:pPr indent="0" marL="0">
              <a:buNone/>
            </a:pPr>
            <a:r>
              <a:rPr lang="en-US" sz="1000" dirty="0">
                <a:solidFill>
                  <a:srgbClr val="2C2C2C"/>
                </a:solidFill>
                <a:latin typeface="Calibri" pitchFamily="34" charset="0"/>
                <a:ea typeface="Calibri" pitchFamily="34" charset="-122"/>
                <a:cs typeface="Calibri" pitchFamily="34" charset="-120"/>
              </a:rPr>
              <a:t>to down-weight that channel.</a:t>
            </a:r>
            <a:endParaRPr lang="en-US" sz="1000" dirty="0"/>
          </a:p>
        </p:txBody>
      </p:sp>
      <p:sp>
        <p:nvSpPr>
          <p:cNvPr id="9" name="Text 7"/>
          <p:cNvSpPr/>
          <p:nvPr/>
        </p:nvSpPr>
        <p:spPr>
          <a:xfrm>
            <a:off x="731520" y="3474720"/>
            <a:ext cx="2468880" cy="320040"/>
          </a:xfrm>
          <a:prstGeom prst="rect">
            <a:avLst/>
          </a:prstGeom>
          <a:noFill/>
          <a:ln/>
        </p:spPr>
        <p:txBody>
          <a:bodyPr wrap="square" rtlCol="0" anchor="ctr"/>
          <a:lstStyle/>
          <a:p>
            <a:pPr indent="0" marL="0">
              <a:buNone/>
            </a:pPr>
            <a:r>
              <a:rPr lang="en-US" sz="1200" b="1" dirty="0">
                <a:solidFill>
                  <a:srgbClr val="2C2C2C"/>
                </a:solidFill>
                <a:latin typeface="Calibri" pitchFamily="34" charset="0"/>
                <a:ea typeface="Calibri" pitchFamily="34" charset="-122"/>
                <a:cs typeface="Calibri" pitchFamily="34" charset="-120"/>
              </a:rPr>
              <a:t>Moderate cost</a:t>
            </a:r>
            <a:endParaRPr lang="en-US" sz="1200" dirty="0"/>
          </a:p>
        </p:txBody>
      </p:sp>
      <p:sp>
        <p:nvSpPr>
          <p:cNvPr id="10" name="Shape 8"/>
          <p:cNvSpPr/>
          <p:nvPr/>
        </p:nvSpPr>
        <p:spPr>
          <a:xfrm>
            <a:off x="3474720" y="1828800"/>
            <a:ext cx="2651760" cy="2103120"/>
          </a:xfrm>
          <a:prstGeom prst="rect">
            <a:avLst/>
          </a:prstGeom>
          <a:solidFill>
            <a:srgbClr val="7BA393"/>
          </a:solidFill>
          <a:ln/>
        </p:spPr>
      </p:sp>
      <p:sp>
        <p:nvSpPr>
          <p:cNvPr id="11" name="Text 9"/>
          <p:cNvSpPr/>
          <p:nvPr/>
        </p:nvSpPr>
        <p:spPr>
          <a:xfrm>
            <a:off x="3566160" y="1874520"/>
            <a:ext cx="246888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Opaque barrier</a:t>
            </a:r>
            <a:endParaRPr lang="en-US" sz="1400" dirty="0"/>
          </a:p>
        </p:txBody>
      </p:sp>
      <p:sp>
        <p:nvSpPr>
          <p:cNvPr id="12" name="Text 10"/>
          <p:cNvSpPr/>
          <p:nvPr/>
        </p:nvSpPr>
        <p:spPr>
          <a:xfrm>
            <a:off x="3566160" y="2240280"/>
            <a:ext cx="2468880" cy="118872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No movement signal at all.</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No orienting, no conflict, no cost.</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The explicit workspace is fully protected.</a:t>
            </a:r>
            <a:endParaRPr lang="en-US" sz="1000" dirty="0"/>
          </a:p>
        </p:txBody>
      </p:sp>
      <p:sp>
        <p:nvSpPr>
          <p:cNvPr id="13" name="Text 11"/>
          <p:cNvSpPr/>
          <p:nvPr/>
        </p:nvSpPr>
        <p:spPr>
          <a:xfrm>
            <a:off x="3566160" y="3474720"/>
            <a:ext cx="246888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Zero cost</a:t>
            </a:r>
            <a:endParaRPr lang="en-US" sz="1200" dirty="0"/>
          </a:p>
        </p:txBody>
      </p:sp>
      <p:sp>
        <p:nvSpPr>
          <p:cNvPr id="14" name="Shape 12"/>
          <p:cNvSpPr/>
          <p:nvPr/>
        </p:nvSpPr>
        <p:spPr>
          <a:xfrm>
            <a:off x="6309360" y="1828800"/>
            <a:ext cx="2651760" cy="2103120"/>
          </a:xfrm>
          <a:prstGeom prst="rect">
            <a:avLst/>
          </a:prstGeom>
          <a:solidFill>
            <a:srgbClr val="B85042"/>
          </a:solidFill>
          <a:ln/>
        </p:spPr>
      </p:sp>
      <p:sp>
        <p:nvSpPr>
          <p:cNvPr id="15" name="Text 13"/>
          <p:cNvSpPr/>
          <p:nvPr/>
        </p:nvSpPr>
        <p:spPr>
          <a:xfrm>
            <a:off x="6400800" y="1874520"/>
            <a:ext cx="246888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Translucent barrier</a:t>
            </a:r>
            <a:endParaRPr lang="en-US" sz="1400" dirty="0"/>
          </a:p>
        </p:txBody>
      </p:sp>
      <p:sp>
        <p:nvSpPr>
          <p:cNvPr id="16" name="Text 14"/>
          <p:cNvSpPr/>
          <p:nvPr/>
        </p:nvSpPr>
        <p:spPr>
          <a:xfrm>
            <a:off x="6400800" y="2240280"/>
            <a:ext cx="2468880" cy="118872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Blurred movement → subthreshold signal.</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Too weak to trigger full orienting,</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TOO STRONG to be safely ignored.</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Conflict monitoring fires continuously.</a:t>
            </a:r>
            <a:endParaRPr lang="en-US" sz="1000" dirty="0"/>
          </a:p>
        </p:txBody>
      </p:sp>
      <p:sp>
        <p:nvSpPr>
          <p:cNvPr id="17" name="Text 15"/>
          <p:cNvSpPr/>
          <p:nvPr/>
        </p:nvSpPr>
        <p:spPr>
          <a:xfrm>
            <a:off x="6400800" y="3474720"/>
            <a:ext cx="246888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HIGHEST cost</a:t>
            </a:r>
            <a:endParaRPr lang="en-US" sz="1200" dirty="0"/>
          </a:p>
        </p:txBody>
      </p:sp>
      <p:sp>
        <p:nvSpPr>
          <p:cNvPr id="18" name="Shape 16"/>
          <p:cNvSpPr/>
          <p:nvPr/>
        </p:nvSpPr>
        <p:spPr>
          <a:xfrm>
            <a:off x="640080" y="4069080"/>
            <a:ext cx="7863840" cy="960120"/>
          </a:xfrm>
          <a:prstGeom prst="rect">
            <a:avLst/>
          </a:prstGeom>
          <a:solidFill>
            <a:srgbClr val="1B2A4A"/>
          </a:solidFill>
          <a:ln/>
        </p:spPr>
      </p:sp>
      <p:sp>
        <p:nvSpPr>
          <p:cNvPr id="19" name="Text 17"/>
          <p:cNvSpPr/>
          <p:nvPr/>
        </p:nvSpPr>
        <p:spPr>
          <a:xfrm>
            <a:off x="822960" y="4114800"/>
            <a:ext cx="7498080" cy="868680"/>
          </a:xfrm>
          <a:prstGeom prst="rect">
            <a:avLst/>
          </a:prstGeom>
          <a:noFill/>
          <a:ln/>
        </p:spPr>
        <p:txBody>
          <a:bodyPr wrap="square" rtlCol="0" anchor="t"/>
          <a:lstStyle/>
          <a:p>
            <a:pPr indent="0" marL="0">
              <a:buNone/>
            </a:pPr>
            <a:r>
              <a:rPr lang="en-US" sz="1100" b="1" dirty="0">
                <a:solidFill>
                  <a:srgbClr val="C4993B"/>
                </a:solidFill>
                <a:latin typeface="Calibri" pitchFamily="34" charset="0"/>
                <a:ea typeface="Calibri" pitchFamily="34" charset="-122"/>
                <a:cs typeface="Calibri" pitchFamily="34" charset="-120"/>
              </a:rPr>
              <a:t>The mechanism (Botvinick et al., 2001; Shenhav et al., 2017): </a:t>
            </a:r>
            <a:pPr indent="0" marL="0">
              <a:buNone/>
            </a:pPr>
            <a:r>
              <a:rPr lang="en-US" sz="1100" dirty="0">
                <a:solidFill>
                  <a:srgbClr val="F5F0E8"/>
                </a:solidFill>
                <a:latin typeface="Calibri" pitchFamily="34" charset="0"/>
                <a:ea typeface="Calibri" pitchFamily="34" charset="-122"/>
                <a:cs typeface="Calibri" pitchFamily="34" charset="-120"/>
              </a:rPr>
              <a:t>dACC conflict monitoring has a METABOLIC COST per event, even when the intrusion is successfully suppressed.</a:t>
            </a:r>
            <a:endParaRPr lang="en-US" sz="1100" dirty="0"/>
          </a:p>
          <a:p>
            <a:pPr indent="0" marL="0">
              <a:buNone/>
            </a:pPr>
            <a:r>
              <a:rPr lang="en-US" sz="1100" dirty="0">
                <a:solidFill>
                  <a:srgbClr val="F5F0E8"/>
                </a:solidFill>
                <a:latin typeface="Calibri" pitchFamily="34" charset="0"/>
                <a:ea typeface="Calibri" pitchFamily="34" charset="-122"/>
                <a:cs typeface="Calibri" pitchFamily="34" charset="-120"/>
              </a:rPr>
              <a:t>Translucent barriers maximize conflict events — each blurred movement triggers detect-evaluate-suppress.</a:t>
            </a:r>
            <a:endParaRPr lang="en-US" sz="1100" dirty="0"/>
          </a:p>
          <a:p>
            <a:pPr indent="0" marL="0">
              <a:buNone/>
            </a:pPr>
            <a:r>
              <a:rPr lang="en-US" sz="1100" b="1" dirty="0">
                <a:solidFill>
                  <a:srgbClr val="7BA393"/>
                </a:solidFill>
                <a:latin typeface="Calibri" pitchFamily="34" charset="0"/>
                <a:ea typeface="Calibri" pitchFamily="34" charset="-122"/>
                <a:cs typeface="Calibri" pitchFamily="34" charset="-120"/>
              </a:rPr>
              <a:t>20 subthreshold near-misses per hour exhaust the control budget FASTER than 5 actual interruptions.</a:t>
            </a:r>
            <a:endParaRPr lang="en-US" sz="1100" dirty="0"/>
          </a:p>
        </p:txBody>
      </p:sp>
      <p:sp>
        <p:nvSpPr>
          <p:cNvPr id="20" name="Text 18"/>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12/23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NEURO MEETS ENV PSYCH — EXAMPLE 3</a:t>
            </a:r>
            <a:endParaRPr lang="en-US" sz="1000" dirty="0"/>
          </a:p>
        </p:txBody>
      </p:sp>
      <p:sp>
        <p:nvSpPr>
          <p:cNvPr id="4" name="Text 2"/>
          <p:cNvSpPr/>
          <p:nvPr/>
        </p:nvSpPr>
        <p:spPr>
          <a:xfrm>
            <a:off x="640080" y="548640"/>
            <a:ext cx="7863840" cy="82296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Wood: Multi-Channel Convergence</a:t>
            </a:r>
            <a:endParaRPr lang="en-US" sz="2800" dirty="0"/>
          </a:p>
          <a:p>
            <a:pPr indent="0" marL="0">
              <a:buNone/>
            </a:pPr>
            <a:r>
              <a:rPr lang="en-US" sz="2800" b="1" dirty="0">
                <a:solidFill>
                  <a:srgbClr val="1B2A4A"/>
                </a:solidFill>
                <a:latin typeface="Georgia" pitchFamily="34" charset="0"/>
                <a:ea typeface="Georgia" pitchFamily="34" charset="-122"/>
                <a:cs typeface="Georgia" pitchFamily="34" charset="-120"/>
              </a:rPr>
              <a:t>as a Design Principle</a:t>
            </a:r>
            <a:endParaRPr lang="en-US" sz="2800" dirty="0"/>
          </a:p>
        </p:txBody>
      </p:sp>
      <p:sp>
        <p:nvSpPr>
          <p:cNvPr id="5" name="Text 3"/>
          <p:cNvSpPr/>
          <p:nvPr/>
        </p:nvSpPr>
        <p:spPr>
          <a:xfrm>
            <a:off x="640080" y="1371600"/>
            <a:ext cx="7863840" cy="320040"/>
          </a:xfrm>
          <a:prstGeom prst="rect">
            <a:avLst/>
          </a:prstGeom>
          <a:noFill/>
          <a:ln/>
        </p:spPr>
        <p:txBody>
          <a:bodyPr wrap="square" rtlCol="0" anchor="ctr"/>
          <a:lstStyle/>
          <a:p>
            <a:pPr indent="0" marL="0">
              <a:buNone/>
            </a:pPr>
            <a:r>
              <a:rPr lang="en-US" sz="1400" i="1" dirty="0">
                <a:solidFill>
                  <a:srgbClr val="2A6F7A"/>
                </a:solidFill>
                <a:latin typeface="Calibri" pitchFamily="34" charset="0"/>
                <a:ea typeface="Calibri" pitchFamily="34" charset="-122"/>
                <a:cs typeface="Calibri" pitchFamily="34" charset="-120"/>
              </a:rPr>
              <a:t>Why does exposed wood consistently outperform other materials in wellbeing studies?</a:t>
            </a:r>
            <a:endParaRPr lang="en-US" sz="1400" dirty="0"/>
          </a:p>
        </p:txBody>
      </p:sp>
      <p:sp>
        <p:nvSpPr>
          <p:cNvPr id="6" name="Shape 4"/>
          <p:cNvSpPr/>
          <p:nvPr/>
        </p:nvSpPr>
        <p:spPr>
          <a:xfrm>
            <a:off x="640080" y="1920240"/>
            <a:ext cx="1188720" cy="411480"/>
          </a:xfrm>
          <a:prstGeom prst="rect">
            <a:avLst/>
          </a:prstGeom>
          <a:solidFill>
            <a:srgbClr val="2A6F7A"/>
          </a:solidFill>
          <a:ln/>
        </p:spPr>
      </p:sp>
      <p:sp>
        <p:nvSpPr>
          <p:cNvPr id="7" name="Text 5"/>
          <p:cNvSpPr/>
          <p:nvPr/>
        </p:nvSpPr>
        <p:spPr>
          <a:xfrm>
            <a:off x="640080" y="1920240"/>
            <a:ext cx="118872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Visual</a:t>
            </a:r>
            <a:endParaRPr lang="en-US" sz="1100" dirty="0"/>
          </a:p>
        </p:txBody>
      </p:sp>
      <p:sp>
        <p:nvSpPr>
          <p:cNvPr id="8" name="Text 6"/>
          <p:cNvSpPr/>
          <p:nvPr/>
        </p:nvSpPr>
        <p:spPr>
          <a:xfrm>
            <a:off x="2011680" y="1920240"/>
            <a:ext cx="6583680" cy="41148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Fractal patterns (D ≈ 1.3), warm color temperature, grain provides moderate complexity</a:t>
            </a:r>
            <a:endParaRPr lang="en-US" sz="1100" dirty="0"/>
          </a:p>
        </p:txBody>
      </p:sp>
      <p:sp>
        <p:nvSpPr>
          <p:cNvPr id="9" name="Shape 7"/>
          <p:cNvSpPr/>
          <p:nvPr/>
        </p:nvSpPr>
        <p:spPr>
          <a:xfrm>
            <a:off x="640080" y="2423160"/>
            <a:ext cx="1188720" cy="411480"/>
          </a:xfrm>
          <a:prstGeom prst="rect">
            <a:avLst/>
          </a:prstGeom>
          <a:solidFill>
            <a:srgbClr val="2A6F7A"/>
          </a:solidFill>
          <a:ln/>
        </p:spPr>
      </p:sp>
      <p:sp>
        <p:nvSpPr>
          <p:cNvPr id="10" name="Text 8"/>
          <p:cNvSpPr/>
          <p:nvPr/>
        </p:nvSpPr>
        <p:spPr>
          <a:xfrm>
            <a:off x="640080" y="2423160"/>
            <a:ext cx="118872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Olfactory</a:t>
            </a:r>
            <a:endParaRPr lang="en-US" sz="1100" dirty="0"/>
          </a:p>
        </p:txBody>
      </p:sp>
      <p:sp>
        <p:nvSpPr>
          <p:cNvPr id="11" name="Text 9"/>
          <p:cNvSpPr/>
          <p:nvPr/>
        </p:nvSpPr>
        <p:spPr>
          <a:xfrm>
            <a:off x="2011680" y="2423160"/>
            <a:ext cx="6583680" cy="41148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Terpenes activate parasympathetic response; phytoncides reduce cortisol (Li, 2010)</a:t>
            </a:r>
            <a:endParaRPr lang="en-US" sz="1100" dirty="0"/>
          </a:p>
        </p:txBody>
      </p:sp>
      <p:sp>
        <p:nvSpPr>
          <p:cNvPr id="12" name="Shape 10"/>
          <p:cNvSpPr/>
          <p:nvPr/>
        </p:nvSpPr>
        <p:spPr>
          <a:xfrm>
            <a:off x="640080" y="2926080"/>
            <a:ext cx="1188720" cy="411480"/>
          </a:xfrm>
          <a:prstGeom prst="rect">
            <a:avLst/>
          </a:prstGeom>
          <a:solidFill>
            <a:srgbClr val="2A6F7A"/>
          </a:solidFill>
          <a:ln/>
        </p:spPr>
      </p:sp>
      <p:sp>
        <p:nvSpPr>
          <p:cNvPr id="13" name="Text 11"/>
          <p:cNvSpPr/>
          <p:nvPr/>
        </p:nvSpPr>
        <p:spPr>
          <a:xfrm>
            <a:off x="640080" y="2926080"/>
            <a:ext cx="118872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Tactile</a:t>
            </a:r>
            <a:endParaRPr lang="en-US" sz="1100" dirty="0"/>
          </a:p>
        </p:txBody>
      </p:sp>
      <p:sp>
        <p:nvSpPr>
          <p:cNvPr id="14" name="Text 12"/>
          <p:cNvSpPr/>
          <p:nvPr/>
        </p:nvSpPr>
        <p:spPr>
          <a:xfrm>
            <a:off x="2011680" y="2926080"/>
            <a:ext cx="6583680" cy="41148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Thermal neutrality (doesn't feel cold like metal/stone); activates C-tactile afferents</a:t>
            </a:r>
            <a:endParaRPr lang="en-US" sz="1100" dirty="0"/>
          </a:p>
        </p:txBody>
      </p:sp>
      <p:sp>
        <p:nvSpPr>
          <p:cNvPr id="15" name="Shape 13"/>
          <p:cNvSpPr/>
          <p:nvPr/>
        </p:nvSpPr>
        <p:spPr>
          <a:xfrm>
            <a:off x="640080" y="3429000"/>
            <a:ext cx="1188720" cy="411480"/>
          </a:xfrm>
          <a:prstGeom prst="rect">
            <a:avLst/>
          </a:prstGeom>
          <a:solidFill>
            <a:srgbClr val="2A6F7A"/>
          </a:solidFill>
          <a:ln/>
        </p:spPr>
      </p:sp>
      <p:sp>
        <p:nvSpPr>
          <p:cNvPr id="16" name="Text 14"/>
          <p:cNvSpPr/>
          <p:nvPr/>
        </p:nvSpPr>
        <p:spPr>
          <a:xfrm>
            <a:off x="640080" y="3429000"/>
            <a:ext cx="118872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Acoustic</a:t>
            </a:r>
            <a:endParaRPr lang="en-US" sz="1100" dirty="0"/>
          </a:p>
        </p:txBody>
      </p:sp>
      <p:sp>
        <p:nvSpPr>
          <p:cNvPr id="17" name="Text 15"/>
          <p:cNvSpPr/>
          <p:nvPr/>
        </p:nvSpPr>
        <p:spPr>
          <a:xfrm>
            <a:off x="2011680" y="3429000"/>
            <a:ext cx="6583680" cy="41148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Natural absorption properties reduce reverberation; softer impact sounds</a:t>
            </a:r>
            <a:endParaRPr lang="en-US" sz="1100" dirty="0"/>
          </a:p>
        </p:txBody>
      </p:sp>
      <p:sp>
        <p:nvSpPr>
          <p:cNvPr id="18" name="Shape 16"/>
          <p:cNvSpPr/>
          <p:nvPr/>
        </p:nvSpPr>
        <p:spPr>
          <a:xfrm>
            <a:off x="640080" y="3931920"/>
            <a:ext cx="1188720" cy="411480"/>
          </a:xfrm>
          <a:prstGeom prst="rect">
            <a:avLst/>
          </a:prstGeom>
          <a:solidFill>
            <a:srgbClr val="2A6F7A"/>
          </a:solidFill>
          <a:ln/>
        </p:spPr>
      </p:sp>
      <p:sp>
        <p:nvSpPr>
          <p:cNvPr id="19" name="Text 17"/>
          <p:cNvSpPr/>
          <p:nvPr/>
        </p:nvSpPr>
        <p:spPr>
          <a:xfrm>
            <a:off x="640080" y="3931920"/>
            <a:ext cx="118872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Semantic</a:t>
            </a:r>
            <a:endParaRPr lang="en-US" sz="1100" dirty="0"/>
          </a:p>
        </p:txBody>
      </p:sp>
      <p:sp>
        <p:nvSpPr>
          <p:cNvPr id="20" name="Text 18"/>
          <p:cNvSpPr/>
          <p:nvPr/>
        </p:nvSpPr>
        <p:spPr>
          <a:xfrm>
            <a:off x="2011680" y="3931920"/>
            <a:ext cx="6583680" cy="41148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Cultural association with nature, warmth, shelter — activates biophilic priors</a:t>
            </a:r>
            <a:endParaRPr lang="en-US" sz="1100" dirty="0"/>
          </a:p>
        </p:txBody>
      </p:sp>
      <p:sp>
        <p:nvSpPr>
          <p:cNvPr id="21" name="Shape 19"/>
          <p:cNvSpPr/>
          <p:nvPr/>
        </p:nvSpPr>
        <p:spPr>
          <a:xfrm>
            <a:off x="640080" y="4480560"/>
            <a:ext cx="7863840" cy="457200"/>
          </a:xfrm>
          <a:prstGeom prst="rect">
            <a:avLst/>
          </a:prstGeom>
          <a:solidFill>
            <a:srgbClr val="C4993B"/>
          </a:solidFill>
          <a:ln/>
        </p:spPr>
      </p:sp>
      <p:sp>
        <p:nvSpPr>
          <p:cNvPr id="22" name="Text 20"/>
          <p:cNvSpPr/>
          <p:nvPr/>
        </p:nvSpPr>
        <p:spPr>
          <a:xfrm>
            <a:off x="822960" y="4498848"/>
            <a:ext cx="7498080"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Multi-channel convergence principle: stimuli engaging multiple prediction channels simultaneously produce super-additive benefits. Wood, nature, and daylight all do this.</a:t>
            </a:r>
            <a:endParaRPr lang="en-US" sz="1100" dirty="0"/>
          </a:p>
        </p:txBody>
      </p:sp>
      <p:sp>
        <p:nvSpPr>
          <p:cNvPr id="23" name="Text 21"/>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13/23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ARGUMENTATION</a:t>
            </a:r>
            <a:endParaRPr lang="en-US" sz="1000" dirty="0"/>
          </a:p>
        </p:txBody>
      </p:sp>
      <p:sp>
        <p:nvSpPr>
          <p:cNvPr id="4" name="Text 2"/>
          <p:cNvSpPr/>
          <p:nvPr/>
        </p:nvSpPr>
        <p:spPr>
          <a:xfrm>
            <a:off x="640080" y="548640"/>
            <a:ext cx="7863840" cy="82296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Arguments, Not Just Facts:</a:t>
            </a:r>
            <a:endParaRPr lang="en-US" sz="2800" dirty="0"/>
          </a:p>
          <a:p>
            <a:pPr indent="0" marL="0">
              <a:buNone/>
            </a:pPr>
            <a:r>
              <a:rPr lang="en-US" sz="2800" b="1" dirty="0">
                <a:solidFill>
                  <a:srgbClr val="1B2A4A"/>
                </a:solidFill>
                <a:latin typeface="Georgia" pitchFamily="34" charset="0"/>
                <a:ea typeface="Georgia" pitchFamily="34" charset="-122"/>
                <a:cs typeface="Georgia" pitchFamily="34" charset="-120"/>
              </a:rPr>
              <a:t>Warrant Structure in the Web</a:t>
            </a:r>
            <a:endParaRPr lang="en-US" sz="2800" dirty="0"/>
          </a:p>
        </p:txBody>
      </p:sp>
      <p:sp>
        <p:nvSpPr>
          <p:cNvPr id="5" name="Shape 3"/>
          <p:cNvSpPr/>
          <p:nvPr/>
        </p:nvSpPr>
        <p:spPr>
          <a:xfrm>
            <a:off x="640080" y="1645920"/>
            <a:ext cx="2286000" cy="640080"/>
          </a:xfrm>
          <a:prstGeom prst="rect">
            <a:avLst/>
          </a:prstGeom>
          <a:solidFill>
            <a:srgbClr val="1B2A4A"/>
          </a:solidFill>
          <a:ln/>
        </p:spPr>
      </p:sp>
      <p:sp>
        <p:nvSpPr>
          <p:cNvPr id="6" name="Text 4"/>
          <p:cNvSpPr/>
          <p:nvPr/>
        </p:nvSpPr>
        <p:spPr>
          <a:xfrm>
            <a:off x="640080" y="1645920"/>
            <a:ext cx="2286000" cy="64008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DATA</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Empirical finding</a:t>
            </a:r>
            <a:endParaRPr lang="en-US" sz="1100" dirty="0"/>
          </a:p>
        </p:txBody>
      </p:sp>
      <p:sp>
        <p:nvSpPr>
          <p:cNvPr id="7" name="Text 5"/>
          <p:cNvSpPr/>
          <p:nvPr/>
        </p:nvSpPr>
        <p:spPr>
          <a:xfrm>
            <a:off x="2926080" y="1645920"/>
            <a:ext cx="457200" cy="640080"/>
          </a:xfrm>
          <a:prstGeom prst="rect">
            <a:avLst/>
          </a:prstGeom>
          <a:noFill/>
          <a:ln/>
        </p:spPr>
        <p:txBody>
          <a:bodyPr wrap="square" rtlCol="0" anchor="ctr"/>
          <a:lstStyle/>
          <a:p>
            <a:pPr algn="ctr" indent="0" marL="0">
              <a:buNone/>
            </a:pPr>
            <a:r>
              <a:rPr lang="en-US" sz="2400" dirty="0">
                <a:solidFill>
                  <a:srgbClr val="C4993B"/>
                </a:solidFill>
              </a:rPr>
              <a:t>→</a:t>
            </a:r>
            <a:endParaRPr lang="en-US" sz="2400" dirty="0"/>
          </a:p>
        </p:txBody>
      </p:sp>
      <p:sp>
        <p:nvSpPr>
          <p:cNvPr id="8" name="Shape 6"/>
          <p:cNvSpPr/>
          <p:nvPr/>
        </p:nvSpPr>
        <p:spPr>
          <a:xfrm>
            <a:off x="3383280" y="1645920"/>
            <a:ext cx="2286000" cy="640080"/>
          </a:xfrm>
          <a:prstGeom prst="rect">
            <a:avLst/>
          </a:prstGeom>
          <a:solidFill>
            <a:srgbClr val="2A6F7A"/>
          </a:solidFill>
          <a:ln/>
        </p:spPr>
      </p:sp>
      <p:sp>
        <p:nvSpPr>
          <p:cNvPr id="9" name="Text 7"/>
          <p:cNvSpPr/>
          <p:nvPr/>
        </p:nvSpPr>
        <p:spPr>
          <a:xfrm>
            <a:off x="3383280" y="1645920"/>
            <a:ext cx="2286000" cy="64008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WARRANT</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Mechanistic template</a:t>
            </a:r>
            <a:endParaRPr lang="en-US" sz="1100" dirty="0"/>
          </a:p>
        </p:txBody>
      </p:sp>
      <p:sp>
        <p:nvSpPr>
          <p:cNvPr id="10" name="Text 8"/>
          <p:cNvSpPr/>
          <p:nvPr/>
        </p:nvSpPr>
        <p:spPr>
          <a:xfrm>
            <a:off x="5669280" y="1645920"/>
            <a:ext cx="457200" cy="640080"/>
          </a:xfrm>
          <a:prstGeom prst="rect">
            <a:avLst/>
          </a:prstGeom>
          <a:noFill/>
          <a:ln/>
        </p:spPr>
        <p:txBody>
          <a:bodyPr wrap="square" rtlCol="0" anchor="ctr"/>
          <a:lstStyle/>
          <a:p>
            <a:pPr algn="ctr" indent="0" marL="0">
              <a:buNone/>
            </a:pPr>
            <a:r>
              <a:rPr lang="en-US" sz="2400" dirty="0">
                <a:solidFill>
                  <a:srgbClr val="C4993B"/>
                </a:solidFill>
              </a:rPr>
              <a:t>→</a:t>
            </a:r>
            <a:endParaRPr lang="en-US" sz="2400" dirty="0"/>
          </a:p>
        </p:txBody>
      </p:sp>
      <p:sp>
        <p:nvSpPr>
          <p:cNvPr id="11" name="Shape 9"/>
          <p:cNvSpPr/>
          <p:nvPr/>
        </p:nvSpPr>
        <p:spPr>
          <a:xfrm>
            <a:off x="6126480" y="1645920"/>
            <a:ext cx="2286000" cy="640080"/>
          </a:xfrm>
          <a:prstGeom prst="rect">
            <a:avLst/>
          </a:prstGeom>
          <a:solidFill>
            <a:srgbClr val="B85042"/>
          </a:solidFill>
          <a:ln/>
        </p:spPr>
      </p:sp>
      <p:sp>
        <p:nvSpPr>
          <p:cNvPr id="12" name="Text 10"/>
          <p:cNvSpPr/>
          <p:nvPr/>
        </p:nvSpPr>
        <p:spPr>
          <a:xfrm>
            <a:off x="6126480" y="1645920"/>
            <a:ext cx="2286000" cy="64008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CLAIM</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Design recommendation</a:t>
            </a:r>
            <a:endParaRPr lang="en-US" sz="1100" dirty="0"/>
          </a:p>
        </p:txBody>
      </p:sp>
      <p:sp>
        <p:nvSpPr>
          <p:cNvPr id="13" name="Shape 11"/>
          <p:cNvSpPr/>
          <p:nvPr/>
        </p:nvSpPr>
        <p:spPr>
          <a:xfrm>
            <a:off x="3383280" y="2468880"/>
            <a:ext cx="2286000" cy="502920"/>
          </a:xfrm>
          <a:prstGeom prst="rect">
            <a:avLst/>
          </a:prstGeom>
          <a:solidFill>
            <a:srgbClr val="E8E4DC"/>
          </a:solidFill>
          <a:ln/>
        </p:spPr>
      </p:sp>
      <p:sp>
        <p:nvSpPr>
          <p:cNvPr id="14" name="Text 12"/>
          <p:cNvSpPr/>
          <p:nvPr/>
        </p:nvSpPr>
        <p:spPr>
          <a:xfrm>
            <a:off x="3383280" y="2468880"/>
            <a:ext cx="2286000" cy="502920"/>
          </a:xfrm>
          <a:prstGeom prst="rect">
            <a:avLst/>
          </a:prstGeom>
          <a:noFill/>
          <a:ln/>
        </p:spPr>
        <p:txBody>
          <a:bodyPr wrap="square" rtlCol="0" anchor="ctr"/>
          <a:lstStyle/>
          <a:p>
            <a:pPr algn="ctr" indent="0" marL="0">
              <a:buNone/>
            </a:pPr>
            <a:r>
              <a:rPr lang="en-US" sz="1000" dirty="0">
                <a:solidFill>
                  <a:srgbClr val="2C2C2C"/>
                </a:solidFill>
                <a:latin typeface="Calibri" pitchFamily="34" charset="0"/>
                <a:ea typeface="Calibri" pitchFamily="34" charset="-122"/>
                <a:cs typeface="Calibri" pitchFamily="34" charset="-120"/>
              </a:rPr>
              <a:t>BACKING</a:t>
            </a:r>
            <a:endParaRPr lang="en-US" sz="1000" dirty="0"/>
          </a:p>
          <a:p>
            <a:pPr algn="ctr" indent="0" marL="0">
              <a:buNone/>
            </a:pPr>
            <a:r>
              <a:rPr lang="en-US" sz="1000" dirty="0">
                <a:solidFill>
                  <a:srgbClr val="2C2C2C"/>
                </a:solidFill>
                <a:latin typeface="Calibri" pitchFamily="34" charset="0"/>
                <a:ea typeface="Calibri" pitchFamily="34" charset="-122"/>
                <a:cs typeface="Calibri" pitchFamily="34" charset="-120"/>
              </a:rPr>
              <a:t>Neuro evidence, meta-analyses</a:t>
            </a:r>
            <a:endParaRPr lang="en-US" sz="1000" dirty="0"/>
          </a:p>
        </p:txBody>
      </p:sp>
      <p:sp>
        <p:nvSpPr>
          <p:cNvPr id="15" name="Text 13"/>
          <p:cNvSpPr/>
          <p:nvPr/>
        </p:nvSpPr>
        <p:spPr>
          <a:xfrm>
            <a:off x="640080" y="3200400"/>
            <a:ext cx="7863840" cy="1645920"/>
          </a:xfrm>
          <a:prstGeom prst="rect">
            <a:avLst/>
          </a:prstGeom>
          <a:noFill/>
          <a:ln/>
        </p:spPr>
        <p:txBody>
          <a:bodyPr wrap="square" rtlCol="0" anchor="t"/>
          <a:lstStyle/>
          <a:p>
            <a:pPr indent="0" marL="0">
              <a:buNone/>
            </a:pPr>
            <a:r>
              <a:rPr lang="en-US" sz="1400" b="1" dirty="0">
                <a:solidFill>
                  <a:srgbClr val="1B2A4A"/>
                </a:solidFill>
                <a:latin typeface="Calibri" pitchFamily="34" charset="0"/>
                <a:ea typeface="Calibri" pitchFamily="34" charset="-122"/>
                <a:cs typeface="Calibri" pitchFamily="34" charset="-120"/>
              </a:rPr>
              <a:t>Why argumentation matters for design:</a:t>
            </a:r>
            <a:endParaRPr lang="en-US" sz="1400" dirty="0"/>
          </a:p>
          <a:p>
            <a:pPr indent="0" marL="0">
              <a:buNone/>
            </a:pPr>
            <a:endParaRPr lang="en-US" sz="1400" dirty="0"/>
          </a:p>
          <a:p>
            <a:pPr indent="0" marL="0">
              <a:buNone/>
            </a:pPr>
            <a:r>
              <a:rPr lang="en-US" sz="1200" b="1" dirty="0">
                <a:solidFill>
                  <a:srgbClr val="2C2C2C"/>
                </a:solidFill>
                <a:latin typeface="Calibri" pitchFamily="34" charset="0"/>
                <a:ea typeface="Calibri" pitchFamily="34" charset="-122"/>
                <a:cs typeface="Calibri" pitchFamily="34" charset="-120"/>
              </a:rPr>
              <a:t>Value of Information (VOI): </a:t>
            </a:r>
            <a:pPr indent="0" marL="0">
              <a:buNone/>
            </a:pPr>
            <a:r>
              <a:rPr lang="en-US" sz="1200" dirty="0">
                <a:solidFill>
                  <a:srgbClr val="2C2C2C"/>
                </a:solidFill>
                <a:latin typeface="Calibri" pitchFamily="34" charset="0"/>
                <a:ea typeface="Calibri" pitchFamily="34" charset="-122"/>
                <a:cs typeface="Calibri" pitchFamily="34" charset="-120"/>
              </a:rPr>
              <a:t>Which experiments would most change the web? Where are the weakest warrants?</a:t>
            </a:r>
            <a:endParaRPr lang="en-US" sz="1400" dirty="0"/>
          </a:p>
          <a:p>
            <a:pPr indent="0" marL="0">
              <a:buNone/>
            </a:pPr>
            <a:endParaRPr lang="en-US" sz="1400" dirty="0"/>
          </a:p>
          <a:p>
            <a:pPr indent="0" marL="0">
              <a:buNone/>
            </a:pPr>
            <a:r>
              <a:rPr lang="en-US" sz="1200" b="1" dirty="0">
                <a:solidFill>
                  <a:srgbClr val="2C2C2C"/>
                </a:solidFill>
                <a:latin typeface="Calibri" pitchFamily="34" charset="0"/>
                <a:ea typeface="Calibri" pitchFamily="34" charset="-122"/>
                <a:cs typeface="Calibri" pitchFamily="34" charset="-120"/>
              </a:rPr>
              <a:t>Defeasibility: </a:t>
            </a:r>
            <a:pPr indent="0" marL="0">
              <a:buNone/>
            </a:pPr>
            <a:r>
              <a:rPr lang="en-US" sz="1200" dirty="0">
                <a:solidFill>
                  <a:srgbClr val="2C2C2C"/>
                </a:solidFill>
                <a:latin typeface="Calibri" pitchFamily="34" charset="0"/>
                <a:ea typeface="Calibri" pitchFamily="34" charset="-122"/>
                <a:cs typeface="Calibri" pitchFamily="34" charset="-120"/>
              </a:rPr>
              <a:t>Every design claim has conditions under which it fails. The warrant structure makes these explicit.</a:t>
            </a:r>
            <a:endParaRPr lang="en-US" sz="1400" dirty="0"/>
          </a:p>
          <a:p>
            <a:pPr indent="0" marL="0">
              <a:buNone/>
            </a:pPr>
            <a:endParaRPr lang="en-US" sz="1400" dirty="0"/>
          </a:p>
          <a:p>
            <a:pPr indent="0" marL="0">
              <a:buNone/>
            </a:pPr>
            <a:r>
              <a:rPr lang="en-US" sz="1200" b="1" dirty="0">
                <a:solidFill>
                  <a:srgbClr val="2C2C2C"/>
                </a:solidFill>
                <a:latin typeface="Calibri" pitchFamily="34" charset="0"/>
                <a:ea typeface="Calibri" pitchFamily="34" charset="-122"/>
                <a:cs typeface="Calibri" pitchFamily="34" charset="-120"/>
              </a:rPr>
              <a:t>Expert intuitions formalized: </a:t>
            </a:r>
            <a:pPr indent="0" marL="0">
              <a:buNone/>
            </a:pPr>
            <a:r>
              <a:rPr lang="en-US" sz="1200" dirty="0">
                <a:solidFill>
                  <a:srgbClr val="2C2C2C"/>
                </a:solidFill>
                <a:latin typeface="Calibri" pitchFamily="34" charset="0"/>
                <a:ea typeface="Calibri" pitchFamily="34" charset="-122"/>
                <a:cs typeface="Calibri" pitchFamily="34" charset="-120"/>
              </a:rPr>
              <a:t>Experts know which claims are robust and which are fragile — the web captures this.</a:t>
            </a:r>
            <a:endParaRPr lang="en-US" sz="1400" dirty="0"/>
          </a:p>
        </p:txBody>
      </p:sp>
      <p:sp>
        <p:nvSpPr>
          <p:cNvPr id="16" name="Text 14"/>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14/23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SYSTEM ARCHITECTURE</a:t>
            </a:r>
            <a:endParaRPr lang="en-US" sz="1000" dirty="0"/>
          </a:p>
        </p:txBody>
      </p:sp>
      <p:sp>
        <p:nvSpPr>
          <p:cNvPr id="4" name="Text 2"/>
          <p:cNvSpPr/>
          <p:nvPr/>
        </p:nvSpPr>
        <p:spPr>
          <a:xfrm>
            <a:off x="640080" y="548640"/>
            <a:ext cx="7863840" cy="82296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Two Ways to Navigate:</a:t>
            </a:r>
            <a:endParaRPr lang="en-US" sz="2800" dirty="0"/>
          </a:p>
          <a:p>
            <a:pPr indent="0" marL="0">
              <a:buNone/>
            </a:pPr>
            <a:r>
              <a:rPr lang="en-US" sz="2800" b="1" dirty="0">
                <a:solidFill>
                  <a:srgbClr val="1B2A4A"/>
                </a:solidFill>
                <a:latin typeface="Georgia" pitchFamily="34" charset="0"/>
                <a:ea typeface="Georgia" pitchFamily="34" charset="-122"/>
                <a:cs typeface="Georgia" pitchFamily="34" charset="-120"/>
              </a:rPr>
              <a:t>Mechanisms and Attributes</a:t>
            </a:r>
            <a:endParaRPr lang="en-US" sz="2800" dirty="0"/>
          </a:p>
        </p:txBody>
      </p:sp>
      <p:sp>
        <p:nvSpPr>
          <p:cNvPr id="5" name="Shape 3"/>
          <p:cNvSpPr/>
          <p:nvPr/>
        </p:nvSpPr>
        <p:spPr>
          <a:xfrm>
            <a:off x="640080" y="1554480"/>
            <a:ext cx="3749040" cy="1828800"/>
          </a:xfrm>
          <a:prstGeom prst="rect">
            <a:avLst/>
          </a:prstGeom>
          <a:solidFill>
            <a:srgbClr val="1B2A4A"/>
          </a:solidFill>
          <a:ln/>
        </p:spPr>
      </p:sp>
      <p:sp>
        <p:nvSpPr>
          <p:cNvPr id="6" name="Text 4"/>
          <p:cNvSpPr/>
          <p:nvPr/>
        </p:nvSpPr>
        <p:spPr>
          <a:xfrm>
            <a:off x="822960" y="1600200"/>
            <a:ext cx="3383280" cy="320040"/>
          </a:xfrm>
          <a:prstGeom prst="rect">
            <a:avLst/>
          </a:prstGeom>
          <a:noFill/>
          <a:ln/>
        </p:spPr>
        <p:txBody>
          <a:bodyPr wrap="square" rtlCol="0" anchor="ctr"/>
          <a:lstStyle/>
          <a:p>
            <a:pPr indent="0" marL="0">
              <a:buNone/>
            </a:pPr>
            <a:r>
              <a:rPr lang="en-US" sz="1500" b="1" dirty="0">
                <a:solidFill>
                  <a:srgbClr val="C4993B"/>
                </a:solidFill>
                <a:latin typeface="Calibri" pitchFamily="34" charset="0"/>
                <a:ea typeface="Calibri" pitchFamily="34" charset="-122"/>
                <a:cs typeface="Calibri" pitchFamily="34" charset="-120"/>
              </a:rPr>
              <a:t>Mechanism-First</a:t>
            </a:r>
            <a:endParaRPr lang="en-US" sz="1500" dirty="0"/>
          </a:p>
        </p:txBody>
      </p:sp>
      <p:sp>
        <p:nvSpPr>
          <p:cNvPr id="7" name="Text 5"/>
          <p:cNvSpPr/>
          <p:nvPr/>
        </p:nvSpPr>
        <p:spPr>
          <a:xfrm>
            <a:off x="822960" y="1965960"/>
            <a:ext cx="3383280" cy="1280160"/>
          </a:xfrm>
          <a:prstGeom prst="rect">
            <a:avLst/>
          </a:prstGeom>
          <a:noFill/>
          <a:ln/>
        </p:spPr>
        <p:txBody>
          <a:bodyPr wrap="square" rtlCol="0" anchor="t"/>
          <a:lstStyle/>
          <a:p>
            <a:pPr indent="0" marL="0">
              <a:buNone/>
            </a:pPr>
            <a:r>
              <a:rPr lang="en-US" sz="1200" i="1" dirty="0">
                <a:solidFill>
                  <a:srgbClr val="F5F0E8"/>
                </a:solidFill>
                <a:latin typeface="Calibri" pitchFamily="34" charset="0"/>
                <a:ea typeface="Calibri" pitchFamily="34" charset="-122"/>
                <a:cs typeface="Calibri" pitchFamily="34" charset="-120"/>
              </a:rPr>
              <a:t>"What does the LC-NE system do?"</a:t>
            </a:r>
            <a:endParaRPr lang="en-US" sz="1200" dirty="0"/>
          </a:p>
          <a:p>
            <a:pPr indent="0" marL="0">
              <a:buNone/>
            </a:pPr>
            <a:endParaRPr lang="en-US" sz="1200" dirty="0"/>
          </a:p>
          <a:p>
            <a:pPr indent="0" marL="0">
              <a:buNone/>
            </a:pPr>
            <a:r>
              <a:rPr lang="en-US" sz="1100" dirty="0">
                <a:solidFill>
                  <a:srgbClr val="F5F0E8"/>
                </a:solidFill>
                <a:latin typeface="Calibri" pitchFamily="34" charset="0"/>
                <a:ea typeface="Calibri" pitchFamily="34" charset="-122"/>
                <a:cs typeface="Calibri" pitchFamily="34" charset="-120"/>
              </a:rPr>
              <a:t>Organized by brain systems and</a:t>
            </a:r>
            <a:endParaRPr lang="en-US" sz="1200" dirty="0"/>
          </a:p>
          <a:p>
            <a:pPr indent="0" marL="0">
              <a:buNone/>
            </a:pPr>
            <a:r>
              <a:rPr lang="en-US" sz="1100" dirty="0">
                <a:solidFill>
                  <a:srgbClr val="F5F0E8"/>
                </a:solidFill>
                <a:latin typeface="Calibri" pitchFamily="34" charset="0"/>
                <a:ea typeface="Calibri" pitchFamily="34" charset="-122"/>
                <a:cs typeface="Calibri" pitchFamily="34" charset="-120"/>
              </a:rPr>
              <a:t>cognitive mechanisms. Scientist's entry.</a:t>
            </a:r>
            <a:endParaRPr lang="en-US" sz="1200" dirty="0"/>
          </a:p>
        </p:txBody>
      </p:sp>
      <p:sp>
        <p:nvSpPr>
          <p:cNvPr id="8" name="Shape 6"/>
          <p:cNvSpPr/>
          <p:nvPr/>
        </p:nvSpPr>
        <p:spPr>
          <a:xfrm>
            <a:off x="4754880" y="1554480"/>
            <a:ext cx="3749040" cy="1828800"/>
          </a:xfrm>
          <a:prstGeom prst="rect">
            <a:avLst/>
          </a:prstGeom>
          <a:solidFill>
            <a:srgbClr val="2A6F7A"/>
          </a:solidFill>
          <a:ln/>
        </p:spPr>
      </p:sp>
      <p:sp>
        <p:nvSpPr>
          <p:cNvPr id="9" name="Text 7"/>
          <p:cNvSpPr/>
          <p:nvPr/>
        </p:nvSpPr>
        <p:spPr>
          <a:xfrm>
            <a:off x="4937760" y="1600200"/>
            <a:ext cx="3383280" cy="320040"/>
          </a:xfrm>
          <a:prstGeom prst="rect">
            <a:avLst/>
          </a:prstGeom>
          <a:noFill/>
          <a:ln/>
        </p:spPr>
        <p:txBody>
          <a:bodyPr wrap="square" rtlCol="0" anchor="ctr"/>
          <a:lstStyle/>
          <a:p>
            <a:pPr indent="0" marL="0">
              <a:buNone/>
            </a:pPr>
            <a:r>
              <a:rPr lang="en-US" sz="1500" b="1" dirty="0">
                <a:solidFill>
                  <a:srgbClr val="F5F0E8"/>
                </a:solidFill>
                <a:latin typeface="Calibri" pitchFamily="34" charset="0"/>
                <a:ea typeface="Calibri" pitchFamily="34" charset="-122"/>
                <a:cs typeface="Calibri" pitchFamily="34" charset="-120"/>
              </a:rPr>
              <a:t>Attribute-First</a:t>
            </a:r>
            <a:endParaRPr lang="en-US" sz="1500" dirty="0"/>
          </a:p>
        </p:txBody>
      </p:sp>
      <p:sp>
        <p:nvSpPr>
          <p:cNvPr id="10" name="Text 8"/>
          <p:cNvSpPr/>
          <p:nvPr/>
        </p:nvSpPr>
        <p:spPr>
          <a:xfrm>
            <a:off x="4937760" y="1965960"/>
            <a:ext cx="3383280" cy="1280160"/>
          </a:xfrm>
          <a:prstGeom prst="rect">
            <a:avLst/>
          </a:prstGeom>
          <a:noFill/>
          <a:ln/>
        </p:spPr>
        <p:txBody>
          <a:bodyPr wrap="square" rtlCol="0" anchor="t"/>
          <a:lstStyle/>
          <a:p>
            <a:pPr indent="0" marL="0">
              <a:buNone/>
            </a:pPr>
            <a:r>
              <a:rPr lang="en-US" sz="1200" i="1" dirty="0">
                <a:solidFill>
                  <a:srgbClr val="FFFFFF"/>
                </a:solidFill>
                <a:latin typeface="Calibri" pitchFamily="34" charset="0"/>
                <a:ea typeface="Calibri" pitchFamily="34" charset="-122"/>
                <a:cs typeface="Calibri" pitchFamily="34" charset="-120"/>
              </a:rPr>
              <a:t>"What do we know about ceiling height?"</a:t>
            </a:r>
            <a:endParaRPr lang="en-US" sz="1200" dirty="0"/>
          </a:p>
          <a:p>
            <a:pPr indent="0" marL="0">
              <a:buNone/>
            </a:pPr>
            <a:endParaRPr lang="en-US" sz="1200" dirty="0"/>
          </a:p>
          <a:p>
            <a:pPr indent="0" marL="0">
              <a:buNone/>
            </a:pPr>
            <a:r>
              <a:rPr lang="en-US" sz="1100" dirty="0">
                <a:solidFill>
                  <a:srgbClr val="FFFFFF"/>
                </a:solidFill>
                <a:latin typeface="Calibri" pitchFamily="34" charset="0"/>
                <a:ea typeface="Calibri" pitchFamily="34" charset="-122"/>
                <a:cs typeface="Calibri" pitchFamily="34" charset="-120"/>
              </a:rPr>
              <a:t>Organized by architectural features.</a:t>
            </a:r>
            <a:endParaRPr lang="en-US" sz="1200" dirty="0"/>
          </a:p>
          <a:p>
            <a:pPr indent="0" marL="0">
              <a:buNone/>
            </a:pPr>
            <a:r>
              <a:rPr lang="en-US" sz="1100" dirty="0">
                <a:solidFill>
                  <a:srgbClr val="FFFFFF"/>
                </a:solidFill>
                <a:latin typeface="Calibri" pitchFamily="34" charset="0"/>
                <a:ea typeface="Calibri" pitchFamily="34" charset="-122"/>
                <a:cs typeface="Calibri" pitchFamily="34" charset="-120"/>
              </a:rPr>
              <a:t>Designer's entry point.</a:t>
            </a:r>
            <a:endParaRPr lang="en-US" sz="1200" dirty="0"/>
          </a:p>
        </p:txBody>
      </p:sp>
      <p:sp>
        <p:nvSpPr>
          <p:cNvPr id="11" name="Shape 9"/>
          <p:cNvSpPr/>
          <p:nvPr/>
        </p:nvSpPr>
        <p:spPr>
          <a:xfrm>
            <a:off x="640080" y="3657600"/>
            <a:ext cx="7863840" cy="914400"/>
          </a:xfrm>
          <a:prstGeom prst="rect">
            <a:avLst/>
          </a:prstGeom>
          <a:solidFill>
            <a:srgbClr val="E8E4DC"/>
          </a:solidFill>
          <a:ln/>
        </p:spPr>
      </p:sp>
      <p:sp>
        <p:nvSpPr>
          <p:cNvPr id="12" name="Text 10"/>
          <p:cNvSpPr/>
          <p:nvPr/>
        </p:nvSpPr>
        <p:spPr>
          <a:xfrm>
            <a:off x="822960" y="3703320"/>
            <a:ext cx="7498080" cy="822960"/>
          </a:xfrm>
          <a:prstGeom prst="rect">
            <a:avLst/>
          </a:prstGeom>
          <a:noFill/>
          <a:ln/>
        </p:spPr>
        <p:txBody>
          <a:bodyPr wrap="square" rtlCol="0" anchor="t"/>
          <a:lstStyle/>
          <a:p>
            <a:pPr indent="0" marL="0">
              <a:buNone/>
            </a:pPr>
            <a:r>
              <a:rPr lang="en-US" sz="1300" b="1" dirty="0">
                <a:solidFill>
                  <a:srgbClr val="1B2A4A"/>
                </a:solidFill>
                <a:latin typeface="Calibri" pitchFamily="34" charset="0"/>
                <a:ea typeface="Calibri" pitchFamily="34" charset="-122"/>
                <a:cs typeface="Calibri" pitchFamily="34" charset="-120"/>
              </a:rPr>
              <a:t>Cross-referencing layer </a:t>
            </a:r>
            <a:pPr indent="0" marL="0">
              <a:buNone/>
            </a:pPr>
            <a:r>
              <a:rPr lang="en-US" sz="1200" dirty="0">
                <a:solidFill>
                  <a:srgbClr val="2C2C2C"/>
                </a:solidFill>
                <a:latin typeface="Calibri" pitchFamily="34" charset="0"/>
                <a:ea typeface="Calibri" pitchFamily="34" charset="-122"/>
                <a:cs typeface="Calibri" pitchFamily="34" charset="-120"/>
              </a:rPr>
              <a:t>connects both schemes. Ask 'ceiling height' → get LC-NE arousal template + prospect-refuge template + spatial scale template + thermal stratification template. Ask 'LC-NE' → get all architectural features that modulate it.</a:t>
            </a:r>
            <a:endParaRPr lang="en-US" sz="1300" dirty="0"/>
          </a:p>
        </p:txBody>
      </p:sp>
      <p:sp>
        <p:nvSpPr>
          <p:cNvPr id="13" name="Text 11"/>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15/23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TEMPLATE ANATOMY</a:t>
            </a:r>
            <a:endParaRPr lang="en-US" sz="1000" dirty="0"/>
          </a:p>
        </p:txBody>
      </p:sp>
      <p:sp>
        <p:nvSpPr>
          <p:cNvPr id="4" name="Text 2"/>
          <p:cNvSpPr/>
          <p:nvPr/>
        </p:nvSpPr>
        <p:spPr>
          <a:xfrm>
            <a:off x="640080" y="548640"/>
            <a:ext cx="7863840" cy="822960"/>
          </a:xfrm>
          <a:prstGeom prst="rect">
            <a:avLst/>
          </a:prstGeom>
          <a:noFill/>
          <a:ln/>
        </p:spPr>
        <p:txBody>
          <a:bodyPr wrap="square" rtlCol="0" anchor="ctr"/>
          <a:lstStyle/>
          <a:p>
            <a:pPr indent="0" marL="0">
              <a:buNone/>
            </a:pPr>
            <a:r>
              <a:rPr lang="en-US" sz="2600" b="1" dirty="0">
                <a:solidFill>
                  <a:srgbClr val="1B2A4A"/>
                </a:solidFill>
                <a:latin typeface="Georgia" pitchFamily="34" charset="0"/>
                <a:ea typeface="Georgia" pitchFamily="34" charset="-122"/>
                <a:cs typeface="Georgia" pitchFamily="34" charset="-120"/>
              </a:rPr>
              <a:t>Template T3: Prospect-Refuge</a:t>
            </a:r>
            <a:endParaRPr lang="en-US" sz="2600" dirty="0"/>
          </a:p>
          <a:p>
            <a:pPr indent="0" marL="0">
              <a:buNone/>
            </a:pPr>
            <a:r>
              <a:rPr lang="en-US" sz="2600" b="1" dirty="0">
                <a:solidFill>
                  <a:srgbClr val="1B2A4A"/>
                </a:solidFill>
                <a:latin typeface="Georgia" pitchFamily="34" charset="0"/>
                <a:ea typeface="Georgia" pitchFamily="34" charset="-122"/>
                <a:cs typeface="Georgia" pitchFamily="34" charset="-120"/>
              </a:rPr>
              <a:t>and Autonomic Regulation</a:t>
            </a:r>
            <a:endParaRPr lang="en-US" sz="2600" dirty="0"/>
          </a:p>
        </p:txBody>
      </p:sp>
      <p:sp>
        <p:nvSpPr>
          <p:cNvPr id="5" name="Shape 3"/>
          <p:cNvSpPr/>
          <p:nvPr/>
        </p:nvSpPr>
        <p:spPr>
          <a:xfrm>
            <a:off x="640080" y="1554480"/>
            <a:ext cx="1463040" cy="548640"/>
          </a:xfrm>
          <a:prstGeom prst="rect">
            <a:avLst/>
          </a:prstGeom>
          <a:solidFill>
            <a:srgbClr val="2A6F7A"/>
          </a:solidFill>
          <a:ln/>
        </p:spPr>
      </p:sp>
      <p:sp>
        <p:nvSpPr>
          <p:cNvPr id="6" name="Text 4"/>
          <p:cNvSpPr/>
          <p:nvPr/>
        </p:nvSpPr>
        <p:spPr>
          <a:xfrm>
            <a:off x="640080" y="1554480"/>
            <a:ext cx="1463040" cy="5486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7" name="Text 5"/>
          <p:cNvSpPr/>
          <p:nvPr/>
        </p:nvSpPr>
        <p:spPr>
          <a:xfrm>
            <a:off x="2286000" y="1554480"/>
            <a:ext cx="6309360" cy="54864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Evolved threat-assessment system. Open sightlines (prospect) signal escape routes → reduced amygdala activation → parasympathetic shift. Enclosed back (refuge) eliminates threat from behind → reduced hypervigilance.</a:t>
            </a:r>
            <a:endParaRPr lang="en-US" sz="1000" dirty="0"/>
          </a:p>
        </p:txBody>
      </p:sp>
      <p:sp>
        <p:nvSpPr>
          <p:cNvPr id="8" name="Shape 6"/>
          <p:cNvSpPr/>
          <p:nvPr/>
        </p:nvSpPr>
        <p:spPr>
          <a:xfrm>
            <a:off x="640080" y="2194560"/>
            <a:ext cx="1463040" cy="548640"/>
          </a:xfrm>
          <a:prstGeom prst="rect">
            <a:avLst/>
          </a:prstGeom>
          <a:solidFill>
            <a:srgbClr val="2A6F7A"/>
          </a:solidFill>
          <a:ln/>
        </p:spPr>
      </p:sp>
      <p:sp>
        <p:nvSpPr>
          <p:cNvPr id="9" name="Text 7"/>
          <p:cNvSpPr/>
          <p:nvPr/>
        </p:nvSpPr>
        <p:spPr>
          <a:xfrm>
            <a:off x="640080" y="2194560"/>
            <a:ext cx="1463040" cy="5486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Env. Trigger</a:t>
            </a:r>
            <a:endParaRPr lang="en-US" sz="1000" dirty="0"/>
          </a:p>
        </p:txBody>
      </p:sp>
      <p:sp>
        <p:nvSpPr>
          <p:cNvPr id="10" name="Text 8"/>
          <p:cNvSpPr/>
          <p:nvPr/>
        </p:nvSpPr>
        <p:spPr>
          <a:xfrm>
            <a:off x="2286000" y="2194560"/>
            <a:ext cx="6309360" cy="54864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Spatial configuration: ratio of visual openness to rear enclosure. Window-to-wall ratio, ceiling height, back-wall proximity.</a:t>
            </a:r>
            <a:endParaRPr lang="en-US" sz="1000" dirty="0"/>
          </a:p>
        </p:txBody>
      </p:sp>
      <p:sp>
        <p:nvSpPr>
          <p:cNvPr id="11" name="Shape 9"/>
          <p:cNvSpPr/>
          <p:nvPr/>
        </p:nvSpPr>
        <p:spPr>
          <a:xfrm>
            <a:off x="640080" y="2834640"/>
            <a:ext cx="1463040" cy="548640"/>
          </a:xfrm>
          <a:prstGeom prst="rect">
            <a:avLst/>
          </a:prstGeom>
          <a:solidFill>
            <a:srgbClr val="2A6F7A"/>
          </a:solidFill>
          <a:ln/>
        </p:spPr>
      </p:sp>
      <p:sp>
        <p:nvSpPr>
          <p:cNvPr id="12" name="Text 10"/>
          <p:cNvSpPr/>
          <p:nvPr/>
        </p:nvSpPr>
        <p:spPr>
          <a:xfrm>
            <a:off x="640080" y="2834640"/>
            <a:ext cx="1463040" cy="5486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Prediction</a:t>
            </a:r>
            <a:endParaRPr lang="en-US" sz="1000" dirty="0"/>
          </a:p>
        </p:txBody>
      </p:sp>
      <p:sp>
        <p:nvSpPr>
          <p:cNvPr id="13" name="Text 11"/>
          <p:cNvSpPr/>
          <p:nvPr/>
        </p:nvSpPr>
        <p:spPr>
          <a:xfrm>
            <a:off x="2286000" y="2834640"/>
            <a:ext cx="6309360" cy="54864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Spaces with prospect-refuge configuration will produce lower cortisol, lower heart rate, and higher reported comfort than equivalent spaces without this configuration.</a:t>
            </a:r>
            <a:endParaRPr lang="en-US" sz="1000" dirty="0"/>
          </a:p>
        </p:txBody>
      </p:sp>
      <p:sp>
        <p:nvSpPr>
          <p:cNvPr id="14" name="Shape 12"/>
          <p:cNvSpPr/>
          <p:nvPr/>
        </p:nvSpPr>
        <p:spPr>
          <a:xfrm>
            <a:off x="640080" y="3474720"/>
            <a:ext cx="1463040" cy="548640"/>
          </a:xfrm>
          <a:prstGeom prst="rect">
            <a:avLst/>
          </a:prstGeom>
          <a:solidFill>
            <a:srgbClr val="2A6F7A"/>
          </a:solidFill>
          <a:ln/>
        </p:spPr>
      </p:sp>
      <p:sp>
        <p:nvSpPr>
          <p:cNvPr id="15" name="Text 13"/>
          <p:cNvSpPr/>
          <p:nvPr/>
        </p:nvSpPr>
        <p:spPr>
          <a:xfrm>
            <a:off x="640080" y="3474720"/>
            <a:ext cx="1463040" cy="5486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Evidence</a:t>
            </a:r>
            <a:endParaRPr lang="en-US" sz="1000" dirty="0"/>
          </a:p>
        </p:txBody>
      </p:sp>
      <p:sp>
        <p:nvSpPr>
          <p:cNvPr id="16" name="Text 14"/>
          <p:cNvSpPr/>
          <p:nvPr/>
        </p:nvSpPr>
        <p:spPr>
          <a:xfrm>
            <a:off x="2286000" y="3474720"/>
            <a:ext cx="6309360" cy="54864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Appleton (1975) [GS: ~3,000]; Dosen &amp; Ostwald (2016) [GS: ~100]; Grahn &amp; Stigsdotter (2010) [GS: ~800]. Confidence: MODERATE-HIGH.</a:t>
            </a:r>
            <a:endParaRPr lang="en-US" sz="1000" dirty="0"/>
          </a:p>
        </p:txBody>
      </p:sp>
      <p:sp>
        <p:nvSpPr>
          <p:cNvPr id="17" name="Shape 15"/>
          <p:cNvSpPr/>
          <p:nvPr/>
        </p:nvSpPr>
        <p:spPr>
          <a:xfrm>
            <a:off x="640080" y="4114800"/>
            <a:ext cx="1463040" cy="548640"/>
          </a:xfrm>
          <a:prstGeom prst="rect">
            <a:avLst/>
          </a:prstGeom>
          <a:solidFill>
            <a:srgbClr val="2A6F7A"/>
          </a:solidFill>
          <a:ln/>
        </p:spPr>
      </p:sp>
      <p:sp>
        <p:nvSpPr>
          <p:cNvPr id="18" name="Text 16"/>
          <p:cNvSpPr/>
          <p:nvPr/>
        </p:nvSpPr>
        <p:spPr>
          <a:xfrm>
            <a:off x="640080" y="4114800"/>
            <a:ext cx="1463040" cy="5486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Calibration</a:t>
            </a:r>
            <a:endParaRPr lang="en-US" sz="1000" dirty="0"/>
          </a:p>
        </p:txBody>
      </p:sp>
      <p:sp>
        <p:nvSpPr>
          <p:cNvPr id="19" name="Text 17"/>
          <p:cNvSpPr/>
          <p:nvPr/>
        </p:nvSpPr>
        <p:spPr>
          <a:xfrm>
            <a:off x="2286000" y="4114800"/>
            <a:ext cx="6309360" cy="54864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Optimal prospect angle: 120-180°. Refuge depth: min 0.5m enclosed behind. Effect size: d ≈ 0.4 on stress measures.</a:t>
            </a:r>
            <a:endParaRPr lang="en-US" sz="1000" dirty="0"/>
          </a:p>
        </p:txBody>
      </p:sp>
      <p:sp>
        <p:nvSpPr>
          <p:cNvPr id="20" name="Text 18"/>
          <p:cNvSpPr/>
          <p:nvPr/>
        </p:nvSpPr>
        <p:spPr>
          <a:xfrm>
            <a:off x="640080" y="4572000"/>
            <a:ext cx="7863840" cy="365760"/>
          </a:xfrm>
          <a:prstGeom prst="rect">
            <a:avLst/>
          </a:prstGeom>
          <a:noFill/>
          <a:ln/>
        </p:spPr>
        <p:txBody>
          <a:bodyPr wrap="square" rtlCol="0" anchor="ctr"/>
          <a:lstStyle/>
          <a:p>
            <a:pPr indent="0" marL="0">
              <a:buNone/>
            </a:pPr>
            <a:r>
              <a:rPr lang="en-US" sz="1200" b="1" dirty="0">
                <a:solidFill>
                  <a:srgbClr val="B85042"/>
                </a:solidFill>
                <a:latin typeface="Calibri" pitchFamily="34" charset="0"/>
                <a:ea typeface="Calibri" pitchFamily="34" charset="-122"/>
                <a:cs typeface="Calibri" pitchFamily="34" charset="-120"/>
              </a:rPr>
              <a:t>This is one template. We have 52 across 10 domains. Each is this specific.</a:t>
            </a:r>
            <a:endParaRPr lang="en-US" sz="1200" dirty="0"/>
          </a:p>
        </p:txBody>
      </p:sp>
      <p:sp>
        <p:nvSpPr>
          <p:cNvPr id="21" name="Text 19"/>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16/23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NEURO MEETS ENV PSYCH — EXAMPLE 4</a:t>
            </a:r>
            <a:endParaRPr lang="en-US" sz="1000" dirty="0"/>
          </a:p>
        </p:txBody>
      </p:sp>
      <p:sp>
        <p:nvSpPr>
          <p:cNvPr id="4" name="Text 2"/>
          <p:cNvSpPr/>
          <p:nvPr/>
        </p:nvSpPr>
        <p:spPr>
          <a:xfrm>
            <a:off x="640080" y="548640"/>
            <a:ext cx="7863840" cy="82296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Olfaction as Transition Modality:</a:t>
            </a:r>
            <a:endParaRPr lang="en-US" sz="2800" dirty="0"/>
          </a:p>
          <a:p>
            <a:pPr indent="0" marL="0">
              <a:buNone/>
            </a:pPr>
            <a:r>
              <a:rPr lang="en-US" sz="2800" b="1" dirty="0">
                <a:solidFill>
                  <a:srgbClr val="1B2A4A"/>
                </a:solidFill>
                <a:latin typeface="Georgia" pitchFamily="34" charset="0"/>
                <a:ea typeface="Georgia" pitchFamily="34" charset="-122"/>
                <a:cs typeface="Georgia" pitchFamily="34" charset="-120"/>
              </a:rPr>
              <a:t>A Novel Prediction</a:t>
            </a:r>
            <a:endParaRPr lang="en-US" sz="2800" dirty="0"/>
          </a:p>
        </p:txBody>
      </p:sp>
      <p:sp>
        <p:nvSpPr>
          <p:cNvPr id="5" name="Text 3"/>
          <p:cNvSpPr/>
          <p:nvPr/>
        </p:nvSpPr>
        <p:spPr>
          <a:xfrm>
            <a:off x="640080" y="1463040"/>
            <a:ext cx="7863840" cy="822960"/>
          </a:xfrm>
          <a:prstGeom prst="rect">
            <a:avLst/>
          </a:prstGeom>
          <a:noFill/>
          <a:ln/>
        </p:spPr>
        <p:txBody>
          <a:bodyPr wrap="square" rtlCol="0" anchor="ctr"/>
          <a:lstStyle/>
          <a:p>
            <a:pPr indent="0" marL="0">
              <a:buNone/>
            </a:pPr>
            <a:r>
              <a:rPr lang="en-US" sz="1300" b="1" dirty="0">
                <a:solidFill>
                  <a:srgbClr val="2C2C2C"/>
                </a:solidFill>
                <a:latin typeface="Calibri" pitchFamily="34" charset="0"/>
                <a:ea typeface="Calibri" pitchFamily="34" charset="-122"/>
                <a:cs typeface="Calibri" pitchFamily="34" charset="-120"/>
              </a:rPr>
              <a:t>Standard view: </a:t>
            </a:r>
            <a:pPr indent="0" marL="0">
              <a:buNone/>
            </a:pPr>
            <a:r>
              <a:rPr lang="en-US" sz="1300" dirty="0">
                <a:solidFill>
                  <a:srgbClr val="2C2C2C"/>
                </a:solidFill>
                <a:latin typeface="Calibri" pitchFamily="34" charset="0"/>
                <a:ea typeface="Calibri" pitchFamily="34" charset="-122"/>
                <a:cs typeface="Calibri" pitchFamily="34" charset="-120"/>
              </a:rPr>
              <a:t>Pleasant smells → pleasant experience. Simple hedonic pairing.</a:t>
            </a:r>
            <a:endParaRPr lang="en-US" sz="1300" dirty="0"/>
          </a:p>
          <a:p>
            <a:pPr indent="0" marL="0">
              <a:buNone/>
            </a:pPr>
            <a:endParaRPr lang="en-US" sz="1300" dirty="0"/>
          </a:p>
          <a:p>
            <a:pPr indent="0" marL="0">
              <a:buNone/>
            </a:pPr>
            <a:r>
              <a:rPr lang="en-US" sz="1300" b="1" dirty="0">
                <a:solidFill>
                  <a:srgbClr val="2C2C2C"/>
                </a:solidFill>
                <a:latin typeface="Calibri" pitchFamily="34" charset="0"/>
                <a:ea typeface="Calibri" pitchFamily="34" charset="-122"/>
                <a:cs typeface="Calibri" pitchFamily="34" charset="-120"/>
              </a:rPr>
              <a:t>Template decomposition reveals: </a:t>
            </a:r>
            <a:pPr indent="0" marL="0">
              <a:buNone/>
            </a:pPr>
            <a:r>
              <a:rPr lang="en-US" sz="1300" dirty="0">
                <a:solidFill>
                  <a:srgbClr val="2C2C2C"/>
                </a:solidFill>
                <a:latin typeface="Calibri" pitchFamily="34" charset="0"/>
                <a:ea typeface="Calibri" pitchFamily="34" charset="-122"/>
                <a:cs typeface="Calibri" pitchFamily="34" charset="-120"/>
              </a:rPr>
              <a:t>Olfaction has unique neuroscience that makes it fundamentally different from vision or audition for architecture.</a:t>
            </a:r>
            <a:endParaRPr lang="en-US" sz="1300" dirty="0"/>
          </a:p>
        </p:txBody>
      </p:sp>
      <p:sp>
        <p:nvSpPr>
          <p:cNvPr id="6" name="Shape 4"/>
          <p:cNvSpPr/>
          <p:nvPr/>
        </p:nvSpPr>
        <p:spPr>
          <a:xfrm>
            <a:off x="640080" y="2560320"/>
            <a:ext cx="73152" cy="548640"/>
          </a:xfrm>
          <a:prstGeom prst="rect">
            <a:avLst/>
          </a:prstGeom>
          <a:solidFill>
            <a:srgbClr val="C4993B"/>
          </a:solidFill>
          <a:ln/>
        </p:spPr>
      </p:sp>
      <p:sp>
        <p:nvSpPr>
          <p:cNvPr id="7" name="Text 5"/>
          <p:cNvSpPr/>
          <p:nvPr/>
        </p:nvSpPr>
        <p:spPr>
          <a:xfrm>
            <a:off x="914400" y="2560320"/>
            <a:ext cx="2011680" cy="5486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Rapid adaptation</a:t>
            </a:r>
            <a:endParaRPr lang="en-US" sz="1200" dirty="0"/>
          </a:p>
        </p:txBody>
      </p:sp>
      <p:sp>
        <p:nvSpPr>
          <p:cNvPr id="8" name="Text 6"/>
          <p:cNvSpPr/>
          <p:nvPr/>
        </p:nvSpPr>
        <p:spPr>
          <a:xfrm>
            <a:off x="2926080" y="2560320"/>
            <a:ext cx="5669280" cy="54864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Olfactory receptors adapt within 2-3 minutes. Smell encodes ARRIVALS, not steady states. Entering a wood-paneled room is different from being in one for 20 minutes.</a:t>
            </a:r>
            <a:endParaRPr lang="en-US" sz="1000" dirty="0"/>
          </a:p>
        </p:txBody>
      </p:sp>
      <p:sp>
        <p:nvSpPr>
          <p:cNvPr id="9" name="Shape 7"/>
          <p:cNvSpPr/>
          <p:nvPr/>
        </p:nvSpPr>
        <p:spPr>
          <a:xfrm>
            <a:off x="640080" y="3200400"/>
            <a:ext cx="73152" cy="548640"/>
          </a:xfrm>
          <a:prstGeom prst="rect">
            <a:avLst/>
          </a:prstGeom>
          <a:solidFill>
            <a:srgbClr val="C4993B"/>
          </a:solidFill>
          <a:ln/>
        </p:spPr>
      </p:sp>
      <p:sp>
        <p:nvSpPr>
          <p:cNvPr id="10" name="Text 8"/>
          <p:cNvSpPr/>
          <p:nvPr/>
        </p:nvSpPr>
        <p:spPr>
          <a:xfrm>
            <a:off x="914400" y="3200400"/>
            <a:ext cx="2011680" cy="5486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Direct limbic access</a:t>
            </a:r>
            <a:endParaRPr lang="en-US" sz="1200" dirty="0"/>
          </a:p>
        </p:txBody>
      </p:sp>
      <p:sp>
        <p:nvSpPr>
          <p:cNvPr id="11" name="Text 9"/>
          <p:cNvSpPr/>
          <p:nvPr/>
        </p:nvSpPr>
        <p:spPr>
          <a:xfrm>
            <a:off x="2926080" y="3200400"/>
            <a:ext cx="5669280" cy="54864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Olfactory bulb projects to amygdala and piriform cortex WITHOUT thalamic relay — unique among senses. Hedonic tagging is pre-conscious and extremely fast.</a:t>
            </a:r>
            <a:endParaRPr lang="en-US" sz="1000" dirty="0"/>
          </a:p>
        </p:txBody>
      </p:sp>
      <p:sp>
        <p:nvSpPr>
          <p:cNvPr id="12" name="Shape 10"/>
          <p:cNvSpPr/>
          <p:nvPr/>
        </p:nvSpPr>
        <p:spPr>
          <a:xfrm>
            <a:off x="640080" y="3840480"/>
            <a:ext cx="73152" cy="548640"/>
          </a:xfrm>
          <a:prstGeom prst="rect">
            <a:avLst/>
          </a:prstGeom>
          <a:solidFill>
            <a:srgbClr val="C4993B"/>
          </a:solidFill>
          <a:ln/>
        </p:spPr>
      </p:sp>
      <p:sp>
        <p:nvSpPr>
          <p:cNvPr id="13" name="Text 11"/>
          <p:cNvSpPr/>
          <p:nvPr/>
        </p:nvSpPr>
        <p:spPr>
          <a:xfrm>
            <a:off x="914400" y="3840480"/>
            <a:ext cx="2011680" cy="5486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Context encoding</a:t>
            </a:r>
            <a:endParaRPr lang="en-US" sz="1200" dirty="0"/>
          </a:p>
        </p:txBody>
      </p:sp>
      <p:sp>
        <p:nvSpPr>
          <p:cNvPr id="14" name="Text 12"/>
          <p:cNvSpPr/>
          <p:nvPr/>
        </p:nvSpPr>
        <p:spPr>
          <a:xfrm>
            <a:off x="2926080" y="3840480"/>
            <a:ext cx="5669280" cy="54864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Olfaction is tightly coupled to hippocampal place cells. Smells encode spatial contexts, not objects. Proust wasn't being literary — he was being neurological.</a:t>
            </a:r>
            <a:endParaRPr lang="en-US" sz="1000" dirty="0"/>
          </a:p>
        </p:txBody>
      </p:sp>
      <p:sp>
        <p:nvSpPr>
          <p:cNvPr id="15" name="Text 13"/>
          <p:cNvSpPr/>
          <p:nvPr/>
        </p:nvSpPr>
        <p:spPr>
          <a:xfrm>
            <a:off x="640080" y="4480560"/>
            <a:ext cx="7863840" cy="548640"/>
          </a:xfrm>
          <a:prstGeom prst="rect">
            <a:avLst/>
          </a:prstGeom>
          <a:noFill/>
          <a:ln/>
        </p:spPr>
        <p:txBody>
          <a:bodyPr wrap="square" rtlCol="0" anchor="ctr"/>
          <a:lstStyle/>
          <a:p>
            <a:pPr indent="0" marL="0">
              <a:buNone/>
            </a:pPr>
            <a:r>
              <a:rPr lang="en-US" sz="1200" b="1" dirty="0">
                <a:solidFill>
                  <a:srgbClr val="B85042"/>
                </a:solidFill>
                <a:latin typeface="Calibri" pitchFamily="34" charset="0"/>
                <a:ea typeface="Calibri" pitchFamily="34" charset="-122"/>
                <a:cs typeface="Calibri" pitchFamily="34" charset="-120"/>
              </a:rPr>
              <a:t>Architectural prediction: Design smell for THRESHOLDS — building entries, room transitions, activity-zone boundaries.</a:t>
            </a:r>
            <a:endParaRPr lang="en-US" sz="1200" dirty="0"/>
          </a:p>
          <a:p>
            <a:pPr indent="0" marL="0">
              <a:buNone/>
            </a:pPr>
            <a:r>
              <a:rPr lang="en-US" sz="1200" b="1" dirty="0">
                <a:solidFill>
                  <a:srgbClr val="B85042"/>
                </a:solidFill>
                <a:latin typeface="Calibri" pitchFamily="34" charset="0"/>
                <a:ea typeface="Calibri" pitchFamily="34" charset="-122"/>
                <a:cs typeface="Calibri" pitchFamily="34" charset="-120"/>
              </a:rPr>
              <a:t>Don't try to maintain a steady scent. Use olfaction to mark spatial transitions.</a:t>
            </a:r>
            <a:endParaRPr lang="en-US" sz="1200" dirty="0"/>
          </a:p>
        </p:txBody>
      </p:sp>
      <p:sp>
        <p:nvSpPr>
          <p:cNvPr id="16" name="Text 14"/>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17/23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COVERAGE</a:t>
            </a:r>
            <a:endParaRPr lang="en-US" sz="1000" dirty="0"/>
          </a:p>
        </p:txBody>
      </p:sp>
      <p:sp>
        <p:nvSpPr>
          <p:cNvPr id="4" name="Text 2"/>
          <p:cNvSpPr/>
          <p:nvPr/>
        </p:nvSpPr>
        <p:spPr>
          <a:xfrm>
            <a:off x="640080" y="548640"/>
            <a:ext cx="7863840" cy="73152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10 Domains, 52+ Templates,</a:t>
            </a:r>
            <a:endParaRPr lang="en-US" sz="2800" dirty="0"/>
          </a:p>
          <a:p>
            <a:pPr indent="0" marL="0">
              <a:buNone/>
            </a:pPr>
            <a:r>
              <a:rPr lang="en-US" sz="2800" b="1" dirty="0">
                <a:solidFill>
                  <a:srgbClr val="1B2A4A"/>
                </a:solidFill>
                <a:latin typeface="Georgia" pitchFamily="34" charset="0"/>
                <a:ea typeface="Georgia" pitchFamily="34" charset="-122"/>
                <a:cs typeface="Georgia" pitchFamily="34" charset="-120"/>
              </a:rPr>
              <a:t>Four-Star Coverage</a:t>
            </a:r>
            <a:endParaRPr lang="en-US" sz="2800" dirty="0"/>
          </a:p>
        </p:txBody>
      </p:sp>
      <p:sp>
        <p:nvSpPr>
          <p:cNvPr id="5" name="Shape 3"/>
          <p:cNvSpPr/>
          <p:nvPr/>
        </p:nvSpPr>
        <p:spPr>
          <a:xfrm>
            <a:off x="640080" y="1417320"/>
            <a:ext cx="7863840" cy="320040"/>
          </a:xfrm>
          <a:prstGeom prst="rect">
            <a:avLst/>
          </a:prstGeom>
          <a:solidFill>
            <a:srgbClr val="1B2A4A"/>
          </a:solidFill>
          <a:ln/>
        </p:spPr>
      </p:sp>
      <p:sp>
        <p:nvSpPr>
          <p:cNvPr id="6" name="Text 4"/>
          <p:cNvSpPr/>
          <p:nvPr/>
        </p:nvSpPr>
        <p:spPr>
          <a:xfrm>
            <a:off x="822960" y="1417320"/>
            <a:ext cx="4114800" cy="3200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Domain</a:t>
            </a:r>
            <a:endParaRPr lang="en-US" sz="1100" dirty="0"/>
          </a:p>
        </p:txBody>
      </p:sp>
      <p:sp>
        <p:nvSpPr>
          <p:cNvPr id="7" name="Text 5"/>
          <p:cNvSpPr/>
          <p:nvPr/>
        </p:nvSpPr>
        <p:spPr>
          <a:xfrm>
            <a:off x="5029200" y="1417320"/>
            <a:ext cx="137160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Templates</a:t>
            </a:r>
            <a:endParaRPr lang="en-US" sz="1100" dirty="0"/>
          </a:p>
        </p:txBody>
      </p:sp>
      <p:sp>
        <p:nvSpPr>
          <p:cNvPr id="8" name="Text 6"/>
          <p:cNvSpPr/>
          <p:nvPr/>
        </p:nvSpPr>
        <p:spPr>
          <a:xfrm>
            <a:off x="6583680" y="1417320"/>
            <a:ext cx="182880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Coverage</a:t>
            </a:r>
            <a:endParaRPr lang="en-US" sz="1100" dirty="0"/>
          </a:p>
        </p:txBody>
      </p:sp>
      <p:sp>
        <p:nvSpPr>
          <p:cNvPr id="9" name="Shape 7"/>
          <p:cNvSpPr/>
          <p:nvPr/>
        </p:nvSpPr>
        <p:spPr>
          <a:xfrm>
            <a:off x="640080" y="1783080"/>
            <a:ext cx="7863840" cy="274320"/>
          </a:xfrm>
          <a:prstGeom prst="rect">
            <a:avLst/>
          </a:prstGeom>
          <a:solidFill>
            <a:srgbClr val="E8E4DC"/>
          </a:solidFill>
          <a:ln/>
        </p:spPr>
      </p:sp>
      <p:sp>
        <p:nvSpPr>
          <p:cNvPr id="10" name="Text 8"/>
          <p:cNvSpPr/>
          <p:nvPr/>
        </p:nvSpPr>
        <p:spPr>
          <a:xfrm>
            <a:off x="822960" y="1783080"/>
            <a:ext cx="4114800" cy="27432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Light &amp; Circadian</a:t>
            </a:r>
            <a:endParaRPr lang="en-US" sz="1100" dirty="0"/>
          </a:p>
        </p:txBody>
      </p:sp>
      <p:sp>
        <p:nvSpPr>
          <p:cNvPr id="11" name="Text 9"/>
          <p:cNvSpPr/>
          <p:nvPr/>
        </p:nvSpPr>
        <p:spPr>
          <a:xfrm>
            <a:off x="5029200" y="1783080"/>
            <a:ext cx="1371600" cy="274320"/>
          </a:xfrm>
          <a:prstGeom prst="rect">
            <a:avLst/>
          </a:prstGeom>
          <a:noFill/>
          <a:ln/>
        </p:spPr>
        <p:txBody>
          <a:bodyPr wrap="square"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8</a:t>
            </a:r>
            <a:endParaRPr lang="en-US" sz="1100" dirty="0"/>
          </a:p>
        </p:txBody>
      </p:sp>
      <p:sp>
        <p:nvSpPr>
          <p:cNvPr id="12" name="Text 10"/>
          <p:cNvSpPr/>
          <p:nvPr/>
        </p:nvSpPr>
        <p:spPr>
          <a:xfrm>
            <a:off x="6583680" y="1783080"/>
            <a:ext cx="1828800" cy="274320"/>
          </a:xfrm>
          <a:prstGeom prst="rect">
            <a:avLst/>
          </a:prstGeom>
          <a:noFill/>
          <a:ln/>
        </p:spPr>
        <p:txBody>
          <a:bodyPr wrap="square" rtlCol="0" anchor="ctr"/>
          <a:lstStyle/>
          <a:p>
            <a:pPr algn="ctr" indent="0" marL="0">
              <a:buNone/>
            </a:pPr>
            <a:r>
              <a:rPr lang="en-US" sz="1100" dirty="0">
                <a:solidFill>
                  <a:srgbClr val="C4993B"/>
                </a:solidFill>
                <a:latin typeface="Calibri" pitchFamily="34" charset="0"/>
                <a:ea typeface="Calibri" pitchFamily="34" charset="-122"/>
                <a:cs typeface="Calibri" pitchFamily="34" charset="-120"/>
              </a:rPr>
              <a:t>★★★★</a:t>
            </a:r>
            <a:endParaRPr lang="en-US" sz="1100" dirty="0"/>
          </a:p>
        </p:txBody>
      </p:sp>
      <p:sp>
        <p:nvSpPr>
          <p:cNvPr id="13" name="Shape 11"/>
          <p:cNvSpPr/>
          <p:nvPr/>
        </p:nvSpPr>
        <p:spPr>
          <a:xfrm>
            <a:off x="640080" y="2057400"/>
            <a:ext cx="7863840" cy="274320"/>
          </a:xfrm>
          <a:prstGeom prst="rect">
            <a:avLst/>
          </a:prstGeom>
          <a:solidFill>
            <a:srgbClr val="FFFFFF"/>
          </a:solidFill>
          <a:ln/>
        </p:spPr>
      </p:sp>
      <p:sp>
        <p:nvSpPr>
          <p:cNvPr id="14" name="Text 12"/>
          <p:cNvSpPr/>
          <p:nvPr/>
        </p:nvSpPr>
        <p:spPr>
          <a:xfrm>
            <a:off x="822960" y="2057400"/>
            <a:ext cx="4114800" cy="27432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Acoustics</a:t>
            </a:r>
            <a:endParaRPr lang="en-US" sz="1100" dirty="0"/>
          </a:p>
        </p:txBody>
      </p:sp>
      <p:sp>
        <p:nvSpPr>
          <p:cNvPr id="15" name="Text 13"/>
          <p:cNvSpPr/>
          <p:nvPr/>
        </p:nvSpPr>
        <p:spPr>
          <a:xfrm>
            <a:off x="5029200" y="2057400"/>
            <a:ext cx="1371600" cy="274320"/>
          </a:xfrm>
          <a:prstGeom prst="rect">
            <a:avLst/>
          </a:prstGeom>
          <a:noFill/>
          <a:ln/>
        </p:spPr>
        <p:txBody>
          <a:bodyPr wrap="square"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6</a:t>
            </a:r>
            <a:endParaRPr lang="en-US" sz="1100" dirty="0"/>
          </a:p>
        </p:txBody>
      </p:sp>
      <p:sp>
        <p:nvSpPr>
          <p:cNvPr id="16" name="Text 14"/>
          <p:cNvSpPr/>
          <p:nvPr/>
        </p:nvSpPr>
        <p:spPr>
          <a:xfrm>
            <a:off x="6583680" y="2057400"/>
            <a:ext cx="1828800" cy="274320"/>
          </a:xfrm>
          <a:prstGeom prst="rect">
            <a:avLst/>
          </a:prstGeom>
          <a:noFill/>
          <a:ln/>
        </p:spPr>
        <p:txBody>
          <a:bodyPr wrap="square" rtlCol="0" anchor="ctr"/>
          <a:lstStyle/>
          <a:p>
            <a:pPr algn="ctr" indent="0" marL="0">
              <a:buNone/>
            </a:pPr>
            <a:r>
              <a:rPr lang="en-US" sz="1100" dirty="0">
                <a:solidFill>
                  <a:srgbClr val="C4993B"/>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640080" y="2331720"/>
            <a:ext cx="7863840" cy="274320"/>
          </a:xfrm>
          <a:prstGeom prst="rect">
            <a:avLst/>
          </a:prstGeom>
          <a:solidFill>
            <a:srgbClr val="E8E4DC"/>
          </a:solidFill>
          <a:ln/>
        </p:spPr>
      </p:sp>
      <p:sp>
        <p:nvSpPr>
          <p:cNvPr id="18" name="Text 16"/>
          <p:cNvSpPr/>
          <p:nvPr/>
        </p:nvSpPr>
        <p:spPr>
          <a:xfrm>
            <a:off x="822960" y="2331720"/>
            <a:ext cx="4114800" cy="27432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Spatial Configuration</a:t>
            </a:r>
            <a:endParaRPr lang="en-US" sz="1100" dirty="0"/>
          </a:p>
        </p:txBody>
      </p:sp>
      <p:sp>
        <p:nvSpPr>
          <p:cNvPr id="19" name="Text 17"/>
          <p:cNvSpPr/>
          <p:nvPr/>
        </p:nvSpPr>
        <p:spPr>
          <a:xfrm>
            <a:off x="5029200" y="2331720"/>
            <a:ext cx="1371600" cy="274320"/>
          </a:xfrm>
          <a:prstGeom prst="rect">
            <a:avLst/>
          </a:prstGeom>
          <a:noFill/>
          <a:ln/>
        </p:spPr>
        <p:txBody>
          <a:bodyPr wrap="square"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7</a:t>
            </a:r>
            <a:endParaRPr lang="en-US" sz="1100" dirty="0"/>
          </a:p>
        </p:txBody>
      </p:sp>
      <p:sp>
        <p:nvSpPr>
          <p:cNvPr id="20" name="Text 18"/>
          <p:cNvSpPr/>
          <p:nvPr/>
        </p:nvSpPr>
        <p:spPr>
          <a:xfrm>
            <a:off x="6583680" y="2331720"/>
            <a:ext cx="1828800" cy="274320"/>
          </a:xfrm>
          <a:prstGeom prst="rect">
            <a:avLst/>
          </a:prstGeom>
          <a:noFill/>
          <a:ln/>
        </p:spPr>
        <p:txBody>
          <a:bodyPr wrap="square" rtlCol="0" anchor="ctr"/>
          <a:lstStyle/>
          <a:p>
            <a:pPr algn="ctr" indent="0" marL="0">
              <a:buNone/>
            </a:pPr>
            <a:r>
              <a:rPr lang="en-US" sz="1100" dirty="0">
                <a:solidFill>
                  <a:srgbClr val="C4993B"/>
                </a:solidFill>
                <a:latin typeface="Calibri" pitchFamily="34" charset="0"/>
                <a:ea typeface="Calibri" pitchFamily="34" charset="-122"/>
                <a:cs typeface="Calibri" pitchFamily="34" charset="-120"/>
              </a:rPr>
              <a:t>★★★★</a:t>
            </a:r>
            <a:endParaRPr lang="en-US" sz="1100" dirty="0"/>
          </a:p>
        </p:txBody>
      </p:sp>
      <p:sp>
        <p:nvSpPr>
          <p:cNvPr id="21" name="Shape 19"/>
          <p:cNvSpPr/>
          <p:nvPr/>
        </p:nvSpPr>
        <p:spPr>
          <a:xfrm>
            <a:off x="640080" y="2606040"/>
            <a:ext cx="7863840" cy="274320"/>
          </a:xfrm>
          <a:prstGeom prst="rect">
            <a:avLst/>
          </a:prstGeom>
          <a:solidFill>
            <a:srgbClr val="FFFFFF"/>
          </a:solidFill>
          <a:ln/>
        </p:spPr>
      </p:sp>
      <p:sp>
        <p:nvSpPr>
          <p:cNvPr id="22" name="Text 20"/>
          <p:cNvSpPr/>
          <p:nvPr/>
        </p:nvSpPr>
        <p:spPr>
          <a:xfrm>
            <a:off x="822960" y="2606040"/>
            <a:ext cx="4114800" cy="27432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Materials &amp; Texture</a:t>
            </a:r>
            <a:endParaRPr lang="en-US" sz="1100" dirty="0"/>
          </a:p>
        </p:txBody>
      </p:sp>
      <p:sp>
        <p:nvSpPr>
          <p:cNvPr id="23" name="Text 21"/>
          <p:cNvSpPr/>
          <p:nvPr/>
        </p:nvSpPr>
        <p:spPr>
          <a:xfrm>
            <a:off x="5029200" y="2606040"/>
            <a:ext cx="1371600" cy="274320"/>
          </a:xfrm>
          <a:prstGeom prst="rect">
            <a:avLst/>
          </a:prstGeom>
          <a:noFill/>
          <a:ln/>
        </p:spPr>
        <p:txBody>
          <a:bodyPr wrap="square"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5</a:t>
            </a:r>
            <a:endParaRPr lang="en-US" sz="1100" dirty="0"/>
          </a:p>
        </p:txBody>
      </p:sp>
      <p:sp>
        <p:nvSpPr>
          <p:cNvPr id="24" name="Text 22"/>
          <p:cNvSpPr/>
          <p:nvPr/>
        </p:nvSpPr>
        <p:spPr>
          <a:xfrm>
            <a:off x="6583680" y="2606040"/>
            <a:ext cx="1828800" cy="274320"/>
          </a:xfrm>
          <a:prstGeom prst="rect">
            <a:avLst/>
          </a:prstGeom>
          <a:noFill/>
          <a:ln/>
        </p:spPr>
        <p:txBody>
          <a:bodyPr wrap="square" rtlCol="0" anchor="ctr"/>
          <a:lstStyle/>
          <a:p>
            <a:pPr algn="ctr" indent="0" marL="0">
              <a:buNone/>
            </a:pPr>
            <a:r>
              <a:rPr lang="en-US" sz="1100" dirty="0">
                <a:solidFill>
                  <a:srgbClr val="C4993B"/>
                </a:solidFill>
                <a:latin typeface="Calibri" pitchFamily="34" charset="0"/>
                <a:ea typeface="Calibri" pitchFamily="34" charset="-122"/>
                <a:cs typeface="Calibri" pitchFamily="34" charset="-120"/>
              </a:rPr>
              <a:t>★★★★</a:t>
            </a:r>
            <a:endParaRPr lang="en-US" sz="1100" dirty="0"/>
          </a:p>
        </p:txBody>
      </p:sp>
      <p:sp>
        <p:nvSpPr>
          <p:cNvPr id="25" name="Shape 23"/>
          <p:cNvSpPr/>
          <p:nvPr/>
        </p:nvSpPr>
        <p:spPr>
          <a:xfrm>
            <a:off x="640080" y="2880360"/>
            <a:ext cx="7863840" cy="274320"/>
          </a:xfrm>
          <a:prstGeom prst="rect">
            <a:avLst/>
          </a:prstGeom>
          <a:solidFill>
            <a:srgbClr val="E8E4DC"/>
          </a:solidFill>
          <a:ln/>
        </p:spPr>
      </p:sp>
      <p:sp>
        <p:nvSpPr>
          <p:cNvPr id="26" name="Text 24"/>
          <p:cNvSpPr/>
          <p:nvPr/>
        </p:nvSpPr>
        <p:spPr>
          <a:xfrm>
            <a:off x="822960" y="2880360"/>
            <a:ext cx="4114800" cy="27432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Biophilia &amp; Nature</a:t>
            </a:r>
            <a:endParaRPr lang="en-US" sz="1100" dirty="0"/>
          </a:p>
        </p:txBody>
      </p:sp>
      <p:sp>
        <p:nvSpPr>
          <p:cNvPr id="27" name="Text 25"/>
          <p:cNvSpPr/>
          <p:nvPr/>
        </p:nvSpPr>
        <p:spPr>
          <a:xfrm>
            <a:off x="5029200" y="2880360"/>
            <a:ext cx="1371600" cy="274320"/>
          </a:xfrm>
          <a:prstGeom prst="rect">
            <a:avLst/>
          </a:prstGeom>
          <a:noFill/>
          <a:ln/>
        </p:spPr>
        <p:txBody>
          <a:bodyPr wrap="square"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6</a:t>
            </a:r>
            <a:endParaRPr lang="en-US" sz="1100" dirty="0"/>
          </a:p>
        </p:txBody>
      </p:sp>
      <p:sp>
        <p:nvSpPr>
          <p:cNvPr id="28" name="Text 26"/>
          <p:cNvSpPr/>
          <p:nvPr/>
        </p:nvSpPr>
        <p:spPr>
          <a:xfrm>
            <a:off x="6583680" y="2880360"/>
            <a:ext cx="1828800" cy="274320"/>
          </a:xfrm>
          <a:prstGeom prst="rect">
            <a:avLst/>
          </a:prstGeom>
          <a:noFill/>
          <a:ln/>
        </p:spPr>
        <p:txBody>
          <a:bodyPr wrap="square" rtlCol="0" anchor="ctr"/>
          <a:lstStyle/>
          <a:p>
            <a:pPr algn="ctr" indent="0" marL="0">
              <a:buNone/>
            </a:pPr>
            <a:r>
              <a:rPr lang="en-US" sz="1100" dirty="0">
                <a:solidFill>
                  <a:srgbClr val="C4993B"/>
                </a:solidFill>
                <a:latin typeface="Calibri" pitchFamily="34" charset="0"/>
                <a:ea typeface="Calibri" pitchFamily="34" charset="-122"/>
                <a:cs typeface="Calibri" pitchFamily="34" charset="-120"/>
              </a:rPr>
              <a:t>★★★★</a:t>
            </a:r>
            <a:endParaRPr lang="en-US" sz="1100" dirty="0"/>
          </a:p>
        </p:txBody>
      </p:sp>
      <p:sp>
        <p:nvSpPr>
          <p:cNvPr id="29" name="Shape 27"/>
          <p:cNvSpPr/>
          <p:nvPr/>
        </p:nvSpPr>
        <p:spPr>
          <a:xfrm>
            <a:off x="640080" y="3154680"/>
            <a:ext cx="7863840" cy="274320"/>
          </a:xfrm>
          <a:prstGeom prst="rect">
            <a:avLst/>
          </a:prstGeom>
          <a:solidFill>
            <a:srgbClr val="FFFFFF"/>
          </a:solidFill>
          <a:ln/>
        </p:spPr>
      </p:sp>
      <p:sp>
        <p:nvSpPr>
          <p:cNvPr id="30" name="Text 28"/>
          <p:cNvSpPr/>
          <p:nvPr/>
        </p:nvSpPr>
        <p:spPr>
          <a:xfrm>
            <a:off x="822960" y="3154680"/>
            <a:ext cx="4114800" cy="27432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Thermal &amp; Air Quality</a:t>
            </a:r>
            <a:endParaRPr lang="en-US" sz="1100" dirty="0"/>
          </a:p>
        </p:txBody>
      </p:sp>
      <p:sp>
        <p:nvSpPr>
          <p:cNvPr id="31" name="Text 29"/>
          <p:cNvSpPr/>
          <p:nvPr/>
        </p:nvSpPr>
        <p:spPr>
          <a:xfrm>
            <a:off x="5029200" y="3154680"/>
            <a:ext cx="1371600" cy="274320"/>
          </a:xfrm>
          <a:prstGeom prst="rect">
            <a:avLst/>
          </a:prstGeom>
          <a:noFill/>
          <a:ln/>
        </p:spPr>
        <p:txBody>
          <a:bodyPr wrap="square"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4</a:t>
            </a:r>
            <a:endParaRPr lang="en-US" sz="1100" dirty="0"/>
          </a:p>
        </p:txBody>
      </p:sp>
      <p:sp>
        <p:nvSpPr>
          <p:cNvPr id="32" name="Text 30"/>
          <p:cNvSpPr/>
          <p:nvPr/>
        </p:nvSpPr>
        <p:spPr>
          <a:xfrm>
            <a:off x="6583680" y="3154680"/>
            <a:ext cx="1828800" cy="274320"/>
          </a:xfrm>
          <a:prstGeom prst="rect">
            <a:avLst/>
          </a:prstGeom>
          <a:noFill/>
          <a:ln/>
        </p:spPr>
        <p:txBody>
          <a:bodyPr wrap="square" rtlCol="0" anchor="ctr"/>
          <a:lstStyle/>
          <a:p>
            <a:pPr algn="ctr" indent="0" marL="0">
              <a:buNone/>
            </a:pPr>
            <a:r>
              <a:rPr lang="en-US" sz="1100" dirty="0">
                <a:solidFill>
                  <a:srgbClr val="C4993B"/>
                </a:solidFill>
                <a:latin typeface="Calibri" pitchFamily="34" charset="0"/>
                <a:ea typeface="Calibri" pitchFamily="34" charset="-122"/>
                <a:cs typeface="Calibri" pitchFamily="34" charset="-120"/>
              </a:rPr>
              <a:t>★★★★</a:t>
            </a:r>
            <a:endParaRPr lang="en-US" sz="1100" dirty="0"/>
          </a:p>
        </p:txBody>
      </p:sp>
      <p:sp>
        <p:nvSpPr>
          <p:cNvPr id="33" name="Shape 31"/>
          <p:cNvSpPr/>
          <p:nvPr/>
        </p:nvSpPr>
        <p:spPr>
          <a:xfrm>
            <a:off x="640080" y="3429000"/>
            <a:ext cx="7863840" cy="274320"/>
          </a:xfrm>
          <a:prstGeom prst="rect">
            <a:avLst/>
          </a:prstGeom>
          <a:solidFill>
            <a:srgbClr val="E8E4DC"/>
          </a:solidFill>
          <a:ln/>
        </p:spPr>
      </p:sp>
      <p:sp>
        <p:nvSpPr>
          <p:cNvPr id="34" name="Text 32"/>
          <p:cNvSpPr/>
          <p:nvPr/>
        </p:nvSpPr>
        <p:spPr>
          <a:xfrm>
            <a:off x="822960" y="3429000"/>
            <a:ext cx="4114800" cy="27432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Color &amp; Visual Complexity</a:t>
            </a:r>
            <a:endParaRPr lang="en-US" sz="1100" dirty="0"/>
          </a:p>
        </p:txBody>
      </p:sp>
      <p:sp>
        <p:nvSpPr>
          <p:cNvPr id="35" name="Text 33"/>
          <p:cNvSpPr/>
          <p:nvPr/>
        </p:nvSpPr>
        <p:spPr>
          <a:xfrm>
            <a:off x="5029200" y="3429000"/>
            <a:ext cx="1371600" cy="274320"/>
          </a:xfrm>
          <a:prstGeom prst="rect">
            <a:avLst/>
          </a:prstGeom>
          <a:noFill/>
          <a:ln/>
        </p:spPr>
        <p:txBody>
          <a:bodyPr wrap="square"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4</a:t>
            </a:r>
            <a:endParaRPr lang="en-US" sz="1100" dirty="0"/>
          </a:p>
        </p:txBody>
      </p:sp>
      <p:sp>
        <p:nvSpPr>
          <p:cNvPr id="36" name="Text 34"/>
          <p:cNvSpPr/>
          <p:nvPr/>
        </p:nvSpPr>
        <p:spPr>
          <a:xfrm>
            <a:off x="6583680" y="3429000"/>
            <a:ext cx="1828800" cy="274320"/>
          </a:xfrm>
          <a:prstGeom prst="rect">
            <a:avLst/>
          </a:prstGeom>
          <a:noFill/>
          <a:ln/>
        </p:spPr>
        <p:txBody>
          <a:bodyPr wrap="square" rtlCol="0" anchor="ctr"/>
          <a:lstStyle/>
          <a:p>
            <a:pPr algn="ctr" indent="0" marL="0">
              <a:buNone/>
            </a:pPr>
            <a:r>
              <a:rPr lang="en-US" sz="1100" dirty="0">
                <a:solidFill>
                  <a:srgbClr val="C4993B"/>
                </a:solidFill>
                <a:latin typeface="Calibri" pitchFamily="34" charset="0"/>
                <a:ea typeface="Calibri" pitchFamily="34" charset="-122"/>
                <a:cs typeface="Calibri" pitchFamily="34" charset="-120"/>
              </a:rPr>
              <a:t>★★★★</a:t>
            </a:r>
            <a:endParaRPr lang="en-US" sz="1100" dirty="0"/>
          </a:p>
        </p:txBody>
      </p:sp>
      <p:sp>
        <p:nvSpPr>
          <p:cNvPr id="37" name="Shape 35"/>
          <p:cNvSpPr/>
          <p:nvPr/>
        </p:nvSpPr>
        <p:spPr>
          <a:xfrm>
            <a:off x="640080" y="3703320"/>
            <a:ext cx="7863840" cy="274320"/>
          </a:xfrm>
          <a:prstGeom prst="rect">
            <a:avLst/>
          </a:prstGeom>
          <a:solidFill>
            <a:srgbClr val="FFFFFF"/>
          </a:solidFill>
          <a:ln/>
        </p:spPr>
      </p:sp>
      <p:sp>
        <p:nvSpPr>
          <p:cNvPr id="38" name="Text 36"/>
          <p:cNvSpPr/>
          <p:nvPr/>
        </p:nvSpPr>
        <p:spPr>
          <a:xfrm>
            <a:off x="822960" y="3703320"/>
            <a:ext cx="4114800" cy="27432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Olfaction</a:t>
            </a:r>
            <a:endParaRPr lang="en-US" sz="1100" dirty="0"/>
          </a:p>
        </p:txBody>
      </p:sp>
      <p:sp>
        <p:nvSpPr>
          <p:cNvPr id="39" name="Text 37"/>
          <p:cNvSpPr/>
          <p:nvPr/>
        </p:nvSpPr>
        <p:spPr>
          <a:xfrm>
            <a:off x="5029200" y="3703320"/>
            <a:ext cx="1371600" cy="274320"/>
          </a:xfrm>
          <a:prstGeom prst="rect">
            <a:avLst/>
          </a:prstGeom>
          <a:noFill/>
          <a:ln/>
        </p:spPr>
        <p:txBody>
          <a:bodyPr wrap="square"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3</a:t>
            </a:r>
            <a:endParaRPr lang="en-US" sz="1100" dirty="0"/>
          </a:p>
        </p:txBody>
      </p:sp>
      <p:sp>
        <p:nvSpPr>
          <p:cNvPr id="40" name="Text 38"/>
          <p:cNvSpPr/>
          <p:nvPr/>
        </p:nvSpPr>
        <p:spPr>
          <a:xfrm>
            <a:off x="6583680" y="3703320"/>
            <a:ext cx="1828800" cy="274320"/>
          </a:xfrm>
          <a:prstGeom prst="rect">
            <a:avLst/>
          </a:prstGeom>
          <a:noFill/>
          <a:ln/>
        </p:spPr>
        <p:txBody>
          <a:bodyPr wrap="square" rtlCol="0" anchor="ctr"/>
          <a:lstStyle/>
          <a:p>
            <a:pPr algn="ctr" indent="0" marL="0">
              <a:buNone/>
            </a:pPr>
            <a:r>
              <a:rPr lang="en-US" sz="1100" dirty="0">
                <a:solidFill>
                  <a:srgbClr val="C4993B"/>
                </a:solidFill>
                <a:latin typeface="Calibri" pitchFamily="34" charset="0"/>
                <a:ea typeface="Calibri" pitchFamily="34" charset="-122"/>
                <a:cs typeface="Calibri" pitchFamily="34" charset="-120"/>
              </a:rPr>
              <a:t>★★★★</a:t>
            </a:r>
            <a:endParaRPr lang="en-US" sz="1100" dirty="0"/>
          </a:p>
        </p:txBody>
      </p:sp>
      <p:sp>
        <p:nvSpPr>
          <p:cNvPr id="41" name="Shape 39"/>
          <p:cNvSpPr/>
          <p:nvPr/>
        </p:nvSpPr>
        <p:spPr>
          <a:xfrm>
            <a:off x="640080" y="3977640"/>
            <a:ext cx="7863840" cy="274320"/>
          </a:xfrm>
          <a:prstGeom prst="rect">
            <a:avLst/>
          </a:prstGeom>
          <a:solidFill>
            <a:srgbClr val="E8E4DC"/>
          </a:solidFill>
          <a:ln/>
        </p:spPr>
      </p:sp>
      <p:sp>
        <p:nvSpPr>
          <p:cNvPr id="42" name="Text 40"/>
          <p:cNvSpPr/>
          <p:nvPr/>
        </p:nvSpPr>
        <p:spPr>
          <a:xfrm>
            <a:off x="822960" y="3977640"/>
            <a:ext cx="4114800" cy="27432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Wayfinding &amp; Legibility</a:t>
            </a:r>
            <a:endParaRPr lang="en-US" sz="1100" dirty="0"/>
          </a:p>
        </p:txBody>
      </p:sp>
      <p:sp>
        <p:nvSpPr>
          <p:cNvPr id="43" name="Text 41"/>
          <p:cNvSpPr/>
          <p:nvPr/>
        </p:nvSpPr>
        <p:spPr>
          <a:xfrm>
            <a:off x="5029200" y="3977640"/>
            <a:ext cx="1371600" cy="274320"/>
          </a:xfrm>
          <a:prstGeom prst="rect">
            <a:avLst/>
          </a:prstGeom>
          <a:noFill/>
          <a:ln/>
        </p:spPr>
        <p:txBody>
          <a:bodyPr wrap="square"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5</a:t>
            </a:r>
            <a:endParaRPr lang="en-US" sz="1100" dirty="0"/>
          </a:p>
        </p:txBody>
      </p:sp>
      <p:sp>
        <p:nvSpPr>
          <p:cNvPr id="44" name="Text 42"/>
          <p:cNvSpPr/>
          <p:nvPr/>
        </p:nvSpPr>
        <p:spPr>
          <a:xfrm>
            <a:off x="6583680" y="3977640"/>
            <a:ext cx="1828800" cy="274320"/>
          </a:xfrm>
          <a:prstGeom prst="rect">
            <a:avLst/>
          </a:prstGeom>
          <a:noFill/>
          <a:ln/>
        </p:spPr>
        <p:txBody>
          <a:bodyPr wrap="square" rtlCol="0" anchor="ctr"/>
          <a:lstStyle/>
          <a:p>
            <a:pPr algn="ctr" indent="0" marL="0">
              <a:buNone/>
            </a:pPr>
            <a:r>
              <a:rPr lang="en-US" sz="1100" dirty="0">
                <a:solidFill>
                  <a:srgbClr val="C4993B"/>
                </a:solidFill>
                <a:latin typeface="Calibri" pitchFamily="34" charset="0"/>
                <a:ea typeface="Calibri" pitchFamily="34" charset="-122"/>
                <a:cs typeface="Calibri" pitchFamily="34" charset="-120"/>
              </a:rPr>
              <a:t>★★★★</a:t>
            </a:r>
            <a:endParaRPr lang="en-US" sz="1100" dirty="0"/>
          </a:p>
        </p:txBody>
      </p:sp>
      <p:sp>
        <p:nvSpPr>
          <p:cNvPr id="45" name="Shape 43"/>
          <p:cNvSpPr/>
          <p:nvPr/>
        </p:nvSpPr>
        <p:spPr>
          <a:xfrm>
            <a:off x="640080" y="4251960"/>
            <a:ext cx="7863840" cy="274320"/>
          </a:xfrm>
          <a:prstGeom prst="rect">
            <a:avLst/>
          </a:prstGeom>
          <a:solidFill>
            <a:srgbClr val="FFFFFF"/>
          </a:solidFill>
          <a:ln/>
        </p:spPr>
      </p:sp>
      <p:sp>
        <p:nvSpPr>
          <p:cNvPr id="46" name="Text 44"/>
          <p:cNvSpPr/>
          <p:nvPr/>
        </p:nvSpPr>
        <p:spPr>
          <a:xfrm>
            <a:off x="822960" y="4251960"/>
            <a:ext cx="4114800" cy="27432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Social Configuration</a:t>
            </a:r>
            <a:endParaRPr lang="en-US" sz="1100" dirty="0"/>
          </a:p>
        </p:txBody>
      </p:sp>
      <p:sp>
        <p:nvSpPr>
          <p:cNvPr id="47" name="Text 45"/>
          <p:cNvSpPr/>
          <p:nvPr/>
        </p:nvSpPr>
        <p:spPr>
          <a:xfrm>
            <a:off x="5029200" y="4251960"/>
            <a:ext cx="1371600" cy="274320"/>
          </a:xfrm>
          <a:prstGeom prst="rect">
            <a:avLst/>
          </a:prstGeom>
          <a:noFill/>
          <a:ln/>
        </p:spPr>
        <p:txBody>
          <a:bodyPr wrap="square"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4</a:t>
            </a:r>
            <a:endParaRPr lang="en-US" sz="1100" dirty="0"/>
          </a:p>
        </p:txBody>
      </p:sp>
      <p:sp>
        <p:nvSpPr>
          <p:cNvPr id="48" name="Text 46"/>
          <p:cNvSpPr/>
          <p:nvPr/>
        </p:nvSpPr>
        <p:spPr>
          <a:xfrm>
            <a:off x="6583680" y="4251960"/>
            <a:ext cx="1828800" cy="274320"/>
          </a:xfrm>
          <a:prstGeom prst="rect">
            <a:avLst/>
          </a:prstGeom>
          <a:noFill/>
          <a:ln/>
        </p:spPr>
        <p:txBody>
          <a:bodyPr wrap="square" rtlCol="0" anchor="ctr"/>
          <a:lstStyle/>
          <a:p>
            <a:pPr algn="ctr" indent="0" marL="0">
              <a:buNone/>
            </a:pPr>
            <a:r>
              <a:rPr lang="en-US" sz="1100" dirty="0">
                <a:solidFill>
                  <a:srgbClr val="C4993B"/>
                </a:solidFill>
                <a:latin typeface="Calibri" pitchFamily="34" charset="0"/>
                <a:ea typeface="Calibri" pitchFamily="34" charset="-122"/>
                <a:cs typeface="Calibri" pitchFamily="34" charset="-120"/>
              </a:rPr>
              <a:t>★★★★</a:t>
            </a:r>
            <a:endParaRPr lang="en-US" sz="1100" dirty="0"/>
          </a:p>
        </p:txBody>
      </p:sp>
      <p:sp>
        <p:nvSpPr>
          <p:cNvPr id="49" name="Text 47"/>
          <p:cNvSpPr/>
          <p:nvPr/>
        </p:nvSpPr>
        <p:spPr>
          <a:xfrm>
            <a:off x="640080" y="4526280"/>
            <a:ext cx="7863840" cy="365760"/>
          </a:xfrm>
          <a:prstGeom prst="rect">
            <a:avLst/>
          </a:prstGeom>
          <a:noFill/>
          <a:ln/>
        </p:spPr>
        <p:txBody>
          <a:bodyPr wrap="square" rtlCol="0" anchor="ctr"/>
          <a:lstStyle/>
          <a:p>
            <a:pPr indent="0" marL="0">
              <a:buNone/>
            </a:pPr>
            <a:r>
              <a:rPr lang="en-US" sz="1200" i="1" dirty="0">
                <a:solidFill>
                  <a:srgbClr val="2A6F7A"/>
                </a:solidFill>
                <a:latin typeface="Calibri" pitchFamily="34" charset="0"/>
                <a:ea typeface="Calibri" pitchFamily="34" charset="-122"/>
                <a:cs typeface="Calibri" pitchFamily="34" charset="-120"/>
              </a:rPr>
              <a:t>Plus: 17 music/acoustic interaction templates, 6 cross-modal templates</a:t>
            </a:r>
            <a:endParaRPr lang="en-US" sz="1200" dirty="0"/>
          </a:p>
        </p:txBody>
      </p:sp>
      <p:sp>
        <p:nvSpPr>
          <p:cNvPr id="50" name="Text 48"/>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18/23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CONTRIBUTION TO PHILOSOPHY OF SCIENCE</a:t>
            </a:r>
            <a:endParaRPr lang="en-US" sz="1000" dirty="0"/>
          </a:p>
        </p:txBody>
      </p:sp>
      <p:sp>
        <p:nvSpPr>
          <p:cNvPr id="4" name="Text 2"/>
          <p:cNvSpPr/>
          <p:nvPr/>
        </p:nvSpPr>
        <p:spPr>
          <a:xfrm>
            <a:off x="640080" y="548640"/>
            <a:ext cx="7863840" cy="82296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Theory-to-Template Reduction:</a:t>
            </a:r>
            <a:endParaRPr lang="en-US" sz="2800" dirty="0"/>
          </a:p>
          <a:p>
            <a:pPr indent="0" marL="0">
              <a:buNone/>
            </a:pPr>
            <a:r>
              <a:rPr lang="en-US" sz="2800" b="1" dirty="0">
                <a:solidFill>
                  <a:srgbClr val="1B2A4A"/>
                </a:solidFill>
                <a:latin typeface="Georgia" pitchFamily="34" charset="0"/>
                <a:ea typeface="Georgia" pitchFamily="34" charset="-122"/>
                <a:cs typeface="Georgia" pitchFamily="34" charset="-120"/>
              </a:rPr>
              <a:t>A Novel Philosophical Move</a:t>
            </a:r>
            <a:endParaRPr lang="en-US" sz="2800" dirty="0"/>
          </a:p>
        </p:txBody>
      </p:sp>
      <p:sp>
        <p:nvSpPr>
          <p:cNvPr id="5" name="Text 3"/>
          <p:cNvSpPr/>
          <p:nvPr/>
        </p:nvSpPr>
        <p:spPr>
          <a:xfrm>
            <a:off x="640080" y="1463040"/>
            <a:ext cx="7863840" cy="3200400"/>
          </a:xfrm>
          <a:prstGeom prst="rect">
            <a:avLst/>
          </a:prstGeom>
          <a:noFill/>
          <a:ln/>
        </p:spPr>
        <p:txBody>
          <a:bodyPr wrap="square" rtlCol="0" anchor="t"/>
          <a:lstStyle/>
          <a:p>
            <a:pPr indent="0" marL="0">
              <a:buNone/>
            </a:pPr>
            <a:r>
              <a:rPr lang="en-US" sz="1300" i="1" dirty="0">
                <a:solidFill>
                  <a:srgbClr val="2C2C2C"/>
                </a:solidFill>
                <a:latin typeface="Calibri" pitchFamily="34" charset="0"/>
                <a:ea typeface="Calibri" pitchFamily="34" charset="-122"/>
                <a:cs typeface="Calibri" pitchFamily="34" charset="-120"/>
              </a:rPr>
              <a:t>What we're doing is a kind of theory reduction that doesn't have a standard name:</a:t>
            </a:r>
            <a:endParaRPr lang="en-US" sz="1300" dirty="0"/>
          </a:p>
          <a:p>
            <a:pPr indent="0" marL="0">
              <a:buNone/>
            </a:pPr>
            <a:endParaRPr lang="en-US" sz="1300" dirty="0"/>
          </a:p>
          <a:p>
            <a:pPr indent="0" marL="0">
              <a:buNone/>
            </a:pPr>
            <a:r>
              <a:rPr lang="en-US" sz="1600" b="1" dirty="0">
                <a:solidFill>
                  <a:srgbClr val="1B2A4A"/>
                </a:solidFill>
                <a:latin typeface="Georgia" pitchFamily="34" charset="0"/>
                <a:ea typeface="Georgia" pitchFamily="34" charset="-122"/>
                <a:cs typeface="Georgia" pitchFamily="34" charset="-120"/>
              </a:rPr>
              <a:t>Broad theory  →  domain-specific mechanistic templates  →  testable predictions</a:t>
            </a:r>
            <a:endParaRPr lang="en-US" sz="1300" dirty="0"/>
          </a:p>
          <a:p>
            <a:pPr indent="0" marL="0">
              <a:buNone/>
            </a:pPr>
            <a:endParaRPr lang="en-US" sz="1300" dirty="0"/>
          </a:p>
          <a:p>
            <a:pPr indent="0" marL="0">
              <a:buNone/>
            </a:pPr>
            <a:r>
              <a:rPr lang="en-US" sz="1300" dirty="0">
                <a:solidFill>
                  <a:srgbClr val="2C2C2C"/>
                </a:solidFill>
                <a:latin typeface="Calibri" pitchFamily="34" charset="0"/>
                <a:ea typeface="Calibri" pitchFamily="34" charset="-122"/>
                <a:cs typeface="Calibri" pitchFamily="34" charset="-120"/>
              </a:rPr>
              <a:t>Predictive Processing is a theory of everything. That's its strength and weakness.</a:t>
            </a:r>
            <a:endParaRPr lang="en-US" sz="1300" dirty="0"/>
          </a:p>
          <a:p>
            <a:pPr indent="0" marL="0">
              <a:buNone/>
            </a:pPr>
            <a:r>
              <a:rPr lang="en-US" sz="1300" dirty="0">
                <a:solidFill>
                  <a:srgbClr val="2C2C2C"/>
                </a:solidFill>
                <a:latin typeface="Calibri" pitchFamily="34" charset="0"/>
                <a:ea typeface="Calibri" pitchFamily="34" charset="-122"/>
                <a:cs typeface="Calibri" pitchFamily="34" charset="-120"/>
              </a:rPr>
              <a:t>It explains perception, action, emotion, learning — but it doesn't directly predict that ceiling height should be 2.7m for focus work and 4m+ for creative work.</a:t>
            </a:r>
            <a:endParaRPr lang="en-US" sz="1300" dirty="0"/>
          </a:p>
          <a:p>
            <a:pPr indent="0" marL="0">
              <a:buNone/>
            </a:pPr>
            <a:endParaRPr lang="en-US" sz="1300" dirty="0"/>
          </a:p>
          <a:p>
            <a:pPr indent="0" marL="0">
              <a:buNone/>
            </a:pPr>
            <a:r>
              <a:rPr lang="en-US" sz="1300" dirty="0">
                <a:solidFill>
                  <a:srgbClr val="2C2C2C"/>
                </a:solidFill>
                <a:latin typeface="Calibri" pitchFamily="34" charset="0"/>
                <a:ea typeface="Calibri" pitchFamily="34" charset="-122"/>
                <a:cs typeface="Calibri" pitchFamily="34" charset="-120"/>
              </a:rPr>
              <a:t>The template reduction takes the general theory and derives specific, falsifiable, actionable claims.</a:t>
            </a:r>
            <a:endParaRPr lang="en-US" sz="1300" dirty="0"/>
          </a:p>
          <a:p>
            <a:pPr indent="0" marL="0">
              <a:buNone/>
            </a:pPr>
            <a:r>
              <a:rPr lang="en-US" sz="1300" b="1" dirty="0">
                <a:solidFill>
                  <a:srgbClr val="B85042"/>
                </a:solidFill>
                <a:latin typeface="Calibri" pitchFamily="34" charset="0"/>
                <a:ea typeface="Calibri" pitchFamily="34" charset="-122"/>
                <a:cs typeface="Calibri" pitchFamily="34" charset="-120"/>
              </a:rPr>
              <a:t>This is where theory meets design — and it's where most cognitive science stops and we keep going.</a:t>
            </a:r>
            <a:endParaRPr lang="en-US" sz="1300" dirty="0"/>
          </a:p>
          <a:p>
            <a:pPr indent="0" marL="0">
              <a:buNone/>
            </a:pPr>
            <a:endParaRPr lang="en-US" sz="1300" dirty="0"/>
          </a:p>
          <a:p>
            <a:pPr indent="0" marL="0">
              <a:buNone/>
            </a:pPr>
            <a:r>
              <a:rPr lang="en-US" sz="1300" i="1" dirty="0">
                <a:solidFill>
                  <a:srgbClr val="2C2C2C"/>
                </a:solidFill>
                <a:latin typeface="Calibri" pitchFamily="34" charset="0"/>
                <a:ea typeface="Calibri" pitchFamily="34" charset="-122"/>
                <a:cs typeface="Calibri" pitchFamily="34" charset="-120"/>
              </a:rPr>
              <a:t>Compare: In physics, the reduction from quantum field theory to materials science to engineering specifications. We're building the materials science of the mind-environment interface.</a:t>
            </a:r>
            <a:endParaRPr lang="en-US" sz="1300" dirty="0"/>
          </a:p>
        </p:txBody>
      </p:sp>
      <p:sp>
        <p:nvSpPr>
          <p:cNvPr id="6" name="Text 4"/>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19/23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APPLICATION</a:t>
            </a:r>
            <a:endParaRPr lang="en-US" sz="1000" dirty="0"/>
          </a:p>
        </p:txBody>
      </p:sp>
      <p:sp>
        <p:nvSpPr>
          <p:cNvPr id="4" name="Text 2"/>
          <p:cNvSpPr/>
          <p:nvPr/>
        </p:nvSpPr>
        <p:spPr>
          <a:xfrm>
            <a:off x="640080" y="548640"/>
            <a:ext cx="7863840" cy="82296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Evaluating Real Buildings:</a:t>
            </a:r>
            <a:endParaRPr lang="en-US" sz="2800" dirty="0"/>
          </a:p>
          <a:p>
            <a:pPr indent="0" marL="0">
              <a:buNone/>
            </a:pPr>
            <a:r>
              <a:rPr lang="en-US" sz="2800" b="1" dirty="0">
                <a:solidFill>
                  <a:srgbClr val="1B2A4A"/>
                </a:solidFill>
                <a:latin typeface="Georgia" pitchFamily="34" charset="0"/>
                <a:ea typeface="Georgia" pitchFamily="34" charset="-122"/>
                <a:cs typeface="Georgia" pitchFamily="34" charset="-120"/>
              </a:rPr>
              <a:t>From Templates to Scores</a:t>
            </a:r>
            <a:endParaRPr lang="en-US" sz="2800" dirty="0"/>
          </a:p>
        </p:txBody>
      </p:sp>
      <p:sp>
        <p:nvSpPr>
          <p:cNvPr id="5" name="Text 3"/>
          <p:cNvSpPr/>
          <p:nvPr/>
        </p:nvSpPr>
        <p:spPr>
          <a:xfrm>
            <a:off x="640080" y="1463040"/>
            <a:ext cx="7863840" cy="3291840"/>
          </a:xfrm>
          <a:prstGeom prst="rect">
            <a:avLst/>
          </a:prstGeom>
          <a:noFill/>
          <a:ln/>
        </p:spPr>
        <p:txBody>
          <a:bodyPr wrap="square" rtlCol="0" anchor="t"/>
          <a:lstStyle/>
          <a:p>
            <a:pPr indent="0" marL="0">
              <a:buNone/>
            </a:pPr>
            <a:r>
              <a:rPr lang="en-US" sz="1400" i="1" dirty="0">
                <a:solidFill>
                  <a:srgbClr val="2C2C2C"/>
                </a:solidFill>
                <a:latin typeface="Calibri" pitchFamily="34" charset="0"/>
                <a:ea typeface="Calibri" pitchFamily="34" charset="-122"/>
                <a:cs typeface="Calibri" pitchFamily="34" charset="-120"/>
              </a:rPr>
              <a:t>The system can evaluate an actual building against the template inventory:</a:t>
            </a:r>
            <a:endParaRPr lang="en-US" sz="1400" dirty="0"/>
          </a:p>
          <a:p>
            <a:pPr indent="0" marL="0">
              <a:buNone/>
            </a:pPr>
            <a:endParaRPr lang="en-US" sz="1400" dirty="0"/>
          </a:p>
          <a:p>
            <a:pPr indent="0" marL="0">
              <a:buNone/>
            </a:pPr>
            <a:r>
              <a:rPr lang="en-US" sz="1300" b="1" dirty="0">
                <a:solidFill>
                  <a:srgbClr val="2C2C2C"/>
                </a:solidFill>
                <a:latin typeface="Calibri" pitchFamily="34" charset="0"/>
                <a:ea typeface="Calibri" pitchFamily="34" charset="-122"/>
                <a:cs typeface="Calibri" pitchFamily="34" charset="-120"/>
              </a:rPr>
              <a:t>Input: </a:t>
            </a:r>
            <a:pPr indent="0" marL="0">
              <a:buNone/>
            </a:pPr>
            <a:r>
              <a:rPr lang="en-US" sz="1300" dirty="0">
                <a:solidFill>
                  <a:srgbClr val="2C2C2C"/>
                </a:solidFill>
                <a:latin typeface="Calibri" pitchFamily="34" charset="0"/>
                <a:ea typeface="Calibri" pitchFamily="34" charset="-122"/>
                <a:cs typeface="Calibri" pitchFamily="34" charset="-120"/>
              </a:rPr>
              <a:t>Building description, floor plans, photos, post-occupancy survey data</a:t>
            </a:r>
            <a:endParaRPr lang="en-US" sz="1400" dirty="0"/>
          </a:p>
          <a:p>
            <a:pPr indent="0" marL="0">
              <a:buNone/>
            </a:pPr>
            <a:endParaRPr lang="en-US" sz="1400" dirty="0"/>
          </a:p>
          <a:p>
            <a:pPr indent="0" marL="0">
              <a:buNone/>
            </a:pPr>
            <a:r>
              <a:rPr lang="en-US" sz="1300" b="1" dirty="0">
                <a:solidFill>
                  <a:srgbClr val="2C2C2C"/>
                </a:solidFill>
                <a:latin typeface="Calibri" pitchFamily="34" charset="0"/>
                <a:ea typeface="Calibri" pitchFamily="34" charset="-122"/>
                <a:cs typeface="Calibri" pitchFamily="34" charset="-120"/>
              </a:rPr>
              <a:t>Process: </a:t>
            </a:r>
            <a:pPr indent="0" marL="0">
              <a:buNone/>
            </a:pPr>
            <a:r>
              <a:rPr lang="en-US" sz="1300" dirty="0">
                <a:solidFill>
                  <a:srgbClr val="2C2C2C"/>
                </a:solidFill>
                <a:latin typeface="Calibri" pitchFamily="34" charset="0"/>
                <a:ea typeface="Calibri" pitchFamily="34" charset="-122"/>
                <a:cs typeface="Calibri" pitchFamily="34" charset="-120"/>
              </a:rPr>
              <a:t>Each template evaluated against the building's features. Does this hospital provide prospect-refuge in patient rooms? Is the acoustic environment in this office below the speech intelligibility threshold?</a:t>
            </a:r>
            <a:endParaRPr lang="en-US" sz="1400" dirty="0"/>
          </a:p>
          <a:p>
            <a:pPr indent="0" marL="0">
              <a:buNone/>
            </a:pPr>
            <a:endParaRPr lang="en-US" sz="1400" dirty="0"/>
          </a:p>
          <a:p>
            <a:pPr indent="0" marL="0">
              <a:buNone/>
            </a:pPr>
            <a:r>
              <a:rPr lang="en-US" sz="1300" b="1" dirty="0">
                <a:solidFill>
                  <a:srgbClr val="2C2C2C"/>
                </a:solidFill>
                <a:latin typeface="Calibri" pitchFamily="34" charset="0"/>
                <a:ea typeface="Calibri" pitchFamily="34" charset="-122"/>
                <a:cs typeface="Calibri" pitchFamily="34" charset="-120"/>
              </a:rPr>
              <a:t>Output: </a:t>
            </a:r>
            <a:pPr indent="0" marL="0">
              <a:buNone/>
            </a:pPr>
            <a:r>
              <a:rPr lang="en-US" sz="1300" dirty="0">
                <a:solidFill>
                  <a:srgbClr val="2C2C2C"/>
                </a:solidFill>
                <a:latin typeface="Calibri" pitchFamily="34" charset="0"/>
                <a:ea typeface="Calibri" pitchFamily="34" charset="-122"/>
                <a:cs typeface="Calibri" pitchFamily="34" charset="-120"/>
              </a:rPr>
              <a:t>Domain-by-domain assessment with specific recommendations and their mechanistic justifications. Not 'improve acoustics' but 'reduce speech intelligibility index below 0.20 in focus zones to prevent obligatory semantic processing.'</a:t>
            </a:r>
            <a:endParaRPr lang="en-US" sz="1400" dirty="0"/>
          </a:p>
          <a:p>
            <a:pPr indent="0" marL="0">
              <a:buNone/>
            </a:pPr>
            <a:endParaRPr lang="en-US" sz="1400" dirty="0"/>
          </a:p>
          <a:p>
            <a:pPr indent="0" marL="0">
              <a:buNone/>
            </a:pPr>
            <a:r>
              <a:rPr lang="en-US" sz="1300" b="1" dirty="0">
                <a:solidFill>
                  <a:srgbClr val="2A6F7A"/>
                </a:solidFill>
                <a:latin typeface="Calibri" pitchFamily="34" charset="0"/>
                <a:ea typeface="Calibri" pitchFamily="34" charset="-122"/>
                <a:cs typeface="Calibri" pitchFamily="34" charset="-120"/>
              </a:rPr>
              <a:t>The recommendation comes with a citation trail back through the web to its theoretical foundations.</a:t>
            </a:r>
            <a:endParaRPr lang="en-US" sz="1400" dirty="0"/>
          </a:p>
        </p:txBody>
      </p:sp>
      <p:sp>
        <p:nvSpPr>
          <p:cNvPr id="6" name="Text 4"/>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20/23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FUTURE DIRECTIONS</a:t>
            </a:r>
            <a:endParaRPr lang="en-US" sz="1000" dirty="0"/>
          </a:p>
        </p:txBody>
      </p:sp>
      <p:sp>
        <p:nvSpPr>
          <p:cNvPr id="4" name="Text 2"/>
          <p:cNvSpPr/>
          <p:nvPr/>
        </p:nvSpPr>
        <p:spPr>
          <a:xfrm>
            <a:off x="640080" y="548640"/>
            <a:ext cx="7863840" cy="548640"/>
          </a:xfrm>
          <a:prstGeom prst="rect">
            <a:avLst/>
          </a:prstGeom>
          <a:noFill/>
          <a:ln/>
        </p:spPr>
        <p:txBody>
          <a:bodyPr wrap="square"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What's Next for Article Eater</a:t>
            </a:r>
            <a:endParaRPr lang="en-US" sz="3000" dirty="0"/>
          </a:p>
        </p:txBody>
      </p:sp>
      <p:sp>
        <p:nvSpPr>
          <p:cNvPr id="5" name="Shape 3"/>
          <p:cNvSpPr/>
          <p:nvPr/>
        </p:nvSpPr>
        <p:spPr>
          <a:xfrm>
            <a:off x="640080" y="1280160"/>
            <a:ext cx="73152" cy="594360"/>
          </a:xfrm>
          <a:prstGeom prst="rect">
            <a:avLst/>
          </a:prstGeom>
          <a:solidFill>
            <a:srgbClr val="C4993B"/>
          </a:solidFill>
          <a:ln/>
        </p:spPr>
      </p:sp>
      <p:sp>
        <p:nvSpPr>
          <p:cNvPr id="6" name="Text 4"/>
          <p:cNvSpPr/>
          <p:nvPr/>
        </p:nvSpPr>
        <p:spPr>
          <a:xfrm>
            <a:off x="914400" y="1280160"/>
            <a:ext cx="2011680" cy="59436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VR Validation</a:t>
            </a:r>
            <a:endParaRPr lang="en-US" sz="1300" dirty="0"/>
          </a:p>
        </p:txBody>
      </p:sp>
      <p:sp>
        <p:nvSpPr>
          <p:cNvPr id="7" name="Text 5"/>
          <p:cNvSpPr/>
          <p:nvPr/>
        </p:nvSpPr>
        <p:spPr>
          <a:xfrm>
            <a:off x="2926080" y="1280160"/>
            <a:ext cx="5669280" cy="59436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Partner with VR labs to test template predictions in controlled environments. Isolate single mechanisms — impossible in real buildings, trivial in VR.</a:t>
            </a:r>
            <a:endParaRPr lang="en-US" sz="1100" dirty="0"/>
          </a:p>
        </p:txBody>
      </p:sp>
      <p:sp>
        <p:nvSpPr>
          <p:cNvPr id="8" name="Shape 6"/>
          <p:cNvSpPr/>
          <p:nvPr/>
        </p:nvSpPr>
        <p:spPr>
          <a:xfrm>
            <a:off x="640080" y="2011680"/>
            <a:ext cx="73152" cy="594360"/>
          </a:xfrm>
          <a:prstGeom prst="rect">
            <a:avLst/>
          </a:prstGeom>
          <a:solidFill>
            <a:srgbClr val="C4993B"/>
          </a:solidFill>
          <a:ln/>
        </p:spPr>
      </p:sp>
      <p:sp>
        <p:nvSpPr>
          <p:cNvPr id="9" name="Text 7"/>
          <p:cNvSpPr/>
          <p:nvPr/>
        </p:nvSpPr>
        <p:spPr>
          <a:xfrm>
            <a:off x="914400" y="2011680"/>
            <a:ext cx="2011680" cy="59436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Goldilocks Integration</a:t>
            </a:r>
            <a:endParaRPr lang="en-US" sz="1300" dirty="0"/>
          </a:p>
        </p:txBody>
      </p:sp>
      <p:sp>
        <p:nvSpPr>
          <p:cNvPr id="10" name="Text 8"/>
          <p:cNvSpPr/>
          <p:nvPr/>
        </p:nvSpPr>
        <p:spPr>
          <a:xfrm>
            <a:off x="2926080" y="2011680"/>
            <a:ext cx="5669280" cy="59436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The Goldilocks Principle (next talk) as a meta-template domain. Cross-modal compensation and cultural parameterization as new template types.</a:t>
            </a:r>
            <a:endParaRPr lang="en-US" sz="1100" dirty="0"/>
          </a:p>
        </p:txBody>
      </p:sp>
      <p:sp>
        <p:nvSpPr>
          <p:cNvPr id="11" name="Shape 9"/>
          <p:cNvSpPr/>
          <p:nvPr/>
        </p:nvSpPr>
        <p:spPr>
          <a:xfrm>
            <a:off x="640080" y="2743200"/>
            <a:ext cx="73152" cy="594360"/>
          </a:xfrm>
          <a:prstGeom prst="rect">
            <a:avLst/>
          </a:prstGeom>
          <a:solidFill>
            <a:srgbClr val="C4993B"/>
          </a:solidFill>
          <a:ln/>
        </p:spPr>
      </p:sp>
      <p:sp>
        <p:nvSpPr>
          <p:cNvPr id="12" name="Text 10"/>
          <p:cNvSpPr/>
          <p:nvPr/>
        </p:nvSpPr>
        <p:spPr>
          <a:xfrm>
            <a:off x="914400" y="2743200"/>
            <a:ext cx="2011680" cy="59436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Explicit Cognition</a:t>
            </a:r>
            <a:endParaRPr lang="en-US" sz="1300" dirty="0"/>
          </a:p>
        </p:txBody>
      </p:sp>
      <p:sp>
        <p:nvSpPr>
          <p:cNvPr id="13" name="Text 11"/>
          <p:cNvSpPr/>
          <p:nvPr/>
        </p:nvSpPr>
        <p:spPr>
          <a:xfrm>
            <a:off x="2926080" y="2743200"/>
            <a:ext cx="5669280" cy="59436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New template domain for the implicit/explicit processing distinction (third talk). Architecture as precision management — different for each regime.</a:t>
            </a:r>
            <a:endParaRPr lang="en-US" sz="1100" dirty="0"/>
          </a:p>
        </p:txBody>
      </p:sp>
      <p:sp>
        <p:nvSpPr>
          <p:cNvPr id="14" name="Shape 12"/>
          <p:cNvSpPr/>
          <p:nvPr/>
        </p:nvSpPr>
        <p:spPr>
          <a:xfrm>
            <a:off x="640080" y="3474720"/>
            <a:ext cx="73152" cy="594360"/>
          </a:xfrm>
          <a:prstGeom prst="rect">
            <a:avLst/>
          </a:prstGeom>
          <a:solidFill>
            <a:srgbClr val="C4993B"/>
          </a:solidFill>
          <a:ln/>
        </p:spPr>
      </p:sp>
      <p:sp>
        <p:nvSpPr>
          <p:cNvPr id="15" name="Text 13"/>
          <p:cNvSpPr/>
          <p:nvPr/>
        </p:nvSpPr>
        <p:spPr>
          <a:xfrm>
            <a:off x="914400" y="3474720"/>
            <a:ext cx="2011680" cy="59436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India Fieldwork</a:t>
            </a:r>
            <a:endParaRPr lang="en-US" sz="1300" dirty="0"/>
          </a:p>
        </p:txBody>
      </p:sp>
      <p:sp>
        <p:nvSpPr>
          <p:cNvPr id="16" name="Text 14"/>
          <p:cNvSpPr/>
          <p:nvPr/>
        </p:nvSpPr>
        <p:spPr>
          <a:xfrm>
            <a:off x="2926080" y="3474720"/>
            <a:ext cx="5669280" cy="59436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Varanasi and Ahmedabad data: cultural set-point variation across all sensory modalities simultaneously. Tests the single-parameter hypothesis.</a:t>
            </a:r>
            <a:endParaRPr lang="en-US" sz="1100" dirty="0"/>
          </a:p>
        </p:txBody>
      </p:sp>
      <p:sp>
        <p:nvSpPr>
          <p:cNvPr id="17" name="Shape 15"/>
          <p:cNvSpPr/>
          <p:nvPr/>
        </p:nvSpPr>
        <p:spPr>
          <a:xfrm>
            <a:off x="640080" y="4206240"/>
            <a:ext cx="73152" cy="594360"/>
          </a:xfrm>
          <a:prstGeom prst="rect">
            <a:avLst/>
          </a:prstGeom>
          <a:solidFill>
            <a:srgbClr val="C4993B"/>
          </a:solidFill>
          <a:ln/>
        </p:spPr>
      </p:sp>
      <p:sp>
        <p:nvSpPr>
          <p:cNvPr id="18" name="Text 16"/>
          <p:cNvSpPr/>
          <p:nvPr/>
        </p:nvSpPr>
        <p:spPr>
          <a:xfrm>
            <a:off x="914400" y="4206240"/>
            <a:ext cx="2011680" cy="59436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Open Science</a:t>
            </a:r>
            <a:endParaRPr lang="en-US" sz="1300" dirty="0"/>
          </a:p>
        </p:txBody>
      </p:sp>
      <p:sp>
        <p:nvSpPr>
          <p:cNvPr id="19" name="Text 17"/>
          <p:cNvSpPr/>
          <p:nvPr/>
        </p:nvSpPr>
        <p:spPr>
          <a:xfrm>
            <a:off x="2926080" y="4206240"/>
            <a:ext cx="5669280" cy="59436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Long-term: release the web as a queryable resource for architects, designers, and researchers. Living document that updates with new findings.</a:t>
            </a:r>
            <a:endParaRPr lang="en-US" sz="1100" dirty="0"/>
          </a:p>
        </p:txBody>
      </p:sp>
      <p:sp>
        <p:nvSpPr>
          <p:cNvPr id="20" name="Text 18"/>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21/23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2A6F7A"/>
          </a:solidFill>
          <a:ln/>
        </p:spPr>
      </p:sp>
      <p:sp>
        <p:nvSpPr>
          <p:cNvPr id="3" name="Text 1"/>
          <p:cNvSpPr/>
          <p:nvPr/>
        </p:nvSpPr>
        <p:spPr>
          <a:xfrm>
            <a:off x="457200" y="0"/>
            <a:ext cx="8229600" cy="32004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FOR THIS LAB</a:t>
            </a:r>
            <a:endParaRPr lang="en-US" sz="1000" dirty="0"/>
          </a:p>
        </p:txBody>
      </p:sp>
      <p:sp>
        <p:nvSpPr>
          <p:cNvPr id="4" name="Text 2"/>
          <p:cNvSpPr/>
          <p:nvPr/>
        </p:nvSpPr>
        <p:spPr>
          <a:xfrm>
            <a:off x="640080" y="548640"/>
            <a:ext cx="7863840" cy="822960"/>
          </a:xfrm>
          <a:prstGeom prst="rect">
            <a:avLst/>
          </a:prstGeom>
          <a:noFill/>
          <a:ln/>
        </p:spPr>
        <p:txBody>
          <a:bodyPr wrap="square"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Connections to Work in</a:t>
            </a:r>
            <a:endParaRPr lang="en-US" sz="3000" dirty="0"/>
          </a:p>
          <a:p>
            <a:pPr indent="0" marL="0">
              <a:buNone/>
            </a:pPr>
            <a:r>
              <a:rPr lang="en-US" sz="3000" b="1" dirty="0">
                <a:solidFill>
                  <a:srgbClr val="1B2A4A"/>
                </a:solidFill>
                <a:latin typeface="Georgia" pitchFamily="34" charset="0"/>
                <a:ea typeface="Georgia" pitchFamily="34" charset="-122"/>
                <a:cs typeface="Georgia" pitchFamily="34" charset="-120"/>
              </a:rPr>
              <a:t>Andy's Lab</a:t>
            </a:r>
            <a:endParaRPr lang="en-US" sz="3000" dirty="0"/>
          </a:p>
        </p:txBody>
      </p:sp>
      <p:sp>
        <p:nvSpPr>
          <p:cNvPr id="5" name="Text 3"/>
          <p:cNvSpPr/>
          <p:nvPr/>
        </p:nvSpPr>
        <p:spPr>
          <a:xfrm>
            <a:off x="640080" y="1463040"/>
            <a:ext cx="7863840" cy="3200400"/>
          </a:xfrm>
          <a:prstGeom prst="rect">
            <a:avLst/>
          </a:prstGeom>
          <a:noFill/>
          <a:ln/>
        </p:spPr>
        <p:txBody>
          <a:bodyPr wrap="square" rtlCol="0" anchor="t"/>
          <a:lstStyle/>
          <a:p>
            <a:pPr indent="0" marL="0">
              <a:buNone/>
            </a:pPr>
            <a:r>
              <a:rPr lang="en-US" sz="1400" b="1" dirty="0">
                <a:solidFill>
                  <a:srgbClr val="1B2A4A"/>
                </a:solidFill>
                <a:latin typeface="Calibri" pitchFamily="34" charset="0"/>
                <a:ea typeface="Calibri" pitchFamily="34" charset="-122"/>
                <a:cs typeface="Calibri" pitchFamily="34" charset="-120"/>
              </a:rPr>
              <a:t>Extended mind thesis (Clark &amp; Chalmers, 1998)</a:t>
            </a:r>
            <a:endParaRPr lang="en-US" sz="1400" dirty="0"/>
          </a:p>
          <a:p>
            <a:pPr indent="0" marL="0">
              <a:buNone/>
            </a:pPr>
            <a:r>
              <a:rPr lang="en-US" sz="1200" dirty="0">
                <a:solidFill>
                  <a:srgbClr val="2C2C2C"/>
                </a:solidFill>
                <a:latin typeface="Calibri" pitchFamily="34" charset="0"/>
                <a:ea typeface="Calibri" pitchFamily="34" charset="-122"/>
                <a:cs typeface="Calibri" pitchFamily="34" charset="-120"/>
              </a:rPr>
              <a:t>If the environment is part of the cognitive system, then architecture is cognitive infrastructure.</a:t>
            </a:r>
            <a:endParaRPr lang="en-US" sz="1400" dirty="0"/>
          </a:p>
          <a:p>
            <a:pPr indent="0" marL="0">
              <a:buNone/>
            </a:pPr>
            <a:r>
              <a:rPr lang="en-US" sz="1200" dirty="0">
                <a:solidFill>
                  <a:srgbClr val="2C2C2C"/>
                </a:solidFill>
                <a:latin typeface="Calibri" pitchFamily="34" charset="0"/>
                <a:ea typeface="Calibri" pitchFamily="34" charset="-122"/>
                <a:cs typeface="Calibri" pitchFamily="34" charset="-120"/>
              </a:rPr>
              <a:t>Article Eater operationalizes this claim — here are the specific mechanisms.</a:t>
            </a:r>
            <a:endParaRPr lang="en-US" sz="1400" dirty="0"/>
          </a:p>
          <a:p>
            <a:pPr indent="0" marL="0">
              <a:buNone/>
            </a:pPr>
            <a:endParaRPr lang="en-US" sz="1400" dirty="0"/>
          </a:p>
          <a:p>
            <a:pPr indent="0" marL="0">
              <a:buNone/>
            </a:pPr>
            <a:r>
              <a:rPr lang="en-US" sz="1400" b="1" dirty="0">
                <a:solidFill>
                  <a:srgbClr val="1B2A4A"/>
                </a:solidFill>
                <a:latin typeface="Calibri" pitchFamily="34" charset="0"/>
                <a:ea typeface="Calibri" pitchFamily="34" charset="-122"/>
                <a:cs typeface="Calibri" pitchFamily="34" charset="-120"/>
              </a:rPr>
              <a:t>Radical Predictive Processing (Clark, 2013; 2016)</a:t>
            </a:r>
            <a:endParaRPr lang="en-US" sz="1400" dirty="0"/>
          </a:p>
          <a:p>
            <a:pPr indent="0" marL="0">
              <a:buNone/>
            </a:pPr>
            <a:r>
              <a:rPr lang="en-US" sz="1200" dirty="0">
                <a:solidFill>
                  <a:srgbClr val="2C2C2C"/>
                </a:solidFill>
                <a:latin typeface="Calibri" pitchFamily="34" charset="0"/>
                <a:ea typeface="Calibri" pitchFamily="34" charset="-122"/>
                <a:cs typeface="Calibri" pitchFamily="34" charset="-120"/>
              </a:rPr>
              <a:t>PP provides the unifying framework. But we push it: PP explains the implicit regime well.</a:t>
            </a:r>
            <a:endParaRPr lang="en-US" sz="1400" dirty="0"/>
          </a:p>
          <a:p>
            <a:pPr indent="0" marL="0">
              <a:buNone/>
            </a:pPr>
            <a:r>
              <a:rPr lang="en-US" sz="1200" dirty="0">
                <a:solidFill>
                  <a:srgbClr val="2C2C2C"/>
                </a:solidFill>
                <a:latin typeface="Calibri" pitchFamily="34" charset="0"/>
                <a:ea typeface="Calibri" pitchFamily="34" charset="-122"/>
                <a:cs typeface="Calibri" pitchFamily="34" charset="-120"/>
              </a:rPr>
              <a:t>What about explicit cognition? (See third talk.)</a:t>
            </a:r>
            <a:endParaRPr lang="en-US" sz="1400" dirty="0"/>
          </a:p>
          <a:p>
            <a:pPr indent="0" marL="0">
              <a:buNone/>
            </a:pPr>
            <a:endParaRPr lang="en-US" sz="1400" dirty="0"/>
          </a:p>
          <a:p>
            <a:pPr indent="0" marL="0">
              <a:buNone/>
            </a:pPr>
            <a:r>
              <a:rPr lang="en-US" sz="1400" b="1" dirty="0">
                <a:solidFill>
                  <a:srgbClr val="1B2A4A"/>
                </a:solidFill>
                <a:latin typeface="Calibri" pitchFamily="34" charset="0"/>
                <a:ea typeface="Calibri" pitchFamily="34" charset="-122"/>
                <a:cs typeface="Calibri" pitchFamily="34" charset="-120"/>
              </a:rPr>
              <a:t>Happily Entangled (Miller &amp; Clark, 2018)</a:t>
            </a:r>
            <a:endParaRPr lang="en-US" sz="1400" dirty="0"/>
          </a:p>
          <a:p>
            <a:pPr indent="0" marL="0">
              <a:buNone/>
            </a:pPr>
            <a:r>
              <a:rPr lang="en-US" sz="1200" dirty="0">
                <a:solidFill>
                  <a:srgbClr val="2C2C2C"/>
                </a:solidFill>
                <a:latin typeface="Calibri" pitchFamily="34" charset="0"/>
                <a:ea typeface="Calibri" pitchFamily="34" charset="-122"/>
                <a:cs typeface="Calibri" pitchFamily="34" charset="-120"/>
              </a:rPr>
              <a:t>Emotion as constitutively entangled with prediction — not a separate module.</a:t>
            </a:r>
            <a:endParaRPr lang="en-US" sz="1400" dirty="0"/>
          </a:p>
          <a:p>
            <a:pPr indent="0" marL="0">
              <a:buNone/>
            </a:pPr>
            <a:r>
              <a:rPr lang="en-US" sz="1200" dirty="0">
                <a:solidFill>
                  <a:srgbClr val="2C2C2C"/>
                </a:solidFill>
                <a:latin typeface="Calibri" pitchFamily="34" charset="0"/>
                <a:ea typeface="Calibri" pitchFamily="34" charset="-122"/>
                <a:cs typeface="Calibri" pitchFamily="34" charset="-120"/>
              </a:rPr>
              <a:t>Our hedonic tagging templates formalize this for environmental design.</a:t>
            </a:r>
            <a:endParaRPr lang="en-US" sz="1400" dirty="0"/>
          </a:p>
          <a:p>
            <a:pPr indent="0" marL="0">
              <a:buNone/>
            </a:pPr>
            <a:endParaRPr lang="en-US" sz="1400" dirty="0"/>
          </a:p>
          <a:p>
            <a:pPr indent="0" marL="0">
              <a:buNone/>
            </a:pPr>
            <a:r>
              <a:rPr lang="en-US" sz="1400" b="1" dirty="0">
                <a:solidFill>
                  <a:srgbClr val="1B2A4A"/>
                </a:solidFill>
                <a:latin typeface="Calibri" pitchFamily="34" charset="0"/>
                <a:ea typeface="Calibri" pitchFamily="34" charset="-122"/>
                <a:cs typeface="Calibri" pitchFamily="34" charset="-120"/>
              </a:rPr>
              <a:t>Cultural niche construction</a:t>
            </a:r>
            <a:endParaRPr lang="en-US" sz="1400" dirty="0"/>
          </a:p>
          <a:p>
            <a:pPr indent="0" marL="0">
              <a:buNone/>
            </a:pPr>
            <a:r>
              <a:rPr lang="en-US" sz="1200" dirty="0">
                <a:solidFill>
                  <a:srgbClr val="2C2C2C"/>
                </a:solidFill>
                <a:latin typeface="Calibri" pitchFamily="34" charset="0"/>
                <a:ea typeface="Calibri" pitchFamily="34" charset="-122"/>
                <a:cs typeface="Calibri" pitchFamily="34" charset="-120"/>
              </a:rPr>
              <a:t>The India fieldwork directly tests how cultural niches shape the precision landscape.</a:t>
            </a:r>
            <a:endParaRPr lang="en-US" sz="1400" dirty="0"/>
          </a:p>
          <a:p>
            <a:pPr indent="0" marL="0">
              <a:buNone/>
            </a:pPr>
            <a:r>
              <a:rPr lang="en-US" sz="1200" dirty="0">
                <a:solidFill>
                  <a:srgbClr val="2C2C2C"/>
                </a:solidFill>
                <a:latin typeface="Calibri" pitchFamily="34" charset="0"/>
                <a:ea typeface="Calibri" pitchFamily="34" charset="-122"/>
                <a:cs typeface="Calibri" pitchFamily="34" charset="-120"/>
              </a:rPr>
              <a:t>Varanasi vs. Stockholm: same mechanisms, different parameters.</a:t>
            </a:r>
            <a:endParaRPr lang="en-US" sz="1400" dirty="0"/>
          </a:p>
        </p:txBody>
      </p:sp>
      <p:sp>
        <p:nvSpPr>
          <p:cNvPr id="6" name="Text 4"/>
          <p:cNvSpPr/>
          <p:nvPr/>
        </p:nvSpPr>
        <p:spPr>
          <a:xfrm>
            <a:off x="457200" y="4709160"/>
            <a:ext cx="8229600" cy="320040"/>
          </a:xfrm>
          <a:prstGeom prst="rect">
            <a:avLst/>
          </a:prstGeom>
          <a:noFill/>
          <a:ln/>
        </p:spPr>
        <p:txBody>
          <a:bodyPr wrap="square" rtlCol="0" anchor="ctr"/>
          <a:lstStyle/>
          <a:p>
            <a:pPr indent="0" marL="0">
              <a:buNone/>
            </a:pPr>
            <a:r>
              <a:rPr lang="en-US" sz="900" dirty="0">
                <a:solidFill>
                  <a:srgbClr val="8B8680"/>
                </a:solidFill>
                <a:latin typeface="Calibri" pitchFamily="34" charset="0"/>
                <a:ea typeface="Calibri" pitchFamily="34" charset="-122"/>
                <a:cs typeface="Calibri" pitchFamily="34" charset="-120"/>
              </a:rPr>
              <a:t>Kirsh — Article Eater | Clark Lab, 22/23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3474720"/>
            <a:ext cx="9144000" cy="1691640"/>
          </a:xfrm>
          <a:prstGeom prst="rect">
            <a:avLst/>
          </a:prstGeom>
          <a:solidFill>
            <a:srgbClr val="2A6F7A"/>
          </a:solidFill>
          <a:ln/>
        </p:spPr>
      </p:sp>
      <p:sp>
        <p:nvSpPr>
          <p:cNvPr id="3" name="Text 1"/>
          <p:cNvSpPr/>
          <p:nvPr/>
        </p:nvSpPr>
        <p:spPr>
          <a:xfrm>
            <a:off x="731520" y="731520"/>
            <a:ext cx="768096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Article Eater</a:t>
            </a:r>
            <a:endParaRPr lang="en-US" sz="3600" dirty="0"/>
          </a:p>
        </p:txBody>
      </p:sp>
      <p:sp>
        <p:nvSpPr>
          <p:cNvPr id="4" name="Text 2"/>
          <p:cNvSpPr/>
          <p:nvPr/>
        </p:nvSpPr>
        <p:spPr>
          <a:xfrm>
            <a:off x="731520" y="1645920"/>
            <a:ext cx="7680960" cy="1463040"/>
          </a:xfrm>
          <a:prstGeom prst="rect">
            <a:avLst/>
          </a:prstGeom>
          <a:noFill/>
          <a:ln/>
        </p:spPr>
        <p:txBody>
          <a:bodyPr wrap="square" rtlCol="0" anchor="ctr"/>
          <a:lstStyle/>
          <a:p>
            <a:pPr indent="0" marL="0">
              <a:buNone/>
            </a:pPr>
            <a:r>
              <a:rPr lang="en-US" sz="1600" dirty="0">
                <a:solidFill>
                  <a:srgbClr val="7BA393"/>
                </a:solidFill>
                <a:latin typeface="Calibri" pitchFamily="34" charset="0"/>
                <a:ea typeface="Calibri" pitchFamily="34" charset="-122"/>
                <a:cs typeface="Calibri" pitchFamily="34" charset="-120"/>
              </a:rPr>
              <a:t>Surface findings → mechanistic templates → testable predictions</a:t>
            </a:r>
            <a:endParaRPr lang="en-US" sz="1600" dirty="0"/>
          </a:p>
          <a:p>
            <a:pPr indent="0" marL="0">
              <a:buNone/>
            </a:pPr>
            <a:r>
              <a:rPr lang="en-US" sz="1600" dirty="0">
                <a:solidFill>
                  <a:srgbClr val="7BA393"/>
                </a:solidFill>
                <a:latin typeface="Calibri" pitchFamily="34" charset="0"/>
                <a:ea typeface="Calibri" pitchFamily="34" charset="-122"/>
                <a:cs typeface="Calibri" pitchFamily="34" charset="-120"/>
              </a:rPr>
              <a:t>Argumentation structure captures what experts know and dispute</a:t>
            </a:r>
            <a:endParaRPr lang="en-US" sz="1600" dirty="0"/>
          </a:p>
          <a:p>
            <a:pPr indent="0" marL="0">
              <a:buNone/>
            </a:pPr>
            <a:r>
              <a:rPr lang="en-US" sz="1600" dirty="0">
                <a:solidFill>
                  <a:srgbClr val="7BA393"/>
                </a:solidFill>
                <a:latin typeface="Calibri" pitchFamily="34" charset="0"/>
                <a:ea typeface="Calibri" pitchFamily="34" charset="-122"/>
                <a:cs typeface="Calibri" pitchFamily="34" charset="-120"/>
              </a:rPr>
              <a:t>Neuroscience + environmental psychology = new architectural science</a:t>
            </a:r>
            <a:endParaRPr lang="en-US" sz="1600" dirty="0"/>
          </a:p>
        </p:txBody>
      </p:sp>
      <p:sp>
        <p:nvSpPr>
          <p:cNvPr id="5" name="Text 3"/>
          <p:cNvSpPr/>
          <p:nvPr/>
        </p:nvSpPr>
        <p:spPr>
          <a:xfrm>
            <a:off x="731520" y="3749040"/>
            <a:ext cx="457200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Next: The Goldilocks Principle →</a:t>
            </a:r>
            <a:endParaRPr lang="en-US" sz="1600" dirty="0"/>
          </a:p>
        </p:txBody>
      </p:sp>
      <p:sp>
        <p:nvSpPr>
          <p:cNvPr id="6" name="Text 4"/>
          <p:cNvSpPr/>
          <p:nvPr/>
        </p:nvSpPr>
        <p:spPr>
          <a:xfrm>
            <a:off x="731520" y="4297680"/>
            <a:ext cx="4572000" cy="320040"/>
          </a:xfrm>
          <a:prstGeom prst="rect">
            <a:avLst/>
          </a:prstGeom>
          <a:noFill/>
          <a:ln/>
        </p:spPr>
        <p:txBody>
          <a:bodyPr wrap="square" rtlCol="0" anchor="ctr"/>
          <a:lstStyle/>
          <a:p>
            <a:pPr indent="0" marL="0">
              <a:buNone/>
            </a:pPr>
            <a:r>
              <a:rPr lang="en-US" sz="1300" dirty="0">
                <a:solidFill>
                  <a:srgbClr val="F5F0E8"/>
                </a:solidFill>
                <a:latin typeface="Calibri" pitchFamily="34" charset="0"/>
                <a:ea typeface="Calibri" pitchFamily="34" charset="-122"/>
                <a:cs typeface="Calibri" pitchFamily="34" charset="-120"/>
              </a:rPr>
              <a:t>david@cogsci.ucsd.edu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Article Eater: Computational Epistemology for the Built Environment</dc:title>
  <dc:subject>PptxGenJS Presentation</dc:subject>
  <dc:creator>David Kirsh</dc:creator>
  <cp:lastModifiedBy>David Kirsh</cp:lastModifiedBy>
  <cp:revision>1</cp:revision>
  <dcterms:created xsi:type="dcterms:W3CDTF">2026-02-19T21:29:26Z</dcterms:created>
  <dcterms:modified xsi:type="dcterms:W3CDTF">2026-02-19T21:29:26Z</dcterms:modified>
</cp:coreProperties>
</file>