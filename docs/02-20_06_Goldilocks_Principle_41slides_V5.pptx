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93" r:id="rId44"/>
    <p:sldId id="294" r:id="rId45"/>
    <p:sldId id="295" r:id="rId46"/>
    <p:sldId id="296" r:id="rId47"/>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Preference</c:v>
                </c:pt>
              </c:strCache>
            </c:strRef>
          </c:tx>
          <c:spPr>
            <a:solidFill>
              <a:srgbClr val="C47D2B"/>
            </a:solidFill>
            <a:ln w="38100" cap="flat">
              <a:solidFill>
                <a:srgbClr val="C47D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47D2B"/>
              </a:solidFill>
              <a:ln w="9525" cap="flat">
                <a:solidFill>
                  <a:srgbClr val="C47D2B"/>
                </a:solidFill>
                <a:prstDash val="solid"/>
                <a:round/>
              </a:ln>
              <a:effectLst/>
            </c:spPr>
          </c:marker>
          <c:cat>
            <c:multiLvlStrRef>
              <c:f>Sheet1!$A$2:$A$8</c:f>
              <c:multiLvlStrCache>
                <c:ptCount val="7"/>
                <c:lvl>
                  <c:pt idx="0">
                    <c:v>Very
Simple</c:v>
                  </c:pt>
                  <c:pt idx="1">
                    <c:v>Simple</c:v>
                  </c:pt>
                  <c:pt idx="2">
                    <c:v>Low-
Mod</c:v>
                  </c:pt>
                  <c:pt idx="3">
                    <c:v>Moderate</c:v>
                  </c:pt>
                  <c:pt idx="4">
                    <c:v>High-
Mod</c:v>
                  </c:pt>
                  <c:pt idx="5">
                    <c:v>Complex</c:v>
                  </c:pt>
                  <c:pt idx="6">
                    <c:v>Very
Complex</c:v>
                  </c:pt>
                </c:lvl>
              </c:multiLvlStrCache>
            </c:multiLvlStrRef>
          </c:cat>
          <c:val>
            <c:numRef>
              <c:f>Sheet1!$B$2:$B$8</c:f>
              <c:numCache>
                <c:formatCode>General</c:formatCode>
                <c:ptCount val="7"/>
                <c:pt idx="0">
                  <c:v>38</c:v>
                </c:pt>
                <c:pt idx="1">
                  <c:v>55</c:v>
                </c:pt>
                <c:pt idx="2">
                  <c:v>75</c:v>
                </c:pt>
                <c:pt idx="3">
                  <c:v>91</c:v>
                </c:pt>
                <c:pt idx="4">
                  <c:v>84</c:v>
                </c:pt>
                <c:pt idx="5">
                  <c:v>62</c:v>
                </c:pt>
                <c:pt idx="6">
                  <c:v>35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noMultiLvlLbl val="1"/>
      </c:catAx>
      <c:valAx>
        <c:axId val="2094734552"/>
        <c:scaling>
          <c:orientation val="minMax"/>
          <c:max val="100"/>
          <c:min val="20"/>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Creative RAT Score</c:v>
                </c:pt>
              </c:strCache>
            </c:strRef>
          </c:tx>
          <c:spPr>
            <a:solidFill>
              <a:srgbClr val="2B8C8C"/>
            </a:solidFill>
            <a:effectLst/>
          </c:spPr>
          <c:invertIfNegative val="0"/>
          <c:dLbls>
            <c:numFmt formatCode="#,##0" sourceLinked="0"/>
            <c:txPr>
              <a:bodyPr/>
              <a:lstStyle/>
              <a:p>
                <a:pPr>
                  <a:defRPr b="0" i="0" strike="noStrike" sz="1200" u="none">
                    <a:solidFill>
                      <a:srgbClr val="2C2C2C"/>
                    </a:solidFill>
                    <a:latin typeface="Arial"/>
                  </a:defRPr>
                </a:pPr>
              </a:p>
            </c:txPr>
            <c:showLegendKey val="0"/>
            <c:showVal val="1"/>
            <c:showCatName val="0"/>
            <c:showSerName val="0"/>
            <c:showPercent val="0"/>
            <c:showBubbleSize val="0"/>
            <c:showLeaderLines val="0"/>
          </c:dLbls>
          <c:cat>
            <c:multiLvlStrRef>
              <c:f>Sheet1!$A$2:$A$4</c:f>
              <c:multiLvlStrCache>
                <c:ptCount val="3"/>
                <c:lvl>
                  <c:pt idx="0">
                    <c:v>&lt;50 dB
Quiet</c:v>
                  </c:pt>
                  <c:pt idx="1">
                    <c:v>~70 dB
Coffee Shop</c:v>
                  </c:pt>
                  <c:pt idx="2">
                    <c:v>&gt;85 dB
Loud</c:v>
                  </c:pt>
                </c:lvl>
              </c:multiLvlStrCache>
            </c:multiLvlStrRef>
          </c:cat>
          <c:val>
            <c:numRef>
              <c:f>Sheet1!$B$2:$B$4</c:f>
              <c:numCache>
                <c:formatCode>General</c:formatCode>
                <c:ptCount val="3"/>
                <c:pt idx="0">
                  <c:v>62</c:v>
                </c:pt>
                <c:pt idx="1">
                  <c:v>85</c:v>
                </c:pt>
                <c:pt idx="2">
                  <c:v>48</c:v>
                </c:pt>
              </c:numCache>
            </c:numRef>
          </c:val>
        </c:ser>
        <c:dLbls>
          <c:numFmt formatCode="#,##0" sourceLinked="0"/>
          <c:txPr>
            <a:bodyPr/>
            <a:lstStyle/>
            <a:p>
              <a:pPr>
                <a:defRPr b="0" i="0" strike="noStrike" sz="1200" u="none">
                  <a:solidFill>
                    <a:srgbClr val="2C2C2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Stress Reduction</c:v>
                </c:pt>
              </c:strCache>
            </c:strRef>
          </c:tx>
          <c:spPr>
            <a:solidFill>
              <a:srgbClr val="4A7C59"/>
            </a:solidFill>
            <a:ln w="38100" cap="flat">
              <a:solidFill>
                <a:srgbClr val="4A7C5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A7C59"/>
              </a:solidFill>
              <a:ln w="9525" cap="flat">
                <a:solidFill>
                  <a:srgbClr val="4A7C59"/>
                </a:solidFill>
                <a:prstDash val="solid"/>
                <a:round/>
              </a:ln>
              <a:effectLst/>
            </c:spPr>
          </c:marker>
          <c:cat>
            <c:multiLvlStrRef>
              <c:f>Sheet1!$A$2:$A$8</c:f>
              <c:multiLvlStrCache>
                <c:ptCount val="7"/>
                <c:lvl>
                  <c:pt idx="0">
                    <c:v>0%</c:v>
                  </c:pt>
                  <c:pt idx="1">
                    <c:v>15%</c:v>
                  </c:pt>
                  <c:pt idx="2">
                    <c:v>30%</c:v>
                  </c:pt>
                  <c:pt idx="3">
                    <c:v>45%</c:v>
                  </c:pt>
                  <c:pt idx="4">
                    <c:v>60%</c:v>
                  </c:pt>
                  <c:pt idx="5">
                    <c:v>75%</c:v>
                  </c:pt>
                  <c:pt idx="6">
                    <c:v>90%</c:v>
                  </c:pt>
                </c:lvl>
              </c:multiLvlStrCache>
            </c:multiLvlStrRef>
          </c:cat>
          <c:val>
            <c:numRef>
              <c:f>Sheet1!$B$2:$B$8</c:f>
              <c:numCache>
                <c:formatCode>General</c:formatCode>
                <c:ptCount val="7"/>
                <c:pt idx="0">
                  <c:v>30</c:v>
                </c:pt>
                <c:pt idx="1">
                  <c:v>55</c:v>
                </c:pt>
                <c:pt idx="2">
                  <c:v>75</c:v>
                </c:pt>
                <c:pt idx="3">
                  <c:v>90</c:v>
                </c:pt>
                <c:pt idx="4">
                  <c:v>78</c:v>
                </c:pt>
                <c:pt idx="5">
                  <c:v>55</c:v>
                </c:pt>
                <c:pt idx="6">
                  <c:v>35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Reward System</c:v>
                </c:pt>
              </c:strCache>
            </c:strRef>
          </c:tx>
          <c:spPr>
            <a:solidFill>
              <a:srgbClr val="4A7C59"/>
            </a:solidFill>
            <a:ln w="25400" cap="flat">
              <a:solidFill>
                <a:srgbClr val="4A7C5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A7C59"/>
              </a:solidFill>
              <a:ln w="9525" cap="flat">
                <a:solidFill>
                  <a:srgbClr val="4A7C59"/>
                </a:solidFill>
                <a:prstDash val="solid"/>
                <a:round/>
              </a:ln>
              <a:effectLst/>
            </c:spPr>
          </c:marker>
          <c:cat>
            <c:multiLvlStrRef>
              <c:f>Sheet1!$A$2:$A$10</c:f>
              <c:multiLvlStrCache>
                <c:ptCount val="9"/>
                <c:lvl>
                  <c:pt idx="0">
                    <c:v>Low</c:v>
                  </c:pt>
                  <c:pt idx="1">
                    <c:v/>
                  </c:pt>
                  <c:pt idx="2">
                    <c:v>Mod-Low</c:v>
                  </c:pt>
                  <c:pt idx="3">
                    <c:v/>
                  </c:pt>
                  <c:pt idx="4">
                    <c:v>Moderate</c:v>
                  </c:pt>
                  <c:pt idx="5">
                    <c:v/>
                  </c:pt>
                  <c:pt idx="6">
                    <c:v>Mod-High</c:v>
                  </c:pt>
                  <c:pt idx="7">
                    <c:v/>
                  </c:pt>
                  <c:pt idx="8">
                    <c:v>High</c:v>
                  </c:pt>
                </c:lvl>
              </c:multiLvlStrCache>
            </c:multiLvlStrRef>
          </c:cat>
          <c:val>
            <c:numRef>
              <c:f>Sheet1!$B$2:$B$10</c:f>
              <c:numCache>
                <c:formatCode>General</c:formatCode>
                <c:ptCount val="9"/>
                <c:pt idx="0">
                  <c:v>10</c:v>
                </c:pt>
                <c:pt idx="1">
                  <c:v>30</c:v>
                </c:pt>
                <c:pt idx="2">
                  <c:v>55</c:v>
                </c:pt>
                <c:pt idx="3">
                  <c:v>72</c:v>
                </c:pt>
                <c:pt idx="4">
                  <c:v>80</c:v>
                </c:pt>
                <c:pt idx="5">
                  <c:v>75</c:v>
                </c:pt>
                <c:pt idx="6">
                  <c:v>60</c:v>
                </c:pt>
                <c:pt idx="7">
                  <c:v>40</c:v>
                </c:pt>
                <c:pt idx="8">
                  <c:v>20</c:v>
                </c:pt>
              </c:numCache>
            </c:numRef>
          </c:val>
          <c:smooth val="1"/>
        </c:ser>
        <c:ser>
          <c:idx val="1"/>
          <c:order val="1"/>
          <c:tx>
            <c:strRef>
              <c:f>Sheet1!$C$1</c:f>
              <c:strCache>
                <c:ptCount val="1"/>
                <c:pt idx="0">
                  <c:v>Aversion System</c:v>
                </c:pt>
              </c:strCache>
            </c:strRef>
          </c:tx>
          <c:spPr>
            <a:solidFill>
              <a:srgbClr val="C05050"/>
            </a:solidFill>
            <a:ln w="25400" cap="flat">
              <a:solidFill>
                <a:srgbClr val="C0505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5050"/>
              </a:solidFill>
              <a:ln w="9525" cap="flat">
                <a:solidFill>
                  <a:srgbClr val="C05050"/>
                </a:solidFill>
                <a:prstDash val="solid"/>
                <a:round/>
              </a:ln>
              <a:effectLst/>
            </c:spPr>
          </c:marker>
          <c:cat>
            <c:multiLvlStrRef>
              <c:f>Sheet1!$A$2:$A$10</c:f>
              <c:multiLvlStrCache>
                <c:ptCount val="9"/>
                <c:lvl>
                  <c:pt idx="0">
                    <c:v>Low</c:v>
                  </c:pt>
                  <c:pt idx="1">
                    <c:v/>
                  </c:pt>
                  <c:pt idx="2">
                    <c:v>Mod-Low</c:v>
                  </c:pt>
                  <c:pt idx="3">
                    <c:v/>
                  </c:pt>
                  <c:pt idx="4">
                    <c:v>Moderate</c:v>
                  </c:pt>
                  <c:pt idx="5">
                    <c:v/>
                  </c:pt>
                  <c:pt idx="6">
                    <c:v>Mod-High</c:v>
                  </c:pt>
                  <c:pt idx="7">
                    <c:v/>
                  </c:pt>
                  <c:pt idx="8">
                    <c:v>High</c:v>
                  </c:pt>
                </c:lvl>
              </c:multiLvlStrCache>
            </c:multiLvlStrRef>
          </c:cat>
          <c:val>
            <c:numRef>
              <c:f>Sheet1!$C$2:$C$10</c:f>
              <c:numCache>
                <c:formatCode>General</c:formatCode>
                <c:ptCount val="9"/>
                <c:pt idx="0">
                  <c:v>5</c:v>
                </c:pt>
                <c:pt idx="1">
                  <c:v>8</c:v>
                </c:pt>
                <c:pt idx="2">
                  <c:v>12</c:v>
                </c:pt>
                <c:pt idx="3">
                  <c:v>18</c:v>
                </c:pt>
                <c:pt idx="4">
                  <c:v>30</c:v>
                </c:pt>
                <c:pt idx="5">
                  <c:v>48</c:v>
                </c:pt>
                <c:pt idx="6">
                  <c:v>65</c:v>
                </c:pt>
                <c:pt idx="7">
                  <c:v>80</c:v>
                </c:pt>
                <c:pt idx="8">
                  <c:v>92</c:v>
                </c:pt>
              </c:numCache>
            </c:numRef>
          </c:val>
          <c:smooth val="1"/>
        </c:ser>
        <c:ser>
          <c:idx val="2"/>
          <c:order val="2"/>
          <c:tx>
            <c:strRef>
              <c:f>Sheet1!$D$1</c:f>
              <c:strCache>
                <c:ptCount val="1"/>
                <c:pt idx="0">
                  <c:v>Net Hedonic Tone</c:v>
                </c:pt>
              </c:strCache>
            </c:strRef>
          </c:tx>
          <c:spPr>
            <a:solidFill>
              <a:srgbClr val="C47D2B"/>
            </a:solidFill>
            <a:ln w="25400" cap="flat">
              <a:solidFill>
                <a:srgbClr val="C47D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47D2B"/>
              </a:solidFill>
              <a:ln w="9525" cap="flat">
                <a:solidFill>
                  <a:srgbClr val="C47D2B"/>
                </a:solidFill>
                <a:prstDash val="solid"/>
                <a:round/>
              </a:ln>
              <a:effectLst/>
            </c:spPr>
          </c:marker>
          <c:cat>
            <c:multiLvlStrRef>
              <c:f>Sheet1!$A$2:$A$10</c:f>
              <c:multiLvlStrCache>
                <c:ptCount val="9"/>
                <c:lvl>
                  <c:pt idx="0">
                    <c:v>Low</c:v>
                  </c:pt>
                  <c:pt idx="1">
                    <c:v/>
                  </c:pt>
                  <c:pt idx="2">
                    <c:v>Mod-Low</c:v>
                  </c:pt>
                  <c:pt idx="3">
                    <c:v/>
                  </c:pt>
                  <c:pt idx="4">
                    <c:v>Moderate</c:v>
                  </c:pt>
                  <c:pt idx="5">
                    <c:v/>
                  </c:pt>
                  <c:pt idx="6">
                    <c:v>Mod-High</c:v>
                  </c:pt>
                  <c:pt idx="7">
                    <c:v/>
                  </c:pt>
                  <c:pt idx="8">
                    <c:v>High</c:v>
                  </c:pt>
                </c:lvl>
              </c:multiLvlStrCache>
            </c:multiLvlStrRef>
          </c:cat>
          <c:val>
            <c:numRef>
              <c:f>Sheet1!$D$2:$D$10</c:f>
              <c:numCache>
                <c:formatCode>General</c:formatCode>
                <c:ptCount val="9"/>
                <c:pt idx="0">
                  <c:v>5</c:v>
                </c:pt>
                <c:pt idx="1">
                  <c:v>22</c:v>
                </c:pt>
                <c:pt idx="2">
                  <c:v>43</c:v>
                </c:pt>
                <c:pt idx="3">
                  <c:v>54</c:v>
                </c:pt>
                <c:pt idx="4">
                  <c:v>50</c:v>
                </c:pt>
                <c:pt idx="5">
                  <c:v>27</c:v>
                </c:pt>
                <c:pt idx="6">
                  <c:v>-5</c:v>
                </c:pt>
                <c:pt idx="7">
                  <c:v>-40</c:v>
                </c:pt>
                <c:pt idx="8">
                  <c:v>-72</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Western Baseline</c:v>
                </c:pt>
              </c:strCache>
            </c:strRef>
          </c:tx>
          <c:spPr>
            <a:solidFill>
              <a:srgbClr val="3B6A9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Visual
Complexity</c:v>
                  </c:pt>
                  <c:pt idx="1">
                    <c:v>Color
Saturation</c:v>
                  </c:pt>
                  <c:pt idx="2">
                    <c:v>Acoustic
Density</c:v>
                  </c:pt>
                  <c:pt idx="3">
                    <c:v>Thermal
Range</c:v>
                  </c:pt>
                  <c:pt idx="4">
                    <c:v>Spice
Tolerance</c:v>
                  </c:pt>
                  <c:pt idx="5">
                    <c:v>Social
Proximity</c:v>
                  </c:pt>
                </c:lvl>
              </c:multiLvlStrCache>
            </c:multiLvlStrRef>
          </c:cat>
          <c:val>
            <c:numRef>
              <c:f>Sheet1!$B$2:$B$7</c:f>
              <c:numCache>
                <c:formatCode>General</c:formatCode>
                <c:ptCount val="6"/>
                <c:pt idx="0">
                  <c:v>55</c:v>
                </c:pt>
                <c:pt idx="1">
                  <c:v>45</c:v>
                </c:pt>
                <c:pt idx="2">
                  <c:v>40</c:v>
                </c:pt>
                <c:pt idx="3">
                  <c:v>50</c:v>
                </c:pt>
                <c:pt idx="4">
                  <c:v>35</c:v>
                </c:pt>
                <c:pt idx="5">
                  <c:v>40</c:v>
                </c:pt>
              </c:numCache>
            </c:numRef>
          </c:val>
        </c:ser>
        <c:ser>
          <c:idx val="1"/>
          <c:order val="1"/>
          <c:tx>
            <c:strRef>
              <c:f>Sheet1!$C$1</c:f>
              <c:strCache>
                <c:ptCount val="1"/>
                <c:pt idx="0">
                  <c:v>Varanasi</c:v>
                </c:pt>
              </c:strCache>
            </c:strRef>
          </c:tx>
          <c:spPr>
            <a:solidFill>
              <a:srgbClr val="C47D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Visual
Complexity</c:v>
                  </c:pt>
                  <c:pt idx="1">
                    <c:v>Color
Saturation</c:v>
                  </c:pt>
                  <c:pt idx="2">
                    <c:v>Acoustic
Density</c:v>
                  </c:pt>
                  <c:pt idx="3">
                    <c:v>Thermal
Range</c:v>
                  </c:pt>
                  <c:pt idx="4">
                    <c:v>Spice
Tolerance</c:v>
                  </c:pt>
                  <c:pt idx="5">
                    <c:v>Social
Proximity</c:v>
                  </c:pt>
                </c:lvl>
              </c:multiLvlStrCache>
            </c:multiLvlStrRef>
          </c:cat>
          <c:val>
            <c:numRef>
              <c:f>Sheet1!$C$2:$C$7</c:f>
              <c:numCache>
                <c:formatCode>General</c:formatCode>
                <c:ptCount val="6"/>
                <c:pt idx="0">
                  <c:v>78</c:v>
                </c:pt>
                <c:pt idx="1">
                  <c:v>82</c:v>
                </c:pt>
                <c:pt idx="2">
                  <c:v>70</c:v>
                </c:pt>
                <c:pt idx="3">
                  <c:v>75</c:v>
                </c:pt>
                <c:pt idx="4">
                  <c:v>90</c:v>
                </c:pt>
                <c:pt idx="5">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notes xmlns="http://schemas.openxmlformats.org/presentationml/2006/main" xmlns:a="http://schemas.openxmlformats.org/drawingml/2006/main" xmlns:ns2="http://schemas.microsoft.com/office/powerpoint/2010/main">
  <cSld>
    <spTree>
      <nvGrpSpPr>
        <cNvPr id="1" name=""/>
        <cNvGrpSpPr/>
        <nvPr/>
      </nvGrpSpPr>
      <grpSpPr>
        <a:xfrm>
          <a:off x="0" y="0"/>
          <a:ext cx="0" cy="0"/>
          <a:chOff x="0" y="0"/>
          <a:chExt cx="0" cy="0"/>
        </a:xfrm>
      </grpSpPr>
      <sp>
        <nvSpPr>
          <cNvPr id="2" name="Slide Image Placeholder 1"/>
          <cNvSpPr>
            <a:spLocks noGrp="1" noRot="1" noChangeAspect="1"/>
          </cNvSpPr>
          <nvPr>
            <ph type="sldImg"/>
          </nvPr>
        </nvSpPr>
        <spPr/>
      </sp>
      <sp>
        <nvSpPr>
          <cNvPr id="3" name="Notes Placeholder 2"/>
          <cNvSpPr>
            <a:spLocks noGrp="1"/>
          </cNvSpPr>
          <nvPr>
            <ph type="body" idx="1"/>
          </nvPr>
        </nvSpPr>
        <spPr/>
        <txBody>
          <a:bodyPr/>
          <a:lstStyle/>
          <a:p>
            <a:r>
              <a:rPr lang="en-US" dirty="0"/>
              <a:t/>
            </a:r>
            <a:endParaRPr lang="en-US" dirty="0"/>
          </a:p>
        </txBody>
      </sp>
      <sp>
        <nvSpPr>
          <cNvPr id="4" name="Slide Number Placeholder 3"/>
          <cNvSpPr>
            <a:spLocks noGrp="1"/>
          </cNvSpPr>
          <nvPr>
            <ph type="sldNum" sz="quarter" idx="10"/>
          </nvPr>
        </nvSpPr>
        <spPr/>
        <txBody>
          <a:bodyPr/>
          <a:lstStyle/>
          <a:p>
            <a:fld id="{F7021451-1387-4CA6-816F-3879F97B5CBC}" type="slidenum">
              <a:rPr lang="en-US"/>
              <a:t>Dokk1 in Aarhus is the world's largest public library (2015, Schmidt Hammer Lassen). It's the perfect case for the activity space argument because one building contains at least five distinct activity spaces: collaborative maker workshops on the stepped seating, social gaming in the open zone, quiet reading behind glass on the upper level, a café for casual social encounter, and a children's zone for exploratory family play. Each zone has a different Goldilocks profile because each is designed for a different activity. The key theoretical point, developed in the Activity Space paper (Kirsh, 2026), is that architectural complexity is not the primary signal the brain is computing. The brain is computing over the task-relevant structure of the environment, which is always filtered through the current activity space — the epistemic bubble shaped by the agent's goals, interests, and action possibilities. When someone uses a room for an activity it was not designed for, the mismatch is not just about physical discomfort. It's a failure of cognitive congeniality: the environmental features that would support the current activity (appropriate PE levels, relevant visual cues, noise profile matching task demands) are absent, and features optimized for the designed activity become sources of interference. The behavioral cost is measurable through standard ergonomic metrics: speed-accuracy tradeoffs worsen, interruption recovery time increases, error rates rise, and subjective satisfaction drops. For the philosophical audience: this is the point where the Goldilocks principle meets the Activity Space framework. The inverted-U is not over the total physical stimulus array — it's over the PE computed within the current epistemic bubble. Different activity spaces in the same physical building will produce different PE profiles from the same physical features.</a:t>
            </a:fld>
            <a:endParaRPr lang="en-US"/>
          </a:p>
        </txBody>
      </sp>
    </spTree>
    <extLst>
      <ext uri="{BB962C8B-B14F-4D97-AF65-F5344CB8AC3E}">
        <ns2:creationId val="1024086991"/>
      </ext>
    </extLst>
  </cSld>
  <clrMapOvr>
    <a:masterClrMapping/>
  </clrMapOvr>
</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Kidd &amp; Hayden (2015) is an important paper that establishes the inverted-U for curiosity and information-seeking. But their evidence comes from infants, monkeys, and rats — organisms whose processing is predominantly implicit. Adult humans have three features that fundamentally change the picture. First, they can OVERRIDE the implicit inverted-U through explicit goals and metacognitive awareness — a grad student persists through extremely high PE because she values the outcome. Second, even adult 'implicit' processing operates at higher levels of abstraction — model selection, theory comparison, architectural grammar — not just low-level feature prediction. Third, expertise WIDENS the inverted-U: an experienced architect enjoys and processes higher visual complexity because her predictive model is deeper. This means the Kidd &amp; Hayden inverted-U is a floor — the minimum structure — not the full story of how adults engage with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theoretical move. Environments affect adults through TWO processing channels: the implicit channel (autonomic responses, affective valence, PE processing, attentional capture — what Kidd and PP capture) and the explicit channel (aesthetic judgment, semantic meaning, cultural norms, deliberate engagement — what they miss). The infant inverted-U captures ONLY the implicit channel. The full adult Goldilocks inverted-U integrates both. This has profound implications: the cultural Goldilocks set-point shifts we observe in India may be PARTLY explicit — transmitted aesthetic norms, deliberate environmental choices, not just recalibrated sensory priors. A patient's response to a hospital room is BOTH implicit (autonomic stress from acoustic chaos) AND explicit ('this looks like a place where people die'). Any framework that only captures the implicit channel — as PP, SRT, and Berlyne all do — is necessarily incomplete for adult environmental design.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makes the comparative argument explicit. PP is fundamentally subpersonal — the dark room problem emerges precisely because PP has no way to represent explicit goals overriding PE minimization. SRT is explicitly built to bypass cognitive appraisal — it's a pre-cognitive pathway by design. Berlyne measures stimulus properties (arousal potential), not the person's reflective response. ART depends on involuntary attention — restoration works BECAUSE it doesn't require effort. None of these frameworks can easily incorporate explicit processing without undermining their core theoretical commitments. The Goldilocks principle can because it is NORMATIVE — it prescribes an optimum that includes both what the PE system computes implicitly AND what the person evaluates explicitly. The normative move — saying there EXISTS an optimal level and design SHOULD target it — creates space for the full range of human environmental engagement. This is the theoretical advantage that matters most for this philosophical audience.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connects the Goldilocks principle to one of the most important ideas in philosophy of mind: the extended mind thesis. If Clark and Chalmers are right that cognitive processes extend into the environment, then architectural design is cognitive niche engineering. But a crucial point, developed in my Activity Space paper (Kirsh, 2026), is that the niche must be tuned to the activities occupants pursue. People never engage a space without having some task or activity in mind. Tasks shape how a person perceives and conceives of their environment through what I call an epistemic bubble or activity space. The Goldilocks set-point profile is therefore not a property of the space alone — it is a property of the space-activity coupling. The same physical space will have different optimal profiles for different activities. The feedback loop runs through activity: cultures construct niches tuned to their characteristic activities, those niches shape sensory and cognitive preferences, and people reconstruct the niche. Varanasi's elevated set-points are a cognitive niche in dynamic equilibrium, tuned to the activities — ritual, commerce, social congregation — that its inhabitants pursue. For this philosophical audience, this is arguably the most important contribution: environmental design is the optimization of extended cognitive systems for the activities they support.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dokk1_maker.jpeg"/><Relationship Id="rId2" Type="http://schemas.openxmlformats.org/officeDocument/2006/relationships/image" Target="../media/dokk1_games.jpeg"/><Relationship Id="rId3" Type="http://schemas.openxmlformats.org/officeDocument/2006/relationships/image" Target="../media/dokk1_children.jpe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1371600"/>
            <a:ext cx="7680960" cy="137160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The Goldilocks Principle</a:t>
            </a:r>
            <a:endParaRPr lang="en-US" sz="4000" dirty="0"/>
          </a:p>
          <a:p>
            <a:pPr indent="0" marL="0">
              <a:buNone/>
            </a:pPr>
            <a:r>
              <a:rPr lang="en-US" sz="4000" b="1" dirty="0">
                <a:solidFill>
                  <a:srgbClr val="FFFFFF"/>
                </a:solidFill>
                <a:latin typeface="Georgia" pitchFamily="34" charset="0"/>
                <a:ea typeface="Georgia" pitchFamily="34" charset="-122"/>
                <a:cs typeface="Georgia" pitchFamily="34" charset="-120"/>
              </a:rPr>
              <a:t>in Environmental Design</a:t>
            </a:r>
            <a:endParaRPr lang="en-US" sz="4000" dirty="0"/>
          </a:p>
        </p:txBody>
      </p:sp>
      <p:sp>
        <p:nvSpPr>
          <p:cNvPr id="4" name="Text 2"/>
          <p:cNvSpPr/>
          <p:nvPr/>
        </p:nvSpPr>
        <p:spPr>
          <a:xfrm>
            <a:off x="731520" y="2926080"/>
            <a:ext cx="7680960" cy="914400"/>
          </a:xfrm>
          <a:prstGeom prst="rect">
            <a:avLst/>
          </a:prstGeom>
          <a:noFill/>
          <a:ln/>
        </p:spPr>
        <p:txBody>
          <a:bodyPr wrap="square" rtlCol="0" anchor="ctr"/>
          <a:lstStyle/>
          <a:p>
            <a:pPr indent="0" marL="0">
              <a:buNone/>
            </a:pPr>
            <a:r>
              <a:rPr lang="en-US" sz="1800" i="1" dirty="0">
                <a:solidFill>
                  <a:srgbClr val="C47D2B"/>
                </a:solidFill>
                <a:latin typeface="Calibri" pitchFamily="34" charset="0"/>
                <a:ea typeface="Calibri" pitchFamily="34" charset="-122"/>
                <a:cs typeface="Calibri" pitchFamily="34" charset="-120"/>
              </a:rPr>
              <a:t>Why the Brain Prefers the Middle</a:t>
            </a:r>
            <a:endParaRPr lang="en-US" sz="1800" dirty="0"/>
          </a:p>
          <a:p>
            <a:pPr indent="0" marL="0">
              <a:buNone/>
            </a:pPr>
            <a:r>
              <a:rPr lang="en-US" sz="1800" i="1" dirty="0">
                <a:solidFill>
                  <a:srgbClr val="C47D2B"/>
                </a:solidFill>
                <a:latin typeface="Calibri" pitchFamily="34" charset="0"/>
                <a:ea typeface="Calibri" pitchFamily="34" charset="-122"/>
                <a:cs typeface="Calibri" pitchFamily="34" charset="-120"/>
              </a:rPr>
              <a:t>David Kirsh • Cognitive Science • UC San Diego • February 2026</a:t>
            </a:r>
            <a:endParaRPr lang="en-US" sz="1800" dirty="0"/>
          </a:p>
        </p:txBody>
      </p:sp>
      <p:sp>
        <p:nvSpPr>
          <p:cNvPr id="5" name="Shape 3"/>
          <p:cNvSpPr/>
          <p:nvPr/>
        </p:nvSpPr>
        <p:spPr>
          <a:xfrm>
            <a:off x="0" y="4846320"/>
            <a:ext cx="9144000" cy="297180"/>
          </a:xfrm>
          <a:prstGeom prst="rect">
            <a:avLst/>
          </a:prstGeom>
          <a:solidFill>
            <a:srgbClr val="C47D2B"/>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The Core Claim</a:t>
            </a:r>
            <a:endParaRPr lang="en-US" sz="2400" dirty="0"/>
          </a:p>
        </p:txBody>
      </p:sp>
      <p:sp>
        <p:nvSpPr>
          <p:cNvPr id="4" name="Shape 2"/>
          <p:cNvSpPr/>
          <p:nvPr/>
        </p:nvSpPr>
        <p:spPr>
          <a:xfrm>
            <a:off x="548640" y="914400"/>
            <a:ext cx="8046720" cy="137160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5" name="Text 3"/>
          <p:cNvSpPr/>
          <p:nvPr/>
        </p:nvSpPr>
        <p:spPr>
          <a:xfrm>
            <a:off x="731520" y="1005840"/>
            <a:ext cx="7680960" cy="11887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Across visual complexity, acoustic intensity, temperature, material coverage,</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fractal geometry, spatial proportions, and light levels—the relationship between</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 xml:space="preserve">environmental stimulus and human response follows an </a:t>
            </a:r>
            <a:endParaRPr lang="en-US" sz="1500" dirty="0"/>
          </a:p>
          <a:p>
            <a:pPr indent="0" marL="0">
              <a:buNone/>
            </a:pPr>
            <a:r>
              <a:rPr lang="en-US" sz="1500" b="1" dirty="0">
                <a:solidFill>
                  <a:srgbClr val="C47D2B"/>
                </a:solidFill>
                <a:latin typeface="Calibri" pitchFamily="34" charset="0"/>
                <a:ea typeface="Calibri" pitchFamily="34" charset="-122"/>
                <a:cs typeface="Calibri" pitchFamily="34" charset="-120"/>
              </a:rPr>
              <a:t>inverted-U function.</a:t>
            </a:r>
            <a:endParaRPr lang="en-US" sz="1500" dirty="0"/>
          </a:p>
        </p:txBody>
      </p:sp>
      <p:sp>
        <p:nvSpPr>
          <p:cNvPr id="6" name="Text 4"/>
          <p:cNvSpPr/>
          <p:nvPr/>
        </p:nvSpPr>
        <p:spPr>
          <a:xfrm>
            <a:off x="731520" y="2560320"/>
            <a:ext cx="7680960" cy="640080"/>
          </a:xfrm>
          <a:prstGeom prst="rect">
            <a:avLst/>
          </a:prstGeom>
          <a:noFill/>
          <a:ln/>
        </p:spPr>
        <p:txBody>
          <a:bodyPr wrap="square" rtlCol="0" anchor="ctr"/>
          <a:lstStyle/>
          <a:p>
            <a:pPr indent="0" marL="0">
              <a:buNone/>
            </a:pPr>
            <a:r>
              <a:rPr lang="en-US" sz="1600" i="1" dirty="0">
                <a:solidFill>
                  <a:srgbClr val="1B3A5C"/>
                </a:solidFill>
                <a:latin typeface="Georgia" pitchFamily="34" charset="0"/>
                <a:ea typeface="Georgia" pitchFamily="34" charset="-122"/>
                <a:cs typeface="Georgia" pitchFamily="34" charset="-120"/>
              </a:rPr>
              <a:t>This is not seven coincidences. It reflects something fundamental</a:t>
            </a:r>
            <a:endParaRPr lang="en-US" sz="1600" dirty="0"/>
          </a:p>
          <a:p>
            <a:pPr indent="0" marL="0">
              <a:buNone/>
            </a:pPr>
            <a:r>
              <a:rPr lang="en-US" sz="1600" i="1" dirty="0">
                <a:solidFill>
                  <a:srgbClr val="1B3A5C"/>
                </a:solidFill>
                <a:latin typeface="Georgia" pitchFamily="34" charset="0"/>
                <a:ea typeface="Georgia" pitchFamily="34" charset="-122"/>
                <a:cs typeface="Georgia" pitchFamily="34" charset="-120"/>
              </a:rPr>
              <a:t>about how the brain engages with environmental stimulation.</a:t>
            </a:r>
            <a:endParaRPr lang="en-US" sz="1600" dirty="0"/>
          </a:p>
        </p:txBody>
      </p:sp>
      <p:sp>
        <p:nvSpPr>
          <p:cNvPr id="7" name="Shape 5"/>
          <p:cNvSpPr/>
          <p:nvPr/>
        </p:nvSpPr>
        <p:spPr>
          <a:xfrm>
            <a:off x="1371600" y="3474720"/>
            <a:ext cx="1371600" cy="914400"/>
          </a:xfrm>
          <a:prstGeom prst="ellipse">
            <a:avLst/>
          </a:prstGeom>
          <a:solidFill>
            <a:srgbClr val="C05050"/>
          </a:solidFill>
          <a:ln/>
          <a:effectLst>
            <a:outerShdw sx="100000" sy="100000" kx="0" ky="0" algn="bl" rotWithShape="0" blurRad="76200" dist="25400" dir="8100000">
              <a:srgbClr val="000000">
                <a:alpha val="12000"/>
              </a:srgbClr>
            </a:outerShdw>
          </a:effectLst>
        </p:spPr>
      </p:sp>
      <p:sp>
        <p:nvSpPr>
          <p:cNvPr id="8" name="Text 6"/>
          <p:cNvSpPr/>
          <p:nvPr/>
        </p:nvSpPr>
        <p:spPr>
          <a:xfrm>
            <a:off x="1371600" y="3474720"/>
            <a:ext cx="137160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Too Little</a:t>
            </a:r>
            <a:endParaRPr lang="en-US" sz="1400" dirty="0"/>
          </a:p>
        </p:txBody>
      </p:sp>
      <p:sp>
        <p:nvSpPr>
          <p:cNvPr id="9" name="Shape 7"/>
          <p:cNvSpPr/>
          <p:nvPr/>
        </p:nvSpPr>
        <p:spPr>
          <a:xfrm>
            <a:off x="3886200" y="3474720"/>
            <a:ext cx="1371600" cy="914400"/>
          </a:xfrm>
          <a:prstGeom prst="ellipse">
            <a:avLst/>
          </a:prstGeom>
          <a:solidFill>
            <a:srgbClr val="4A7C59"/>
          </a:solidFill>
          <a:ln/>
          <a:effectLst>
            <a:outerShdw sx="100000" sy="100000" kx="0" ky="0" algn="bl" rotWithShape="0" blurRad="76200" dist="25400" dir="8100000">
              <a:srgbClr val="000000">
                <a:alpha val="12000"/>
              </a:srgbClr>
            </a:outerShdw>
          </a:effectLst>
        </p:spPr>
      </p:sp>
      <p:sp>
        <p:nvSpPr>
          <p:cNvPr id="10" name="Text 8"/>
          <p:cNvSpPr/>
          <p:nvPr/>
        </p:nvSpPr>
        <p:spPr>
          <a:xfrm>
            <a:off x="3886200" y="3474720"/>
            <a:ext cx="137160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Just Right</a:t>
            </a:r>
            <a:endParaRPr lang="en-US" sz="1400" dirty="0"/>
          </a:p>
        </p:txBody>
      </p:sp>
      <p:sp>
        <p:nvSpPr>
          <p:cNvPr id="11" name="Shape 9"/>
          <p:cNvSpPr/>
          <p:nvPr/>
        </p:nvSpPr>
        <p:spPr>
          <a:xfrm>
            <a:off x="6400800" y="3474720"/>
            <a:ext cx="1371600" cy="914400"/>
          </a:xfrm>
          <a:prstGeom prst="ellipse">
            <a:avLst/>
          </a:prstGeom>
          <a:solidFill>
            <a:srgbClr val="C05050"/>
          </a:solidFill>
          <a:ln/>
          <a:effectLst>
            <a:outerShdw sx="100000" sy="100000" kx="0" ky="0" algn="bl" rotWithShape="0" blurRad="76200" dist="25400" dir="8100000">
              <a:srgbClr val="000000">
                <a:alpha val="12000"/>
              </a:srgbClr>
            </a:outerShdw>
          </a:effectLst>
        </p:spPr>
      </p:sp>
      <p:sp>
        <p:nvSpPr>
          <p:cNvPr id="12" name="Text 10"/>
          <p:cNvSpPr/>
          <p:nvPr/>
        </p:nvSpPr>
        <p:spPr>
          <a:xfrm>
            <a:off x="6400800" y="3474720"/>
            <a:ext cx="137160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Too Much</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The Inverted-U in Everyday Spaces</a:t>
            </a:r>
            <a:endParaRPr lang="en-US" sz="2200" dirty="0"/>
          </a:p>
        </p:txBody>
      </p:sp>
      <p:sp>
        <p:nvSpPr>
          <p:cNvPr id="6" name="Shape 4"/>
          <p:cNvSpPr/>
          <p:nvPr/>
        </p:nvSpPr>
        <p:spPr>
          <a:xfrm>
            <a:off x="320040" y="914400"/>
            <a:ext cx="2697480" cy="374904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7" name="Shape 5"/>
          <p:cNvSpPr/>
          <p:nvPr/>
        </p:nvSpPr>
        <p:spPr>
          <a:xfrm>
            <a:off x="320040" y="914400"/>
            <a:ext cx="2697480" cy="640080"/>
          </a:xfrm>
          <a:prstGeom prst="rect">
            <a:avLst/>
          </a:prstGeom>
          <a:solidFill>
            <a:srgbClr val="3B6A9C"/>
          </a:solidFill>
          <a:ln/>
        </p:spPr>
      </p:sp>
      <p:sp>
        <p:nvSpPr>
          <p:cNvPr id="8" name="Text 6"/>
          <p:cNvSpPr/>
          <p:nvPr/>
        </p:nvSpPr>
        <p:spPr>
          <a:xfrm>
            <a:off x="320040" y="914400"/>
            <a:ext cx="2697480" cy="6400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The Bare Hospital Corridor</a:t>
            </a:r>
            <a:endParaRPr lang="en-US" sz="1300" dirty="0"/>
          </a:p>
        </p:txBody>
      </p:sp>
      <p:sp>
        <p:nvSpPr>
          <p:cNvPr id="9" name="Text 7"/>
          <p:cNvSpPr/>
          <p:nvPr/>
        </p:nvSpPr>
        <p:spPr>
          <a:xfrm>
            <a:off x="457200" y="1691640"/>
            <a:ext cx="2423160" cy="2743200"/>
          </a:xfrm>
          <a:prstGeom prst="rect">
            <a:avLst/>
          </a:prstGeom>
          <a:noFill/>
          <a:ln/>
        </p:spPr>
        <p:txBody>
          <a:bodyPr wrap="square" rtlCol="0" anchor="ctr"/>
          <a:lstStyle/>
          <a:p>
            <a:pPr indent="0" marL="0">
              <a:buNone/>
            </a:pPr>
            <a:r>
              <a:rPr lang="en-US" sz="1100" dirty="0">
                <a:solidFill>
                  <a:srgbClr val="2C2C2C"/>
                </a:solidFill>
              </a:rPr>
              <a:t>White walls, fluorescent light,</a:t>
            </a:r>
            <a:endParaRPr lang="en-US" sz="1100" dirty="0"/>
          </a:p>
          <a:p>
            <a:pPr indent="0" marL="0">
              <a:buNone/>
            </a:pPr>
            <a:r>
              <a:rPr lang="en-US" sz="1100" dirty="0">
                <a:solidFill>
                  <a:srgbClr val="2C2C2C"/>
                </a:solidFill>
              </a:rPr>
              <a:t>no variation, no views, low</a:t>
            </a:r>
            <a:endParaRPr lang="en-US" sz="1100" dirty="0"/>
          </a:p>
          <a:p>
            <a:pPr indent="0" marL="0">
              <a:buNone/>
            </a:pPr>
            <a:r>
              <a:rPr lang="en-US" sz="1100" dirty="0">
                <a:solidFill>
                  <a:srgbClr val="2C2C2C"/>
                </a:solidFill>
              </a:rPr>
              <a:t>complexity. Patients report</a:t>
            </a:r>
            <a:endParaRPr lang="en-US" sz="1100" dirty="0"/>
          </a:p>
          <a:p>
            <a:pPr indent="0" marL="0">
              <a:buNone/>
            </a:pPr>
            <a:r>
              <a:rPr lang="en-US" sz="1100" dirty="0">
                <a:solidFill>
                  <a:srgbClr val="2C2C2C"/>
                </a:solidFill>
              </a:rPr>
              <a:t>boredom, anxiety, disorientation.</a:t>
            </a:r>
            <a:endParaRPr lang="en-US" sz="1100" dirty="0"/>
          </a:p>
          <a:p>
            <a:pPr indent="0" marL="0">
              <a:buNone/>
            </a:pPr>
            <a:r>
              <a:rPr lang="en-US" sz="1100" dirty="0">
                <a:solidFill>
                  <a:srgbClr val="2C2C2C"/>
                </a:solidFill>
              </a:rPr>
              <a:t>PE ≈ 0: nothing to learn.</a:t>
            </a:r>
            <a:endParaRPr lang="en-US" sz="1100" dirty="0"/>
          </a:p>
        </p:txBody>
      </p:sp>
      <p:sp>
        <p:nvSpPr>
          <p:cNvPr id="10" name="Shape 8"/>
          <p:cNvSpPr/>
          <p:nvPr/>
        </p:nvSpPr>
        <p:spPr>
          <a:xfrm>
            <a:off x="3246120" y="914400"/>
            <a:ext cx="2697480" cy="374904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11" name="Shape 9"/>
          <p:cNvSpPr/>
          <p:nvPr/>
        </p:nvSpPr>
        <p:spPr>
          <a:xfrm>
            <a:off x="3246120" y="914400"/>
            <a:ext cx="2697480" cy="640080"/>
          </a:xfrm>
          <a:prstGeom prst="rect">
            <a:avLst/>
          </a:prstGeom>
          <a:solidFill>
            <a:srgbClr val="4A7C59"/>
          </a:solidFill>
          <a:ln/>
        </p:spPr>
      </p:sp>
      <p:sp>
        <p:nvSpPr>
          <p:cNvPr id="12" name="Text 10"/>
          <p:cNvSpPr/>
          <p:nvPr/>
        </p:nvSpPr>
        <p:spPr>
          <a:xfrm>
            <a:off x="3246120" y="914400"/>
            <a:ext cx="2697480" cy="6400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A Well-Designed Café</a:t>
            </a:r>
            <a:endParaRPr lang="en-US" sz="1300" dirty="0"/>
          </a:p>
        </p:txBody>
      </p:sp>
      <p:sp>
        <p:nvSpPr>
          <p:cNvPr id="13" name="Text 11"/>
          <p:cNvSpPr/>
          <p:nvPr/>
        </p:nvSpPr>
        <p:spPr>
          <a:xfrm>
            <a:off x="3383280" y="1691640"/>
            <a:ext cx="2423160" cy="2743200"/>
          </a:xfrm>
          <a:prstGeom prst="rect">
            <a:avLst/>
          </a:prstGeom>
          <a:noFill/>
          <a:ln/>
        </p:spPr>
        <p:txBody>
          <a:bodyPr wrap="square" rtlCol="0" anchor="ctr"/>
          <a:lstStyle/>
          <a:p>
            <a:pPr indent="0" marL="0">
              <a:buNone/>
            </a:pPr>
            <a:r>
              <a:rPr lang="en-US" sz="1100" dirty="0">
                <a:solidFill>
                  <a:srgbClr val="2C2C2C"/>
                </a:solidFill>
              </a:rPr>
              <a:t>Wood surfaces (~40%), moderate</a:t>
            </a:r>
            <a:endParaRPr lang="en-US" sz="1100" dirty="0"/>
          </a:p>
          <a:p>
            <a:pPr indent="0" marL="0">
              <a:buNone/>
            </a:pPr>
            <a:r>
              <a:rPr lang="en-US" sz="1100" dirty="0">
                <a:solidFill>
                  <a:srgbClr val="2C2C2C"/>
                </a:solidFill>
              </a:rPr>
              <a:t>music (~65 dB), natural light,</a:t>
            </a:r>
            <a:endParaRPr lang="en-US" sz="1100" dirty="0"/>
          </a:p>
          <a:p>
            <a:pPr indent="0" marL="0">
              <a:buNone/>
            </a:pPr>
            <a:r>
              <a:rPr lang="en-US" sz="1100" dirty="0">
                <a:solidFill>
                  <a:srgbClr val="2C2C2C"/>
                </a:solidFill>
              </a:rPr>
              <a:t>varied seating nooks, plants.</a:t>
            </a:r>
            <a:endParaRPr lang="en-US" sz="1100" dirty="0"/>
          </a:p>
          <a:p>
            <a:pPr indent="0" marL="0">
              <a:buNone/>
            </a:pPr>
            <a:r>
              <a:rPr lang="en-US" sz="1100" dirty="0">
                <a:solidFill>
                  <a:srgbClr val="2C2C2C"/>
                </a:solidFill>
              </a:rPr>
              <a:t>People choose to work here.</a:t>
            </a:r>
            <a:endParaRPr lang="en-US" sz="1100" dirty="0"/>
          </a:p>
          <a:p>
            <a:pPr indent="0" marL="0">
              <a:buNone/>
            </a:pPr>
            <a:r>
              <a:rPr lang="en-US" sz="1100" dirty="0">
                <a:solidFill>
                  <a:srgbClr val="2C2C2C"/>
                </a:solidFill>
              </a:rPr>
              <a:t>PE is moderate: enough variety</a:t>
            </a:r>
            <a:endParaRPr lang="en-US" sz="1100" dirty="0"/>
          </a:p>
          <a:p>
            <a:pPr indent="0" marL="0">
              <a:buNone/>
            </a:pPr>
            <a:r>
              <a:rPr lang="en-US" sz="1100" dirty="0">
                <a:solidFill>
                  <a:srgbClr val="2C2C2C"/>
                </a:solidFill>
              </a:rPr>
              <a:t>to sustain engagement.</a:t>
            </a:r>
            <a:endParaRPr lang="en-US" sz="1100" dirty="0"/>
          </a:p>
        </p:txBody>
      </p:sp>
      <p:sp>
        <p:nvSpPr>
          <p:cNvPr id="14" name="Shape 12"/>
          <p:cNvSpPr/>
          <p:nvPr/>
        </p:nvSpPr>
        <p:spPr>
          <a:xfrm>
            <a:off x="6172200" y="914400"/>
            <a:ext cx="2697480" cy="374904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15" name="Shape 13"/>
          <p:cNvSpPr/>
          <p:nvPr/>
        </p:nvSpPr>
        <p:spPr>
          <a:xfrm>
            <a:off x="6172200" y="914400"/>
            <a:ext cx="2697480" cy="640080"/>
          </a:xfrm>
          <a:prstGeom prst="rect">
            <a:avLst/>
          </a:prstGeom>
          <a:solidFill>
            <a:srgbClr val="C05050"/>
          </a:solidFill>
          <a:ln/>
        </p:spPr>
      </p:sp>
      <p:sp>
        <p:nvSpPr>
          <p:cNvPr id="16" name="Text 14"/>
          <p:cNvSpPr/>
          <p:nvPr/>
        </p:nvSpPr>
        <p:spPr>
          <a:xfrm>
            <a:off x="6172200" y="914400"/>
            <a:ext cx="2697480" cy="6400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Times Square at Rush Hour</a:t>
            </a:r>
            <a:endParaRPr lang="en-US" sz="1300" dirty="0"/>
          </a:p>
        </p:txBody>
      </p:sp>
      <p:sp>
        <p:nvSpPr>
          <p:cNvPr id="17" name="Text 15"/>
          <p:cNvSpPr/>
          <p:nvPr/>
        </p:nvSpPr>
        <p:spPr>
          <a:xfrm>
            <a:off x="6309360" y="1691640"/>
            <a:ext cx="2423160" cy="2743200"/>
          </a:xfrm>
          <a:prstGeom prst="rect">
            <a:avLst/>
          </a:prstGeom>
          <a:noFill/>
          <a:ln/>
        </p:spPr>
        <p:txBody>
          <a:bodyPr wrap="square" rtlCol="0" anchor="ctr"/>
          <a:lstStyle/>
          <a:p>
            <a:pPr indent="0" marL="0">
              <a:buNone/>
            </a:pPr>
            <a:r>
              <a:rPr lang="en-US" sz="1100" dirty="0">
                <a:solidFill>
                  <a:srgbClr val="2C2C2C"/>
                </a:solidFill>
              </a:rPr>
              <a:t>Extreme visual complexity,</a:t>
            </a:r>
            <a:endParaRPr lang="en-US" sz="1100" dirty="0"/>
          </a:p>
          <a:p>
            <a:pPr indent="0" marL="0">
              <a:buNone/>
            </a:pPr>
            <a:r>
              <a:rPr lang="en-US" sz="1100" dirty="0">
                <a:solidFill>
                  <a:srgbClr val="2C2C2C"/>
                </a:solidFill>
              </a:rPr>
              <a:t>80+ dB, flashing lights,</a:t>
            </a:r>
            <a:endParaRPr lang="en-US" sz="1100" dirty="0"/>
          </a:p>
          <a:p>
            <a:pPr indent="0" marL="0">
              <a:buNone/>
            </a:pPr>
            <a:r>
              <a:rPr lang="en-US" sz="1100" dirty="0">
                <a:solidFill>
                  <a:srgbClr val="2C2C2C"/>
                </a:solidFill>
              </a:rPr>
              <a:t>crowds, unpredictable motion.</a:t>
            </a:r>
            <a:endParaRPr lang="en-US" sz="1100" dirty="0"/>
          </a:p>
          <a:p>
            <a:pPr indent="0" marL="0">
              <a:buNone/>
            </a:pPr>
            <a:r>
              <a:rPr lang="en-US" sz="1100" dirty="0">
                <a:solidFill>
                  <a:srgbClr val="2C2C2C"/>
                </a:solidFill>
              </a:rPr>
              <a:t>Most people report stress</a:t>
            </a:r>
            <a:endParaRPr lang="en-US" sz="1100" dirty="0"/>
          </a:p>
          <a:p>
            <a:pPr indent="0" marL="0">
              <a:buNone/>
            </a:pPr>
            <a:r>
              <a:rPr lang="en-US" sz="1100" dirty="0">
                <a:solidFill>
                  <a:srgbClr val="2C2C2C"/>
                </a:solidFill>
              </a:rPr>
              <a:t>and a desire to leave.</a:t>
            </a:r>
            <a:endParaRPr lang="en-US" sz="1100" dirty="0"/>
          </a:p>
          <a:p>
            <a:pPr indent="0" marL="0">
              <a:buNone/>
            </a:pPr>
            <a:r>
              <a:rPr lang="en-US" sz="1100" dirty="0">
                <a:solidFill>
                  <a:srgbClr val="2C2C2C"/>
                </a:solidFill>
              </a:rPr>
              <a:t>PE overwhelms the model.</a:t>
            </a:r>
            <a:endParaRPr lang="en-US" sz="1100" dirty="0"/>
          </a:p>
        </p:txBody>
      </p:sp>
      <p:sp>
        <p:nvSpPr>
          <p:cNvPr id="18" name="Text 16"/>
          <p:cNvSpPr/>
          <p:nvPr/>
        </p:nvSpPr>
        <p:spPr>
          <a:xfrm>
            <a:off x="457200" y="4709160"/>
            <a:ext cx="8229600" cy="274320"/>
          </a:xfrm>
          <a:prstGeom prst="rect">
            <a:avLst/>
          </a:prstGeom>
          <a:noFill/>
          <a:ln/>
        </p:spPr>
        <p:txBody>
          <a:bodyPr wrap="square" rtlCol="0" anchor="ctr"/>
          <a:lstStyle/>
          <a:p>
            <a:pPr algn="ctr" indent="0" marL="0">
              <a:buNone/>
            </a:pPr>
            <a:r>
              <a:rPr lang="en-US" sz="1100" b="1" i="1" dirty="0">
                <a:solidFill>
                  <a:srgbClr val="C47D2B"/>
                </a:solidFill>
              </a:rPr>
              <a:t>← Too little PE          Just right PE          Too much PE →</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1097280"/>
            <a:ext cx="1828800" cy="1097280"/>
          </a:xfrm>
          <a:prstGeom prst="rect">
            <a:avLst/>
          </a:prstGeom>
          <a:noFill/>
          <a:ln/>
        </p:spPr>
        <p:txBody>
          <a:bodyPr wrap="square" rtlCol="0" anchor="ctr"/>
          <a:lstStyle/>
          <a:p>
            <a:pPr indent="0" marL="0">
              <a:buNone/>
            </a:pPr>
            <a:r>
              <a:rPr lang="en-US" sz="6000" b="1" dirty="0">
                <a:solidFill>
                  <a:srgbClr val="C47D2B"/>
                </a:solidFill>
                <a:latin typeface="Georgia" pitchFamily="34" charset="0"/>
                <a:ea typeface="Georgia" pitchFamily="34" charset="-122"/>
                <a:cs typeface="Georgia" pitchFamily="34" charset="-120"/>
              </a:rPr>
              <a:t>1</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The Evidence:</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Inverted-U Functions Everywhere</a:t>
            </a:r>
            <a:endParaRPr 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Visual Complexity: The Classic Inverted-U</a:t>
            </a:r>
            <a:endParaRPr lang="en-US" sz="2400" dirty="0"/>
          </a:p>
        </p:txBody>
      </p:sp>
      <p:graphicFrame>
        <p:nvGraphicFramePr>
          <p:cNvPr id="4" name="Chart 0" descr=""/>
          <p:cNvGraphicFramePr/>
          <p:nvPr/>
        </p:nvGraphicFramePr>
        <p:xfrm>
          <a:off x="457200" y="91440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914400"/>
            <a:ext cx="3017520" cy="320040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6" name="Text 3"/>
          <p:cNvSpPr/>
          <p:nvPr/>
        </p:nvSpPr>
        <p:spPr>
          <a:xfrm>
            <a:off x="5943600" y="1005840"/>
            <a:ext cx="2651760" cy="3017520"/>
          </a:xfrm>
          <a:prstGeom prst="rect">
            <a:avLst/>
          </a:prstGeom>
          <a:noFill/>
          <a:ln/>
        </p:spPr>
        <p:txBody>
          <a:bodyPr wrap="square" rtlCol="0" anchor="t"/>
          <a:lstStyle/>
          <a:p>
            <a:pPr indent="0" marL="0">
              <a:buNone/>
            </a:pPr>
            <a:r>
              <a:rPr lang="en-US" sz="1400" b="1" dirty="0">
                <a:solidFill>
                  <a:srgbClr val="1B3A5C"/>
                </a:solidFill>
              </a:rPr>
              <a:t>Berlyne (1971)
</a:t>
            </a:r>
            <a:endParaRPr lang="en-US" sz="1400" dirty="0"/>
          </a:p>
          <a:p>
            <a:pPr indent="0" marL="0">
              <a:buNone/>
            </a:pPr>
            <a:r>
              <a:rPr lang="en-US" sz="1100" dirty="0">
                <a:solidFill>
                  <a:srgbClr val="2C2C2C"/>
                </a:solidFill>
              </a:rPr>
              <a:t>Fechner (1876) first documented it
Birkhoff (1933) formalized it
Berlyne gave it a mechanism
Güçlütürk et al. (2016) confirmed
it computationally
</a:t>
            </a:r>
            <a:endParaRPr lang="en-US" sz="1400" dirty="0"/>
          </a:p>
          <a:p>
            <a:pPr indent="0" marL="0">
              <a:buNone/>
            </a:pPr>
            <a:r>
              <a:rPr lang="en-US" sz="1100" b="1" dirty="0">
                <a:solidFill>
                  <a:srgbClr val="1B3A5C"/>
                </a:solidFill>
              </a:rPr>
              <a:t xml:space="preserve">Architecture: </a:t>
            </a:r>
            <a:pPr indent="0" marL="0">
              <a:buNone/>
            </a:pPr>
            <a:r>
              <a:rPr lang="en-US" sz="1100" dirty="0">
                <a:solidFill>
                  <a:srgbClr val="2C2C2C"/>
                </a:solidFill>
              </a:rPr>
              <a:t>Stamps (2004): building facades</a:t>
            </a:r>
            <a:endParaRPr lang="en-US" sz="1400" dirty="0"/>
          </a:p>
          <a:p>
            <a:pPr indent="0" marL="0">
              <a:buNone/>
            </a:pPr>
            <a:r>
              <a:rPr lang="en-US" sz="1100" dirty="0">
                <a:solidFill>
                  <a:srgbClr val="2C2C2C"/>
                </a:solidFill>
              </a:rPr>
              <a:t>Salingaros (2003): ornamental density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Visual Complexity: Three Building Facades</a:t>
            </a:r>
            <a:endParaRPr lang="en-US" sz="2200" dirty="0"/>
          </a:p>
        </p:txBody>
      </p:sp>
      <p:sp>
        <p:nvSpPr>
          <p:cNvPr id="6" name="Shape 4"/>
          <p:cNvSpPr/>
          <p:nvPr/>
        </p:nvSpPr>
        <p:spPr>
          <a:xfrm>
            <a:off x="320040" y="914400"/>
            <a:ext cx="269748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320040" y="914400"/>
            <a:ext cx="2697480" cy="548640"/>
          </a:xfrm>
          <a:prstGeom prst="rect">
            <a:avLst/>
          </a:prstGeom>
          <a:solidFill>
            <a:srgbClr val="3B6A9C"/>
          </a:solidFill>
          <a:ln/>
        </p:spPr>
      </p:sp>
      <p:sp>
        <p:nvSpPr>
          <p:cNvPr id="8" name="Text 6"/>
          <p:cNvSpPr/>
          <p:nvPr/>
        </p:nvSpPr>
        <p:spPr>
          <a:xfrm>
            <a:off x="320040" y="914400"/>
            <a:ext cx="2697480" cy="54864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Minimalist Glass Box</a:t>
            </a:r>
            <a:endParaRPr lang="en-US" sz="1200" dirty="0"/>
          </a:p>
        </p:txBody>
      </p:sp>
      <p:sp>
        <p:nvSpPr>
          <p:cNvPr id="9" name="Text 7"/>
          <p:cNvSpPr/>
          <p:nvPr/>
        </p:nvSpPr>
        <p:spPr>
          <a:xfrm>
            <a:off x="429768" y="1600200"/>
            <a:ext cx="2468880" cy="2926080"/>
          </a:xfrm>
          <a:prstGeom prst="rect">
            <a:avLst/>
          </a:prstGeom>
          <a:noFill/>
          <a:ln/>
        </p:spPr>
        <p:txBody>
          <a:bodyPr wrap="square" rtlCol="0" anchor="ctr"/>
          <a:lstStyle/>
          <a:p>
            <a:pPr indent="0" marL="0">
              <a:buNone/>
            </a:pPr>
            <a:r>
              <a:rPr lang="en-US" sz="1000" dirty="0">
                <a:solidFill>
                  <a:srgbClr val="2C2C2C"/>
                </a:solidFill>
              </a:rPr>
              <a:t>A corporate glass tower:</a:t>
            </a:r>
            <a:endParaRPr lang="en-US" sz="1000" dirty="0"/>
          </a:p>
          <a:p>
            <a:pPr indent="0" marL="0">
              <a:buNone/>
            </a:pPr>
            <a:r>
              <a:rPr lang="en-US" sz="1000" dirty="0">
                <a:solidFill>
                  <a:srgbClr val="2C2C2C"/>
                </a:solidFill>
              </a:rPr>
              <a:t>repetitive grid, no ornament,</a:t>
            </a:r>
            <a:endParaRPr lang="en-US" sz="1000" dirty="0"/>
          </a:p>
          <a:p>
            <a:pPr indent="0" marL="0">
              <a:buNone/>
            </a:pPr>
            <a:r>
              <a:rPr lang="en-US" sz="1000" dirty="0">
                <a:solidFill>
                  <a:srgbClr val="2C2C2C"/>
                </a:solidFill>
              </a:rPr>
              <a:t>no material variation.</a:t>
            </a:r>
            <a:endParaRPr lang="en-US" sz="1000" dirty="0"/>
          </a:p>
          <a:p>
            <a:pPr indent="0" marL="0">
              <a:buNone/>
            </a:pPr>
            <a:r>
              <a:rPr lang="en-US" sz="1000" dirty="0">
                <a:solidFill>
                  <a:srgbClr val="2C2C2C"/>
                </a:solidFill>
              </a:rPr>
              <a:t>D ≈ 1.0–1.1.</a:t>
            </a:r>
            <a:endParaRPr lang="en-US" sz="1000" dirty="0"/>
          </a:p>
          <a:p>
            <a:pPr indent="0" marL="0">
              <a:buNone/>
            </a:pPr>
            <a:endParaRPr lang="en-US" sz="1000" dirty="0"/>
          </a:p>
          <a:p>
            <a:pPr indent="0" marL="0">
              <a:buNone/>
            </a:pPr>
            <a:r>
              <a:rPr lang="en-US" sz="1000" dirty="0">
                <a:solidFill>
                  <a:srgbClr val="2C2C2C"/>
                </a:solidFill>
              </a:rPr>
              <a:t>Rated: “cold,” “sterile,”</a:t>
            </a:r>
            <a:endParaRPr lang="en-US" sz="1000" dirty="0"/>
          </a:p>
          <a:p>
            <a:pPr indent="0" marL="0">
              <a:buNone/>
            </a:pPr>
            <a:r>
              <a:rPr lang="en-US" sz="1000" dirty="0">
                <a:solidFill>
                  <a:srgbClr val="2C2C2C"/>
                </a:solidFill>
              </a:rPr>
              <a:t>“forgettable.” Berlyne:</a:t>
            </a:r>
            <a:endParaRPr lang="en-US" sz="1000" dirty="0"/>
          </a:p>
          <a:p>
            <a:pPr indent="0" marL="0">
              <a:buNone/>
            </a:pPr>
            <a:r>
              <a:rPr lang="en-US" sz="1000" dirty="0">
                <a:solidFill>
                  <a:srgbClr val="2C2C2C"/>
                </a:solidFill>
              </a:rPr>
              <a:t>insufficient collative properties</a:t>
            </a:r>
            <a:endParaRPr lang="en-US" sz="1000" dirty="0"/>
          </a:p>
          <a:p>
            <a:pPr indent="0" marL="0">
              <a:buNone/>
            </a:pPr>
            <a:r>
              <a:rPr lang="en-US" sz="1000" dirty="0">
                <a:solidFill>
                  <a:srgbClr val="2C2C2C"/>
                </a:solidFill>
              </a:rPr>
              <a:t>→ no exploratory engagement.</a:t>
            </a:r>
            <a:endParaRPr lang="en-US" sz="1000" dirty="0"/>
          </a:p>
        </p:txBody>
      </p:sp>
      <p:sp>
        <p:nvSpPr>
          <p:cNvPr id="10" name="Shape 8"/>
          <p:cNvSpPr/>
          <p:nvPr/>
        </p:nvSpPr>
        <p:spPr>
          <a:xfrm>
            <a:off x="3246120" y="914400"/>
            <a:ext cx="269748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3246120" y="914400"/>
            <a:ext cx="2697480" cy="548640"/>
          </a:xfrm>
          <a:prstGeom prst="rect">
            <a:avLst/>
          </a:prstGeom>
          <a:solidFill>
            <a:srgbClr val="4A7C59"/>
          </a:solidFill>
          <a:ln/>
        </p:spPr>
      </p:sp>
      <p:sp>
        <p:nvSpPr>
          <p:cNvPr id="12" name="Text 10"/>
          <p:cNvSpPr/>
          <p:nvPr/>
        </p:nvSpPr>
        <p:spPr>
          <a:xfrm>
            <a:off x="3246120" y="914400"/>
            <a:ext cx="2697480" cy="54864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Gothic Cathedral Facade</a:t>
            </a:r>
            <a:endParaRPr lang="en-US" sz="1200" dirty="0"/>
          </a:p>
        </p:txBody>
      </p:sp>
      <p:sp>
        <p:nvSpPr>
          <p:cNvPr id="13" name="Text 11"/>
          <p:cNvSpPr/>
          <p:nvPr/>
        </p:nvSpPr>
        <p:spPr>
          <a:xfrm>
            <a:off x="3355848" y="1600200"/>
            <a:ext cx="2468880" cy="2926080"/>
          </a:xfrm>
          <a:prstGeom prst="rect">
            <a:avLst/>
          </a:prstGeom>
          <a:noFill/>
          <a:ln/>
        </p:spPr>
        <p:txBody>
          <a:bodyPr wrap="square" rtlCol="0" anchor="ctr"/>
          <a:lstStyle/>
          <a:p>
            <a:pPr indent="0" marL="0">
              <a:buNone/>
            </a:pPr>
            <a:r>
              <a:rPr lang="en-US" sz="1000" dirty="0">
                <a:solidFill>
                  <a:srgbClr val="2C2C2C"/>
                </a:solidFill>
              </a:rPr>
              <a:t>Chartres Cathedral: D ≈ 1.3–1.4.</a:t>
            </a:r>
            <a:endParaRPr lang="en-US" sz="1000" dirty="0"/>
          </a:p>
          <a:p>
            <a:pPr indent="0" marL="0">
              <a:buNone/>
            </a:pPr>
            <a:r>
              <a:rPr lang="en-US" sz="1000" dirty="0">
                <a:solidFill>
                  <a:srgbClr val="2C2C2C"/>
                </a:solidFill>
              </a:rPr>
              <a:t>Hierarchical ornament at multiple</a:t>
            </a:r>
            <a:endParaRPr lang="en-US" sz="1000" dirty="0"/>
          </a:p>
          <a:p>
            <a:pPr indent="0" marL="0">
              <a:buNone/>
            </a:pPr>
            <a:r>
              <a:rPr lang="en-US" sz="1000" dirty="0">
                <a:solidFill>
                  <a:srgbClr val="2C2C2C"/>
                </a:solidFill>
              </a:rPr>
              <a:t>scales. Rose window, archivolts,</a:t>
            </a:r>
            <a:endParaRPr lang="en-US" sz="1000" dirty="0"/>
          </a:p>
          <a:p>
            <a:pPr indent="0" marL="0">
              <a:buNone/>
            </a:pPr>
            <a:r>
              <a:rPr lang="en-US" sz="1000" dirty="0">
                <a:solidFill>
                  <a:srgbClr val="2C2C2C"/>
                </a:solidFill>
              </a:rPr>
              <a:t>columns, statuary, texture.</a:t>
            </a:r>
            <a:endParaRPr lang="en-US" sz="1000" dirty="0"/>
          </a:p>
          <a:p>
            <a:pPr indent="0" marL="0">
              <a:buNone/>
            </a:pPr>
            <a:endParaRPr lang="en-US" sz="1000" dirty="0"/>
          </a:p>
          <a:p>
            <a:pPr indent="0" marL="0">
              <a:buNone/>
            </a:pPr>
            <a:r>
              <a:rPr lang="en-US" sz="1000" dirty="0">
                <a:solidFill>
                  <a:srgbClr val="2C2C2C"/>
                </a:solidFill>
              </a:rPr>
              <a:t>Rated: “fascinating,” “inspiring.”</a:t>
            </a:r>
            <a:endParaRPr lang="en-US" sz="1000" dirty="0"/>
          </a:p>
          <a:p>
            <a:pPr indent="0" marL="0">
              <a:buNone/>
            </a:pPr>
            <a:r>
              <a:rPr lang="en-US" sz="1000" dirty="0">
                <a:solidFill>
                  <a:srgbClr val="2C2C2C"/>
                </a:solidFill>
              </a:rPr>
              <a:t>Complexity is high but</a:t>
            </a:r>
            <a:endParaRPr lang="en-US" sz="1000" dirty="0"/>
          </a:p>
          <a:p>
            <a:pPr indent="0" marL="0">
              <a:buNone/>
            </a:pPr>
            <a:r>
              <a:rPr lang="en-US" sz="1000" dirty="0">
                <a:solidFill>
                  <a:srgbClr val="2C2C2C"/>
                </a:solidFill>
              </a:rPr>
              <a:t>organized—self-similar at</a:t>
            </a:r>
            <a:endParaRPr lang="en-US" sz="1000" dirty="0"/>
          </a:p>
          <a:p>
            <a:pPr indent="0" marL="0">
              <a:buNone/>
            </a:pPr>
            <a:r>
              <a:rPr lang="en-US" sz="1000" dirty="0">
                <a:solidFill>
                  <a:srgbClr val="2C2C2C"/>
                </a:solidFill>
              </a:rPr>
              <a:t>multiple scales = 1/f statistics.</a:t>
            </a:r>
            <a:endParaRPr lang="en-US" sz="1000" dirty="0"/>
          </a:p>
        </p:txBody>
      </p:sp>
      <p:sp>
        <p:nvSpPr>
          <p:cNvPr id="14" name="Shape 12"/>
          <p:cNvSpPr/>
          <p:nvPr/>
        </p:nvSpPr>
        <p:spPr>
          <a:xfrm>
            <a:off x="6172200" y="914400"/>
            <a:ext cx="269748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6172200" y="914400"/>
            <a:ext cx="2697480" cy="548640"/>
          </a:xfrm>
          <a:prstGeom prst="rect">
            <a:avLst/>
          </a:prstGeom>
          <a:solidFill>
            <a:srgbClr val="C05050"/>
          </a:solidFill>
          <a:ln/>
        </p:spPr>
      </p:sp>
      <p:sp>
        <p:nvSpPr>
          <p:cNvPr id="16" name="Text 14"/>
          <p:cNvSpPr/>
          <p:nvPr/>
        </p:nvSpPr>
        <p:spPr>
          <a:xfrm>
            <a:off x="6172200" y="914400"/>
            <a:ext cx="2697480" cy="54864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Unrestored Kowloon Walled City</a:t>
            </a:r>
            <a:endParaRPr lang="en-US" sz="1200" dirty="0"/>
          </a:p>
        </p:txBody>
      </p:sp>
      <p:sp>
        <p:nvSpPr>
          <p:cNvPr id="17" name="Text 15"/>
          <p:cNvSpPr/>
          <p:nvPr/>
        </p:nvSpPr>
        <p:spPr>
          <a:xfrm>
            <a:off x="6281928" y="1600200"/>
            <a:ext cx="2468880" cy="2926080"/>
          </a:xfrm>
          <a:prstGeom prst="rect">
            <a:avLst/>
          </a:prstGeom>
          <a:noFill/>
          <a:ln/>
        </p:spPr>
        <p:txBody>
          <a:bodyPr wrap="square" rtlCol="0" anchor="ctr"/>
          <a:lstStyle/>
          <a:p>
            <a:pPr indent="0" marL="0">
              <a:buNone/>
            </a:pPr>
            <a:r>
              <a:rPr lang="en-US" sz="1000" dirty="0">
                <a:solidFill>
                  <a:srgbClr val="2C2C2C"/>
                </a:solidFill>
              </a:rPr>
              <a:t>D ≈ 1.7–1.9. Random accretion</a:t>
            </a:r>
            <a:endParaRPr lang="en-US" sz="1000" dirty="0"/>
          </a:p>
          <a:p>
            <a:pPr indent="0" marL="0">
              <a:buNone/>
            </a:pPr>
            <a:r>
              <a:rPr lang="en-US" sz="1000" dirty="0">
                <a:solidFill>
                  <a:srgbClr val="2C2C2C"/>
                </a:solidFill>
              </a:rPr>
              <a:t>of structures, no organizing</a:t>
            </a:r>
            <a:endParaRPr lang="en-US" sz="1000" dirty="0"/>
          </a:p>
          <a:p>
            <a:pPr indent="0" marL="0">
              <a:buNone/>
            </a:pPr>
            <a:r>
              <a:rPr lang="en-US" sz="1000" dirty="0">
                <a:solidFill>
                  <a:srgbClr val="2C2C2C"/>
                </a:solidFill>
              </a:rPr>
              <a:t>principle, clashing materials,</a:t>
            </a:r>
            <a:endParaRPr lang="en-US" sz="1000" dirty="0"/>
          </a:p>
          <a:p>
            <a:pPr indent="0" marL="0">
              <a:buNone/>
            </a:pPr>
            <a:r>
              <a:rPr lang="en-US" sz="1000" dirty="0">
                <a:solidFill>
                  <a:srgbClr val="2C2C2C"/>
                </a:solidFill>
              </a:rPr>
              <a:t>no visual hierarchy.</a:t>
            </a:r>
            <a:endParaRPr lang="en-US" sz="1000" dirty="0"/>
          </a:p>
          <a:p>
            <a:pPr indent="0" marL="0">
              <a:buNone/>
            </a:pPr>
            <a:endParaRPr lang="en-US" sz="1000" dirty="0"/>
          </a:p>
          <a:p>
            <a:pPr indent="0" marL="0">
              <a:buNone/>
            </a:pPr>
            <a:r>
              <a:rPr lang="en-US" sz="1000" dirty="0">
                <a:solidFill>
                  <a:srgbClr val="2C2C2C"/>
                </a:solidFill>
              </a:rPr>
              <a:t>Rated: “overwhelming,”</a:t>
            </a:r>
            <a:endParaRPr lang="en-US" sz="1000" dirty="0"/>
          </a:p>
          <a:p>
            <a:pPr indent="0" marL="0">
              <a:buNone/>
            </a:pPr>
            <a:r>
              <a:rPr lang="en-US" sz="1000" dirty="0">
                <a:solidFill>
                  <a:srgbClr val="2C2C2C"/>
                </a:solidFill>
              </a:rPr>
              <a:t>“chaotic.” PE exceeds model</a:t>
            </a:r>
            <a:endParaRPr lang="en-US" sz="1000" dirty="0"/>
          </a:p>
          <a:p>
            <a:pPr indent="0" marL="0">
              <a:buNone/>
            </a:pPr>
            <a:r>
              <a:rPr lang="en-US" sz="1000" dirty="0">
                <a:solidFill>
                  <a:srgbClr val="2C2C2C"/>
                </a:solidFill>
              </a:rPr>
              <a:t>capacity at every level of</a:t>
            </a:r>
            <a:endParaRPr lang="en-US" sz="1000" dirty="0"/>
          </a:p>
          <a:p>
            <a:pPr indent="0" marL="0">
              <a:buNone/>
            </a:pPr>
            <a:r>
              <a:rPr lang="en-US" sz="1000" dirty="0">
                <a:solidFill>
                  <a:srgbClr val="2C2C2C"/>
                </a:solidFill>
              </a:rPr>
              <a:t>the visual hierarchy.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Seven Channels, One Pattern</a:t>
            </a:r>
            <a:endParaRPr lang="en-US" sz="2400" dirty="0"/>
          </a:p>
        </p:txBody>
      </p:sp>
      <p:sp>
        <p:nvSpPr>
          <p:cNvPr id="4" name="Shape 2"/>
          <p:cNvSpPr/>
          <p:nvPr/>
        </p:nvSpPr>
        <p:spPr>
          <a:xfrm>
            <a:off x="457200" y="914400"/>
            <a:ext cx="1920240" cy="1737360"/>
          </a:xfrm>
          <a:prstGeom prst="rect">
            <a:avLst/>
          </a:prstGeom>
          <a:solidFill>
            <a:srgbClr val="C47D2B"/>
          </a:solidFill>
          <a:ln/>
          <a:effectLst>
            <a:outerShdw sx="100000" sy="100000" kx="0" ky="0" algn="bl" rotWithShape="0" blurRad="76200" dist="25400" dir="8100000">
              <a:srgbClr val="000000">
                <a:alpha val="12000"/>
              </a:srgbClr>
            </a:outerShdw>
          </a:effectLst>
        </p:spPr>
      </p:sp>
      <p:sp>
        <p:nvSpPr>
          <p:cNvPr id="5" name="Text 3"/>
          <p:cNvSpPr/>
          <p:nvPr/>
        </p:nvSpPr>
        <p:spPr>
          <a:xfrm>
            <a:off x="548640" y="1097280"/>
            <a:ext cx="1737360" cy="1371600"/>
          </a:xfrm>
          <a:prstGeom prst="rect">
            <a:avLst/>
          </a:prstGeom>
          <a:noFill/>
          <a:ln/>
        </p:spPr>
        <p:txBody>
          <a:bodyPr wrap="square" rtlCol="0" anchor="ctr"/>
          <a:lstStyle/>
          <a:p>
            <a:pPr algn="ctr" indent="0" marL="0">
              <a:buNone/>
            </a:pPr>
            <a:r>
              <a:rPr lang="en-US" sz="1300" b="1" dirty="0">
                <a:solidFill>
                  <a:srgbClr val="FFFFFF"/>
                </a:solidFill>
              </a:rPr>
              <a:t>Visual
Complexity
</a:t>
            </a:r>
            <a:endParaRPr lang="en-US" sz="1300" dirty="0"/>
          </a:p>
          <a:p>
            <a:pPr algn="ctr" indent="0" marL="0">
              <a:buNone/>
            </a:pPr>
            <a:r>
              <a:rPr lang="en-US" sz="1100" dirty="0">
                <a:solidFill>
                  <a:srgbClr val="D0D0D0"/>
                </a:solidFill>
              </a:rPr>
              <a:t>Optimum: D ≈ 1.3</a:t>
            </a:r>
            <a:endParaRPr lang="en-US" sz="1300" dirty="0"/>
          </a:p>
        </p:txBody>
      </p:sp>
      <p:sp>
        <p:nvSpPr>
          <p:cNvPr id="6" name="Shape 4"/>
          <p:cNvSpPr/>
          <p:nvPr/>
        </p:nvSpPr>
        <p:spPr>
          <a:xfrm>
            <a:off x="2606040" y="914400"/>
            <a:ext cx="1920240" cy="1737360"/>
          </a:xfrm>
          <a:prstGeom prst="rect">
            <a:avLst/>
          </a:prstGeom>
          <a:solidFill>
            <a:srgbClr val="2B8C8C"/>
          </a:solidFill>
          <a:ln/>
          <a:effectLst>
            <a:outerShdw sx="100000" sy="100000" kx="0" ky="0" algn="bl" rotWithShape="0" blurRad="76200" dist="25400" dir="8100000">
              <a:srgbClr val="000000">
                <a:alpha val="12000"/>
              </a:srgbClr>
            </a:outerShdw>
          </a:effectLst>
        </p:spPr>
      </p:sp>
      <p:sp>
        <p:nvSpPr>
          <p:cNvPr id="7" name="Text 5"/>
          <p:cNvSpPr/>
          <p:nvPr/>
        </p:nvSpPr>
        <p:spPr>
          <a:xfrm>
            <a:off x="2697480" y="1097280"/>
            <a:ext cx="1737360" cy="1371600"/>
          </a:xfrm>
          <a:prstGeom prst="rect">
            <a:avLst/>
          </a:prstGeom>
          <a:noFill/>
          <a:ln/>
        </p:spPr>
        <p:txBody>
          <a:bodyPr wrap="square" rtlCol="0" anchor="ctr"/>
          <a:lstStyle/>
          <a:p>
            <a:pPr algn="ctr" indent="0" marL="0">
              <a:buNone/>
            </a:pPr>
            <a:r>
              <a:rPr lang="en-US" sz="1300" b="1" dirty="0">
                <a:solidFill>
                  <a:srgbClr val="FFFFFF"/>
                </a:solidFill>
              </a:rPr>
              <a:t>Acoustic
Intensity
</a:t>
            </a:r>
            <a:endParaRPr lang="en-US" sz="1300" dirty="0"/>
          </a:p>
          <a:p>
            <a:pPr algn="ctr" indent="0" marL="0">
              <a:buNone/>
            </a:pPr>
            <a:r>
              <a:rPr lang="en-US" sz="1100" dirty="0">
                <a:solidFill>
                  <a:srgbClr val="D0D0D0"/>
                </a:solidFill>
              </a:rPr>
              <a:t>Optimum: ~70 dB</a:t>
            </a:r>
            <a:endParaRPr lang="en-US" sz="1300" dirty="0"/>
          </a:p>
        </p:txBody>
      </p:sp>
      <p:sp>
        <p:nvSpPr>
          <p:cNvPr id="8" name="Shape 6"/>
          <p:cNvSpPr/>
          <p:nvPr/>
        </p:nvSpPr>
        <p:spPr>
          <a:xfrm>
            <a:off x="4754880" y="914400"/>
            <a:ext cx="1920240" cy="1737360"/>
          </a:xfrm>
          <a:prstGeom prst="rect">
            <a:avLst/>
          </a:prstGeom>
          <a:solidFill>
            <a:srgbClr val="B85042"/>
          </a:solidFill>
          <a:ln/>
          <a:effectLst>
            <a:outerShdw sx="100000" sy="100000" kx="0" ky="0" algn="bl" rotWithShape="0" blurRad="76200" dist="25400" dir="8100000">
              <a:srgbClr val="000000">
                <a:alpha val="12000"/>
              </a:srgbClr>
            </a:outerShdw>
          </a:effectLst>
        </p:spPr>
      </p:sp>
      <p:sp>
        <p:nvSpPr>
          <p:cNvPr id="9" name="Text 7"/>
          <p:cNvSpPr/>
          <p:nvPr/>
        </p:nvSpPr>
        <p:spPr>
          <a:xfrm>
            <a:off x="4846320" y="1097280"/>
            <a:ext cx="1737360" cy="1371600"/>
          </a:xfrm>
          <a:prstGeom prst="rect">
            <a:avLst/>
          </a:prstGeom>
          <a:noFill/>
          <a:ln/>
        </p:spPr>
        <p:txBody>
          <a:bodyPr wrap="square" rtlCol="0" anchor="ctr"/>
          <a:lstStyle/>
          <a:p>
            <a:pPr algn="ctr" indent="0" marL="0">
              <a:buNone/>
            </a:pPr>
            <a:r>
              <a:rPr lang="en-US" sz="1300" b="1" dirty="0">
                <a:solidFill>
                  <a:srgbClr val="FFFFFF"/>
                </a:solidFill>
              </a:rPr>
              <a:t>Temperature
</a:t>
            </a:r>
            <a:endParaRPr lang="en-US" sz="1300" dirty="0"/>
          </a:p>
          <a:p>
            <a:pPr algn="ctr" indent="0" marL="0">
              <a:buNone/>
            </a:pPr>
            <a:r>
              <a:rPr lang="en-US" sz="1100" dirty="0">
                <a:solidFill>
                  <a:srgbClr val="D0D0D0"/>
                </a:solidFill>
              </a:rPr>
              <a:t>Optimum: 22± 2°C</a:t>
            </a:r>
            <a:endParaRPr lang="en-US" sz="1300" dirty="0"/>
          </a:p>
        </p:txBody>
      </p:sp>
      <p:sp>
        <p:nvSpPr>
          <p:cNvPr id="10" name="Shape 8"/>
          <p:cNvSpPr/>
          <p:nvPr/>
        </p:nvSpPr>
        <p:spPr>
          <a:xfrm>
            <a:off x="6903720" y="914400"/>
            <a:ext cx="1920240" cy="1737360"/>
          </a:xfrm>
          <a:prstGeom prst="rect">
            <a:avLst/>
          </a:prstGeom>
          <a:solidFill>
            <a:srgbClr val="4A7C59"/>
          </a:solidFill>
          <a:ln/>
          <a:effectLst>
            <a:outerShdw sx="100000" sy="100000" kx="0" ky="0" algn="bl" rotWithShape="0" blurRad="76200" dist="25400" dir="8100000">
              <a:srgbClr val="000000">
                <a:alpha val="12000"/>
              </a:srgbClr>
            </a:outerShdw>
          </a:effectLst>
        </p:spPr>
      </p:sp>
      <p:sp>
        <p:nvSpPr>
          <p:cNvPr id="11" name="Text 9"/>
          <p:cNvSpPr/>
          <p:nvPr/>
        </p:nvSpPr>
        <p:spPr>
          <a:xfrm>
            <a:off x="6995160" y="1097280"/>
            <a:ext cx="1737360" cy="1371600"/>
          </a:xfrm>
          <a:prstGeom prst="rect">
            <a:avLst/>
          </a:prstGeom>
          <a:noFill/>
          <a:ln/>
        </p:spPr>
        <p:txBody>
          <a:bodyPr wrap="square" rtlCol="0" anchor="ctr"/>
          <a:lstStyle/>
          <a:p>
            <a:pPr algn="ctr" indent="0" marL="0">
              <a:buNone/>
            </a:pPr>
            <a:r>
              <a:rPr lang="en-US" sz="1300" b="1" dirty="0">
                <a:solidFill>
                  <a:srgbClr val="FFFFFF"/>
                </a:solidFill>
              </a:rPr>
              <a:t>Wood
Coverage
</a:t>
            </a:r>
            <a:endParaRPr lang="en-US" sz="1300" dirty="0"/>
          </a:p>
          <a:p>
            <a:pPr algn="ctr" indent="0" marL="0">
              <a:buNone/>
            </a:pPr>
            <a:r>
              <a:rPr lang="en-US" sz="1100" dirty="0">
                <a:solidFill>
                  <a:srgbClr val="D0D0D0"/>
                </a:solidFill>
              </a:rPr>
              <a:t>Optimum: ~45%</a:t>
            </a:r>
            <a:endParaRPr lang="en-US" sz="1300" dirty="0"/>
          </a:p>
        </p:txBody>
      </p:sp>
      <p:sp>
        <p:nvSpPr>
          <p:cNvPr id="12" name="Shape 10"/>
          <p:cNvSpPr/>
          <p:nvPr/>
        </p:nvSpPr>
        <p:spPr>
          <a:xfrm>
            <a:off x="457200" y="2926080"/>
            <a:ext cx="1920240" cy="1737360"/>
          </a:xfrm>
          <a:prstGeom prst="rect">
            <a:avLst/>
          </a:prstGeom>
          <a:solidFill>
            <a:srgbClr val="6B3B8C"/>
          </a:solidFill>
          <a:ln/>
          <a:effectLst>
            <a:outerShdw sx="100000" sy="100000" kx="0" ky="0" algn="bl" rotWithShape="0" blurRad="76200" dist="25400" dir="8100000">
              <a:srgbClr val="000000">
                <a:alpha val="12000"/>
              </a:srgbClr>
            </a:outerShdw>
          </a:effectLst>
        </p:spPr>
      </p:sp>
      <p:sp>
        <p:nvSpPr>
          <p:cNvPr id="13" name="Text 11"/>
          <p:cNvSpPr/>
          <p:nvPr/>
        </p:nvSpPr>
        <p:spPr>
          <a:xfrm>
            <a:off x="548640" y="3108960"/>
            <a:ext cx="1737360" cy="1371600"/>
          </a:xfrm>
          <a:prstGeom prst="rect">
            <a:avLst/>
          </a:prstGeom>
          <a:noFill/>
          <a:ln/>
        </p:spPr>
        <p:txBody>
          <a:bodyPr wrap="square" rtlCol="0" anchor="ctr"/>
          <a:lstStyle/>
          <a:p>
            <a:pPr algn="ctr" indent="0" marL="0">
              <a:buNone/>
            </a:pPr>
            <a:r>
              <a:rPr lang="en-US" sz="1300" b="1" dirty="0">
                <a:solidFill>
                  <a:srgbClr val="FFFFFF"/>
                </a:solidFill>
              </a:rPr>
              <a:t>Fractal D
</a:t>
            </a:r>
            <a:endParaRPr lang="en-US" sz="1300" dirty="0"/>
          </a:p>
          <a:p>
            <a:pPr algn="ctr" indent="0" marL="0">
              <a:buNone/>
            </a:pPr>
            <a:r>
              <a:rPr lang="en-US" sz="1100" dirty="0">
                <a:solidFill>
                  <a:srgbClr val="D0D0D0"/>
                </a:solidFill>
              </a:rPr>
              <a:t>Optimum: D ≈ 1.3</a:t>
            </a:r>
            <a:endParaRPr lang="en-US" sz="1300" dirty="0"/>
          </a:p>
        </p:txBody>
      </p:sp>
      <p:sp>
        <p:nvSpPr>
          <p:cNvPr id="14" name="Shape 12"/>
          <p:cNvSpPr/>
          <p:nvPr/>
        </p:nvSpPr>
        <p:spPr>
          <a:xfrm>
            <a:off x="2606040" y="2926080"/>
            <a:ext cx="1920240" cy="1737360"/>
          </a:xfrm>
          <a:prstGeom prst="rect">
            <a:avLst/>
          </a:prstGeom>
          <a:solidFill>
            <a:srgbClr val="3B6A9C"/>
          </a:solidFill>
          <a:ln/>
          <a:effectLst>
            <a:outerShdw sx="100000" sy="100000" kx="0" ky="0" algn="bl" rotWithShape="0" blurRad="76200" dist="25400" dir="8100000">
              <a:srgbClr val="000000">
                <a:alpha val="12000"/>
              </a:srgbClr>
            </a:outerShdw>
          </a:effectLst>
        </p:spPr>
      </p:sp>
      <p:sp>
        <p:nvSpPr>
          <p:cNvPr id="15" name="Text 13"/>
          <p:cNvSpPr/>
          <p:nvPr/>
        </p:nvSpPr>
        <p:spPr>
          <a:xfrm>
            <a:off x="2697480" y="3108960"/>
            <a:ext cx="1737360" cy="1371600"/>
          </a:xfrm>
          <a:prstGeom prst="rect">
            <a:avLst/>
          </a:prstGeom>
          <a:noFill/>
          <a:ln/>
        </p:spPr>
        <p:txBody>
          <a:bodyPr wrap="square" rtlCol="0" anchor="ctr"/>
          <a:lstStyle/>
          <a:p>
            <a:pPr algn="ctr" indent="0" marL="0">
              <a:buNone/>
            </a:pPr>
            <a:r>
              <a:rPr lang="en-US" sz="1300" b="1" dirty="0">
                <a:solidFill>
                  <a:srgbClr val="FFFFFF"/>
                </a:solidFill>
              </a:rPr>
              <a:t>Ceiling
Height
</a:t>
            </a:r>
            <a:endParaRPr lang="en-US" sz="1300" dirty="0"/>
          </a:p>
          <a:p>
            <a:pPr algn="ctr" indent="0" marL="0">
              <a:buNone/>
            </a:pPr>
            <a:r>
              <a:rPr lang="en-US" sz="1100" dirty="0">
                <a:solidFill>
                  <a:srgbClr val="D0D0D0"/>
                </a:solidFill>
              </a:rPr>
              <a:t>Optimum: 3.0–3.5m</a:t>
            </a:r>
            <a:endParaRPr lang="en-US" sz="1300" dirty="0"/>
          </a:p>
        </p:txBody>
      </p:sp>
      <p:sp>
        <p:nvSpPr>
          <p:cNvPr id="16" name="Shape 14"/>
          <p:cNvSpPr/>
          <p:nvPr/>
        </p:nvSpPr>
        <p:spPr>
          <a:xfrm>
            <a:off x="4754880" y="2926080"/>
            <a:ext cx="1920240" cy="173736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17" name="Text 15"/>
          <p:cNvSpPr/>
          <p:nvPr/>
        </p:nvSpPr>
        <p:spPr>
          <a:xfrm>
            <a:off x="4846320" y="3108960"/>
            <a:ext cx="1737360" cy="1371600"/>
          </a:xfrm>
          <a:prstGeom prst="rect">
            <a:avLst/>
          </a:prstGeom>
          <a:noFill/>
          <a:ln/>
        </p:spPr>
        <p:txBody>
          <a:bodyPr wrap="square" rtlCol="0" anchor="ctr"/>
          <a:lstStyle/>
          <a:p>
            <a:pPr algn="ctr" indent="0" marL="0">
              <a:buNone/>
            </a:pPr>
            <a:r>
              <a:rPr lang="en-US" sz="1300" b="1" dirty="0">
                <a:solidFill>
                  <a:srgbClr val="FFFFFF"/>
                </a:solidFill>
              </a:rPr>
              <a:t>Light
Level
</a:t>
            </a:r>
            <a:endParaRPr lang="en-US" sz="1300" dirty="0"/>
          </a:p>
          <a:p>
            <a:pPr algn="ctr" indent="0" marL="0">
              <a:buNone/>
            </a:pPr>
            <a:r>
              <a:rPr lang="en-US" sz="1100" dirty="0">
                <a:solidFill>
                  <a:srgbClr val="D0D0D0"/>
                </a:solidFill>
              </a:rPr>
              <a:t>Optimum: 500–1000 lux</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Shape 1"/>
          <p:cNvSpPr/>
          <p:nvPr/>
        </p:nvSpPr>
        <p:spPr>
          <a:xfrm>
            <a:off x="457200" y="182880"/>
            <a:ext cx="502920" cy="365760"/>
          </a:xfrm>
          <a:prstGeom prst="rect">
            <a:avLst/>
          </a:prstGeom>
          <a:solidFill>
            <a:srgbClr val="2E7D32"/>
          </a:solidFill>
          <a:ln/>
        </p:spPr>
      </p:sp>
      <p:sp>
        <p:nvSpPr>
          <p:cNvPr id="4" name="Text 2"/>
          <p:cNvSpPr/>
          <p:nvPr/>
        </p:nvSpPr>
        <p:spPr>
          <a:xfrm>
            <a:off x="457200" y="182880"/>
            <a:ext cx="502920" cy="365760"/>
          </a:xfrm>
          <a:prstGeom prst="rect">
            <a:avLst/>
          </a:prstGeom>
          <a:noFill/>
          <a:ln/>
        </p:spPr>
        <p:txBody>
          <a:bodyPr wrap="square" lIns="0" tIns="0" rIns="0" bIns="0"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097280" y="137160"/>
            <a:ext cx="7589520" cy="457200"/>
          </a:xfrm>
          <a:prstGeom prst="rect">
            <a:avLst/>
          </a:prstGeom>
          <a:noFill/>
          <a:ln/>
        </p:spPr>
        <p:txBody>
          <a:bodyPr wrap="square" lIns="0" tIns="0" rIns="0" bIns="0" rtlCol="0" anchor="ctr"/>
          <a:lstStyle/>
          <a:p>
            <a:pPr algn="l" indent="0" marL="0">
              <a:buNone/>
            </a:pPr>
            <a:r>
              <a:rPr lang="en-US" sz="2200" b="1" dirty="0">
                <a:solidFill>
                  <a:srgbClr val="0F1B2D"/>
                </a:solidFill>
                <a:latin typeface="Georgia" pitchFamily="34" charset="0"/>
                <a:ea typeface="Georgia" pitchFamily="34" charset="-122"/>
                <a:cs typeface="Georgia" pitchFamily="34" charset="-120"/>
              </a:rPr>
              <a:t>Dokk1, Aarhus: One Building, Multiple Activity Spaces</a:t>
            </a:r>
            <a:endParaRPr lang="en-US" sz="2200" dirty="0"/>
          </a:p>
        </p:txBody>
      </p:sp>
      <p:pic>
        <p:nvPicPr>
          <p:cNvPr id="6" name="Image 0" descr="/home/claude/dokk1_atrium.jpeg"/>
          <p:cNvPicPr>
            <a:picLocks noChangeAspect="1"/>
          </p:cNvPicPr>
          <p:nvPr/>
        </p:nvPicPr>
        <p:blipFill>
          <a:blip r:embed="rId1"/>
          <a:srcRect l="0" r="0" t="0" b="0"/>
          <a:stretch/>
        </p:blipFill>
        <p:spPr>
          <a:xfrm>
            <a:off x="502920" y="731520"/>
            <a:ext cx="2514600" cy="1417320"/>
          </a:xfrm>
          <a:prstGeom prst="rect">
            <a:avLst/>
          </a:prstGeom>
        </p:spPr>
      </p:pic>
      <p:sp>
        <p:nvSpPr>
          <p:cNvPr id="7" name="Shape 4"/>
          <p:cNvSpPr/>
          <p:nvPr/>
        </p:nvSpPr>
        <p:spPr>
          <a:xfrm>
            <a:off x="502920" y="1856232"/>
            <a:ext cx="2514600" cy="292608"/>
          </a:xfrm>
          <a:prstGeom prst="rect">
            <a:avLst/>
          </a:prstGeom>
          <a:solidFill>
            <a:srgbClr val="1B4F72">
              <a:alpha val="85000"/>
            </a:srgbClr>
          </a:solidFill>
          <a:ln/>
        </p:spPr>
      </p:sp>
      <p:sp>
        <p:nvSpPr>
          <p:cNvPr id="8" name="Text 5"/>
          <p:cNvSpPr/>
          <p:nvPr/>
        </p:nvSpPr>
        <p:spPr>
          <a:xfrm>
            <a:off x="502920" y="1856232"/>
            <a:ext cx="251460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Maker Space + Stepped Seating</a:t>
            </a:r>
            <a:endParaRPr lang="en-US" sz="900" dirty="0"/>
          </a:p>
        </p:txBody>
      </p:sp>
      <p:sp>
        <p:nvSpPr>
          <p:cNvPr id="9" name="Shape 6"/>
          <p:cNvSpPr/>
          <p:nvPr/>
        </p:nvSpPr>
        <p:spPr>
          <a:xfrm>
            <a:off x="502920" y="2240280"/>
            <a:ext cx="2514600" cy="1417320"/>
          </a:xfrm>
          <a:prstGeom prst="rect">
            <a:avLst/>
          </a:prstGeom>
          <a:solidFill>
            <a:srgbClr val="F8F9FA"/>
          </a:solidFill>
          <a:ln w="6350">
            <a:solidFill>
              <a:srgbClr val="E2E8F0"/>
            </a:solidFill>
            <a:prstDash val="solid"/>
          </a:ln>
        </p:spPr>
      </p:sp>
      <p:sp>
        <p:nvSpPr>
          <p:cNvPr id="10" name="Shape 7"/>
          <p:cNvSpPr/>
          <p:nvPr/>
        </p:nvSpPr>
        <p:spPr>
          <a:xfrm>
            <a:off x="502920" y="2240280"/>
            <a:ext cx="36576" cy="1417320"/>
          </a:xfrm>
          <a:prstGeom prst="rect">
            <a:avLst/>
          </a:prstGeom>
          <a:solidFill>
            <a:srgbClr val="1B4F72"/>
          </a:solidFill>
          <a:ln/>
        </p:spPr>
      </p:sp>
      <p:sp>
        <p:nvSpPr>
          <p:cNvPr id="11" name="Text 8"/>
          <p:cNvSpPr/>
          <p:nvPr/>
        </p:nvSpPr>
        <p:spPr>
          <a:xfrm>
            <a:off x="612648" y="2295144"/>
            <a:ext cx="2331720" cy="1307592"/>
          </a:xfrm>
          <a:prstGeom prst="rect">
            <a:avLst/>
          </a:prstGeom>
          <a:noFill/>
          <a:ln/>
        </p:spPr>
        <p:txBody>
          <a:bodyPr wrap="square" lIns="0" tIns="0" rIns="0" bIns="0" rtlCol="0" anchor="t"/>
          <a:lstStyle/>
          <a:p>
            <a:pPr indent="0" marL="0">
              <a:lnSpc>
                <a:spcPct val="110000"/>
              </a:lnSpc>
              <a:buNone/>
            </a:pPr>
            <a:r>
              <a:rPr lang="en-US" sz="850" b="1" dirty="0">
                <a:solidFill>
                  <a:srgbClr val="1B4F72"/>
                </a:solidFill>
                <a:latin typeface="Calibri" pitchFamily="34" charset="0"/>
                <a:ea typeface="Calibri" pitchFamily="34" charset="-122"/>
                <a:cs typeface="Calibri" pitchFamily="34" charset="-120"/>
              </a:rPr>
              <a:t xml:space="preserve">Activity: </a:t>
            </a:r>
            <a:pPr indent="0" marL="0">
              <a:lnSpc>
                <a:spcPct val="110000"/>
              </a:lnSpc>
              <a:buNone/>
            </a:pPr>
            <a:r>
              <a:rPr lang="en-US" sz="850" dirty="0">
                <a:solidFill>
                  <a:srgbClr val="333333"/>
                </a:solidFill>
                <a:latin typeface="Calibri" pitchFamily="34" charset="0"/>
                <a:ea typeface="Calibri" pitchFamily="34" charset="-122"/>
                <a:cs typeface="Calibri" pitchFamily="34" charset="-120"/>
              </a:rPr>
              <a:t>Collaborative learning, maker workshops, group projects</a:t>
            </a:r>
            <a:endParaRPr lang="en-US" sz="850" dirty="0"/>
          </a:p>
          <a:p>
            <a:pPr indent="0" marL="0">
              <a:lnSpc>
                <a:spcPct val="110000"/>
              </a:lnSpc>
              <a:buNone/>
            </a:pPr>
            <a:endParaRPr lang="en-US" sz="850" dirty="0"/>
          </a:p>
          <a:p>
            <a:pPr indent="0" marL="0">
              <a:lnSpc>
                <a:spcPct val="110000"/>
              </a:lnSpc>
              <a:buNone/>
            </a:pPr>
            <a:r>
              <a:rPr lang="en-US" sz="800" dirty="0">
                <a:solidFill>
                  <a:srgbClr val="555555"/>
                </a:solidFill>
                <a:latin typeface="Calibri" pitchFamily="34" charset="0"/>
                <a:ea typeface="Calibri" pitchFamily="34" charset="-122"/>
                <a:cs typeface="Calibri" pitchFamily="34" charset="-120"/>
              </a:rPr>
              <a:t>High visual complexity (D ≈ 1.4–1.6). Moderate acoustic (~55 dB ambient). 4m+ ceilings prime abstract/divergent thinking. Glass-enclosed quiet study visible above = prospect-refuge gradient.</a:t>
            </a:r>
            <a:endParaRPr lang="en-US" sz="850" dirty="0"/>
          </a:p>
          <a:p>
            <a:pPr indent="0" marL="0">
              <a:lnSpc>
                <a:spcPct val="110000"/>
              </a:lnSpc>
              <a:buNone/>
            </a:pPr>
            <a:endParaRPr lang="en-US" sz="850" dirty="0"/>
          </a:p>
          <a:p>
            <a:pPr indent="0" marL="0">
              <a:lnSpc>
                <a:spcPct val="110000"/>
              </a:lnSpc>
              <a:buNone/>
            </a:pPr>
            <a:r>
              <a:rPr lang="en-US" sz="850" b="1" i="1" dirty="0">
                <a:solidFill>
                  <a:srgbClr val="1B4F72"/>
                </a:solidFill>
                <a:latin typeface="Calibri" pitchFamily="34" charset="0"/>
                <a:ea typeface="Calibri" pitchFamily="34" charset="-122"/>
                <a:cs typeface="Calibri" pitchFamily="34" charset="-120"/>
              </a:rPr>
              <a:t>OPTIMAL for collaborative creation</a:t>
            </a:r>
            <a:endParaRPr lang="en-US" sz="850" dirty="0"/>
          </a:p>
        </p:txBody>
      </p:sp>
      <p:pic>
        <p:nvPicPr>
          <p:cNvPr id="12" name="Image 1" descr="/home/claude/dokk1_games.jpeg"/>
          <p:cNvPicPr>
            <a:picLocks noChangeAspect="1"/>
          </p:cNvPicPr>
          <p:nvPr/>
        </p:nvPicPr>
        <p:blipFill>
          <a:blip r:embed="rId2"/>
          <a:srcRect l="0" r="0" t="0" b="0"/>
          <a:stretch/>
        </p:blipFill>
        <p:spPr>
          <a:xfrm>
            <a:off x="3200400" y="731520"/>
            <a:ext cx="2514600" cy="1417320"/>
          </a:xfrm>
          <a:prstGeom prst="rect">
            <a:avLst/>
          </a:prstGeom>
        </p:spPr>
      </p:pic>
      <p:sp>
        <p:nvSpPr>
          <p:cNvPr id="13" name="Shape 9"/>
          <p:cNvSpPr/>
          <p:nvPr/>
        </p:nvSpPr>
        <p:spPr>
          <a:xfrm>
            <a:off x="3200400" y="1856232"/>
            <a:ext cx="2514600" cy="292608"/>
          </a:xfrm>
          <a:prstGeom prst="rect">
            <a:avLst/>
          </a:prstGeom>
          <a:solidFill>
            <a:srgbClr val="6B4226">
              <a:alpha val="85000"/>
            </a:srgbClr>
          </a:solidFill>
          <a:ln/>
        </p:spPr>
      </p:sp>
      <p:sp>
        <p:nvSpPr>
          <p:cNvPr id="14" name="Text 10"/>
          <p:cNvSpPr/>
          <p:nvPr/>
        </p:nvSpPr>
        <p:spPr>
          <a:xfrm>
            <a:off x="3200400" y="1856232"/>
            <a:ext cx="251460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Social Game Zone</a:t>
            </a:r>
            <a:endParaRPr lang="en-US" sz="900" dirty="0"/>
          </a:p>
        </p:txBody>
      </p:sp>
      <p:sp>
        <p:nvSpPr>
          <p:cNvPr id="15" name="Shape 11"/>
          <p:cNvSpPr/>
          <p:nvPr/>
        </p:nvSpPr>
        <p:spPr>
          <a:xfrm>
            <a:off x="3200400" y="2240280"/>
            <a:ext cx="2514600" cy="1417320"/>
          </a:xfrm>
          <a:prstGeom prst="rect">
            <a:avLst/>
          </a:prstGeom>
          <a:solidFill>
            <a:srgbClr val="F8F9FA"/>
          </a:solidFill>
          <a:ln w="6350">
            <a:solidFill>
              <a:srgbClr val="E2E8F0"/>
            </a:solidFill>
            <a:prstDash val="solid"/>
          </a:ln>
        </p:spPr>
      </p:sp>
      <p:sp>
        <p:nvSpPr>
          <p:cNvPr id="16" name="Shape 12"/>
          <p:cNvSpPr/>
          <p:nvPr/>
        </p:nvSpPr>
        <p:spPr>
          <a:xfrm>
            <a:off x="3200400" y="2240280"/>
            <a:ext cx="36576" cy="1417320"/>
          </a:xfrm>
          <a:prstGeom prst="rect">
            <a:avLst/>
          </a:prstGeom>
          <a:solidFill>
            <a:srgbClr val="6B4226"/>
          </a:solidFill>
          <a:ln/>
        </p:spPr>
      </p:sp>
      <p:sp>
        <p:nvSpPr>
          <p:cNvPr id="17" name="Text 13"/>
          <p:cNvSpPr/>
          <p:nvPr/>
        </p:nvSpPr>
        <p:spPr>
          <a:xfrm>
            <a:off x="3310128" y="2295144"/>
            <a:ext cx="2331720" cy="1307592"/>
          </a:xfrm>
          <a:prstGeom prst="rect">
            <a:avLst/>
          </a:prstGeom>
          <a:noFill/>
          <a:ln/>
        </p:spPr>
        <p:txBody>
          <a:bodyPr wrap="square" lIns="0" tIns="0" rIns="0" bIns="0" rtlCol="0" anchor="t"/>
          <a:lstStyle/>
          <a:p>
            <a:pPr indent="0" marL="0">
              <a:lnSpc>
                <a:spcPct val="110000"/>
              </a:lnSpc>
              <a:buNone/>
            </a:pPr>
            <a:r>
              <a:rPr lang="en-US" sz="850" b="1" dirty="0">
                <a:solidFill>
                  <a:srgbClr val="6B4226"/>
                </a:solidFill>
                <a:latin typeface="Calibri" pitchFamily="34" charset="0"/>
                <a:ea typeface="Calibri" pitchFamily="34" charset="-122"/>
                <a:cs typeface="Calibri" pitchFamily="34" charset="-120"/>
              </a:rPr>
              <a:t xml:space="preserve">Activity: </a:t>
            </a:r>
            <a:pPr indent="0" marL="0">
              <a:lnSpc>
                <a:spcPct val="110000"/>
              </a:lnSpc>
              <a:buNone/>
            </a:pPr>
            <a:r>
              <a:rPr lang="en-US" sz="850" dirty="0">
                <a:solidFill>
                  <a:srgbClr val="333333"/>
                </a:solidFill>
                <a:latin typeface="Calibri" pitchFamily="34" charset="0"/>
                <a:ea typeface="Calibri" pitchFamily="34" charset="-122"/>
                <a:cs typeface="Calibri" pitchFamily="34" charset="-120"/>
              </a:rPr>
              <a:t>Board games, casual laptop work, social encounter</a:t>
            </a:r>
            <a:endParaRPr lang="en-US" sz="850" dirty="0"/>
          </a:p>
          <a:p>
            <a:pPr indent="0" marL="0">
              <a:lnSpc>
                <a:spcPct val="110000"/>
              </a:lnSpc>
              <a:buNone/>
            </a:pPr>
            <a:endParaRPr lang="en-US" sz="850" dirty="0"/>
          </a:p>
          <a:p>
            <a:pPr indent="0" marL="0">
              <a:lnSpc>
                <a:spcPct val="110000"/>
              </a:lnSpc>
              <a:buNone/>
            </a:pPr>
            <a:r>
              <a:rPr lang="en-US" sz="800" dirty="0">
                <a:solidFill>
                  <a:srgbClr val="555555"/>
                </a:solidFill>
                <a:latin typeface="Calibri" pitchFamily="34" charset="0"/>
                <a:ea typeface="Calibri" pitchFamily="34" charset="-122"/>
                <a:cs typeface="Calibri" pitchFamily="34" charset="-120"/>
              </a:rPr>
              <a:t>Moderate-high complexity (games, giant chess, varied seating). Higher acoustic (~60–65 dB conversation). Open sightlines. Visual richness from game materials sustains engagement without overwhelming.</a:t>
            </a:r>
            <a:endParaRPr lang="en-US" sz="850" dirty="0"/>
          </a:p>
          <a:p>
            <a:pPr indent="0" marL="0">
              <a:lnSpc>
                <a:spcPct val="110000"/>
              </a:lnSpc>
              <a:buNone/>
            </a:pPr>
            <a:endParaRPr lang="en-US" sz="850" dirty="0"/>
          </a:p>
          <a:p>
            <a:pPr indent="0" marL="0">
              <a:lnSpc>
                <a:spcPct val="110000"/>
              </a:lnSpc>
              <a:buNone/>
            </a:pPr>
            <a:r>
              <a:rPr lang="en-US" sz="850" b="1" i="1" dirty="0">
                <a:solidFill>
                  <a:srgbClr val="6B4226"/>
                </a:solidFill>
                <a:latin typeface="Calibri" pitchFamily="34" charset="0"/>
                <a:ea typeface="Calibri" pitchFamily="34" charset="-122"/>
                <a:cs typeface="Calibri" pitchFamily="34" charset="-120"/>
              </a:rPr>
              <a:t>OPTIMAL for social play</a:t>
            </a:r>
            <a:endParaRPr lang="en-US" sz="850" dirty="0"/>
          </a:p>
        </p:txBody>
      </p:sp>
      <p:pic>
        <p:nvPicPr>
          <p:cNvPr id="18" name="Image 2" descr="/home/claude/dokk1_children.jpeg"/>
          <p:cNvPicPr>
            <a:picLocks noChangeAspect="1"/>
          </p:cNvPicPr>
          <p:nvPr/>
        </p:nvPicPr>
        <p:blipFill>
          <a:blip r:embed="rId3"/>
          <a:srcRect l="0" r="0" t="0" b="0"/>
          <a:stretch/>
        </p:blipFill>
        <p:spPr>
          <a:xfrm>
            <a:off x="5897880" y="731520"/>
            <a:ext cx="2514600" cy="1417320"/>
          </a:xfrm>
          <a:prstGeom prst="rect">
            <a:avLst/>
          </a:prstGeom>
        </p:spPr>
      </p:pic>
      <p:sp>
        <p:nvSpPr>
          <p:cNvPr id="19" name="Shape 14"/>
          <p:cNvSpPr/>
          <p:nvPr/>
        </p:nvSpPr>
        <p:spPr>
          <a:xfrm>
            <a:off x="5897880" y="1856232"/>
            <a:ext cx="2514600" cy="292608"/>
          </a:xfrm>
          <a:prstGeom prst="rect">
            <a:avLst/>
          </a:prstGeom>
          <a:solidFill>
            <a:srgbClr val="2E7D32">
              <a:alpha val="85000"/>
            </a:srgbClr>
          </a:solidFill>
          <a:ln/>
        </p:spPr>
      </p:sp>
      <p:sp>
        <p:nvSpPr>
          <p:cNvPr id="20" name="Text 15"/>
          <p:cNvSpPr/>
          <p:nvPr/>
        </p:nvSpPr>
        <p:spPr>
          <a:xfrm>
            <a:off x="5897880" y="1856232"/>
            <a:ext cx="251460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Children’s / Family Zone</a:t>
            </a:r>
            <a:endParaRPr lang="en-US" sz="900" dirty="0"/>
          </a:p>
        </p:txBody>
      </p:sp>
      <p:sp>
        <p:nvSpPr>
          <p:cNvPr id="21" name="Shape 16"/>
          <p:cNvSpPr/>
          <p:nvPr/>
        </p:nvSpPr>
        <p:spPr>
          <a:xfrm>
            <a:off x="5897880" y="2240280"/>
            <a:ext cx="2514600" cy="1417320"/>
          </a:xfrm>
          <a:prstGeom prst="rect">
            <a:avLst/>
          </a:prstGeom>
          <a:solidFill>
            <a:srgbClr val="F8F9FA"/>
          </a:solidFill>
          <a:ln w="6350">
            <a:solidFill>
              <a:srgbClr val="E2E8F0"/>
            </a:solidFill>
            <a:prstDash val="solid"/>
          </a:ln>
        </p:spPr>
      </p:sp>
      <p:sp>
        <p:nvSpPr>
          <p:cNvPr id="22" name="Shape 17"/>
          <p:cNvSpPr/>
          <p:nvPr/>
        </p:nvSpPr>
        <p:spPr>
          <a:xfrm>
            <a:off x="5897880" y="2240280"/>
            <a:ext cx="36576" cy="1417320"/>
          </a:xfrm>
          <a:prstGeom prst="rect">
            <a:avLst/>
          </a:prstGeom>
          <a:solidFill>
            <a:srgbClr val="2E7D32"/>
          </a:solidFill>
          <a:ln/>
        </p:spPr>
      </p:sp>
      <p:sp>
        <p:nvSpPr>
          <p:cNvPr id="23" name="Text 18"/>
          <p:cNvSpPr/>
          <p:nvPr/>
        </p:nvSpPr>
        <p:spPr>
          <a:xfrm>
            <a:off x="6007608" y="2295144"/>
            <a:ext cx="2331720" cy="1307592"/>
          </a:xfrm>
          <a:prstGeom prst="rect">
            <a:avLst/>
          </a:prstGeom>
          <a:noFill/>
          <a:ln/>
        </p:spPr>
        <p:txBody>
          <a:bodyPr wrap="square" lIns="0" tIns="0" rIns="0" bIns="0" rtlCol="0" anchor="t"/>
          <a:lstStyle/>
          <a:p>
            <a:pPr indent="0" marL="0">
              <a:lnSpc>
                <a:spcPct val="110000"/>
              </a:lnSpc>
              <a:buNone/>
            </a:pPr>
            <a:r>
              <a:rPr lang="en-US" sz="850" b="1" dirty="0">
                <a:solidFill>
                  <a:srgbClr val="2E7D32"/>
                </a:solidFill>
                <a:latin typeface="Calibri" pitchFamily="34" charset="0"/>
                <a:ea typeface="Calibri" pitchFamily="34" charset="-122"/>
                <a:cs typeface="Calibri" pitchFamily="34" charset="-120"/>
              </a:rPr>
              <a:t xml:space="preserve">Activity: </a:t>
            </a:r>
            <a:pPr indent="0" marL="0">
              <a:lnSpc>
                <a:spcPct val="110000"/>
              </a:lnSpc>
              <a:buNone/>
            </a:pPr>
            <a:r>
              <a:rPr lang="en-US" sz="850" dirty="0">
                <a:solidFill>
                  <a:srgbClr val="333333"/>
                </a:solidFill>
                <a:latin typeface="Calibri" pitchFamily="34" charset="0"/>
                <a:ea typeface="Calibri" pitchFamily="34" charset="-122"/>
                <a:cs typeface="Calibri" pitchFamily="34" charset="-120"/>
              </a:rPr>
              <a:t>Free play, family browsing, sensory exploration</a:t>
            </a:r>
            <a:endParaRPr lang="en-US" sz="850" dirty="0"/>
          </a:p>
          <a:p>
            <a:pPr indent="0" marL="0">
              <a:lnSpc>
                <a:spcPct val="110000"/>
              </a:lnSpc>
              <a:buNone/>
            </a:pPr>
            <a:endParaRPr lang="en-US" sz="850" dirty="0"/>
          </a:p>
          <a:p>
            <a:pPr indent="0" marL="0">
              <a:lnSpc>
                <a:spcPct val="110000"/>
              </a:lnSpc>
              <a:buNone/>
            </a:pPr>
            <a:r>
              <a:rPr lang="en-US" sz="800" dirty="0">
                <a:solidFill>
                  <a:srgbClr val="555555"/>
                </a:solidFill>
                <a:latin typeface="Calibri" pitchFamily="34" charset="0"/>
                <a:ea typeface="Calibri" pitchFamily="34" charset="-122"/>
                <a:cs typeface="Calibri" pitchFamily="34" charset="-120"/>
              </a:rPr>
              <a:t>High visual variety (soft sculptures, wooden steps, color). Permissive acoustics (children’s noise tolerated). Floor-to-ceiling harbor views. Soft seating invites bodily exploration.</a:t>
            </a:r>
            <a:endParaRPr lang="en-US" sz="850" dirty="0"/>
          </a:p>
          <a:p>
            <a:pPr indent="0" marL="0">
              <a:lnSpc>
                <a:spcPct val="110000"/>
              </a:lnSpc>
              <a:buNone/>
            </a:pPr>
            <a:endParaRPr lang="en-US" sz="850" dirty="0"/>
          </a:p>
          <a:p>
            <a:pPr indent="0" marL="0">
              <a:lnSpc>
                <a:spcPct val="110000"/>
              </a:lnSpc>
              <a:buNone/>
            </a:pPr>
            <a:r>
              <a:rPr lang="en-US" sz="850" b="1" i="1" dirty="0">
                <a:solidFill>
                  <a:srgbClr val="2E7D32"/>
                </a:solidFill>
                <a:latin typeface="Calibri" pitchFamily="34" charset="0"/>
                <a:ea typeface="Calibri" pitchFamily="34" charset="-122"/>
                <a:cs typeface="Calibri" pitchFamily="34" charset="-120"/>
              </a:rPr>
              <a:t>OPTIMAL for exploratory play</a:t>
            </a:r>
            <a:endParaRPr lang="en-US" sz="850" dirty="0"/>
          </a:p>
        </p:txBody>
      </p:sp>
      <p:sp>
        <p:nvSpPr>
          <p:cNvPr id="24" name="Shape 19"/>
          <p:cNvSpPr/>
          <p:nvPr/>
        </p:nvSpPr>
        <p:spPr>
          <a:xfrm>
            <a:off x="502920" y="3794760"/>
            <a:ext cx="36576" cy="1143000"/>
          </a:xfrm>
          <a:prstGeom prst="rect">
            <a:avLst/>
          </a:prstGeom>
          <a:solidFill>
            <a:srgbClr val="C47D2B"/>
          </a:solidFill>
          <a:ln/>
        </p:spPr>
      </p:sp>
      <p:sp>
        <p:nvSpPr>
          <p:cNvPr id="25" name="Shape 20"/>
          <p:cNvSpPr/>
          <p:nvPr/>
        </p:nvSpPr>
        <p:spPr>
          <a:xfrm>
            <a:off x="502920" y="3794760"/>
            <a:ext cx="8138160" cy="1143000"/>
          </a:xfrm>
          <a:prstGeom prst="rect">
            <a:avLst/>
          </a:prstGeom>
          <a:solidFill>
            <a:srgbClr val="FFF8F0"/>
          </a:solidFill>
          <a:ln w="6350">
            <a:solidFill>
              <a:srgbClr val="E8D5C0"/>
            </a:solidFill>
            <a:prstDash val="solid"/>
          </a:ln>
        </p:spPr>
      </p:sp>
      <p:sp>
        <p:nvSpPr>
          <p:cNvPr id="26" name="Text 21"/>
          <p:cNvSpPr/>
          <p:nvPr/>
        </p:nvSpPr>
        <p:spPr>
          <a:xfrm>
            <a:off x="658368" y="3849624"/>
            <a:ext cx="7863840" cy="1051560"/>
          </a:xfrm>
          <a:prstGeom prst="rect">
            <a:avLst/>
          </a:prstGeom>
          <a:noFill/>
          <a:ln/>
        </p:spPr>
        <p:txBody>
          <a:bodyPr wrap="square" lIns="0" tIns="0" rIns="0" bIns="0" rtlCol="0" anchor="t"/>
          <a:lstStyle/>
          <a:p>
            <a:pPr indent="0" marL="0">
              <a:lnSpc>
                <a:spcPct val="115000"/>
              </a:lnSpc>
              <a:buNone/>
            </a:pPr>
            <a:r>
              <a:rPr lang="en-US" sz="950" b="1" dirty="0">
                <a:solidFill>
                  <a:srgbClr val="8B4513"/>
                </a:solidFill>
                <a:latin typeface="Calibri" pitchFamily="34" charset="0"/>
                <a:ea typeface="Calibri" pitchFamily="34" charset="-122"/>
                <a:cs typeface="Calibri" pitchFamily="34" charset="-120"/>
              </a:rPr>
              <a:t xml:space="preserve">When the activity doesn’t match the room’s designed activity space: </a:t>
            </a:r>
            <a:pPr indent="0" marL="0">
              <a:lnSpc>
                <a:spcPct val="115000"/>
              </a:lnSpc>
              <a:buNone/>
            </a:pPr>
            <a:r>
              <a:rPr lang="en-US" sz="900" dirty="0">
                <a:solidFill>
                  <a:srgbClr val="444444"/>
                </a:solidFill>
                <a:latin typeface="Calibri" pitchFamily="34" charset="0"/>
                <a:ea typeface="Calibri" pitchFamily="34" charset="-122"/>
                <a:cs typeface="Calibri" pitchFamily="34" charset="-120"/>
              </a:rPr>
              <a:t xml:space="preserve">Each zone above is a cognitive niche tuned to specific activities (Kirsh, 2026). Try to do focused code review in the Game Zone and the acoustic PE that sustains social play now causes phasic LC interruptions every 30 seconds — your epistemic bubble cannot filter out task-irrelevant speech. Try to brainstorm in a quiet reading room designed for solitary study and the very silence that supports deep focus now starves the associative search of the moderate noise it needs. </a:t>
            </a:r>
            <a:endParaRPr lang="en-US" sz="950" dirty="0"/>
          </a:p>
          <a:p>
            <a:pPr indent="0" marL="0">
              <a:lnSpc>
                <a:spcPct val="115000"/>
              </a:lnSpc>
              <a:buNone/>
            </a:pPr>
            <a:r>
              <a:rPr lang="en-US" sz="900" b="1" dirty="0">
                <a:solidFill>
                  <a:srgbClr val="8B4513"/>
                </a:solidFill>
                <a:latin typeface="Calibri" pitchFamily="34" charset="0"/>
                <a:ea typeface="Calibri" pitchFamily="34" charset="-122"/>
                <a:cs typeface="Calibri" pitchFamily="34" charset="-120"/>
              </a:rPr>
              <a:t xml:space="preserve">The cost is measurable: </a:t>
            </a:r>
            <a:pPr indent="0" marL="0">
              <a:lnSpc>
                <a:spcPct val="115000"/>
              </a:lnSpc>
              <a:buNone/>
            </a:pPr>
            <a:r>
              <a:rPr lang="en-US" sz="900" dirty="0">
                <a:solidFill>
                  <a:srgbClr val="444444"/>
                </a:solidFill>
                <a:latin typeface="Calibri" pitchFamily="34" charset="0"/>
                <a:ea typeface="Calibri" pitchFamily="34" charset="-122"/>
                <a:cs typeface="Calibri" pitchFamily="34" charset="-120"/>
              </a:rPr>
              <a:t>reduced speed-accuracy (more errors at the same pace), longer interruption recovery, higher cognitive load, and lower satisfaction — precisely the behavioral signatures of reduced cognitive congeniality.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Acoustic Intensity: Creative Tasks Only</a:t>
            </a:r>
            <a:endParaRPr lang="en-US" sz="2400" dirty="0"/>
          </a:p>
        </p:txBody>
      </p:sp>
      <p:graphicFrame>
        <p:nvGraphicFramePr>
          <p:cNvPr id="4" name="Chart 0" descr=""/>
          <p:cNvGraphicFramePr/>
          <p:nvPr/>
        </p:nvGraphicFramePr>
        <p:xfrm>
          <a:off x="457200" y="91440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914400"/>
            <a:ext cx="3017520" cy="146304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6" name="Text 3"/>
          <p:cNvSpPr/>
          <p:nvPr/>
        </p:nvSpPr>
        <p:spPr>
          <a:xfrm>
            <a:off x="5943600" y="1005840"/>
            <a:ext cx="2651760" cy="1280160"/>
          </a:xfrm>
          <a:prstGeom prst="rect">
            <a:avLst/>
          </a:prstGeom>
          <a:noFill/>
          <a:ln/>
        </p:spPr>
        <p:txBody>
          <a:bodyPr wrap="square" rtlCol="0" anchor="ctr"/>
          <a:lstStyle/>
          <a:p>
            <a:pPr indent="0" marL="0">
              <a:buNone/>
            </a:pPr>
            <a:r>
              <a:rPr lang="en-US" sz="1300" b="1" dirty="0">
                <a:solidFill>
                  <a:srgbClr val="1B3A5C"/>
                </a:solidFill>
              </a:rPr>
              <a:t>Mehta et al. (2012)
</a:t>
            </a:r>
            <a:endParaRPr lang="en-US" sz="1300" dirty="0"/>
          </a:p>
          <a:p>
            <a:pPr indent="0" marL="0">
              <a:buNone/>
            </a:pPr>
            <a:r>
              <a:rPr lang="en-US" sz="1100" dirty="0">
                <a:solidFill>
                  <a:srgbClr val="2C2C2C"/>
                </a:solidFill>
              </a:rPr>
              <a:t>Moderate noise mildly defocuses attention → broader associative activation → enhanced creative insight</a:t>
            </a:r>
            <a:endParaRPr lang="en-US" sz="1300" dirty="0"/>
          </a:p>
        </p:txBody>
      </p:sp>
      <p:sp>
        <p:nvSpPr>
          <p:cNvPr id="7" name="Shape 4"/>
          <p:cNvSpPr/>
          <p:nvPr/>
        </p:nvSpPr>
        <p:spPr>
          <a:xfrm>
            <a:off x="5760720" y="2560320"/>
            <a:ext cx="3017520" cy="146304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8" name="Text 5"/>
          <p:cNvSpPr/>
          <p:nvPr/>
        </p:nvSpPr>
        <p:spPr>
          <a:xfrm>
            <a:off x="5943600" y="2651760"/>
            <a:ext cx="2651760" cy="1280160"/>
          </a:xfrm>
          <a:prstGeom prst="rect">
            <a:avLst/>
          </a:prstGeom>
          <a:noFill/>
          <a:ln/>
        </p:spPr>
        <p:txBody>
          <a:bodyPr wrap="square" rtlCol="0" anchor="ctr"/>
          <a:lstStyle/>
          <a:p>
            <a:pPr indent="0" marL="0">
              <a:buNone/>
            </a:pPr>
            <a:r>
              <a:rPr lang="en-US" sz="1300" b="1" dirty="0">
                <a:solidFill>
                  <a:srgbClr val="C05050"/>
                </a:solidFill>
              </a:rPr>
              <a:t>But NOT for focused tasks
</a:t>
            </a:r>
            <a:endParaRPr lang="en-US" sz="1300" dirty="0"/>
          </a:p>
          <a:p>
            <a:pPr indent="0" marL="0">
              <a:buNone/>
            </a:pPr>
            <a:r>
              <a:rPr lang="en-US" sz="1100" dirty="0">
                <a:solidFill>
                  <a:srgbClr val="2C2C2C"/>
                </a:solidFill>
              </a:rPr>
              <a:t>Focused work shows monotonically negative effects of noise (Banbury &amp; Berry, 2005)</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The Coffee Shop Effect: Why Writers Go to Cafés</a:t>
            </a:r>
            <a:endParaRPr lang="en-US" sz="2200" dirty="0"/>
          </a:p>
        </p:txBody>
      </p:sp>
      <p:sp>
        <p:nvSpPr>
          <p:cNvPr id="6" name="Shape 4"/>
          <p:cNvSpPr/>
          <p:nvPr/>
        </p:nvSpPr>
        <p:spPr>
          <a:xfrm>
            <a:off x="365760" y="914400"/>
            <a:ext cx="4023360" cy="384048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7" name="Text 5"/>
          <p:cNvSpPr/>
          <p:nvPr/>
        </p:nvSpPr>
        <p:spPr>
          <a:xfrm>
            <a:off x="548640" y="1005840"/>
            <a:ext cx="3657600" cy="3657600"/>
          </a:xfrm>
          <a:prstGeom prst="rect">
            <a:avLst/>
          </a:prstGeom>
          <a:noFill/>
          <a:ln/>
        </p:spPr>
        <p:txBody>
          <a:bodyPr wrap="square" rtlCol="0" anchor="t"/>
          <a:lstStyle/>
          <a:p>
            <a:pPr indent="0" marL="0">
              <a:buNone/>
            </a:pPr>
            <a:r>
              <a:rPr lang="en-US" sz="1500" b="1" dirty="0">
                <a:solidFill>
                  <a:srgbClr val="4A7C59"/>
                </a:solidFill>
              </a:rPr>
              <a:t>The writer in the café
</a:t>
            </a:r>
            <a:endParaRPr lang="en-US" sz="1500" dirty="0"/>
          </a:p>
          <a:p>
            <a:pPr indent="0" marL="0">
              <a:buNone/>
            </a:pPr>
            <a:r>
              <a:rPr lang="en-US" sz="1200" dirty="0">
                <a:solidFill>
                  <a:srgbClr val="2C2C2C"/>
                </a:solidFill>
              </a:rPr>
              <a:t>Ambient noise at ~65–70 dB: espresso machine, muffled conversation, music.
</a:t>
            </a:r>
            <a:endParaRPr lang="en-US" sz="1500" dirty="0"/>
          </a:p>
          <a:p>
            <a:pPr indent="0" marL="0">
              <a:buNone/>
            </a:pPr>
            <a:r>
              <a:rPr lang="en-US" sz="1100" b="1" dirty="0">
                <a:solidFill>
                  <a:srgbClr val="1B3A5C"/>
                </a:solidFill>
              </a:rPr>
              <a:t xml:space="preserve">Neural mechanism: </a:t>
            </a:r>
            <a:pPr indent="0" marL="0">
              <a:buNone/>
            </a:pPr>
            <a:r>
              <a:rPr lang="en-US" sz="1100" dirty="0">
                <a:solidFill>
                  <a:srgbClr val="2C2C2C"/>
                </a:solidFill>
              </a:rPr>
              <a:t>Unpredictable auditory input sends mild phasic LC-NE bursts that partially disrupt the default mode network’s tendency toward ruminative, narrow processing. This opens a wider associative search space without fully capturing attention.
</a:t>
            </a:r>
            <a:endParaRPr lang="en-US" sz="1500" dirty="0"/>
          </a:p>
          <a:p>
            <a:pPr indent="0" marL="0">
              <a:buNone/>
            </a:pPr>
            <a:r>
              <a:rPr lang="en-US" sz="1100" i="1" dirty="0">
                <a:solidFill>
                  <a:srgbClr val="2C2C2C"/>
                </a:solidFill>
              </a:rPr>
              <a:t>The writer produces more novel ideas than in silence—but the same noise would devastate a coder debugging a complex function.</a:t>
            </a:r>
            <a:endParaRPr lang="en-US" sz="1500" dirty="0"/>
          </a:p>
        </p:txBody>
      </p:sp>
      <p:sp>
        <p:nvSpPr>
          <p:cNvPr id="8" name="Shape 6"/>
          <p:cNvSpPr/>
          <p:nvPr/>
        </p:nvSpPr>
        <p:spPr>
          <a:xfrm>
            <a:off x="4663440" y="914400"/>
            <a:ext cx="4114800" cy="384048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9" name="Text 7"/>
          <p:cNvSpPr/>
          <p:nvPr/>
        </p:nvSpPr>
        <p:spPr>
          <a:xfrm>
            <a:off x="4846320" y="1005840"/>
            <a:ext cx="3749040" cy="3657600"/>
          </a:xfrm>
          <a:prstGeom prst="rect">
            <a:avLst/>
          </a:prstGeom>
          <a:noFill/>
          <a:ln/>
        </p:spPr>
        <p:txBody>
          <a:bodyPr wrap="square" rtlCol="0" anchor="t"/>
          <a:lstStyle/>
          <a:p>
            <a:pPr indent="0" marL="0">
              <a:buNone/>
            </a:pPr>
            <a:r>
              <a:rPr lang="en-US" sz="1500" b="1" dirty="0">
                <a:solidFill>
                  <a:srgbClr val="C05050"/>
                </a:solidFill>
              </a:rPr>
              <a:t>The surgeon in the OR
</a:t>
            </a:r>
            <a:endParaRPr lang="en-US" sz="1500" dirty="0"/>
          </a:p>
          <a:p>
            <a:pPr indent="0" marL="0">
              <a:buNone/>
            </a:pPr>
            <a:r>
              <a:rPr lang="en-US" sz="1200" dirty="0">
                <a:solidFill>
                  <a:srgbClr val="2C2C2C"/>
                </a:solidFill>
              </a:rPr>
              <a:t>Operating rooms: random alarms, team chatter, equipment noise. Studies show surgeon error rates rise 30–66% with background music and speech (Miskovic et al., 2008).
</a:t>
            </a:r>
            <a:endParaRPr lang="en-US" sz="1500" dirty="0"/>
          </a:p>
          <a:p>
            <a:pPr indent="0" marL="0">
              <a:buNone/>
            </a:pPr>
            <a:r>
              <a:rPr lang="en-US" sz="1100" b="1" dirty="0">
                <a:solidFill>
                  <a:srgbClr val="1B3A5C"/>
                </a:solidFill>
              </a:rPr>
              <a:t xml:space="preserve">Neural mechanism: </a:t>
            </a:r>
            <a:pPr indent="0" marL="0">
              <a:buNone/>
            </a:pPr>
            <a:r>
              <a:rPr lang="en-US" sz="1100" dirty="0">
                <a:solidFill>
                  <a:srgbClr val="2C2C2C"/>
                </a:solidFill>
              </a:rPr>
              <a:t>Surgical tasks demand sustained focused attention (tonic LC mode). ANY phasic disruption causes micro-switches to the ventral attention network, costing 0.5–2 seconds of reorientation per burst.
</a:t>
            </a:r>
            <a:endParaRPr lang="en-US" sz="1500" dirty="0"/>
          </a:p>
          <a:p>
            <a:pPr indent="0" marL="0">
              <a:buNone/>
            </a:pPr>
            <a:r>
              <a:rPr lang="en-US" sz="1100" i="1" dirty="0">
                <a:solidFill>
                  <a:srgbClr val="2C2C2C"/>
                </a:solidFill>
              </a:rPr>
              <a:t>Same acoustic intensity, opposite cognitive effect—because the task determines where on the inverted-U you need to be.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Wood Surfaces: Peak at ~45% Coverage</a:t>
            </a:r>
            <a:endParaRPr lang="en-US" sz="2400" dirty="0"/>
          </a:p>
        </p:txBody>
      </p:sp>
      <p:graphicFrame>
        <p:nvGraphicFramePr>
          <p:cNvPr id="4" name="Chart 0" descr=""/>
          <p:cNvGraphicFramePr/>
          <p:nvPr/>
        </p:nvGraphicFramePr>
        <p:xfrm>
          <a:off x="457200" y="91440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914400"/>
            <a:ext cx="3017520" cy="320040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6" name="Text 3"/>
          <p:cNvSpPr/>
          <p:nvPr/>
        </p:nvSpPr>
        <p:spPr>
          <a:xfrm>
            <a:off x="5943600" y="1005840"/>
            <a:ext cx="2651760" cy="3017520"/>
          </a:xfrm>
          <a:prstGeom prst="rect">
            <a:avLst/>
          </a:prstGeom>
          <a:noFill/>
          <a:ln/>
        </p:spPr>
        <p:txBody>
          <a:bodyPr wrap="square" rtlCol="0" anchor="t"/>
          <a:lstStyle/>
          <a:p>
            <a:pPr indent="0" marL="0">
              <a:buNone/>
            </a:pPr>
            <a:r>
              <a:rPr lang="en-US" sz="1300" b="1" dirty="0">
                <a:solidFill>
                  <a:srgbClr val="4A7C59"/>
                </a:solidFill>
              </a:rPr>
              <a:t>Three theories converge:
</a:t>
            </a:r>
            <a:endParaRPr lang="en-US" sz="1300" dirty="0"/>
          </a:p>
          <a:p>
            <a:pPr indent="0" marL="0">
              <a:buNone/>
            </a:pPr>
            <a:r>
              <a:rPr lang="en-US" sz="1100" b="1" dirty="0">
                <a:solidFill>
                  <a:srgbClr val="2C2C2C"/>
                </a:solidFill>
              </a:rPr>
              <a:t>1. Biophilia
</a:t>
            </a:r>
            <a:endParaRPr lang="en-US" sz="1300" dirty="0"/>
          </a:p>
          <a:p>
            <a:pPr indent="0" marL="0">
              <a:buNone/>
            </a:pPr>
            <a:r>
              <a:rPr lang="en-US" sz="1000" dirty="0">
                <a:solidFill>
                  <a:srgbClr val="2C2C2C"/>
                </a:solidFill>
              </a:rPr>
              <a:t>Evolved affiliation with natural materials
</a:t>
            </a:r>
            <a:endParaRPr lang="en-US" sz="1300" dirty="0"/>
          </a:p>
          <a:p>
            <a:pPr indent="0" marL="0">
              <a:buNone/>
            </a:pPr>
            <a:r>
              <a:rPr lang="en-US" sz="1100" b="1" dirty="0">
                <a:solidFill>
                  <a:srgbClr val="2C2C2C"/>
                </a:solidFill>
              </a:rPr>
              <a:t>2. Fractal Fluency
</a:t>
            </a:r>
            <a:endParaRPr lang="en-US" sz="1300" dirty="0"/>
          </a:p>
          <a:p>
            <a:pPr indent="0" marL="0">
              <a:buNone/>
            </a:pPr>
            <a:r>
              <a:rPr lang="en-US" sz="1000" dirty="0">
                <a:solidFill>
                  <a:srgbClr val="2C2C2C"/>
                </a:solidFill>
              </a:rPr>
              <a:t>V1/V2 processing efficiency for 1/f grain
</a:t>
            </a:r>
            <a:endParaRPr lang="en-US" sz="1300" dirty="0"/>
          </a:p>
          <a:p>
            <a:pPr indent="0" marL="0">
              <a:buNone/>
            </a:pPr>
            <a:r>
              <a:rPr lang="en-US" sz="1100" b="1" dirty="0">
                <a:solidFill>
                  <a:srgbClr val="2C2C2C"/>
                </a:solidFill>
              </a:rPr>
              <a:t>3. Predictive Processing
</a:t>
            </a:r>
            <a:endParaRPr lang="en-US" sz="1300" dirty="0"/>
          </a:p>
          <a:p>
            <a:pPr indent="0" marL="0">
              <a:buNone/>
            </a:pPr>
            <a:r>
              <a:rPr lang="en-US" sz="1000" dirty="0">
                <a:solidFill>
                  <a:srgbClr val="2C2C2C"/>
                </a:solidFill>
              </a:rPr>
              <a:t>Low prediction error for natural statistics
</a:t>
            </a:r>
            <a:endParaRPr lang="en-US" sz="1300" dirty="0"/>
          </a:p>
          <a:p>
            <a:pPr indent="0" marL="0">
              <a:buNone/>
            </a:pPr>
            <a:r>
              <a:rPr lang="en-US" sz="900" i="1" dirty="0">
                <a:solidFill>
                  <a:srgbClr val="888888"/>
                </a:solidFill>
              </a:rPr>
              <a:t>&gt;90% wood = monotony + claustrophobia</a:t>
            </a:r>
            <a:endParaRPr lang="en-US" sz="1300" dirty="0"/>
          </a:p>
          <a:p>
            <a:pPr indent="0" marL="0">
              <a:buNone/>
            </a:pPr>
            <a:r>
              <a:rPr lang="en-US" sz="900" i="1" dirty="0">
                <a:solidFill>
                  <a:srgbClr val="888888"/>
                </a:solidFill>
              </a:rPr>
              <a:t>(Nyrud &amp; Bringslimark, 2010)</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Wood: Three Rooms at 15%, 45%, and 90%</a:t>
            </a:r>
            <a:endParaRPr lang="en-US" sz="2200" dirty="0"/>
          </a:p>
        </p:txBody>
      </p:sp>
      <p:sp>
        <p:nvSpPr>
          <p:cNvPr id="6" name="Shape 4"/>
          <p:cNvSpPr/>
          <p:nvPr/>
        </p:nvSpPr>
        <p:spPr>
          <a:xfrm>
            <a:off x="320040" y="914400"/>
            <a:ext cx="269748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320040" y="914400"/>
            <a:ext cx="2697480" cy="548640"/>
          </a:xfrm>
          <a:prstGeom prst="rect">
            <a:avLst/>
          </a:prstGeom>
          <a:solidFill>
            <a:srgbClr val="3B6A9C"/>
          </a:solidFill>
          <a:ln/>
        </p:spPr>
      </p:sp>
      <p:sp>
        <p:nvSpPr>
          <p:cNvPr id="8" name="Text 6"/>
          <p:cNvSpPr/>
          <p:nvPr/>
        </p:nvSpPr>
        <p:spPr>
          <a:xfrm>
            <a:off x="320040" y="914400"/>
            <a:ext cx="2697480" cy="54864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15% Wood: Token Accent</a:t>
            </a:r>
            <a:endParaRPr lang="en-US" sz="1100" dirty="0"/>
          </a:p>
        </p:txBody>
      </p:sp>
      <p:sp>
        <p:nvSpPr>
          <p:cNvPr id="9" name="Text 7"/>
          <p:cNvSpPr/>
          <p:nvPr/>
        </p:nvSpPr>
        <p:spPr>
          <a:xfrm>
            <a:off x="429768" y="1600200"/>
            <a:ext cx="2468880" cy="2926080"/>
          </a:xfrm>
          <a:prstGeom prst="rect">
            <a:avLst/>
          </a:prstGeom>
          <a:noFill/>
          <a:ln/>
        </p:spPr>
        <p:txBody>
          <a:bodyPr wrap="square" rtlCol="0" anchor="ctr"/>
          <a:lstStyle/>
          <a:p>
            <a:pPr indent="0" marL="0">
              <a:buNone/>
            </a:pPr>
            <a:r>
              <a:rPr lang="en-US" sz="1000" dirty="0">
                <a:solidFill>
                  <a:srgbClr val="2C2C2C"/>
                </a:solidFill>
              </a:rPr>
              <a:t>A white-walled office with one</a:t>
            </a:r>
            <a:endParaRPr lang="en-US" sz="1000" dirty="0"/>
          </a:p>
          <a:p>
            <a:pPr indent="0" marL="0">
              <a:buNone/>
            </a:pPr>
            <a:r>
              <a:rPr lang="en-US" sz="1000" dirty="0">
                <a:solidFill>
                  <a:srgbClr val="2C2C2C"/>
                </a:solidFill>
              </a:rPr>
              <a:t>wooden shelf. The wood is</a:t>
            </a:r>
            <a:endParaRPr lang="en-US" sz="1000" dirty="0"/>
          </a:p>
          <a:p>
            <a:pPr indent="0" marL="0">
              <a:buNone/>
            </a:pPr>
            <a:r>
              <a:rPr lang="en-US" sz="1000" dirty="0">
                <a:solidFill>
                  <a:srgbClr val="2C2C2C"/>
                </a:solidFill>
              </a:rPr>
              <a:t>insufficient to register as a</a:t>
            </a:r>
            <a:endParaRPr lang="en-US" sz="1000" dirty="0"/>
          </a:p>
          <a:p>
            <a:pPr indent="0" marL="0">
              <a:buNone/>
            </a:pPr>
            <a:r>
              <a:rPr lang="en-US" sz="1000" dirty="0">
                <a:solidFill>
                  <a:srgbClr val="2C2C2C"/>
                </a:solidFill>
              </a:rPr>
              <a:t>coherent material signal.</a:t>
            </a:r>
            <a:endParaRPr lang="en-US" sz="1000" dirty="0"/>
          </a:p>
          <a:p>
            <a:pPr indent="0" marL="0">
              <a:buNone/>
            </a:pPr>
            <a:endParaRPr lang="en-US" sz="1000" dirty="0"/>
          </a:p>
          <a:p>
            <a:pPr indent="0" marL="0">
              <a:buNone/>
            </a:pPr>
            <a:r>
              <a:rPr lang="en-US" sz="1000" dirty="0">
                <a:solidFill>
                  <a:srgbClr val="2C2C2C"/>
                </a:solidFill>
              </a:rPr>
              <a:t>Fractal grain visible on only 15%</a:t>
            </a:r>
            <a:endParaRPr lang="en-US" sz="1000" dirty="0"/>
          </a:p>
          <a:p>
            <a:pPr indent="0" marL="0">
              <a:buNone/>
            </a:pPr>
            <a:r>
              <a:rPr lang="en-US" sz="1000" dirty="0">
                <a:solidFill>
                  <a:srgbClr val="2C2C2C"/>
                </a:solidFill>
              </a:rPr>
              <a:t>of visual field → too few 1/f</a:t>
            </a:r>
            <a:endParaRPr lang="en-US" sz="1000" dirty="0"/>
          </a:p>
          <a:p>
            <a:pPr indent="0" marL="0">
              <a:buNone/>
            </a:pPr>
            <a:r>
              <a:rPr lang="en-US" sz="1000" dirty="0">
                <a:solidFill>
                  <a:srgbClr val="2C2C2C"/>
                </a:solidFill>
              </a:rPr>
              <a:t>samples for V1/V2 to establish</a:t>
            </a:r>
            <a:endParaRPr lang="en-US" sz="1000" dirty="0"/>
          </a:p>
          <a:p>
            <a:pPr indent="0" marL="0">
              <a:buNone/>
            </a:pPr>
            <a:r>
              <a:rPr lang="en-US" sz="1000" dirty="0">
                <a:solidFill>
                  <a:srgbClr val="2C2C2C"/>
                </a:solidFill>
              </a:rPr>
              <a:t>processing fluency.</a:t>
            </a:r>
            <a:endParaRPr lang="en-US" sz="1000" dirty="0"/>
          </a:p>
          <a:p>
            <a:pPr indent="0" marL="0">
              <a:buNone/>
            </a:pPr>
            <a:endParaRPr lang="en-US" sz="1000" dirty="0"/>
          </a:p>
          <a:p>
            <a:pPr indent="0" marL="0">
              <a:buNone/>
            </a:pPr>
            <a:r>
              <a:rPr lang="en-US" sz="1000" dirty="0">
                <a:solidFill>
                  <a:srgbClr val="2C2C2C"/>
                </a:solidFill>
              </a:rPr>
              <a:t>d ≈ 0.10–0.15 (barely detectable).</a:t>
            </a:r>
            <a:endParaRPr lang="en-US" sz="1000" dirty="0"/>
          </a:p>
        </p:txBody>
      </p:sp>
      <p:sp>
        <p:nvSpPr>
          <p:cNvPr id="10" name="Shape 8"/>
          <p:cNvSpPr/>
          <p:nvPr/>
        </p:nvSpPr>
        <p:spPr>
          <a:xfrm>
            <a:off x="3246120" y="914400"/>
            <a:ext cx="269748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3246120" y="914400"/>
            <a:ext cx="2697480" cy="548640"/>
          </a:xfrm>
          <a:prstGeom prst="rect">
            <a:avLst/>
          </a:prstGeom>
          <a:solidFill>
            <a:srgbClr val="4A7C59"/>
          </a:solidFill>
          <a:ln/>
        </p:spPr>
      </p:sp>
      <p:sp>
        <p:nvSpPr>
          <p:cNvPr id="12" name="Text 10"/>
          <p:cNvSpPr/>
          <p:nvPr/>
        </p:nvSpPr>
        <p:spPr>
          <a:xfrm>
            <a:off x="3246120" y="914400"/>
            <a:ext cx="2697480" cy="54864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45% Wood: The Sweet Spot</a:t>
            </a:r>
            <a:endParaRPr lang="en-US" sz="1100" dirty="0"/>
          </a:p>
        </p:txBody>
      </p:sp>
      <p:sp>
        <p:nvSpPr>
          <p:cNvPr id="13" name="Text 11"/>
          <p:cNvSpPr/>
          <p:nvPr/>
        </p:nvSpPr>
        <p:spPr>
          <a:xfrm>
            <a:off x="3355848" y="1600200"/>
            <a:ext cx="2468880" cy="2926080"/>
          </a:xfrm>
          <a:prstGeom prst="rect">
            <a:avLst/>
          </a:prstGeom>
          <a:noFill/>
          <a:ln/>
        </p:spPr>
        <p:txBody>
          <a:bodyPr wrap="square" rtlCol="0" anchor="ctr"/>
          <a:lstStyle/>
          <a:p>
            <a:pPr indent="0" marL="0">
              <a:buNone/>
            </a:pPr>
            <a:r>
              <a:rPr lang="en-US" sz="1000" dirty="0">
                <a:solidFill>
                  <a:srgbClr val="2C2C2C"/>
                </a:solidFill>
              </a:rPr>
              <a:t>Japanese hinoki room: wooden</a:t>
            </a:r>
            <a:endParaRPr lang="en-US" sz="1000" dirty="0"/>
          </a:p>
          <a:p>
            <a:pPr indent="0" marL="0">
              <a:buNone/>
            </a:pPr>
            <a:r>
              <a:rPr lang="en-US" sz="1000" dirty="0">
                <a:solidFill>
                  <a:srgbClr val="2C2C2C"/>
                </a:solidFill>
              </a:rPr>
              <a:t>floor, one accent wall, ceiling</a:t>
            </a:r>
            <a:endParaRPr lang="en-US" sz="1000" dirty="0"/>
          </a:p>
          <a:p>
            <a:pPr indent="0" marL="0">
              <a:buNone/>
            </a:pPr>
            <a:r>
              <a:rPr lang="en-US" sz="1000" dirty="0">
                <a:solidFill>
                  <a:srgbClr val="2C2C2C"/>
                </a:solidFill>
              </a:rPr>
              <a:t>beams. White plaster counterpoint</a:t>
            </a:r>
            <a:endParaRPr lang="en-US" sz="1000" dirty="0"/>
          </a:p>
          <a:p>
            <a:pPr indent="0" marL="0">
              <a:buNone/>
            </a:pPr>
            <a:r>
              <a:rPr lang="en-US" sz="1000" dirty="0">
                <a:solidFill>
                  <a:srgbClr val="2C2C2C"/>
                </a:solidFill>
              </a:rPr>
              <a:t>provides contrast and variety.</a:t>
            </a:r>
            <a:endParaRPr lang="en-US" sz="1000" dirty="0"/>
          </a:p>
          <a:p>
            <a:pPr indent="0" marL="0">
              <a:buNone/>
            </a:pPr>
            <a:endParaRPr lang="en-US" sz="1000" dirty="0"/>
          </a:p>
          <a:p>
            <a:pPr indent="0" marL="0">
              <a:buNone/>
            </a:pPr>
            <a:r>
              <a:rPr lang="en-US" sz="1000" dirty="0">
                <a:solidFill>
                  <a:srgbClr val="2C2C2C"/>
                </a:solidFill>
              </a:rPr>
              <a:t>Fractal grain covers enough visual</a:t>
            </a:r>
            <a:endParaRPr lang="en-US" sz="1000" dirty="0"/>
          </a:p>
          <a:p>
            <a:pPr indent="0" marL="0">
              <a:buNone/>
            </a:pPr>
            <a:r>
              <a:rPr lang="en-US" sz="1000" dirty="0">
                <a:solidFill>
                  <a:srgbClr val="2C2C2C"/>
                </a:solidFill>
              </a:rPr>
              <a:t>field for processing fluency without</a:t>
            </a:r>
            <a:endParaRPr lang="en-US" sz="1000" dirty="0"/>
          </a:p>
          <a:p>
            <a:pPr indent="0" marL="0">
              <a:buNone/>
            </a:pPr>
            <a:r>
              <a:rPr lang="en-US" sz="1000" dirty="0">
                <a:solidFill>
                  <a:srgbClr val="2C2C2C"/>
                </a:solidFill>
              </a:rPr>
              <a:t>monotony. Multiple materials = PE</a:t>
            </a:r>
            <a:endParaRPr lang="en-US" sz="1000" dirty="0"/>
          </a:p>
          <a:p>
            <a:pPr indent="0" marL="0">
              <a:buNone/>
            </a:pPr>
            <a:r>
              <a:rPr lang="en-US" sz="1000" dirty="0">
                <a:solidFill>
                  <a:srgbClr val="2C2C2C"/>
                </a:solidFill>
              </a:rPr>
              <a:t>stays in the learnable range.</a:t>
            </a:r>
            <a:endParaRPr lang="en-US" sz="1000" dirty="0"/>
          </a:p>
          <a:p>
            <a:pPr indent="0" marL="0">
              <a:buNone/>
            </a:pPr>
            <a:endParaRPr lang="en-US" sz="1000" dirty="0"/>
          </a:p>
          <a:p>
            <a:pPr indent="0" marL="0">
              <a:buNone/>
            </a:pPr>
            <a:r>
              <a:rPr lang="en-US" sz="1000" dirty="0">
                <a:solidFill>
                  <a:srgbClr val="2C2C2C"/>
                </a:solidFill>
              </a:rPr>
              <a:t>d ≈ 0.45–0.55 for ↓ cortisol.</a:t>
            </a:r>
            <a:endParaRPr lang="en-US" sz="1000" dirty="0"/>
          </a:p>
          <a:p>
            <a:pPr indent="0" marL="0">
              <a:buNone/>
            </a:pPr>
            <a:r>
              <a:rPr lang="en-US" sz="1000" dirty="0">
                <a:solidFill>
                  <a:srgbClr val="2C2C2C"/>
                </a:solidFill>
              </a:rPr>
              <a:t>Sakuragawa et al. (2005).</a:t>
            </a:r>
            <a:endParaRPr lang="en-US" sz="1000" dirty="0"/>
          </a:p>
        </p:txBody>
      </p:sp>
      <p:sp>
        <p:nvSpPr>
          <p:cNvPr id="14" name="Shape 12"/>
          <p:cNvSpPr/>
          <p:nvPr/>
        </p:nvSpPr>
        <p:spPr>
          <a:xfrm>
            <a:off x="6172200" y="914400"/>
            <a:ext cx="269748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6172200" y="914400"/>
            <a:ext cx="2697480" cy="548640"/>
          </a:xfrm>
          <a:prstGeom prst="rect">
            <a:avLst/>
          </a:prstGeom>
          <a:solidFill>
            <a:srgbClr val="C05050"/>
          </a:solidFill>
          <a:ln/>
        </p:spPr>
      </p:sp>
      <p:sp>
        <p:nvSpPr>
          <p:cNvPr id="16" name="Text 14"/>
          <p:cNvSpPr/>
          <p:nvPr/>
        </p:nvSpPr>
        <p:spPr>
          <a:xfrm>
            <a:off x="6172200" y="914400"/>
            <a:ext cx="2697480" cy="54864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90% Wood: The Log Cabin Problem</a:t>
            </a:r>
            <a:endParaRPr lang="en-US" sz="1100" dirty="0"/>
          </a:p>
        </p:txBody>
      </p:sp>
      <p:sp>
        <p:nvSpPr>
          <p:cNvPr id="17" name="Text 15"/>
          <p:cNvSpPr/>
          <p:nvPr/>
        </p:nvSpPr>
        <p:spPr>
          <a:xfrm>
            <a:off x="6281928" y="1600200"/>
            <a:ext cx="2468880" cy="2926080"/>
          </a:xfrm>
          <a:prstGeom prst="rect">
            <a:avLst/>
          </a:prstGeom>
          <a:noFill/>
          <a:ln/>
        </p:spPr>
        <p:txBody>
          <a:bodyPr wrap="square" rtlCol="0" anchor="ctr"/>
          <a:lstStyle/>
          <a:p>
            <a:pPr indent="0" marL="0">
              <a:buNone/>
            </a:pPr>
            <a:r>
              <a:rPr lang="en-US" sz="1000" dirty="0">
                <a:solidFill>
                  <a:srgbClr val="2C2C2C"/>
                </a:solidFill>
              </a:rPr>
              <a:t>Floor, walls, ceiling, furniture all</a:t>
            </a:r>
            <a:endParaRPr lang="en-US" sz="1000" dirty="0"/>
          </a:p>
          <a:p>
            <a:pPr indent="0" marL="0">
              <a:buNone/>
            </a:pPr>
            <a:r>
              <a:rPr lang="en-US" sz="1000" dirty="0">
                <a:solidFill>
                  <a:srgbClr val="2C2C2C"/>
                </a:solidFill>
              </a:rPr>
              <a:t>wood. The room feels “closed in,”</a:t>
            </a:r>
            <a:endParaRPr lang="en-US" sz="1000" dirty="0"/>
          </a:p>
          <a:p>
            <a:pPr indent="0" marL="0">
              <a:buNone/>
            </a:pPr>
            <a:r>
              <a:rPr lang="en-US" sz="1000" dirty="0">
                <a:solidFill>
                  <a:srgbClr val="2C2C2C"/>
                </a:solidFill>
              </a:rPr>
              <a:t>“heavy,” “suffocating.”</a:t>
            </a:r>
            <a:endParaRPr lang="en-US" sz="1000" dirty="0"/>
          </a:p>
          <a:p>
            <a:pPr indent="0" marL="0">
              <a:buNone/>
            </a:pPr>
            <a:endParaRPr lang="en-US" sz="1000" dirty="0"/>
          </a:p>
          <a:p>
            <a:pPr indent="0" marL="0">
              <a:buNone/>
            </a:pPr>
            <a:r>
              <a:rPr lang="en-US" sz="1000" dirty="0">
                <a:solidFill>
                  <a:srgbClr val="2C2C2C"/>
                </a:solidFill>
              </a:rPr>
              <a:t>No material variation → PE ≈ 0.</a:t>
            </a:r>
            <a:endParaRPr lang="en-US" sz="1000" dirty="0"/>
          </a:p>
          <a:p>
            <a:pPr indent="0" marL="0">
              <a:buNone/>
            </a:pPr>
            <a:r>
              <a:rPr lang="en-US" sz="1000" dirty="0">
                <a:solidFill>
                  <a:srgbClr val="2C2C2C"/>
                </a:solidFill>
              </a:rPr>
              <a:t>Pattern monotony triggers the</a:t>
            </a:r>
            <a:endParaRPr lang="en-US" sz="1000" dirty="0"/>
          </a:p>
          <a:p>
            <a:pPr indent="0" marL="0">
              <a:buNone/>
            </a:pPr>
            <a:r>
              <a:rPr lang="en-US" sz="1000" dirty="0">
                <a:solidFill>
                  <a:srgbClr val="2C2C2C"/>
                </a:solidFill>
              </a:rPr>
              <a:t>Berlyne boredom response.</a:t>
            </a:r>
            <a:endParaRPr lang="en-US" sz="1000" dirty="0"/>
          </a:p>
          <a:p>
            <a:pPr indent="0" marL="0">
              <a:buNone/>
            </a:pPr>
            <a:r>
              <a:rPr lang="en-US" sz="1000" dirty="0">
                <a:solidFill>
                  <a:srgbClr val="2C2C2C"/>
                </a:solidFill>
              </a:rPr>
              <a:t>Visual field becomes uniform →</a:t>
            </a:r>
            <a:endParaRPr lang="en-US" sz="1000" dirty="0"/>
          </a:p>
          <a:p>
            <a:pPr indent="0" marL="0">
              <a:buNone/>
            </a:pPr>
            <a:r>
              <a:rPr lang="en-US" sz="1000" dirty="0">
                <a:solidFill>
                  <a:srgbClr val="2C2C2C"/>
                </a:solidFill>
              </a:rPr>
              <a:t>no information gain at any scale.</a:t>
            </a:r>
            <a:endParaRPr lang="en-US" sz="1000" dirty="0"/>
          </a:p>
          <a:p>
            <a:pPr indent="0" marL="0">
              <a:buNone/>
            </a:pPr>
            <a:endParaRPr lang="en-US" sz="1000" dirty="0"/>
          </a:p>
          <a:p>
            <a:pPr indent="0" marL="0">
              <a:buNone/>
            </a:pPr>
            <a:r>
              <a:rPr lang="en-US" sz="1000" dirty="0">
                <a:solidFill>
                  <a:srgbClr val="2C2C2C"/>
                </a:solidFill>
              </a:rPr>
              <a:t>d &lt; 0.10 (Tsunetsugu et al., 2007).</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1097280"/>
            <a:ext cx="1828800" cy="1097280"/>
          </a:xfrm>
          <a:prstGeom prst="rect">
            <a:avLst/>
          </a:prstGeom>
          <a:noFill/>
          <a:ln/>
        </p:spPr>
        <p:txBody>
          <a:bodyPr wrap="square" rtlCol="0" anchor="ctr"/>
          <a:lstStyle/>
          <a:p>
            <a:pPr indent="0" marL="0">
              <a:buNone/>
            </a:pPr>
            <a:r>
              <a:rPr lang="en-US" sz="6000" b="1" dirty="0">
                <a:solidFill>
                  <a:srgbClr val="C47D2B"/>
                </a:solidFill>
                <a:latin typeface="Georgia" pitchFamily="34" charset="0"/>
                <a:ea typeface="Georgia" pitchFamily="34" charset="-122"/>
                <a:cs typeface="Georgia" pitchFamily="34" charset="-120"/>
              </a:rPr>
              <a:t>2</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Beyond Boring vs. Stimulating:</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Berlyne’s Full Framework</a:t>
            </a:r>
            <a:endParaRPr lang="en-US" sz="3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Berlyne’s Four Collative Variables</a:t>
            </a:r>
            <a:endParaRPr lang="en-US" sz="2400" dirty="0"/>
          </a:p>
        </p:txBody>
      </p:sp>
      <p:sp>
        <p:nvSpPr>
          <p:cNvPr id="4" name="Shape 2"/>
          <p:cNvSpPr/>
          <p:nvPr/>
        </p:nvSpPr>
        <p:spPr>
          <a:xfrm>
            <a:off x="457200" y="914400"/>
            <a:ext cx="192024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457200" y="914400"/>
            <a:ext cx="1920240" cy="640080"/>
          </a:xfrm>
          <a:prstGeom prst="rect">
            <a:avLst/>
          </a:prstGeom>
          <a:solidFill>
            <a:srgbClr val="C47D2B"/>
          </a:solidFill>
          <a:ln/>
        </p:spPr>
      </p:sp>
      <p:sp>
        <p:nvSpPr>
          <p:cNvPr id="6" name="Text 4"/>
          <p:cNvSpPr/>
          <p:nvPr/>
        </p:nvSpPr>
        <p:spPr>
          <a:xfrm>
            <a:off x="457200" y="960120"/>
            <a:ext cx="192024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Complexity</a:t>
            </a:r>
            <a:endParaRPr lang="en-US" sz="1600" dirty="0"/>
          </a:p>
        </p:txBody>
      </p:sp>
      <p:sp>
        <p:nvSpPr>
          <p:cNvPr id="7" name="Text 5"/>
          <p:cNvSpPr/>
          <p:nvPr/>
        </p:nvSpPr>
        <p:spPr>
          <a:xfrm>
            <a:off x="594360" y="1691640"/>
            <a:ext cx="1645920" cy="548640"/>
          </a:xfrm>
          <a:prstGeom prst="rect">
            <a:avLst/>
          </a:prstGeom>
          <a:noFill/>
          <a:ln/>
        </p:spPr>
        <p:txBody>
          <a:bodyPr wrap="square" rtlCol="0" anchor="ctr"/>
          <a:lstStyle/>
          <a:p>
            <a:pPr indent="0" marL="0">
              <a:buNone/>
            </a:pPr>
            <a:r>
              <a:rPr lang="en-US" sz="1100" i="1" dirty="0">
                <a:solidFill>
                  <a:srgbClr val="2C2C2C"/>
                </a:solidFill>
              </a:rPr>
              <a:t>Number &amp; variety</a:t>
            </a:r>
            <a:endParaRPr lang="en-US" sz="1100" dirty="0"/>
          </a:p>
          <a:p>
            <a:pPr indent="0" marL="0">
              <a:buNone/>
            </a:pPr>
            <a:r>
              <a:rPr lang="en-US" sz="1100" i="1" dirty="0">
                <a:solidFill>
                  <a:srgbClr val="2C2C2C"/>
                </a:solidFill>
              </a:rPr>
              <a:t>of elements</a:t>
            </a:r>
            <a:endParaRPr lang="en-US" sz="1100" dirty="0"/>
          </a:p>
        </p:txBody>
      </p:sp>
      <p:sp>
        <p:nvSpPr>
          <p:cNvPr id="8" name="Text 6"/>
          <p:cNvSpPr/>
          <p:nvPr/>
        </p:nvSpPr>
        <p:spPr>
          <a:xfrm>
            <a:off x="594360" y="3703320"/>
            <a:ext cx="1645920" cy="457200"/>
          </a:xfrm>
          <a:prstGeom prst="rect">
            <a:avLst/>
          </a:prstGeom>
          <a:noFill/>
          <a:ln/>
        </p:spPr>
        <p:txBody>
          <a:bodyPr wrap="square" rtlCol="0" anchor="ctr"/>
          <a:lstStyle/>
          <a:p>
            <a:pPr indent="0" marL="0">
              <a:buNone/>
            </a:pPr>
            <a:r>
              <a:rPr lang="en-US" sz="900" b="1" dirty="0">
                <a:solidFill>
                  <a:srgbClr val="C47D2B"/>
                </a:solidFill>
              </a:rPr>
              <a:t>Each produces its own</a:t>
            </a:r>
            <a:endParaRPr lang="en-US" sz="900" dirty="0"/>
          </a:p>
          <a:p>
            <a:pPr indent="0" marL="0">
              <a:buNone/>
            </a:pPr>
            <a:r>
              <a:rPr lang="en-US" sz="900" b="1" dirty="0">
                <a:solidFill>
                  <a:srgbClr val="C47D2B"/>
                </a:solidFill>
              </a:rPr>
              <a:t>inverted-U</a:t>
            </a:r>
            <a:endParaRPr lang="en-US" sz="900" dirty="0"/>
          </a:p>
        </p:txBody>
      </p:sp>
      <p:sp>
        <p:nvSpPr>
          <p:cNvPr id="9" name="Shape 7"/>
          <p:cNvSpPr/>
          <p:nvPr/>
        </p:nvSpPr>
        <p:spPr>
          <a:xfrm>
            <a:off x="2606040" y="914400"/>
            <a:ext cx="192024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2606040" y="914400"/>
            <a:ext cx="1920240" cy="640080"/>
          </a:xfrm>
          <a:prstGeom prst="rect">
            <a:avLst/>
          </a:prstGeom>
          <a:solidFill>
            <a:srgbClr val="2B8C8C"/>
          </a:solidFill>
          <a:ln/>
        </p:spPr>
      </p:sp>
      <p:sp>
        <p:nvSpPr>
          <p:cNvPr id="11" name="Text 9"/>
          <p:cNvSpPr/>
          <p:nvPr/>
        </p:nvSpPr>
        <p:spPr>
          <a:xfrm>
            <a:off x="2606040" y="960120"/>
            <a:ext cx="192024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Novelty</a:t>
            </a:r>
            <a:endParaRPr lang="en-US" sz="1600" dirty="0"/>
          </a:p>
        </p:txBody>
      </p:sp>
      <p:sp>
        <p:nvSpPr>
          <p:cNvPr id="12" name="Text 10"/>
          <p:cNvSpPr/>
          <p:nvPr/>
        </p:nvSpPr>
        <p:spPr>
          <a:xfrm>
            <a:off x="2743200" y="1691640"/>
            <a:ext cx="1645920" cy="548640"/>
          </a:xfrm>
          <a:prstGeom prst="rect">
            <a:avLst/>
          </a:prstGeom>
          <a:noFill/>
          <a:ln/>
        </p:spPr>
        <p:txBody>
          <a:bodyPr wrap="square" rtlCol="0" anchor="ctr"/>
          <a:lstStyle/>
          <a:p>
            <a:pPr indent="0" marL="0">
              <a:buNone/>
            </a:pPr>
            <a:r>
              <a:rPr lang="en-US" sz="1100" i="1" dirty="0">
                <a:solidFill>
                  <a:srgbClr val="2C2C2C"/>
                </a:solidFill>
              </a:rPr>
              <a:t>Difference from</a:t>
            </a:r>
            <a:endParaRPr lang="en-US" sz="1100" dirty="0"/>
          </a:p>
          <a:p>
            <a:pPr indent="0" marL="0">
              <a:buNone/>
            </a:pPr>
            <a:r>
              <a:rPr lang="en-US" sz="1100" i="1" dirty="0">
                <a:solidFill>
                  <a:srgbClr val="2C2C2C"/>
                </a:solidFill>
              </a:rPr>
              <a:t>expectation</a:t>
            </a:r>
            <a:endParaRPr lang="en-US" sz="1100" dirty="0"/>
          </a:p>
        </p:txBody>
      </p:sp>
      <p:sp>
        <p:nvSpPr>
          <p:cNvPr id="13" name="Text 11"/>
          <p:cNvSpPr/>
          <p:nvPr/>
        </p:nvSpPr>
        <p:spPr>
          <a:xfrm>
            <a:off x="2743200" y="3703320"/>
            <a:ext cx="1645920" cy="457200"/>
          </a:xfrm>
          <a:prstGeom prst="rect">
            <a:avLst/>
          </a:prstGeom>
          <a:noFill/>
          <a:ln/>
        </p:spPr>
        <p:txBody>
          <a:bodyPr wrap="square" rtlCol="0" anchor="ctr"/>
          <a:lstStyle/>
          <a:p>
            <a:pPr indent="0" marL="0">
              <a:buNone/>
            </a:pPr>
            <a:r>
              <a:rPr lang="en-US" sz="900" b="1" dirty="0">
                <a:solidFill>
                  <a:srgbClr val="C47D2B"/>
                </a:solidFill>
              </a:rPr>
              <a:t>Each produces its own</a:t>
            </a:r>
            <a:endParaRPr lang="en-US" sz="900" dirty="0"/>
          </a:p>
          <a:p>
            <a:pPr indent="0" marL="0">
              <a:buNone/>
            </a:pPr>
            <a:r>
              <a:rPr lang="en-US" sz="900" b="1" dirty="0">
                <a:solidFill>
                  <a:srgbClr val="C47D2B"/>
                </a:solidFill>
              </a:rPr>
              <a:t>inverted-U</a:t>
            </a:r>
            <a:endParaRPr lang="en-US" sz="900" dirty="0"/>
          </a:p>
        </p:txBody>
      </p:sp>
      <p:sp>
        <p:nvSpPr>
          <p:cNvPr id="14" name="Shape 12"/>
          <p:cNvSpPr/>
          <p:nvPr/>
        </p:nvSpPr>
        <p:spPr>
          <a:xfrm>
            <a:off x="4754880" y="914400"/>
            <a:ext cx="192024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4754880" y="914400"/>
            <a:ext cx="1920240" cy="640080"/>
          </a:xfrm>
          <a:prstGeom prst="rect">
            <a:avLst/>
          </a:prstGeom>
          <a:solidFill>
            <a:srgbClr val="B85042"/>
          </a:solidFill>
          <a:ln/>
        </p:spPr>
      </p:sp>
      <p:sp>
        <p:nvSpPr>
          <p:cNvPr id="16" name="Text 14"/>
          <p:cNvSpPr/>
          <p:nvPr/>
        </p:nvSpPr>
        <p:spPr>
          <a:xfrm>
            <a:off x="4754880" y="960120"/>
            <a:ext cx="192024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Incongruity</a:t>
            </a:r>
            <a:endParaRPr lang="en-US" sz="1600" dirty="0"/>
          </a:p>
        </p:txBody>
      </p:sp>
      <p:sp>
        <p:nvSpPr>
          <p:cNvPr id="17" name="Text 15"/>
          <p:cNvSpPr/>
          <p:nvPr/>
        </p:nvSpPr>
        <p:spPr>
          <a:xfrm>
            <a:off x="4892040" y="1691640"/>
            <a:ext cx="1645920" cy="548640"/>
          </a:xfrm>
          <a:prstGeom prst="rect">
            <a:avLst/>
          </a:prstGeom>
          <a:noFill/>
          <a:ln/>
        </p:spPr>
        <p:txBody>
          <a:bodyPr wrap="square" rtlCol="0" anchor="ctr"/>
          <a:lstStyle/>
          <a:p>
            <a:pPr indent="0" marL="0">
              <a:buNone/>
            </a:pPr>
            <a:r>
              <a:rPr lang="en-US" sz="1100" i="1" dirty="0">
                <a:solidFill>
                  <a:srgbClr val="2C2C2C"/>
                </a:solidFill>
              </a:rPr>
              <a:t>Elements conflict</a:t>
            </a:r>
            <a:endParaRPr lang="en-US" sz="1100" dirty="0"/>
          </a:p>
          <a:p>
            <a:pPr indent="0" marL="0">
              <a:buNone/>
            </a:pPr>
            <a:r>
              <a:rPr lang="en-US" sz="1100" i="1" dirty="0">
                <a:solidFill>
                  <a:srgbClr val="2C2C2C"/>
                </a:solidFill>
              </a:rPr>
              <a:t>with context</a:t>
            </a:r>
            <a:endParaRPr lang="en-US" sz="1100" dirty="0"/>
          </a:p>
        </p:txBody>
      </p:sp>
      <p:sp>
        <p:nvSpPr>
          <p:cNvPr id="18" name="Text 16"/>
          <p:cNvSpPr/>
          <p:nvPr/>
        </p:nvSpPr>
        <p:spPr>
          <a:xfrm>
            <a:off x="4892040" y="3703320"/>
            <a:ext cx="1645920" cy="457200"/>
          </a:xfrm>
          <a:prstGeom prst="rect">
            <a:avLst/>
          </a:prstGeom>
          <a:noFill/>
          <a:ln/>
        </p:spPr>
        <p:txBody>
          <a:bodyPr wrap="square" rtlCol="0" anchor="ctr"/>
          <a:lstStyle/>
          <a:p>
            <a:pPr indent="0" marL="0">
              <a:buNone/>
            </a:pPr>
            <a:r>
              <a:rPr lang="en-US" sz="900" b="1" dirty="0">
                <a:solidFill>
                  <a:srgbClr val="C47D2B"/>
                </a:solidFill>
              </a:rPr>
              <a:t>Each produces its own</a:t>
            </a:r>
            <a:endParaRPr lang="en-US" sz="900" dirty="0"/>
          </a:p>
          <a:p>
            <a:pPr indent="0" marL="0">
              <a:buNone/>
            </a:pPr>
            <a:r>
              <a:rPr lang="en-US" sz="900" b="1" dirty="0">
                <a:solidFill>
                  <a:srgbClr val="C47D2B"/>
                </a:solidFill>
              </a:rPr>
              <a:t>inverted-U</a:t>
            </a:r>
            <a:endParaRPr lang="en-US" sz="900" dirty="0"/>
          </a:p>
        </p:txBody>
      </p:sp>
      <p:sp>
        <p:nvSpPr>
          <p:cNvPr id="19" name="Shape 17"/>
          <p:cNvSpPr/>
          <p:nvPr/>
        </p:nvSpPr>
        <p:spPr>
          <a:xfrm>
            <a:off x="6903720" y="914400"/>
            <a:ext cx="192024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8"/>
          <p:cNvSpPr/>
          <p:nvPr/>
        </p:nvSpPr>
        <p:spPr>
          <a:xfrm>
            <a:off x="6903720" y="914400"/>
            <a:ext cx="1920240" cy="640080"/>
          </a:xfrm>
          <a:prstGeom prst="rect">
            <a:avLst/>
          </a:prstGeom>
          <a:solidFill>
            <a:srgbClr val="6B3B8C"/>
          </a:solidFill>
          <a:ln/>
        </p:spPr>
      </p:sp>
      <p:sp>
        <p:nvSpPr>
          <p:cNvPr id="21" name="Text 19"/>
          <p:cNvSpPr/>
          <p:nvPr/>
        </p:nvSpPr>
        <p:spPr>
          <a:xfrm>
            <a:off x="6903720" y="960120"/>
            <a:ext cx="192024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Surprisingness</a:t>
            </a:r>
            <a:endParaRPr lang="en-US" sz="1600" dirty="0"/>
          </a:p>
        </p:txBody>
      </p:sp>
      <p:sp>
        <p:nvSpPr>
          <p:cNvPr id="22" name="Text 20"/>
          <p:cNvSpPr/>
          <p:nvPr/>
        </p:nvSpPr>
        <p:spPr>
          <a:xfrm>
            <a:off x="7040880" y="1691640"/>
            <a:ext cx="1645920" cy="548640"/>
          </a:xfrm>
          <a:prstGeom prst="rect">
            <a:avLst/>
          </a:prstGeom>
          <a:noFill/>
          <a:ln/>
        </p:spPr>
        <p:txBody>
          <a:bodyPr wrap="square" rtlCol="0" anchor="ctr"/>
          <a:lstStyle/>
          <a:p>
            <a:pPr indent="0" marL="0">
              <a:buNone/>
            </a:pPr>
            <a:r>
              <a:rPr lang="en-US" sz="1100" i="1" dirty="0">
                <a:solidFill>
                  <a:srgbClr val="2C2C2C"/>
                </a:solidFill>
              </a:rPr>
              <a:t>Violates specific</a:t>
            </a:r>
            <a:endParaRPr lang="en-US" sz="1100" dirty="0"/>
          </a:p>
          <a:p>
            <a:pPr indent="0" marL="0">
              <a:buNone/>
            </a:pPr>
            <a:r>
              <a:rPr lang="en-US" sz="1100" i="1" dirty="0">
                <a:solidFill>
                  <a:srgbClr val="2C2C2C"/>
                </a:solidFill>
              </a:rPr>
              <a:t>predictions</a:t>
            </a:r>
            <a:endParaRPr lang="en-US" sz="1100" dirty="0"/>
          </a:p>
        </p:txBody>
      </p:sp>
      <p:sp>
        <p:nvSpPr>
          <p:cNvPr id="23" name="Text 21"/>
          <p:cNvSpPr/>
          <p:nvPr/>
        </p:nvSpPr>
        <p:spPr>
          <a:xfrm>
            <a:off x="7040880" y="3703320"/>
            <a:ext cx="1645920" cy="457200"/>
          </a:xfrm>
          <a:prstGeom prst="rect">
            <a:avLst/>
          </a:prstGeom>
          <a:noFill/>
          <a:ln/>
        </p:spPr>
        <p:txBody>
          <a:bodyPr wrap="square" rtlCol="0" anchor="ctr"/>
          <a:lstStyle/>
          <a:p>
            <a:pPr indent="0" marL="0">
              <a:buNone/>
            </a:pPr>
            <a:r>
              <a:rPr lang="en-US" sz="900" b="1" dirty="0">
                <a:solidFill>
                  <a:srgbClr val="C47D2B"/>
                </a:solidFill>
              </a:rPr>
              <a:t>Each produces its own</a:t>
            </a:r>
            <a:endParaRPr lang="en-US" sz="900" dirty="0"/>
          </a:p>
          <a:p>
            <a:pPr indent="0" marL="0">
              <a:buNone/>
            </a:pPr>
            <a:r>
              <a:rPr lang="en-US" sz="900" b="1" dirty="0">
                <a:solidFill>
                  <a:srgbClr val="C47D2B"/>
                </a:solidFill>
              </a:rPr>
              <a:t>inverted-U</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Berlyne’s Four Variables in Architecture</a:t>
            </a:r>
            <a:endParaRPr lang="en-US" sz="2200" dirty="0"/>
          </a:p>
        </p:txBody>
      </p:sp>
      <p:sp>
        <p:nvSpPr>
          <p:cNvPr id="6" name="Shape 4"/>
          <p:cNvSpPr/>
          <p:nvPr/>
        </p:nvSpPr>
        <p:spPr>
          <a:xfrm>
            <a:off x="365760" y="777240"/>
            <a:ext cx="109728" cy="914400"/>
          </a:xfrm>
          <a:prstGeom prst="rect">
            <a:avLst/>
          </a:prstGeom>
          <a:solidFill>
            <a:srgbClr val="C47D2B"/>
          </a:solidFill>
          <a:ln/>
        </p:spPr>
      </p:sp>
      <p:sp>
        <p:nvSpPr>
          <p:cNvPr id="7" name="Text 5"/>
          <p:cNvSpPr/>
          <p:nvPr/>
        </p:nvSpPr>
        <p:spPr>
          <a:xfrm>
            <a:off x="594360" y="777240"/>
            <a:ext cx="1371600" cy="914400"/>
          </a:xfrm>
          <a:prstGeom prst="rect">
            <a:avLst/>
          </a:prstGeom>
          <a:noFill/>
          <a:ln/>
        </p:spPr>
        <p:txBody>
          <a:bodyPr wrap="square" lIns="0" tIns="0" rIns="0" bIns="0" rtlCol="0" anchor="t"/>
          <a:lstStyle/>
          <a:p>
            <a:pPr indent="0" marL="0">
              <a:buNone/>
            </a:pPr>
            <a:r>
              <a:rPr lang="en-US" sz="1200" b="1" dirty="0">
                <a:solidFill>
                  <a:srgbClr val="C47D2B"/>
                </a:solidFill>
                <a:latin typeface="Georgia" pitchFamily="34" charset="0"/>
                <a:ea typeface="Georgia" pitchFamily="34" charset="-122"/>
                <a:cs typeface="Georgia" pitchFamily="34" charset="-120"/>
              </a:rPr>
              <a:t>Complexity</a:t>
            </a:r>
            <a:endParaRPr lang="en-US" sz="1200" dirty="0"/>
          </a:p>
        </p:txBody>
      </p:sp>
      <p:sp>
        <p:nvSpPr>
          <p:cNvPr id="8" name="Text 6"/>
          <p:cNvSpPr/>
          <p:nvPr/>
        </p:nvSpPr>
        <p:spPr>
          <a:xfrm>
            <a:off x="2011680" y="777240"/>
            <a:ext cx="6766560" cy="914400"/>
          </a:xfrm>
          <a:prstGeom prst="rect">
            <a:avLst/>
          </a:prstGeom>
          <a:noFill/>
          <a:ln/>
        </p:spPr>
        <p:txBody>
          <a:bodyPr wrap="square" rtlCol="0" anchor="t"/>
          <a:lstStyle/>
          <a:p>
            <a:pPr indent="0" marL="0">
              <a:buNone/>
            </a:pPr>
            <a:r>
              <a:rPr lang="en-US" sz="1000" dirty="0">
                <a:solidFill>
                  <a:srgbClr val="2C2C2C"/>
                </a:solidFill>
              </a:rPr>
              <a:t>Gaudi’s Sagrada Familia vs. a Mies van der Rohe</a:t>
            </a:r>
            <a:endParaRPr lang="en-US" sz="1000" dirty="0"/>
          </a:p>
          <a:p>
            <a:pPr indent="0" marL="0">
              <a:buNone/>
            </a:pPr>
            <a:r>
              <a:rPr lang="en-US" sz="1000" dirty="0">
                <a:solidFill>
                  <a:srgbClr val="2C2C2C"/>
                </a:solidFill>
              </a:rPr>
              <a:t>pavilion. Sagrada: extreme ornamental complexity at</a:t>
            </a:r>
            <a:endParaRPr lang="en-US" sz="1000" dirty="0"/>
          </a:p>
          <a:p>
            <a:pPr indent="0" marL="0">
              <a:buNone/>
            </a:pPr>
            <a:r>
              <a:rPr lang="en-US" sz="1000" dirty="0">
                <a:solidFill>
                  <a:srgbClr val="2C2C2C"/>
                </a:solidFill>
              </a:rPr>
              <a:t>every scale—yet organized by biological logic, so it</a:t>
            </a:r>
            <a:endParaRPr lang="en-US" sz="1000" dirty="0"/>
          </a:p>
          <a:p>
            <a:pPr indent="0" marL="0">
              <a:buNone/>
            </a:pPr>
            <a:r>
              <a:rPr lang="en-US" sz="1000" dirty="0">
                <a:solidFill>
                  <a:srgbClr val="2C2C2C"/>
                </a:solidFill>
              </a:rPr>
              <a:t>feels rich rather than chaotic. Mies: elegant simplicity—</a:t>
            </a:r>
            <a:endParaRPr lang="en-US" sz="1000" dirty="0"/>
          </a:p>
          <a:p>
            <a:pPr indent="0" marL="0">
              <a:buNone/>
            </a:pPr>
            <a:r>
              <a:rPr lang="en-US" sz="1000" dirty="0">
                <a:solidFill>
                  <a:srgbClr val="2C2C2C"/>
                </a:solidFill>
              </a:rPr>
              <a:t>but walk through it for 30 minutes and boredom sets in.</a:t>
            </a:r>
            <a:endParaRPr lang="en-US" sz="1000" dirty="0"/>
          </a:p>
          <a:p>
            <a:pPr indent="0" marL="0">
              <a:buNone/>
            </a:pPr>
            <a:r>
              <a:rPr lang="en-US" sz="1000" dirty="0">
                <a:solidFill>
                  <a:srgbClr val="2C2C2C"/>
                </a:solidFill>
              </a:rPr>
              <a:t>The inverted-U explains both reactions.</a:t>
            </a:r>
            <a:endParaRPr lang="en-US" sz="1000" dirty="0"/>
          </a:p>
        </p:txBody>
      </p:sp>
      <p:sp>
        <p:nvSpPr>
          <p:cNvPr id="9" name="Shape 7"/>
          <p:cNvSpPr/>
          <p:nvPr/>
        </p:nvSpPr>
        <p:spPr>
          <a:xfrm>
            <a:off x="365760" y="1856232"/>
            <a:ext cx="109728" cy="914400"/>
          </a:xfrm>
          <a:prstGeom prst="rect">
            <a:avLst/>
          </a:prstGeom>
          <a:solidFill>
            <a:srgbClr val="2B8C8C"/>
          </a:solidFill>
          <a:ln/>
        </p:spPr>
      </p:sp>
      <p:sp>
        <p:nvSpPr>
          <p:cNvPr id="10" name="Text 8"/>
          <p:cNvSpPr/>
          <p:nvPr/>
        </p:nvSpPr>
        <p:spPr>
          <a:xfrm>
            <a:off x="594360" y="1856232"/>
            <a:ext cx="1371600" cy="914400"/>
          </a:xfrm>
          <a:prstGeom prst="rect">
            <a:avLst/>
          </a:prstGeom>
          <a:noFill/>
          <a:ln/>
        </p:spPr>
        <p:txBody>
          <a:bodyPr wrap="square" lIns="0" tIns="0" rIns="0" bIns="0" rtlCol="0" anchor="t"/>
          <a:lstStyle/>
          <a:p>
            <a:pPr indent="0" marL="0">
              <a:buNone/>
            </a:pPr>
            <a:r>
              <a:rPr lang="en-US" sz="1200" b="1" dirty="0">
                <a:solidFill>
                  <a:srgbClr val="2B8C8C"/>
                </a:solidFill>
                <a:latin typeface="Georgia" pitchFamily="34" charset="0"/>
                <a:ea typeface="Georgia" pitchFamily="34" charset="-122"/>
                <a:cs typeface="Georgia" pitchFamily="34" charset="-120"/>
              </a:rPr>
              <a:t>Novelty</a:t>
            </a:r>
            <a:endParaRPr lang="en-US" sz="1200" dirty="0"/>
          </a:p>
        </p:txBody>
      </p:sp>
      <p:sp>
        <p:nvSpPr>
          <p:cNvPr id="11" name="Text 9"/>
          <p:cNvSpPr/>
          <p:nvPr/>
        </p:nvSpPr>
        <p:spPr>
          <a:xfrm>
            <a:off x="2011680" y="1856232"/>
            <a:ext cx="6766560" cy="914400"/>
          </a:xfrm>
          <a:prstGeom prst="rect">
            <a:avLst/>
          </a:prstGeom>
          <a:noFill/>
          <a:ln/>
        </p:spPr>
        <p:txBody>
          <a:bodyPr wrap="square" rtlCol="0" anchor="t"/>
          <a:lstStyle/>
          <a:p>
            <a:pPr indent="0" marL="0">
              <a:buNone/>
            </a:pPr>
            <a:r>
              <a:rPr lang="en-US" sz="1000" dirty="0">
                <a:solidFill>
                  <a:srgbClr val="2C2C2C"/>
                </a:solidFill>
              </a:rPr>
              <a:t>Your first day in a new city vs. your 100th day. Day 1:</a:t>
            </a:r>
            <a:endParaRPr lang="en-US" sz="1000" dirty="0"/>
          </a:p>
          <a:p>
            <a:pPr indent="0" marL="0">
              <a:buNone/>
            </a:pPr>
            <a:r>
              <a:rPr lang="en-US" sz="1000" dirty="0">
                <a:solidFill>
                  <a:srgbClr val="2C2C2C"/>
                </a:solidFill>
              </a:rPr>
              <a:t>everything is novel, attention is heightened, cortisol</a:t>
            </a:r>
            <a:endParaRPr lang="en-US" sz="1000" dirty="0"/>
          </a:p>
          <a:p>
            <a:pPr indent="0" marL="0">
              <a:buNone/>
            </a:pPr>
            <a:r>
              <a:rPr lang="en-US" sz="1000" dirty="0">
                <a:solidFill>
                  <a:srgbClr val="2C2C2C"/>
                </a:solidFill>
              </a:rPr>
              <a:t>elevated, exploration intense. Day 100: habituation has</a:t>
            </a:r>
            <a:endParaRPr lang="en-US" sz="1000" dirty="0"/>
          </a:p>
          <a:p>
            <a:pPr indent="0" marL="0">
              <a:buNone/>
            </a:pPr>
            <a:r>
              <a:rPr lang="en-US" sz="1000" dirty="0">
                <a:solidFill>
                  <a:srgbClr val="2C2C2C"/>
                </a:solidFill>
              </a:rPr>
              <a:t>reduced PE to near zero for familiar routes. Novel</a:t>
            </a:r>
            <a:endParaRPr lang="en-US" sz="1000" dirty="0"/>
          </a:p>
          <a:p>
            <a:pPr indent="0" marL="0">
              <a:buNone/>
            </a:pPr>
            <a:r>
              <a:rPr lang="en-US" sz="1000" dirty="0">
                <a:solidFill>
                  <a:srgbClr val="2C2C2C"/>
                </a:solidFill>
              </a:rPr>
              <a:t>architecture ages: a striking building becomes invisible</a:t>
            </a:r>
            <a:endParaRPr lang="en-US" sz="1000" dirty="0"/>
          </a:p>
          <a:p>
            <a:pPr indent="0" marL="0">
              <a:buNone/>
            </a:pPr>
            <a:r>
              <a:rPr lang="en-US" sz="1000" dirty="0">
                <a:solidFill>
                  <a:srgbClr val="2C2C2C"/>
                </a:solidFill>
              </a:rPr>
              <a:t>with familiarity. The inverted-U shifts along the x-axis.</a:t>
            </a:r>
            <a:endParaRPr lang="en-US" sz="1000" dirty="0"/>
          </a:p>
        </p:txBody>
      </p:sp>
      <p:sp>
        <p:nvSpPr>
          <p:cNvPr id="12" name="Shape 10"/>
          <p:cNvSpPr/>
          <p:nvPr/>
        </p:nvSpPr>
        <p:spPr>
          <a:xfrm>
            <a:off x="365760" y="2935224"/>
            <a:ext cx="109728" cy="914400"/>
          </a:xfrm>
          <a:prstGeom prst="rect">
            <a:avLst/>
          </a:prstGeom>
          <a:solidFill>
            <a:srgbClr val="B85042"/>
          </a:solidFill>
          <a:ln/>
        </p:spPr>
      </p:sp>
      <p:sp>
        <p:nvSpPr>
          <p:cNvPr id="13" name="Text 11"/>
          <p:cNvSpPr/>
          <p:nvPr/>
        </p:nvSpPr>
        <p:spPr>
          <a:xfrm>
            <a:off x="594360" y="2935224"/>
            <a:ext cx="1371600" cy="914400"/>
          </a:xfrm>
          <a:prstGeom prst="rect">
            <a:avLst/>
          </a:prstGeom>
          <a:noFill/>
          <a:ln/>
        </p:spPr>
        <p:txBody>
          <a:bodyPr wrap="square" lIns="0" tIns="0" rIns="0" bIns="0" rtlCol="0" anchor="t"/>
          <a:lstStyle/>
          <a:p>
            <a:pPr indent="0" marL="0">
              <a:buNone/>
            </a:pPr>
            <a:r>
              <a:rPr lang="en-US" sz="1200" b="1" dirty="0">
                <a:solidFill>
                  <a:srgbClr val="B85042"/>
                </a:solidFill>
                <a:latin typeface="Georgia" pitchFamily="34" charset="0"/>
                <a:ea typeface="Georgia" pitchFamily="34" charset="-122"/>
                <a:cs typeface="Georgia" pitchFamily="34" charset="-120"/>
              </a:rPr>
              <a:t>Incongruity</a:t>
            </a:r>
            <a:endParaRPr lang="en-US" sz="1200" dirty="0"/>
          </a:p>
        </p:txBody>
      </p:sp>
      <p:sp>
        <p:nvSpPr>
          <p:cNvPr id="14" name="Text 12"/>
          <p:cNvSpPr/>
          <p:nvPr/>
        </p:nvSpPr>
        <p:spPr>
          <a:xfrm>
            <a:off x="2011680" y="2935224"/>
            <a:ext cx="6766560" cy="914400"/>
          </a:xfrm>
          <a:prstGeom prst="rect">
            <a:avLst/>
          </a:prstGeom>
          <a:noFill/>
          <a:ln/>
        </p:spPr>
        <p:txBody>
          <a:bodyPr wrap="square" rtlCol="0" anchor="t"/>
          <a:lstStyle/>
          <a:p>
            <a:pPr indent="0" marL="0">
              <a:buNone/>
            </a:pPr>
            <a:r>
              <a:rPr lang="en-US" sz="1000" dirty="0">
                <a:solidFill>
                  <a:srgbClr val="2C2C2C"/>
                </a:solidFill>
              </a:rPr>
              <a:t>Gehry’s Guggenheim Bilbao in a 19th-century Spanish</a:t>
            </a:r>
            <a:endParaRPr lang="en-US" sz="1000" dirty="0"/>
          </a:p>
          <a:p>
            <a:pPr indent="0" marL="0">
              <a:buNone/>
            </a:pPr>
            <a:r>
              <a:rPr lang="en-US" sz="1000" dirty="0">
                <a:solidFill>
                  <a:srgbClr val="2C2C2C"/>
                </a:solidFill>
              </a:rPr>
              <a:t>city: titanium curves amid stone facades. Moderate</a:t>
            </a:r>
            <a:endParaRPr lang="en-US" sz="1000" dirty="0"/>
          </a:p>
          <a:p>
            <a:pPr indent="0" marL="0">
              <a:buNone/>
            </a:pPr>
            <a:r>
              <a:rPr lang="en-US" sz="1000" dirty="0">
                <a:solidFill>
                  <a:srgbClr val="2C2C2C"/>
                </a:solidFill>
              </a:rPr>
              <a:t>incongruity → delight and engagement (tourists travel to</a:t>
            </a:r>
            <a:endParaRPr lang="en-US" sz="1000" dirty="0"/>
          </a:p>
          <a:p>
            <a:pPr indent="0" marL="0">
              <a:buNone/>
            </a:pPr>
            <a:r>
              <a:rPr lang="en-US" sz="1000" dirty="0">
                <a:solidFill>
                  <a:srgbClr val="2C2C2C"/>
                </a:solidFill>
              </a:rPr>
              <a:t>see it). Imagine the same building in a nature preserve:</a:t>
            </a:r>
            <a:endParaRPr lang="en-US" sz="1000" dirty="0"/>
          </a:p>
          <a:p>
            <a:pPr indent="0" marL="0">
              <a:buNone/>
            </a:pPr>
            <a:r>
              <a:rPr lang="en-US" sz="1000" dirty="0">
                <a:solidFill>
                  <a:srgbClr val="2C2C2C"/>
                </a:solidFill>
              </a:rPr>
              <a:t>excessive incongruity → offense and protest.</a:t>
            </a:r>
            <a:endParaRPr lang="en-US" sz="1000" dirty="0"/>
          </a:p>
        </p:txBody>
      </p:sp>
      <p:sp>
        <p:nvSpPr>
          <p:cNvPr id="15" name="Shape 13"/>
          <p:cNvSpPr/>
          <p:nvPr/>
        </p:nvSpPr>
        <p:spPr>
          <a:xfrm>
            <a:off x="365760" y="4014216"/>
            <a:ext cx="109728" cy="914400"/>
          </a:xfrm>
          <a:prstGeom prst="rect">
            <a:avLst/>
          </a:prstGeom>
          <a:solidFill>
            <a:srgbClr val="6B3B8C"/>
          </a:solidFill>
          <a:ln/>
        </p:spPr>
      </p:sp>
      <p:sp>
        <p:nvSpPr>
          <p:cNvPr id="16" name="Text 14"/>
          <p:cNvSpPr/>
          <p:nvPr/>
        </p:nvSpPr>
        <p:spPr>
          <a:xfrm>
            <a:off x="594360" y="4014216"/>
            <a:ext cx="1371600" cy="914400"/>
          </a:xfrm>
          <a:prstGeom prst="rect">
            <a:avLst/>
          </a:prstGeom>
          <a:noFill/>
          <a:ln/>
        </p:spPr>
        <p:txBody>
          <a:bodyPr wrap="square" lIns="0" tIns="0" rIns="0" bIns="0" rtlCol="0" anchor="t"/>
          <a:lstStyle/>
          <a:p>
            <a:pPr indent="0" marL="0">
              <a:buNone/>
            </a:pPr>
            <a:r>
              <a:rPr lang="en-US" sz="1200" b="1" dirty="0">
                <a:solidFill>
                  <a:srgbClr val="6B3B8C"/>
                </a:solidFill>
                <a:latin typeface="Georgia" pitchFamily="34" charset="0"/>
                <a:ea typeface="Georgia" pitchFamily="34" charset="-122"/>
                <a:cs typeface="Georgia" pitchFamily="34" charset="-120"/>
              </a:rPr>
              <a:t>Surprisingness</a:t>
            </a:r>
            <a:endParaRPr lang="en-US" sz="1200" dirty="0"/>
          </a:p>
        </p:txBody>
      </p:sp>
      <p:sp>
        <p:nvSpPr>
          <p:cNvPr id="17" name="Text 15"/>
          <p:cNvSpPr/>
          <p:nvPr/>
        </p:nvSpPr>
        <p:spPr>
          <a:xfrm>
            <a:off x="2011680" y="4014216"/>
            <a:ext cx="6766560" cy="914400"/>
          </a:xfrm>
          <a:prstGeom prst="rect">
            <a:avLst/>
          </a:prstGeom>
          <a:noFill/>
          <a:ln/>
        </p:spPr>
        <p:txBody>
          <a:bodyPr wrap="square" rtlCol="0" anchor="t"/>
          <a:lstStyle/>
          <a:p>
            <a:pPr indent="0" marL="0">
              <a:buNone/>
            </a:pPr>
            <a:r>
              <a:rPr lang="en-US" sz="1000" dirty="0">
                <a:solidFill>
                  <a:srgbClr val="2C2C2C"/>
                </a:solidFill>
              </a:rPr>
              <a:t>Tadao Ando’s Church of the Light: a plain concrete</a:t>
            </a:r>
            <a:endParaRPr lang="en-US" sz="1000" dirty="0"/>
          </a:p>
          <a:p>
            <a:pPr indent="0" marL="0">
              <a:buNone/>
            </a:pPr>
            <a:r>
              <a:rPr lang="en-US" sz="1000" dirty="0">
                <a:solidFill>
                  <a:srgbClr val="2C2C2C"/>
                </a:solidFill>
              </a:rPr>
              <a:t>box—then a cruciform slit floods the altar with light.</a:t>
            </a:r>
            <a:endParaRPr lang="en-US" sz="1000" dirty="0"/>
          </a:p>
          <a:p>
            <a:pPr indent="0" marL="0">
              <a:buNone/>
            </a:pPr>
            <a:r>
              <a:rPr lang="en-US" sz="1000" dirty="0">
                <a:solidFill>
                  <a:srgbClr val="2C2C2C"/>
                </a:solidFill>
              </a:rPr>
              <a:t>The surprise violates your prediction of a dark interior.</a:t>
            </a:r>
            <a:endParaRPr lang="en-US" sz="1000" dirty="0"/>
          </a:p>
          <a:p>
            <a:pPr indent="0" marL="0">
              <a:buNone/>
            </a:pPr>
            <a:r>
              <a:rPr lang="en-US" sz="1000" dirty="0">
                <a:solidFill>
                  <a:srgbClr val="2C2C2C"/>
                </a:solidFill>
              </a:rPr>
              <a:t>Moderate surprisingness = awe. Extreme surprisingness</a:t>
            </a:r>
            <a:endParaRPr lang="en-US" sz="1000" dirty="0"/>
          </a:p>
          <a:p>
            <a:pPr indent="0" marL="0">
              <a:buNone/>
            </a:pPr>
            <a:r>
              <a:rPr lang="en-US" sz="1000" dirty="0">
                <a:solidFill>
                  <a:srgbClr val="2C2C2C"/>
                </a:solidFill>
              </a:rPr>
              <a:t>(a floor that gives way, a wall that moves) = anxiety.</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Berlyne’s Two-System Model</a:t>
            </a:r>
            <a:endParaRPr lang="en-US" sz="2400" dirty="0"/>
          </a:p>
        </p:txBody>
      </p:sp>
      <p:graphicFrame>
        <p:nvGraphicFramePr>
          <p:cNvPr id="4" name="Chart 0" descr=""/>
          <p:cNvGraphicFramePr/>
          <p:nvPr/>
        </p:nvGraphicFramePr>
        <p:xfrm>
          <a:off x="365760" y="914400"/>
          <a:ext cx="5486400" cy="3474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035040" y="914400"/>
            <a:ext cx="2834640" cy="228600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6" name="Text 3"/>
          <p:cNvSpPr/>
          <p:nvPr/>
        </p:nvSpPr>
        <p:spPr>
          <a:xfrm>
            <a:off x="6126480" y="1005840"/>
            <a:ext cx="2651760" cy="2103120"/>
          </a:xfrm>
          <a:prstGeom prst="rect">
            <a:avLst/>
          </a:prstGeom>
          <a:noFill/>
          <a:ln/>
        </p:spPr>
        <p:txBody>
          <a:bodyPr wrap="square" rtlCol="0" anchor="t"/>
          <a:lstStyle/>
          <a:p>
            <a:pPr indent="0" marL="0">
              <a:buNone/>
            </a:pPr>
            <a:r>
              <a:rPr lang="en-US" sz="1200" b="1" dirty="0">
                <a:solidFill>
                  <a:srgbClr val="1B3A5C"/>
                </a:solidFill>
              </a:rPr>
              <a:t>Modern translation:
</a:t>
            </a:r>
            <a:endParaRPr lang="en-US" sz="1200" dirty="0"/>
          </a:p>
          <a:p>
            <a:pPr indent="0" marL="0">
              <a:buNone/>
            </a:pPr>
            <a:r>
              <a:rPr lang="en-US" sz="1100" b="1" dirty="0">
                <a:solidFill>
                  <a:srgbClr val="4A7C59"/>
                </a:solidFill>
              </a:rPr>
              <a:t xml:space="preserve">Reward = </a:t>
            </a:r>
            <a:pPr indent="0" marL="0">
              <a:buNone/>
            </a:pPr>
            <a:r>
              <a:rPr lang="en-US" sz="1100" dirty="0">
                <a:solidFill>
                  <a:srgbClr val="2C2C2C"/>
                </a:solidFill>
              </a:rPr>
              <a:t>mesolimbic dopamine for learnable PE
</a:t>
            </a:r>
            <a:endParaRPr lang="en-US" sz="1200" dirty="0"/>
          </a:p>
          <a:p>
            <a:pPr indent="0" marL="0">
              <a:buNone/>
            </a:pPr>
            <a:r>
              <a:rPr lang="en-US" sz="1100" b="1" dirty="0">
                <a:solidFill>
                  <a:srgbClr val="C05050"/>
                </a:solidFill>
              </a:rPr>
              <a:t xml:space="preserve">Aversion = </a:t>
            </a:r>
            <a:pPr indent="0" marL="0">
              <a:buNone/>
            </a:pPr>
            <a:r>
              <a:rPr lang="en-US" sz="1100" dirty="0">
                <a:solidFill>
                  <a:srgbClr val="2C2C2C"/>
                </a:solidFill>
              </a:rPr>
              <a:t>anterior insula + dACC for PE exceeding model
</a:t>
            </a:r>
            <a:endParaRPr lang="en-US" sz="1200" dirty="0"/>
          </a:p>
          <a:p>
            <a:pPr indent="0" marL="0">
              <a:buNone/>
            </a:pPr>
            <a:r>
              <a:rPr lang="en-US" sz="1100" b="1" dirty="0">
                <a:solidFill>
                  <a:srgbClr val="C47D2B"/>
                </a:solidFill>
              </a:rPr>
              <a:t xml:space="preserve">Net = </a:t>
            </a:r>
            <a:pPr indent="0" marL="0">
              <a:buNone/>
            </a:pPr>
            <a:r>
              <a:rPr lang="en-US" sz="1100" dirty="0">
                <a:solidFill>
                  <a:srgbClr val="2C2C2C"/>
                </a:solidFill>
              </a:rPr>
              <a:t>the inverted-U: peak where dopamine &gt; insula</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The Two Systems at Work: Walking Through a Museum</a:t>
            </a:r>
            <a:endParaRPr lang="en-US" sz="2200" dirty="0"/>
          </a:p>
        </p:txBody>
      </p:sp>
      <p:sp>
        <p:nvSpPr>
          <p:cNvPr id="6" name="Shape 4"/>
          <p:cNvSpPr/>
          <p:nvPr/>
        </p:nvSpPr>
        <p:spPr>
          <a:xfrm>
            <a:off x="365760" y="868680"/>
            <a:ext cx="8412480" cy="393192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8046720" cy="3840480"/>
          </a:xfrm>
          <a:prstGeom prst="rect">
            <a:avLst/>
          </a:prstGeom>
          <a:noFill/>
          <a:ln/>
        </p:spPr>
        <p:txBody>
          <a:bodyPr wrap="square" rtlCol="0" anchor="t"/>
          <a:lstStyle/>
          <a:p>
            <a:pPr indent="0" marL="0">
              <a:buNone/>
            </a:pPr>
            <a:r>
              <a:rPr lang="en-US" sz="1400" b="1" dirty="0">
                <a:solidFill>
                  <a:srgbClr val="1B3A5C"/>
                </a:solidFill>
              </a:rPr>
              <a:t>Imagine walking through the Louvre:
</a:t>
            </a:r>
            <a:endParaRPr lang="en-US" sz="1400" dirty="0"/>
          </a:p>
          <a:p>
            <a:pPr indent="0" marL="0">
              <a:buNone/>
            </a:pPr>
            <a:r>
              <a:rPr lang="en-US" sz="1200" b="1" dirty="0">
                <a:solidFill>
                  <a:srgbClr val="3B6A9C"/>
                </a:solidFill>
              </a:rPr>
              <a:t xml:space="preserve">Room 1: Empty white hallway </a:t>
            </a:r>
            <a:pPr indent="0" marL="0">
              <a:buNone/>
            </a:pPr>
            <a:r>
              <a:rPr lang="en-US" sz="1100" dirty="0">
                <a:solidFill>
                  <a:srgbClr val="2C2C2C"/>
                </a:solidFill>
              </a:rPr>
              <a:t>(transition corridor). Reward system barely activated—nothing to predict, nothing to learn. Aversion system mildly activated—something feels wrong about the emptiness. Net: slight negative. You walk faster.
</a:t>
            </a:r>
            <a:endParaRPr lang="en-US" sz="1400" dirty="0"/>
          </a:p>
          <a:p>
            <a:pPr indent="0" marL="0">
              <a:buNone/>
            </a:pPr>
            <a:r>
              <a:rPr lang="en-US" sz="1200" b="1" dirty="0">
                <a:solidFill>
                  <a:srgbClr val="4A7C59"/>
                </a:solidFill>
              </a:rPr>
              <a:t xml:space="preserve">Room 2: Vermeer gallery </a:t>
            </a:r>
            <a:pPr indent="0" marL="0">
              <a:buNone/>
            </a:pPr>
            <a:r>
              <a:rPr lang="en-US" sz="1100" dirty="0">
                <a:solidFill>
                  <a:srgbClr val="2C2C2C"/>
                </a:solidFill>
              </a:rPr>
              <a:t>(6 paintings, warm light, intimate scale). Reward system strongly activated—each painting provides learnable surprise, the light is warm, the scale is human. Aversion system barely activated—nothing threatening or overwhelming. Net: strong positive. You linger.
</a:t>
            </a:r>
            <a:endParaRPr lang="en-US" sz="1400" dirty="0"/>
          </a:p>
          <a:p>
            <a:pPr indent="0" marL="0">
              <a:buNone/>
            </a:pPr>
            <a:r>
              <a:rPr lang="en-US" sz="1200" b="1" dirty="0">
                <a:solidFill>
                  <a:srgbClr val="C05050"/>
                </a:solidFill>
              </a:rPr>
              <a:t xml:space="preserve">Room 3: Grande Galerie </a:t>
            </a:r>
            <a:pPr indent="0" marL="0">
              <a:buNone/>
            </a:pPr>
            <a:r>
              <a:rPr lang="en-US" sz="1100" dirty="0">
                <a:solidFill>
                  <a:srgbClr val="2C2C2C"/>
                </a:solidFill>
              </a:rPr>
              <a:t>(500m of paintings floor-to-ceiling, tourist crowds). Reward system activated—so much to see—but aversion system also strongly activated: too many PE sources competing for attention, social density, acoustic chaos. Net: mixed → “museum fatigue.” You need to sit down.
</a:t>
            </a:r>
            <a:endParaRPr lang="en-US" sz="1400" dirty="0"/>
          </a:p>
          <a:p>
            <a:pPr indent="0" marL="0">
              <a:buNone/>
            </a:pPr>
            <a:r>
              <a:rPr lang="en-US" sz="1100" b="1" i="1" dirty="0">
                <a:solidFill>
                  <a:srgbClr val="C47D2B"/>
                </a:solidFill>
              </a:rPr>
              <a:t>The museum walk is a journey along the inverted-U: under-stimulation → sweet spot → over-stimulation, all within the same building.</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What Berlyne Missed</a:t>
            </a:r>
            <a:endParaRPr lang="en-US" sz="2400" dirty="0"/>
          </a:p>
        </p:txBody>
      </p:sp>
      <p:sp>
        <p:nvSpPr>
          <p:cNvPr id="4" name="Shape 2"/>
          <p:cNvSpPr/>
          <p:nvPr/>
        </p:nvSpPr>
        <p:spPr>
          <a:xfrm>
            <a:off x="457200" y="914400"/>
            <a:ext cx="109728" cy="1097280"/>
          </a:xfrm>
          <a:prstGeom prst="rect">
            <a:avLst/>
          </a:prstGeom>
          <a:solidFill>
            <a:srgbClr val="C47D2B"/>
          </a:solidFill>
          <a:ln/>
        </p:spPr>
      </p:sp>
      <p:sp>
        <p:nvSpPr>
          <p:cNvPr id="5" name="Text 3"/>
          <p:cNvSpPr/>
          <p:nvPr/>
        </p:nvSpPr>
        <p:spPr>
          <a:xfrm>
            <a:off x="777240" y="914400"/>
            <a:ext cx="2743200" cy="320040"/>
          </a:xfrm>
          <a:prstGeom prst="rect">
            <a:avLst/>
          </a:prstGeom>
          <a:noFill/>
          <a:ln/>
        </p:spPr>
        <p:txBody>
          <a:bodyPr wrap="square" lIns="0" tIns="0" rIns="0" bIns="0" rtlCol="0" anchor="ctr"/>
          <a:lstStyle/>
          <a:p>
            <a:pPr indent="0" marL="0">
              <a:buNone/>
            </a:pPr>
            <a:r>
              <a:rPr lang="en-US" sz="1600" b="1" dirty="0">
                <a:solidFill>
                  <a:srgbClr val="C47D2B"/>
                </a:solidFill>
                <a:latin typeface="Georgia" pitchFamily="34" charset="0"/>
                <a:ea typeface="Georgia" pitchFamily="34" charset="-122"/>
                <a:cs typeface="Georgia" pitchFamily="34" charset="-120"/>
              </a:rPr>
              <a:t>Multi-Channel Independence</a:t>
            </a:r>
            <a:endParaRPr lang="en-US" sz="1600" dirty="0"/>
          </a:p>
        </p:txBody>
      </p:sp>
      <p:sp>
        <p:nvSpPr>
          <p:cNvPr id="6" name="Text 4"/>
          <p:cNvSpPr/>
          <p:nvPr/>
        </p:nvSpPr>
        <p:spPr>
          <a:xfrm>
            <a:off x="777240" y="1280160"/>
            <a:ext cx="7772400" cy="731520"/>
          </a:xfrm>
          <a:prstGeom prst="rect">
            <a:avLst/>
          </a:prstGeom>
          <a:noFill/>
          <a:ln/>
        </p:spPr>
        <p:txBody>
          <a:bodyPr wrap="square" rtlCol="0" anchor="ctr"/>
          <a:lstStyle/>
          <a:p>
            <a:pPr indent="0" marL="0">
              <a:buNone/>
            </a:pPr>
            <a:r>
              <a:rPr lang="en-US" sz="1200" dirty="0">
                <a:solidFill>
                  <a:srgbClr val="2C2C2C"/>
                </a:solidFill>
              </a:rPr>
              <a:t>The inverted-U operates independently in each sensory channel.</a:t>
            </a:r>
            <a:endParaRPr lang="en-US" sz="1200" dirty="0"/>
          </a:p>
          <a:p>
            <a:pPr indent="0" marL="0">
              <a:buNone/>
            </a:pPr>
            <a:r>
              <a:rPr lang="en-US" sz="1200" dirty="0">
                <a:solidFill>
                  <a:srgbClr val="2C2C2C"/>
                </a:solidFill>
              </a:rPr>
              <a:t>Channels interact through shared arousal pathways (LC-NE).</a:t>
            </a:r>
            <a:endParaRPr lang="en-US" sz="1200" dirty="0"/>
          </a:p>
        </p:txBody>
      </p:sp>
      <p:sp>
        <p:nvSpPr>
          <p:cNvPr id="7" name="Shape 5"/>
          <p:cNvSpPr/>
          <p:nvPr/>
        </p:nvSpPr>
        <p:spPr>
          <a:xfrm>
            <a:off x="457200" y="2286000"/>
            <a:ext cx="109728" cy="1097280"/>
          </a:xfrm>
          <a:prstGeom prst="rect">
            <a:avLst/>
          </a:prstGeom>
          <a:solidFill>
            <a:srgbClr val="2B8C8C"/>
          </a:solidFill>
          <a:ln/>
        </p:spPr>
      </p:sp>
      <p:sp>
        <p:nvSpPr>
          <p:cNvPr id="8" name="Text 6"/>
          <p:cNvSpPr/>
          <p:nvPr/>
        </p:nvSpPr>
        <p:spPr>
          <a:xfrm>
            <a:off x="777240" y="2286000"/>
            <a:ext cx="2743200" cy="320040"/>
          </a:xfrm>
          <a:prstGeom prst="rect">
            <a:avLst/>
          </a:prstGeom>
          <a:noFill/>
          <a:ln/>
        </p:spPr>
        <p:txBody>
          <a:bodyPr wrap="square" lIns="0" tIns="0" rIns="0" bIns="0" rtlCol="0" anchor="ctr"/>
          <a:lstStyle/>
          <a:p>
            <a:pPr indent="0" marL="0">
              <a:buNone/>
            </a:pPr>
            <a:r>
              <a:rPr lang="en-US" sz="1600" b="1" dirty="0">
                <a:solidFill>
                  <a:srgbClr val="2B8C8C"/>
                </a:solidFill>
                <a:latin typeface="Georgia" pitchFamily="34" charset="0"/>
                <a:ea typeface="Georgia" pitchFamily="34" charset="-122"/>
                <a:cs typeface="Georgia" pitchFamily="34" charset="-120"/>
              </a:rPr>
              <a:t>Task Dependence</a:t>
            </a:r>
            <a:endParaRPr lang="en-US" sz="1600" dirty="0"/>
          </a:p>
        </p:txBody>
      </p:sp>
      <p:sp>
        <p:nvSpPr>
          <p:cNvPr id="9" name="Text 7"/>
          <p:cNvSpPr/>
          <p:nvPr/>
        </p:nvSpPr>
        <p:spPr>
          <a:xfrm>
            <a:off x="777240" y="2651760"/>
            <a:ext cx="7772400" cy="731520"/>
          </a:xfrm>
          <a:prstGeom prst="rect">
            <a:avLst/>
          </a:prstGeom>
          <a:noFill/>
          <a:ln/>
        </p:spPr>
        <p:txBody>
          <a:bodyPr wrap="square" rtlCol="0" anchor="ctr"/>
          <a:lstStyle/>
          <a:p>
            <a:pPr indent="0" marL="0">
              <a:buNone/>
            </a:pPr>
            <a:r>
              <a:rPr lang="en-US" sz="1200" dirty="0">
                <a:solidFill>
                  <a:srgbClr val="2C2C2C"/>
                </a:solidFill>
              </a:rPr>
              <a:t>Creative tasks prefer higher stimulation; focused tasks prefer lower.</a:t>
            </a:r>
            <a:endParaRPr lang="en-US" sz="1200" dirty="0"/>
          </a:p>
          <a:p>
            <a:pPr indent="0" marL="0">
              <a:buNone/>
            </a:pPr>
            <a:r>
              <a:rPr lang="en-US" sz="1200" dirty="0">
                <a:solidFill>
                  <a:srgbClr val="2C2C2C"/>
                </a:solidFill>
              </a:rPr>
              <a:t>The optimal level shifts with what you’re doing.</a:t>
            </a:r>
            <a:endParaRPr lang="en-US" sz="1200" dirty="0"/>
          </a:p>
        </p:txBody>
      </p:sp>
      <p:sp>
        <p:nvSpPr>
          <p:cNvPr id="10" name="Shape 8"/>
          <p:cNvSpPr/>
          <p:nvPr/>
        </p:nvSpPr>
        <p:spPr>
          <a:xfrm>
            <a:off x="457200" y="3657600"/>
            <a:ext cx="109728" cy="1097280"/>
          </a:xfrm>
          <a:prstGeom prst="rect">
            <a:avLst/>
          </a:prstGeom>
          <a:solidFill>
            <a:srgbClr val="B85042"/>
          </a:solidFill>
          <a:ln/>
        </p:spPr>
      </p:sp>
      <p:sp>
        <p:nvSpPr>
          <p:cNvPr id="11" name="Text 9"/>
          <p:cNvSpPr/>
          <p:nvPr/>
        </p:nvSpPr>
        <p:spPr>
          <a:xfrm>
            <a:off x="777240" y="3657600"/>
            <a:ext cx="2743200" cy="320040"/>
          </a:xfrm>
          <a:prstGeom prst="rect">
            <a:avLst/>
          </a:prstGeom>
          <a:noFill/>
          <a:ln/>
        </p:spPr>
        <p:txBody>
          <a:bodyPr wrap="square" lIns="0" tIns="0" rIns="0" bIns="0" rtlCol="0" anchor="ctr"/>
          <a:lstStyle/>
          <a:p>
            <a:pPr indent="0" marL="0">
              <a:buNone/>
            </a:pPr>
            <a:r>
              <a:rPr lang="en-US" sz="1600" b="1" dirty="0">
                <a:solidFill>
                  <a:srgbClr val="B85042"/>
                </a:solidFill>
                <a:latin typeface="Georgia" pitchFamily="34" charset="0"/>
                <a:ea typeface="Georgia" pitchFamily="34" charset="-122"/>
                <a:cs typeface="Georgia" pitchFamily="34" charset="-120"/>
              </a:rPr>
              <a:t>Cultural Variation</a:t>
            </a:r>
            <a:endParaRPr lang="en-US" sz="1600" dirty="0"/>
          </a:p>
        </p:txBody>
      </p:sp>
      <p:sp>
        <p:nvSpPr>
          <p:cNvPr id="12" name="Text 10"/>
          <p:cNvSpPr/>
          <p:nvPr/>
        </p:nvSpPr>
        <p:spPr>
          <a:xfrm>
            <a:off x="777240" y="4023360"/>
            <a:ext cx="7772400" cy="731520"/>
          </a:xfrm>
          <a:prstGeom prst="rect">
            <a:avLst/>
          </a:prstGeom>
          <a:noFill/>
          <a:ln/>
        </p:spPr>
        <p:txBody>
          <a:bodyPr wrap="square" rtlCol="0" anchor="ctr"/>
          <a:lstStyle/>
          <a:p>
            <a:pPr indent="0" marL="0">
              <a:buNone/>
            </a:pPr>
            <a:r>
              <a:rPr lang="en-US" sz="1200" dirty="0">
                <a:solidFill>
                  <a:srgbClr val="2C2C2C"/>
                </a:solidFill>
              </a:rPr>
              <a:t>Goldilocks set-points shift across cultures. India fieldwork shows</a:t>
            </a:r>
            <a:endParaRPr lang="en-US" sz="1200" dirty="0"/>
          </a:p>
          <a:p>
            <a:pPr indent="0" marL="0">
              <a:buNone/>
            </a:pPr>
            <a:r>
              <a:rPr lang="en-US" sz="1200" dirty="0">
                <a:solidFill>
                  <a:srgbClr val="2C2C2C"/>
                </a:solidFill>
              </a:rPr>
              <a:t>correlated elevation across ALL modalities simultaneously.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Task Dependence: Same Room, Two Tasks, Opposite Effects</a:t>
            </a:r>
            <a:endParaRPr lang="en-US" sz="2200" dirty="0"/>
          </a:p>
        </p:txBody>
      </p:sp>
      <p:sp>
        <p:nvSpPr>
          <p:cNvPr id="6" name="Shape 4"/>
          <p:cNvSpPr/>
          <p:nvPr/>
        </p:nvSpPr>
        <p:spPr>
          <a:xfrm>
            <a:off x="365760" y="868680"/>
            <a:ext cx="4023360" cy="393192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3657600" cy="3840480"/>
          </a:xfrm>
          <a:prstGeom prst="rect">
            <a:avLst/>
          </a:prstGeom>
          <a:noFill/>
          <a:ln/>
        </p:spPr>
        <p:txBody>
          <a:bodyPr wrap="square" rtlCol="0" anchor="t"/>
          <a:lstStyle/>
          <a:p>
            <a:pPr indent="0" marL="0">
              <a:buNone/>
            </a:pPr>
            <a:r>
              <a:rPr lang="en-US" sz="1400" b="1" dirty="0">
                <a:solidFill>
                  <a:srgbClr val="4A7C59"/>
                </a:solidFill>
              </a:rPr>
              <a:t>Brainstorming session (10am)
</a:t>
            </a:r>
            <a:endParaRPr lang="en-US" sz="1400" dirty="0"/>
          </a:p>
          <a:p>
            <a:pPr indent="0" marL="0">
              <a:buNone/>
            </a:pPr>
            <a:r>
              <a:rPr lang="en-US" sz="1100" dirty="0">
                <a:solidFill>
                  <a:srgbClr val="2C2C2C"/>
                </a:solidFill>
              </a:rPr>
              <a:t>Room: Open atrium, 4m ceiling, south windows, coffee-shop acoustics (~65 dB), wood and plants.
</a:t>
            </a:r>
            <a:endParaRPr lang="en-US" sz="1400" dirty="0"/>
          </a:p>
          <a:p>
            <a:pPr indent="0" marL="0">
              <a:buNone/>
            </a:pPr>
            <a:r>
              <a:rPr lang="en-US" sz="1100" b="1" dirty="0">
                <a:solidFill>
                  <a:srgbClr val="1B3A5C"/>
                </a:solidFill>
              </a:rPr>
              <a:t xml:space="preserve">Effect: </a:t>
            </a:r>
            <a:pPr indent="0" marL="0">
              <a:buNone/>
            </a:pPr>
            <a:r>
              <a:rPr lang="en-US" sz="1100" dirty="0">
                <a:solidFill>
                  <a:srgbClr val="2C2C2C"/>
                </a:solidFill>
              </a:rPr>
              <a:t>High ceiling primes abstract thinking (T007, d≈0.4). Moderate noise broadens associative search. Natural light and views sustain engagement without fatigue. Compound d ≈ 0.6.
</a:t>
            </a:r>
            <a:endParaRPr lang="en-US" sz="1400" dirty="0"/>
          </a:p>
          <a:p>
            <a:pPr indent="0" marL="0">
              <a:buNone/>
            </a:pPr>
            <a:r>
              <a:rPr lang="en-US" sz="1100" b="1" i="1" dirty="0">
                <a:solidFill>
                  <a:srgbClr val="4A7C59"/>
                </a:solidFill>
              </a:rPr>
              <a:t>This room is OPTIMAL for creative work.</a:t>
            </a:r>
            <a:endParaRPr lang="en-US" sz="1400" dirty="0"/>
          </a:p>
        </p:txBody>
      </p:sp>
      <p:sp>
        <p:nvSpPr>
          <p:cNvPr id="8" name="Shape 6"/>
          <p:cNvSpPr/>
          <p:nvPr/>
        </p:nvSpPr>
        <p:spPr>
          <a:xfrm>
            <a:off x="4663440" y="868680"/>
            <a:ext cx="4114800" cy="393192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9" name="Text 7"/>
          <p:cNvSpPr/>
          <p:nvPr/>
        </p:nvSpPr>
        <p:spPr>
          <a:xfrm>
            <a:off x="4846320" y="914400"/>
            <a:ext cx="3749040" cy="3840480"/>
          </a:xfrm>
          <a:prstGeom prst="rect">
            <a:avLst/>
          </a:prstGeom>
          <a:noFill/>
          <a:ln/>
        </p:spPr>
        <p:txBody>
          <a:bodyPr wrap="square" rtlCol="0" anchor="t"/>
          <a:lstStyle/>
          <a:p>
            <a:pPr indent="0" marL="0">
              <a:buNone/>
            </a:pPr>
            <a:r>
              <a:rPr lang="en-US" sz="1400" b="1" dirty="0">
                <a:solidFill>
                  <a:srgbClr val="C05050"/>
                </a:solidFill>
              </a:rPr>
              <a:t>Code review session (2pm)
</a:t>
            </a:r>
            <a:endParaRPr lang="en-US" sz="1400" dirty="0"/>
          </a:p>
          <a:p>
            <a:pPr indent="0" marL="0">
              <a:buNone/>
            </a:pPr>
            <a:r>
              <a:rPr lang="en-US" sz="1100" dirty="0">
                <a:solidFill>
                  <a:srgbClr val="2C2C2C"/>
                </a:solidFill>
              </a:rPr>
              <a:t>Same room. Same team. Same environment.
</a:t>
            </a:r>
            <a:endParaRPr lang="en-US" sz="1400" dirty="0"/>
          </a:p>
          <a:p>
            <a:pPr indent="0" marL="0">
              <a:buNone/>
            </a:pPr>
            <a:r>
              <a:rPr lang="en-US" sz="1100" b="1" dirty="0">
                <a:solidFill>
                  <a:srgbClr val="1B3A5C"/>
                </a:solidFill>
              </a:rPr>
              <a:t xml:space="preserve">Effect: </a:t>
            </a:r>
            <a:pPr indent="0" marL="0">
              <a:buNone/>
            </a:pPr>
            <a:r>
              <a:rPr lang="en-US" sz="1100" dirty="0">
                <a:solidFill>
                  <a:srgbClr val="2C2C2C"/>
                </a:solidFill>
              </a:rPr>
              <a:t>High ceiling IMPAIRS detail focus (T007neg, d≈–0.3). Coffee-shop noise causes constant phasic LC interruption. Nature view captures involuntary attention away from screen.
Compound d ≈ –0.15 to +0.10.
</a:t>
            </a:r>
            <a:endParaRPr lang="en-US" sz="1400" dirty="0"/>
          </a:p>
          <a:p>
            <a:pPr indent="0" marL="0">
              <a:buNone/>
            </a:pPr>
            <a:r>
              <a:rPr lang="en-US" sz="1100" b="1" i="1" dirty="0">
                <a:solidFill>
                  <a:srgbClr val="C05050"/>
                </a:solidFill>
              </a:rPr>
              <a:t>This room is ANTI-OPTIMAL for focused work.</a:t>
            </a:r>
            <a:endParaRPr lang="en-US" sz="1400" dirty="0"/>
          </a:p>
          <a:p>
            <a:pPr indent="0" marL="0">
              <a:buNone/>
            </a:pPr>
            <a:r>
              <a:rPr lang="en-US" sz="1100" b="1" i="1" dirty="0">
                <a:solidFill>
                  <a:srgbClr val="C05050"/>
                </a:solidFill>
              </a:rPr>
              <a:t>Same environment. Different task. Opposite Goldilocks position.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1097280"/>
            <a:ext cx="1828800" cy="1097280"/>
          </a:xfrm>
          <a:prstGeom prst="rect">
            <a:avLst/>
          </a:prstGeom>
          <a:noFill/>
          <a:ln/>
        </p:spPr>
        <p:txBody>
          <a:bodyPr wrap="square" rtlCol="0" anchor="ctr"/>
          <a:lstStyle/>
          <a:p>
            <a:pPr indent="0" marL="0">
              <a:buNone/>
            </a:pPr>
            <a:r>
              <a:rPr lang="en-US" sz="6000" b="1" dirty="0">
                <a:solidFill>
                  <a:srgbClr val="C47D2B"/>
                </a:solidFill>
                <a:latin typeface="Georgia" pitchFamily="34" charset="0"/>
                <a:ea typeface="Georgia" pitchFamily="34" charset="-122"/>
                <a:cs typeface="Georgia" pitchFamily="34" charset="-120"/>
              </a:rPr>
              <a:t>3</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Predictive Processing:</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The Best Framework, But Not Enough</a:t>
            </a:r>
            <a:endParaRPr lang="en-US" sz="3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PP Explains WHY the Inverted-U Exists</a:t>
            </a:r>
            <a:endParaRPr lang="en-US" sz="2400" dirty="0"/>
          </a:p>
        </p:txBody>
      </p:sp>
      <p:sp>
        <p:nvSpPr>
          <p:cNvPr id="4" name="Shape 2"/>
          <p:cNvSpPr/>
          <p:nvPr/>
        </p:nvSpPr>
        <p:spPr>
          <a:xfrm>
            <a:off x="457200" y="914400"/>
            <a:ext cx="2560320" cy="347472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5" name="Shape 3"/>
          <p:cNvSpPr/>
          <p:nvPr/>
        </p:nvSpPr>
        <p:spPr>
          <a:xfrm>
            <a:off x="457200" y="914400"/>
            <a:ext cx="2560320" cy="548640"/>
          </a:xfrm>
          <a:prstGeom prst="rect">
            <a:avLst/>
          </a:prstGeom>
          <a:solidFill>
            <a:srgbClr val="3B6A9C"/>
          </a:solidFill>
          <a:ln/>
        </p:spPr>
      </p:sp>
      <p:sp>
        <p:nvSpPr>
          <p:cNvPr id="6" name="Text 4"/>
          <p:cNvSpPr/>
          <p:nvPr/>
        </p:nvSpPr>
        <p:spPr>
          <a:xfrm>
            <a:off x="457200" y="960120"/>
            <a:ext cx="256032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Zero PE</a:t>
            </a:r>
            <a:endParaRPr lang="en-US" sz="1600" dirty="0"/>
          </a:p>
        </p:txBody>
      </p:sp>
      <p:sp>
        <p:nvSpPr>
          <p:cNvPr id="7" name="Text 5"/>
          <p:cNvSpPr/>
          <p:nvPr/>
        </p:nvSpPr>
        <p:spPr>
          <a:xfrm>
            <a:off x="640080" y="1645920"/>
            <a:ext cx="2194560" cy="2560320"/>
          </a:xfrm>
          <a:prstGeom prst="rect">
            <a:avLst/>
          </a:prstGeom>
          <a:noFill/>
          <a:ln/>
        </p:spPr>
        <p:txBody>
          <a:bodyPr wrap="square" rtlCol="0" anchor="ctr"/>
          <a:lstStyle/>
          <a:p>
            <a:pPr indent="0" marL="0">
              <a:buNone/>
            </a:pPr>
            <a:r>
              <a:rPr lang="en-US" sz="1200" dirty="0">
                <a:solidFill>
                  <a:srgbClr val="2C2C2C"/>
                </a:solidFill>
              </a:rPr>
              <a:t>No information gain</a:t>
            </a:r>
            <a:endParaRPr lang="en-US" sz="1200" dirty="0"/>
          </a:p>
          <a:p>
            <a:pPr indent="0" marL="0">
              <a:buNone/>
            </a:pPr>
            <a:r>
              <a:rPr lang="en-US" sz="1200" dirty="0">
                <a:solidFill>
                  <a:srgbClr val="2C2C2C"/>
                </a:solidFill>
              </a:rPr>
              <a:t>Neural habituation</a:t>
            </a:r>
            <a:endParaRPr lang="en-US" sz="1200" dirty="0"/>
          </a:p>
          <a:p>
            <a:pPr indent="0" marL="0">
              <a:buNone/>
            </a:pPr>
            <a:r>
              <a:rPr lang="en-US" sz="1200" dirty="0">
                <a:solidFill>
                  <a:srgbClr val="2C2C2C"/>
                </a:solidFill>
              </a:rPr>
              <a:t>Reduced dopamine</a:t>
            </a:r>
            <a:endParaRPr lang="en-US" sz="1200" dirty="0"/>
          </a:p>
          <a:p>
            <a:pPr indent="0" marL="0">
              <a:buNone/>
            </a:pPr>
            <a:endParaRPr lang="en-US" sz="1200" dirty="0"/>
          </a:p>
          <a:p>
            <a:pPr indent="0" marL="0">
              <a:buNone/>
            </a:pPr>
            <a:r>
              <a:rPr lang="en-US" sz="1200" dirty="0">
                <a:solidFill>
                  <a:srgbClr val="2C2C2C"/>
                </a:solidFill>
              </a:rPr>
              <a:t>BOREDOM</a:t>
            </a:r>
            <a:endParaRPr lang="en-US" sz="1200" dirty="0"/>
          </a:p>
        </p:txBody>
      </p:sp>
      <p:sp>
        <p:nvSpPr>
          <p:cNvPr id="8" name="Shape 6"/>
          <p:cNvSpPr/>
          <p:nvPr/>
        </p:nvSpPr>
        <p:spPr>
          <a:xfrm>
            <a:off x="3383280" y="914400"/>
            <a:ext cx="2560320" cy="347472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9" name="Shape 7"/>
          <p:cNvSpPr/>
          <p:nvPr/>
        </p:nvSpPr>
        <p:spPr>
          <a:xfrm>
            <a:off x="3383280" y="914400"/>
            <a:ext cx="2560320" cy="548640"/>
          </a:xfrm>
          <a:prstGeom prst="rect">
            <a:avLst/>
          </a:prstGeom>
          <a:solidFill>
            <a:srgbClr val="4A7C59"/>
          </a:solidFill>
          <a:ln/>
        </p:spPr>
      </p:sp>
      <p:sp>
        <p:nvSpPr>
          <p:cNvPr id="10" name="Text 8"/>
          <p:cNvSpPr/>
          <p:nvPr/>
        </p:nvSpPr>
        <p:spPr>
          <a:xfrm>
            <a:off x="3383280" y="960120"/>
            <a:ext cx="256032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Moderate PE</a:t>
            </a:r>
            <a:endParaRPr lang="en-US" sz="1600" dirty="0"/>
          </a:p>
        </p:txBody>
      </p:sp>
      <p:sp>
        <p:nvSpPr>
          <p:cNvPr id="11" name="Text 9"/>
          <p:cNvSpPr/>
          <p:nvPr/>
        </p:nvSpPr>
        <p:spPr>
          <a:xfrm>
            <a:off x="3566160" y="1645920"/>
            <a:ext cx="2194560" cy="2560320"/>
          </a:xfrm>
          <a:prstGeom prst="rect">
            <a:avLst/>
          </a:prstGeom>
          <a:noFill/>
          <a:ln/>
        </p:spPr>
        <p:txBody>
          <a:bodyPr wrap="square" rtlCol="0" anchor="ctr"/>
          <a:lstStyle/>
          <a:p>
            <a:pPr indent="0" marL="0">
              <a:buNone/>
            </a:pPr>
            <a:r>
              <a:rPr lang="en-US" sz="1200" dirty="0">
                <a:solidFill>
                  <a:srgbClr val="2C2C2C"/>
                </a:solidFill>
              </a:rPr>
              <a:t>Learnable surprise</a:t>
            </a:r>
            <a:endParaRPr lang="en-US" sz="1200" dirty="0"/>
          </a:p>
          <a:p>
            <a:pPr indent="0" marL="0">
              <a:buNone/>
            </a:pPr>
            <a:r>
              <a:rPr lang="en-US" sz="1200" dirty="0">
                <a:solidFill>
                  <a:srgbClr val="2C2C2C"/>
                </a:solidFill>
              </a:rPr>
              <a:t>Model updating</a:t>
            </a:r>
            <a:endParaRPr lang="en-US" sz="1200" dirty="0"/>
          </a:p>
          <a:p>
            <a:pPr indent="0" marL="0">
              <a:buNone/>
            </a:pPr>
            <a:r>
              <a:rPr lang="en-US" sz="1200" dirty="0">
                <a:solidFill>
                  <a:srgbClr val="2C2C2C"/>
                </a:solidFill>
              </a:rPr>
              <a:t>Dopamine reward</a:t>
            </a:r>
            <a:endParaRPr lang="en-US" sz="1200" dirty="0"/>
          </a:p>
          <a:p>
            <a:pPr indent="0" marL="0">
              <a:buNone/>
            </a:pPr>
            <a:endParaRPr lang="en-US" sz="1200" dirty="0"/>
          </a:p>
          <a:p>
            <a:pPr indent="0" marL="0">
              <a:buNone/>
            </a:pPr>
            <a:r>
              <a:rPr lang="en-US" sz="1200" dirty="0">
                <a:solidFill>
                  <a:srgbClr val="2C2C2C"/>
                </a:solidFill>
              </a:rPr>
              <a:t>ENGAGEMENT</a:t>
            </a:r>
            <a:endParaRPr lang="en-US" sz="1200" dirty="0"/>
          </a:p>
        </p:txBody>
      </p:sp>
      <p:sp>
        <p:nvSpPr>
          <p:cNvPr id="12" name="Shape 10"/>
          <p:cNvSpPr/>
          <p:nvPr/>
        </p:nvSpPr>
        <p:spPr>
          <a:xfrm>
            <a:off x="6309360" y="914400"/>
            <a:ext cx="2560320" cy="347472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13" name="Shape 11"/>
          <p:cNvSpPr/>
          <p:nvPr/>
        </p:nvSpPr>
        <p:spPr>
          <a:xfrm>
            <a:off x="6309360" y="914400"/>
            <a:ext cx="2560320" cy="548640"/>
          </a:xfrm>
          <a:prstGeom prst="rect">
            <a:avLst/>
          </a:prstGeom>
          <a:solidFill>
            <a:srgbClr val="C05050"/>
          </a:solidFill>
          <a:ln/>
        </p:spPr>
      </p:sp>
      <p:sp>
        <p:nvSpPr>
          <p:cNvPr id="14" name="Text 12"/>
          <p:cNvSpPr/>
          <p:nvPr/>
        </p:nvSpPr>
        <p:spPr>
          <a:xfrm>
            <a:off x="6309360" y="960120"/>
            <a:ext cx="256032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Excessive PE</a:t>
            </a:r>
            <a:endParaRPr lang="en-US" sz="1600" dirty="0"/>
          </a:p>
        </p:txBody>
      </p:sp>
      <p:sp>
        <p:nvSpPr>
          <p:cNvPr id="15" name="Text 13"/>
          <p:cNvSpPr/>
          <p:nvPr/>
        </p:nvSpPr>
        <p:spPr>
          <a:xfrm>
            <a:off x="6492240" y="1645920"/>
            <a:ext cx="2194560" cy="2560320"/>
          </a:xfrm>
          <a:prstGeom prst="rect">
            <a:avLst/>
          </a:prstGeom>
          <a:noFill/>
          <a:ln/>
        </p:spPr>
        <p:txBody>
          <a:bodyPr wrap="square" rtlCol="0" anchor="ctr"/>
          <a:lstStyle/>
          <a:p>
            <a:pPr indent="0" marL="0">
              <a:buNone/>
            </a:pPr>
            <a:r>
              <a:rPr lang="en-US" sz="1200" dirty="0">
                <a:solidFill>
                  <a:srgbClr val="2C2C2C"/>
                </a:solidFill>
              </a:rPr>
              <a:t>Model failure</a:t>
            </a:r>
            <a:endParaRPr lang="en-US" sz="1200" dirty="0"/>
          </a:p>
          <a:p>
            <a:pPr indent="0" marL="0">
              <a:buNone/>
            </a:pPr>
            <a:r>
              <a:rPr lang="en-US" sz="1200" dirty="0">
                <a:solidFill>
                  <a:srgbClr val="2C2C2C"/>
                </a:solidFill>
              </a:rPr>
              <a:t>Insula + dACC alarm</a:t>
            </a:r>
            <a:endParaRPr lang="en-US" sz="1200" dirty="0"/>
          </a:p>
          <a:p>
            <a:pPr indent="0" marL="0">
              <a:buNone/>
            </a:pPr>
            <a:r>
              <a:rPr lang="en-US" sz="1200" dirty="0">
                <a:solidFill>
                  <a:srgbClr val="2C2C2C"/>
                </a:solidFill>
              </a:rPr>
              <a:t>HPA cortisol</a:t>
            </a:r>
            <a:endParaRPr lang="en-US" sz="1200" dirty="0"/>
          </a:p>
          <a:p>
            <a:pPr indent="0" marL="0">
              <a:buNone/>
            </a:pPr>
            <a:endParaRPr lang="en-US" sz="1200" dirty="0"/>
          </a:p>
          <a:p>
            <a:pPr indent="0" marL="0">
              <a:buNone/>
            </a:pPr>
            <a:r>
              <a:rPr lang="en-US" sz="1200" dirty="0">
                <a:solidFill>
                  <a:srgbClr val="2C2C2C"/>
                </a:solidFill>
              </a:rPr>
              <a:t>ANXIETY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Three PE Zones in Your Morning Commute</a:t>
            </a:r>
            <a:endParaRPr lang="en-US" sz="2200" dirty="0"/>
          </a:p>
        </p:txBody>
      </p:sp>
      <p:sp>
        <p:nvSpPr>
          <p:cNvPr id="6" name="Shape 4"/>
          <p:cNvSpPr/>
          <p:nvPr/>
        </p:nvSpPr>
        <p:spPr>
          <a:xfrm>
            <a:off x="320040" y="868680"/>
            <a:ext cx="2697480" cy="3931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320040" y="868680"/>
            <a:ext cx="2697480" cy="640080"/>
          </a:xfrm>
          <a:prstGeom prst="rect">
            <a:avLst/>
          </a:prstGeom>
          <a:solidFill>
            <a:srgbClr val="3B6A9C"/>
          </a:solidFill>
          <a:ln/>
        </p:spPr>
      </p:sp>
      <p:sp>
        <p:nvSpPr>
          <p:cNvPr id="8" name="Text 6"/>
          <p:cNvSpPr/>
          <p:nvPr/>
        </p:nvSpPr>
        <p:spPr>
          <a:xfrm>
            <a:off x="320040" y="868680"/>
            <a:ext cx="2697480" cy="6400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Zero PE:</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The Familiar Route</a:t>
            </a:r>
            <a:endParaRPr lang="en-US" sz="1100" dirty="0"/>
          </a:p>
        </p:txBody>
      </p:sp>
      <p:sp>
        <p:nvSpPr>
          <p:cNvPr id="9" name="Text 7"/>
          <p:cNvSpPr/>
          <p:nvPr/>
        </p:nvSpPr>
        <p:spPr>
          <a:xfrm>
            <a:off x="429768" y="1645920"/>
            <a:ext cx="2468880" cy="2926080"/>
          </a:xfrm>
          <a:prstGeom prst="rect">
            <a:avLst/>
          </a:prstGeom>
          <a:noFill/>
          <a:ln/>
        </p:spPr>
        <p:txBody>
          <a:bodyPr wrap="square" rtlCol="0" anchor="ctr"/>
          <a:lstStyle/>
          <a:p>
            <a:pPr indent="0" marL="0">
              <a:buNone/>
            </a:pPr>
            <a:r>
              <a:rPr lang="en-US" sz="1000" dirty="0">
                <a:solidFill>
                  <a:srgbClr val="2C2C2C"/>
                </a:solidFill>
              </a:rPr>
              <a:t>You’ve driven this road 2,000 times.</a:t>
            </a:r>
            <a:endParaRPr lang="en-US" sz="1000" dirty="0"/>
          </a:p>
          <a:p>
            <a:pPr indent="0" marL="0">
              <a:buNone/>
            </a:pPr>
            <a:r>
              <a:rPr lang="en-US" sz="1000" dirty="0">
                <a:solidFill>
                  <a:srgbClr val="2C2C2C"/>
                </a:solidFill>
              </a:rPr>
              <a:t>Every turn is predicted. The visual</a:t>
            </a:r>
            <a:endParaRPr lang="en-US" sz="1000" dirty="0"/>
          </a:p>
          <a:p>
            <a:pPr indent="0" marL="0">
              <a:buNone/>
            </a:pPr>
            <a:r>
              <a:rPr lang="en-US" sz="1000" dirty="0">
                <a:solidFill>
                  <a:srgbClr val="2C2C2C"/>
                </a:solidFill>
              </a:rPr>
              <a:t>model generates zero error. Your</a:t>
            </a:r>
            <a:endParaRPr lang="en-US" sz="1000" dirty="0"/>
          </a:p>
          <a:p>
            <a:pPr indent="0" marL="0">
              <a:buNone/>
            </a:pPr>
            <a:r>
              <a:rPr lang="en-US" sz="1000" dirty="0">
                <a:solidFill>
                  <a:srgbClr val="2C2C2C"/>
                </a:solidFill>
              </a:rPr>
              <a:t>mind wanders—you arrive and can’t</a:t>
            </a:r>
            <a:endParaRPr lang="en-US" sz="1000" dirty="0"/>
          </a:p>
          <a:p>
            <a:pPr indent="0" marL="0">
              <a:buNone/>
            </a:pPr>
            <a:r>
              <a:rPr lang="en-US" sz="1000" dirty="0">
                <a:solidFill>
                  <a:srgbClr val="2C2C2C"/>
                </a:solidFill>
              </a:rPr>
              <a:t>remember the drive. LC is in low</a:t>
            </a:r>
            <a:endParaRPr lang="en-US" sz="1000" dirty="0"/>
          </a:p>
          <a:p>
            <a:pPr indent="0" marL="0">
              <a:buNone/>
            </a:pPr>
            <a:r>
              <a:rPr lang="en-US" sz="1000" dirty="0">
                <a:solidFill>
                  <a:srgbClr val="2C2C2C"/>
                </a:solidFill>
              </a:rPr>
              <a:t>tonic mode. Attention is elsewhere.</a:t>
            </a:r>
            <a:endParaRPr lang="en-US" sz="1000" dirty="0"/>
          </a:p>
          <a:p>
            <a:pPr indent="0" marL="0">
              <a:buNone/>
            </a:pPr>
            <a:endParaRPr lang="en-US" sz="1000" dirty="0"/>
          </a:p>
          <a:p>
            <a:pPr indent="0" marL="0">
              <a:buNone/>
            </a:pPr>
            <a:r>
              <a:rPr lang="en-US" sz="1000" dirty="0">
                <a:solidFill>
                  <a:srgbClr val="2C2C2C"/>
                </a:solidFill>
              </a:rPr>
              <a:t>Architectural parallel: a corridor</a:t>
            </a:r>
            <a:endParaRPr lang="en-US" sz="1000" dirty="0"/>
          </a:p>
          <a:p>
            <a:pPr indent="0" marL="0">
              <a:buNone/>
            </a:pPr>
            <a:r>
              <a:rPr lang="en-US" sz="1000" dirty="0">
                <a:solidFill>
                  <a:srgbClr val="2C2C2C"/>
                </a:solidFill>
              </a:rPr>
              <a:t>you’ve walked 10,000 times.</a:t>
            </a:r>
            <a:endParaRPr lang="en-US" sz="1000" dirty="0"/>
          </a:p>
          <a:p>
            <a:pPr indent="0" marL="0">
              <a:buNone/>
            </a:pPr>
            <a:r>
              <a:rPr lang="en-US" sz="1000" dirty="0">
                <a:solidFill>
                  <a:srgbClr val="2C2C2C"/>
                </a:solidFill>
              </a:rPr>
              <a:t>Invisible. No cognitive engagement.</a:t>
            </a:r>
            <a:endParaRPr lang="en-US" sz="1000" dirty="0"/>
          </a:p>
        </p:txBody>
      </p:sp>
      <p:sp>
        <p:nvSpPr>
          <p:cNvPr id="10" name="Shape 8"/>
          <p:cNvSpPr/>
          <p:nvPr/>
        </p:nvSpPr>
        <p:spPr>
          <a:xfrm>
            <a:off x="3246120" y="868680"/>
            <a:ext cx="2697480" cy="3931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3246120" y="868680"/>
            <a:ext cx="2697480" cy="640080"/>
          </a:xfrm>
          <a:prstGeom prst="rect">
            <a:avLst/>
          </a:prstGeom>
          <a:solidFill>
            <a:srgbClr val="4A7C59"/>
          </a:solidFill>
          <a:ln/>
        </p:spPr>
      </p:sp>
      <p:sp>
        <p:nvSpPr>
          <p:cNvPr id="12" name="Text 10"/>
          <p:cNvSpPr/>
          <p:nvPr/>
        </p:nvSpPr>
        <p:spPr>
          <a:xfrm>
            <a:off x="3246120" y="868680"/>
            <a:ext cx="2697480" cy="6400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Moderate PE:</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The New Side Street</a:t>
            </a:r>
            <a:endParaRPr lang="en-US" sz="1100" dirty="0"/>
          </a:p>
        </p:txBody>
      </p:sp>
      <p:sp>
        <p:nvSpPr>
          <p:cNvPr id="13" name="Text 11"/>
          <p:cNvSpPr/>
          <p:nvPr/>
        </p:nvSpPr>
        <p:spPr>
          <a:xfrm>
            <a:off x="3355848" y="1645920"/>
            <a:ext cx="2468880" cy="2926080"/>
          </a:xfrm>
          <a:prstGeom prst="rect">
            <a:avLst/>
          </a:prstGeom>
          <a:noFill/>
          <a:ln/>
        </p:spPr>
        <p:txBody>
          <a:bodyPr wrap="square" rtlCol="0" anchor="ctr"/>
          <a:lstStyle/>
          <a:p>
            <a:pPr indent="0" marL="0">
              <a:buNone/>
            </a:pPr>
            <a:r>
              <a:rPr lang="en-US" sz="1000" dirty="0">
                <a:solidFill>
                  <a:srgbClr val="2C2C2C"/>
                </a:solidFill>
              </a:rPr>
              <a:t>You take a different route. New</a:t>
            </a:r>
            <a:endParaRPr lang="en-US" sz="1000" dirty="0"/>
          </a:p>
          <a:p>
            <a:pPr indent="0" marL="0">
              <a:buNone/>
            </a:pPr>
            <a:r>
              <a:rPr lang="en-US" sz="1000" dirty="0">
                <a:solidFill>
                  <a:srgbClr val="2C2C2C"/>
                </a:solidFill>
              </a:rPr>
              <a:t>buildings, unfamiliar intersections,</a:t>
            </a:r>
            <a:endParaRPr lang="en-US" sz="1000" dirty="0"/>
          </a:p>
          <a:p>
            <a:pPr indent="0" marL="0">
              <a:buNone/>
            </a:pPr>
            <a:r>
              <a:rPr lang="en-US" sz="1000" dirty="0">
                <a:solidFill>
                  <a:srgbClr val="2C2C2C"/>
                </a:solidFill>
              </a:rPr>
              <a:t>a park you didn’t know existed.</a:t>
            </a:r>
            <a:endParaRPr lang="en-US" sz="1000" dirty="0"/>
          </a:p>
          <a:p>
            <a:pPr indent="0" marL="0">
              <a:buNone/>
            </a:pPr>
            <a:r>
              <a:rPr lang="en-US" sz="1000" dirty="0">
                <a:solidFill>
                  <a:srgbClr val="2C2C2C"/>
                </a:solidFill>
              </a:rPr>
              <a:t>Each turn generates learnable PE.</a:t>
            </a:r>
            <a:endParaRPr lang="en-US" sz="1000" dirty="0"/>
          </a:p>
          <a:p>
            <a:pPr indent="0" marL="0">
              <a:buNone/>
            </a:pPr>
            <a:r>
              <a:rPr lang="en-US" sz="1000" dirty="0">
                <a:solidFill>
                  <a:srgbClr val="2C2C2C"/>
                </a:solidFill>
              </a:rPr>
              <a:t>You’re alert, curious, noticing.</a:t>
            </a:r>
            <a:endParaRPr lang="en-US" sz="1000" dirty="0"/>
          </a:p>
          <a:p>
            <a:pPr indent="0" marL="0">
              <a:buNone/>
            </a:pPr>
            <a:r>
              <a:rPr lang="en-US" sz="1000" dirty="0">
                <a:solidFill>
                  <a:srgbClr val="2C2C2C"/>
                </a:solidFill>
              </a:rPr>
              <a:t>Dopamine reward for successful</a:t>
            </a:r>
            <a:endParaRPr lang="en-US" sz="1000" dirty="0"/>
          </a:p>
          <a:p>
            <a:pPr indent="0" marL="0">
              <a:buNone/>
            </a:pPr>
            <a:r>
              <a:rPr lang="en-US" sz="1000" dirty="0">
                <a:solidFill>
                  <a:srgbClr val="2C2C2C"/>
                </a:solidFill>
              </a:rPr>
              <a:t>navigation.</a:t>
            </a:r>
            <a:endParaRPr lang="en-US" sz="1000" dirty="0"/>
          </a:p>
          <a:p>
            <a:pPr indent="0" marL="0">
              <a:buNone/>
            </a:pPr>
            <a:endParaRPr lang="en-US" sz="1000" dirty="0"/>
          </a:p>
          <a:p>
            <a:pPr indent="0" marL="0">
              <a:buNone/>
            </a:pPr>
            <a:r>
              <a:rPr lang="en-US" sz="1000" dirty="0">
                <a:solidFill>
                  <a:srgbClr val="2C2C2C"/>
                </a:solidFill>
              </a:rPr>
              <a:t>Architectural parallel: a building</a:t>
            </a:r>
            <a:endParaRPr lang="en-US" sz="1000" dirty="0"/>
          </a:p>
          <a:p>
            <a:pPr indent="0" marL="0">
              <a:buNone/>
            </a:pPr>
            <a:r>
              <a:rPr lang="en-US" sz="1000" dirty="0">
                <a:solidFill>
                  <a:srgbClr val="2C2C2C"/>
                </a:solidFill>
              </a:rPr>
              <a:t>with just enough variation to</a:t>
            </a:r>
            <a:endParaRPr lang="en-US" sz="1000" dirty="0"/>
          </a:p>
          <a:p>
            <a:pPr indent="0" marL="0">
              <a:buNone/>
            </a:pPr>
            <a:r>
              <a:rPr lang="en-US" sz="1000" dirty="0">
                <a:solidFill>
                  <a:srgbClr val="2C2C2C"/>
                </a:solidFill>
              </a:rPr>
              <a:t>sustain interest on the 100th visit.</a:t>
            </a:r>
            <a:endParaRPr lang="en-US" sz="1000" dirty="0"/>
          </a:p>
        </p:txBody>
      </p:sp>
      <p:sp>
        <p:nvSpPr>
          <p:cNvPr id="14" name="Shape 12"/>
          <p:cNvSpPr/>
          <p:nvPr/>
        </p:nvSpPr>
        <p:spPr>
          <a:xfrm>
            <a:off x="6172200" y="868680"/>
            <a:ext cx="2697480" cy="3931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6172200" y="868680"/>
            <a:ext cx="2697480" cy="640080"/>
          </a:xfrm>
          <a:prstGeom prst="rect">
            <a:avLst/>
          </a:prstGeom>
          <a:solidFill>
            <a:srgbClr val="C05050"/>
          </a:solidFill>
          <a:ln/>
        </p:spPr>
      </p:sp>
      <p:sp>
        <p:nvSpPr>
          <p:cNvPr id="16" name="Text 14"/>
          <p:cNvSpPr/>
          <p:nvPr/>
        </p:nvSpPr>
        <p:spPr>
          <a:xfrm>
            <a:off x="6172200" y="868680"/>
            <a:ext cx="2697480" cy="6400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Excessive PE:</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Lost in a Foreign City</a:t>
            </a:r>
            <a:endParaRPr lang="en-US" sz="1100" dirty="0"/>
          </a:p>
        </p:txBody>
      </p:sp>
      <p:sp>
        <p:nvSpPr>
          <p:cNvPr id="17" name="Text 15"/>
          <p:cNvSpPr/>
          <p:nvPr/>
        </p:nvSpPr>
        <p:spPr>
          <a:xfrm>
            <a:off x="6281928" y="1645920"/>
            <a:ext cx="2468880" cy="2926080"/>
          </a:xfrm>
          <a:prstGeom prst="rect">
            <a:avLst/>
          </a:prstGeom>
          <a:noFill/>
          <a:ln/>
        </p:spPr>
        <p:txBody>
          <a:bodyPr wrap="square" rtlCol="0" anchor="ctr"/>
          <a:lstStyle/>
          <a:p>
            <a:pPr indent="0" marL="0">
              <a:buNone/>
            </a:pPr>
            <a:r>
              <a:rPr lang="en-US" sz="1000" dirty="0">
                <a:solidFill>
                  <a:srgbClr val="2C2C2C"/>
                </a:solidFill>
              </a:rPr>
              <a:t>No street signs you can read. No</a:t>
            </a:r>
            <a:endParaRPr lang="en-US" sz="1000" dirty="0"/>
          </a:p>
          <a:p>
            <a:pPr indent="0" marL="0">
              <a:buNone/>
            </a:pPr>
            <a:r>
              <a:rPr lang="en-US" sz="1000" dirty="0">
                <a:solidFill>
                  <a:srgbClr val="2C2C2C"/>
                </a:solidFill>
              </a:rPr>
              <a:t>familiar landmarks. Traffic rules</a:t>
            </a:r>
            <a:endParaRPr lang="en-US" sz="1000" dirty="0"/>
          </a:p>
          <a:p>
            <a:pPr indent="0" marL="0">
              <a:buNone/>
            </a:pPr>
            <a:r>
              <a:rPr lang="en-US" sz="1000" dirty="0">
                <a:solidFill>
                  <a:srgbClr val="2C2C2C"/>
                </a:solidFill>
              </a:rPr>
              <a:t>you don’t understand. Every</a:t>
            </a:r>
            <a:endParaRPr lang="en-US" sz="1000" dirty="0"/>
          </a:p>
          <a:p>
            <a:pPr indent="0" marL="0">
              <a:buNone/>
            </a:pPr>
            <a:r>
              <a:rPr lang="en-US" sz="1000" dirty="0">
                <a:solidFill>
                  <a:srgbClr val="2C2C2C"/>
                </a:solidFill>
              </a:rPr>
              <a:t>intersection is a model failure.</a:t>
            </a:r>
            <a:endParaRPr lang="en-US" sz="1000" dirty="0"/>
          </a:p>
          <a:p>
            <a:pPr indent="0" marL="0">
              <a:buNone/>
            </a:pPr>
            <a:r>
              <a:rPr lang="en-US" sz="1000" dirty="0">
                <a:solidFill>
                  <a:srgbClr val="2C2C2C"/>
                </a:solidFill>
              </a:rPr>
              <a:t>Cortisol rises. Anxiety builds.</a:t>
            </a:r>
            <a:endParaRPr lang="en-US" sz="1000" dirty="0"/>
          </a:p>
          <a:p>
            <a:pPr indent="0" marL="0">
              <a:buNone/>
            </a:pPr>
            <a:r>
              <a:rPr lang="en-US" sz="1000" dirty="0">
                <a:solidFill>
                  <a:srgbClr val="2C2C2C"/>
                </a:solidFill>
              </a:rPr>
              <a:t>You want to find somewhere safe.</a:t>
            </a:r>
            <a:endParaRPr lang="en-US" sz="1000" dirty="0"/>
          </a:p>
          <a:p>
            <a:pPr indent="0" marL="0">
              <a:buNone/>
            </a:pPr>
            <a:endParaRPr lang="en-US" sz="1000" dirty="0"/>
          </a:p>
          <a:p>
            <a:pPr indent="0" marL="0">
              <a:buNone/>
            </a:pPr>
            <a:r>
              <a:rPr lang="en-US" sz="1000" dirty="0">
                <a:solidFill>
                  <a:srgbClr val="2C2C2C"/>
                </a:solidFill>
              </a:rPr>
              <a:t>Architectural parallel: a building</a:t>
            </a:r>
            <a:endParaRPr lang="en-US" sz="1000" dirty="0"/>
          </a:p>
          <a:p>
            <a:pPr indent="0" marL="0">
              <a:buNone/>
            </a:pPr>
            <a:r>
              <a:rPr lang="en-US" sz="1000" dirty="0">
                <a:solidFill>
                  <a:srgbClr val="2C2C2C"/>
                </a:solidFill>
              </a:rPr>
              <a:t>with no wayfinding cues, random</a:t>
            </a:r>
            <a:endParaRPr lang="en-US" sz="1000" dirty="0"/>
          </a:p>
          <a:p>
            <a:pPr indent="0" marL="0">
              <a:buNone/>
            </a:pPr>
            <a:r>
              <a:rPr lang="en-US" sz="1000" dirty="0">
                <a:solidFill>
                  <a:srgbClr val="2C2C2C"/>
                </a:solidFill>
              </a:rPr>
              <a:t>layouts, disorienting geometry.</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Five Limitations of PP for the Goldilocks Principle</a:t>
            </a:r>
            <a:endParaRPr lang="en-US" sz="2400" dirty="0"/>
          </a:p>
        </p:txBody>
      </p:sp>
      <p:sp>
        <p:nvSpPr>
          <p:cNvPr id="4" name="Shape 2"/>
          <p:cNvSpPr/>
          <p:nvPr/>
        </p:nvSpPr>
        <p:spPr>
          <a:xfrm>
            <a:off x="457200" y="868680"/>
            <a:ext cx="8229600" cy="71323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640080" y="868680"/>
            <a:ext cx="2286000" cy="713232"/>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1. Normative Gap</a:t>
            </a:r>
            <a:endParaRPr lang="en-US" sz="1300" dirty="0"/>
          </a:p>
        </p:txBody>
      </p:sp>
      <p:sp>
        <p:nvSpPr>
          <p:cNvPr id="6" name="Text 4"/>
          <p:cNvSpPr/>
          <p:nvPr/>
        </p:nvSpPr>
        <p:spPr>
          <a:xfrm>
            <a:off x="2926080" y="868680"/>
            <a:ext cx="5486400" cy="713232"/>
          </a:xfrm>
          <a:prstGeom prst="rect">
            <a:avLst/>
          </a:prstGeom>
          <a:noFill/>
          <a:ln/>
        </p:spPr>
        <p:txBody>
          <a:bodyPr wrap="square" rtlCol="0" anchor="ctr"/>
          <a:lstStyle/>
          <a:p>
            <a:pPr indent="0" marL="0">
              <a:buNone/>
            </a:pPr>
            <a:r>
              <a:rPr lang="en-US" sz="1100" dirty="0">
                <a:solidFill>
                  <a:srgbClr val="2C2C2C"/>
                </a:solidFill>
              </a:rPr>
              <a:t>PP says minimize PE. Goldilocks says optimize it. The dark room problem.</a:t>
            </a:r>
            <a:endParaRPr lang="en-US" sz="1100" dirty="0"/>
          </a:p>
        </p:txBody>
      </p:sp>
      <p:sp>
        <p:nvSpPr>
          <p:cNvPr id="7" name="Shape 5"/>
          <p:cNvSpPr/>
          <p:nvPr/>
        </p:nvSpPr>
        <p:spPr>
          <a:xfrm>
            <a:off x="457200" y="1709928"/>
            <a:ext cx="8229600" cy="71323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Text 6"/>
          <p:cNvSpPr/>
          <p:nvPr/>
        </p:nvSpPr>
        <p:spPr>
          <a:xfrm>
            <a:off x="640080" y="1709928"/>
            <a:ext cx="2286000" cy="713232"/>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2. Task-Specific Optima</a:t>
            </a:r>
            <a:endParaRPr lang="en-US" sz="1300" dirty="0"/>
          </a:p>
        </p:txBody>
      </p:sp>
      <p:sp>
        <p:nvSpPr>
          <p:cNvPr id="9" name="Text 7"/>
          <p:cNvSpPr/>
          <p:nvPr/>
        </p:nvSpPr>
        <p:spPr>
          <a:xfrm>
            <a:off x="2926080" y="1709928"/>
            <a:ext cx="5486400" cy="713232"/>
          </a:xfrm>
          <a:prstGeom prst="rect">
            <a:avLst/>
          </a:prstGeom>
          <a:noFill/>
          <a:ln/>
        </p:spPr>
        <p:txBody>
          <a:bodyPr wrap="square" rtlCol="0" anchor="ctr"/>
          <a:lstStyle/>
          <a:p>
            <a:pPr indent="0" marL="0">
              <a:buNone/>
            </a:pPr>
            <a:r>
              <a:rPr lang="en-US" sz="1100" dirty="0">
                <a:solidFill>
                  <a:srgbClr val="2C2C2C"/>
                </a:solidFill>
              </a:rPr>
              <a:t>PP doesn’t predict creative tasks prefer higher PE than focused tasks.</a:t>
            </a:r>
            <a:endParaRPr lang="en-US" sz="1100" dirty="0"/>
          </a:p>
        </p:txBody>
      </p:sp>
      <p:sp>
        <p:nvSpPr>
          <p:cNvPr id="10" name="Shape 8"/>
          <p:cNvSpPr/>
          <p:nvPr/>
        </p:nvSpPr>
        <p:spPr>
          <a:xfrm>
            <a:off x="457200" y="2551176"/>
            <a:ext cx="8229600" cy="71323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Text 9"/>
          <p:cNvSpPr/>
          <p:nvPr/>
        </p:nvSpPr>
        <p:spPr>
          <a:xfrm>
            <a:off x="640080" y="2551176"/>
            <a:ext cx="2286000" cy="713232"/>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3. Multi-Channel Structure</a:t>
            </a:r>
            <a:endParaRPr lang="en-US" sz="1300" dirty="0"/>
          </a:p>
        </p:txBody>
      </p:sp>
      <p:sp>
        <p:nvSpPr>
          <p:cNvPr id="12" name="Text 10"/>
          <p:cNvSpPr/>
          <p:nvPr/>
        </p:nvSpPr>
        <p:spPr>
          <a:xfrm>
            <a:off x="2926080" y="2551176"/>
            <a:ext cx="5486400" cy="713232"/>
          </a:xfrm>
          <a:prstGeom prst="rect">
            <a:avLst/>
          </a:prstGeom>
          <a:noFill/>
          <a:ln/>
        </p:spPr>
        <p:txBody>
          <a:bodyPr wrap="square" rtlCol="0" anchor="ctr"/>
          <a:lstStyle/>
          <a:p>
            <a:pPr indent="0" marL="0">
              <a:buNone/>
            </a:pPr>
            <a:r>
              <a:rPr lang="en-US" sz="1100" dirty="0">
                <a:solidFill>
                  <a:srgbClr val="2C2C2C"/>
                </a:solidFill>
              </a:rPr>
              <a:t>PP operates within modalities. Doesn’t predict cross-modal compensation.</a:t>
            </a:r>
            <a:endParaRPr lang="en-US" sz="1100" dirty="0"/>
          </a:p>
        </p:txBody>
      </p:sp>
      <p:sp>
        <p:nvSpPr>
          <p:cNvPr id="13" name="Shape 11"/>
          <p:cNvSpPr/>
          <p:nvPr/>
        </p:nvSpPr>
        <p:spPr>
          <a:xfrm>
            <a:off x="457200" y="3392424"/>
            <a:ext cx="8229600" cy="71323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Text 12"/>
          <p:cNvSpPr/>
          <p:nvPr/>
        </p:nvSpPr>
        <p:spPr>
          <a:xfrm>
            <a:off x="640080" y="3392424"/>
            <a:ext cx="2286000" cy="713232"/>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4. Cultural Set-Points</a:t>
            </a:r>
            <a:endParaRPr lang="en-US" sz="1300" dirty="0"/>
          </a:p>
        </p:txBody>
      </p:sp>
      <p:sp>
        <p:nvSpPr>
          <p:cNvPr id="15" name="Text 13"/>
          <p:cNvSpPr/>
          <p:nvPr/>
        </p:nvSpPr>
        <p:spPr>
          <a:xfrm>
            <a:off x="2926080" y="3392424"/>
            <a:ext cx="5486400" cy="713232"/>
          </a:xfrm>
          <a:prstGeom prst="rect">
            <a:avLst/>
          </a:prstGeom>
          <a:noFill/>
          <a:ln/>
        </p:spPr>
        <p:txBody>
          <a:bodyPr wrap="square" rtlCol="0" anchor="ctr"/>
          <a:lstStyle/>
          <a:p>
            <a:pPr indent="0" marL="0">
              <a:buNone/>
            </a:pPr>
            <a:r>
              <a:rPr lang="en-US" sz="1100" dirty="0">
                <a:solidFill>
                  <a:srgbClr val="2C2C2C"/>
                </a:solidFill>
              </a:rPr>
              <a:t>PP predicts modality-specific prior shifts. India shows correlated shift.</a:t>
            </a:r>
            <a:endParaRPr lang="en-US" sz="1100" dirty="0"/>
          </a:p>
        </p:txBody>
      </p:sp>
      <p:sp>
        <p:nvSpPr>
          <p:cNvPr id="16" name="Shape 14"/>
          <p:cNvSpPr/>
          <p:nvPr/>
        </p:nvSpPr>
        <p:spPr>
          <a:xfrm>
            <a:off x="457200" y="4233672"/>
            <a:ext cx="8229600" cy="713232"/>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17" name="Text 15"/>
          <p:cNvSpPr/>
          <p:nvPr/>
        </p:nvSpPr>
        <p:spPr>
          <a:xfrm>
            <a:off x="640080" y="4233672"/>
            <a:ext cx="2286000" cy="713232"/>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5. Prospect-Refuge</a:t>
            </a:r>
            <a:endParaRPr lang="en-US" sz="1300" dirty="0"/>
          </a:p>
        </p:txBody>
      </p:sp>
      <p:sp>
        <p:nvSpPr>
          <p:cNvPr id="18" name="Text 16"/>
          <p:cNvSpPr/>
          <p:nvPr/>
        </p:nvSpPr>
        <p:spPr>
          <a:xfrm>
            <a:off x="2926080" y="4233672"/>
            <a:ext cx="5486400" cy="713232"/>
          </a:xfrm>
          <a:prstGeom prst="rect">
            <a:avLst/>
          </a:prstGeom>
          <a:noFill/>
          <a:ln/>
        </p:spPr>
        <p:txBody>
          <a:bodyPr wrap="square" rtlCol="0" anchor="ctr"/>
          <a:lstStyle/>
          <a:p>
            <a:pPr indent="0" marL="0">
              <a:buNone/>
            </a:pPr>
            <a:r>
              <a:rPr lang="en-US" sz="1100" dirty="0">
                <a:solidFill>
                  <a:srgbClr val="2C2C2C"/>
                </a:solidFill>
              </a:rPr>
              <a:t>PP predicts max prospect + max refuge. But intermediate is preferred.</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Where PP Fails: The Dark Room and the Prospect-Refuge Puzzle</a:t>
            </a:r>
            <a:endParaRPr lang="en-US" sz="2200" dirty="0"/>
          </a:p>
        </p:txBody>
      </p:sp>
      <p:sp>
        <p:nvSpPr>
          <p:cNvPr id="6" name="Shape 4"/>
          <p:cNvSpPr/>
          <p:nvPr/>
        </p:nvSpPr>
        <p:spPr>
          <a:xfrm>
            <a:off x="365760" y="868680"/>
            <a:ext cx="4023360" cy="393192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3657600" cy="3840480"/>
          </a:xfrm>
          <a:prstGeom prst="rect">
            <a:avLst/>
          </a:prstGeom>
          <a:noFill/>
          <a:ln/>
        </p:spPr>
        <p:txBody>
          <a:bodyPr wrap="square" rtlCol="0" anchor="t"/>
          <a:lstStyle/>
          <a:p>
            <a:pPr indent="0" marL="0">
              <a:buNone/>
            </a:pPr>
            <a:r>
              <a:rPr lang="en-US" sz="1400" b="1" dirty="0">
                <a:solidFill>
                  <a:srgbClr val="1B3A5C"/>
                </a:solidFill>
              </a:rPr>
              <a:t>The Dark Room Problem
</a:t>
            </a:r>
            <a:endParaRPr lang="en-US" sz="1400" dirty="0"/>
          </a:p>
          <a:p>
            <a:pPr indent="0" marL="0">
              <a:buNone/>
            </a:pPr>
            <a:r>
              <a:rPr lang="en-US" sz="1100" dirty="0">
                <a:solidFill>
                  <a:srgbClr val="2C2C2C"/>
                </a:solidFill>
              </a:rPr>
              <a:t>PP says: minimize prediction error.
The best way to minimize PE is to sit in a dark, silent, unchanging room where nothing ever surprises you. PE = 0. Free energy minimized.
But nobody wants to live in a dark room. People voluntarily seek out novelty, variety, stimulation. Why?
</a:t>
            </a:r>
            <a:endParaRPr lang="en-US" sz="1400" dirty="0"/>
          </a:p>
          <a:p>
            <a:pPr indent="0" marL="0">
              <a:buNone/>
            </a:pPr>
            <a:r>
              <a:rPr lang="en-US" sz="1100" dirty="0">
                <a:solidFill>
                  <a:srgbClr val="2C2C2C"/>
                </a:solidFill>
              </a:rPr>
              <a:t>PP’s answer: “active inference” and “expected free energy.” But these are additions to the framework, not predictions from it.
</a:t>
            </a:r>
            <a:endParaRPr lang="en-US" sz="1400" dirty="0"/>
          </a:p>
          <a:p>
            <a:pPr indent="0" marL="0">
              <a:buNone/>
            </a:pPr>
            <a:r>
              <a:rPr lang="en-US" sz="1100" b="1" dirty="0">
                <a:solidFill>
                  <a:srgbClr val="1B3A5C"/>
                </a:solidFill>
              </a:rPr>
              <a:t>Goldilocks’ answer: the brain doesn’t minimize PE. It OPTIMIZES it. Zero PE is as bad as excessive PE. The target is moderate PE.</a:t>
            </a:r>
            <a:endParaRPr lang="en-US" sz="1400" dirty="0"/>
          </a:p>
        </p:txBody>
      </p:sp>
      <p:sp>
        <p:nvSpPr>
          <p:cNvPr id="8" name="Shape 6"/>
          <p:cNvSpPr/>
          <p:nvPr/>
        </p:nvSpPr>
        <p:spPr>
          <a:xfrm>
            <a:off x="4663440" y="868680"/>
            <a:ext cx="4114800" cy="393192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9" name="Text 7"/>
          <p:cNvSpPr/>
          <p:nvPr/>
        </p:nvSpPr>
        <p:spPr>
          <a:xfrm>
            <a:off x="4846320" y="914400"/>
            <a:ext cx="3749040" cy="3840480"/>
          </a:xfrm>
          <a:prstGeom prst="rect">
            <a:avLst/>
          </a:prstGeom>
          <a:noFill/>
          <a:ln/>
        </p:spPr>
        <p:txBody>
          <a:bodyPr wrap="square" rtlCol="0" anchor="t"/>
          <a:lstStyle/>
          <a:p>
            <a:pPr indent="0" marL="0">
              <a:buNone/>
            </a:pPr>
            <a:r>
              <a:rPr lang="en-US" sz="1400" b="1" dirty="0">
                <a:solidFill>
                  <a:srgbClr val="C47D2B"/>
                </a:solidFill>
              </a:rPr>
              <a:t>The Prospect-Refuge Puzzle
</a:t>
            </a:r>
            <a:endParaRPr lang="en-US" sz="1400" dirty="0"/>
          </a:p>
          <a:p>
            <a:pPr indent="0" marL="0">
              <a:buNone/>
            </a:pPr>
            <a:r>
              <a:rPr lang="en-US" sz="1100" dirty="0">
                <a:solidFill>
                  <a:srgbClr val="2C2C2C"/>
                </a:solidFill>
              </a:rPr>
              <a:t>PP predicts: max prospect (open view = max prediction) + max refuge (enclosure = max safety) should be monotonically preferred.
But Dosen &amp; Ostwald (2016) found people prefer INTERMEDIATE enclosure:
</a:t>
            </a:r>
            <a:endParaRPr lang="en-US" sz="1400" dirty="0"/>
          </a:p>
          <a:p>
            <a:pPr indent="0" marL="0">
              <a:buNone/>
            </a:pPr>
            <a:r>
              <a:rPr lang="en-US" sz="1100" dirty="0">
                <a:solidFill>
                  <a:srgbClr val="2C2C2C"/>
                </a:solidFill>
              </a:rPr>
              <a:t>• Fully enclosed (100%): claustrophobic
• Fully open (0%): exposed, vulnerable
• Alcove with partial view (40–60%): safe + engaged
</a:t>
            </a:r>
            <a:endParaRPr lang="en-US" sz="1400" dirty="0"/>
          </a:p>
          <a:p>
            <a:pPr indent="0" marL="0">
              <a:buNone/>
            </a:pPr>
            <a:r>
              <a:rPr lang="en-US" sz="1100" i="1" dirty="0">
                <a:solidFill>
                  <a:srgbClr val="2C2C2C"/>
                </a:solidFill>
              </a:rPr>
              <a:t>Think: reading in a bay window. Your back is protected. You can see the street. Not too open, not too closed.
</a:t>
            </a:r>
            <a:endParaRPr lang="en-US" sz="1400" dirty="0"/>
          </a:p>
          <a:p>
            <a:pPr indent="0" marL="0">
              <a:buNone/>
            </a:pPr>
            <a:r>
              <a:rPr lang="en-US" sz="1100" b="1" dirty="0">
                <a:solidFill>
                  <a:srgbClr val="C47D2B"/>
                </a:solidFill>
              </a:rPr>
              <a:t>PP cannot derive this inverted-U. Goldilocks predicts it.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1097280"/>
            <a:ext cx="1828800" cy="1097280"/>
          </a:xfrm>
          <a:prstGeom prst="rect">
            <a:avLst/>
          </a:prstGeom>
          <a:noFill/>
          <a:ln/>
        </p:spPr>
        <p:txBody>
          <a:bodyPr wrap="square" rtlCol="0" anchor="ctr"/>
          <a:lstStyle/>
          <a:p>
            <a:pPr indent="0" marL="0">
              <a:buNone/>
            </a:pPr>
            <a:r>
              <a:rPr lang="en-US" sz="6000" b="1" dirty="0">
                <a:solidFill>
                  <a:srgbClr val="C47D2B"/>
                </a:solidFill>
                <a:latin typeface="Georgia" pitchFamily="34" charset="0"/>
                <a:ea typeface="Georgia" pitchFamily="34" charset="-122"/>
                <a:cs typeface="Georgia" pitchFamily="34" charset="-120"/>
              </a:rPr>
              <a:t>4</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India Fieldwork:</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Cultural Goldilocks Set-Points</a:t>
            </a:r>
            <a:endParaRPr lang="en-US" sz="3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Multi-Modal Set-Point Elevation: Varanasi vs. Western Baselines</a:t>
            </a:r>
            <a:endParaRPr lang="en-US" sz="2400" dirty="0"/>
          </a:p>
        </p:txBody>
      </p:sp>
      <p:graphicFrame>
        <p:nvGraphicFramePr>
          <p:cNvPr id="4" name="Chart 0" descr=""/>
          <p:cNvGraphicFramePr/>
          <p:nvPr/>
        </p:nvGraphicFramePr>
        <p:xfrm>
          <a:off x="365760" y="914400"/>
          <a:ext cx="8412480" cy="34747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457200" y="4572000"/>
            <a:ext cx="8229600" cy="365760"/>
          </a:xfrm>
          <a:prstGeom prst="rect">
            <a:avLst/>
          </a:prstGeom>
          <a:noFill/>
          <a:ln/>
        </p:spPr>
        <p:txBody>
          <a:bodyPr wrap="square" rtlCol="0" anchor="ctr"/>
          <a:lstStyle/>
          <a:p>
            <a:pPr algn="ctr" indent="0" marL="0">
              <a:buNone/>
            </a:pPr>
            <a:r>
              <a:rPr lang="en-US" sz="1300" b="1" i="1" dirty="0">
                <a:solidFill>
                  <a:srgbClr val="C47D2B"/>
                </a:solidFill>
              </a:rPr>
              <a:t>All modalities shift in the same direction → single underlying parameter?</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Varanasi Ghat vs. Stockholm Apartment: Two Goldilocks Profiles</a:t>
            </a:r>
            <a:endParaRPr lang="en-US" sz="2200" dirty="0"/>
          </a:p>
        </p:txBody>
      </p:sp>
      <p:sp>
        <p:nvSpPr>
          <p:cNvPr id="6" name="Shape 4"/>
          <p:cNvSpPr/>
          <p:nvPr/>
        </p:nvSpPr>
        <p:spPr>
          <a:xfrm>
            <a:off x="365760" y="868680"/>
            <a:ext cx="4023360" cy="393192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3657600" cy="3840480"/>
          </a:xfrm>
          <a:prstGeom prst="rect">
            <a:avLst/>
          </a:prstGeom>
          <a:noFill/>
          <a:ln/>
        </p:spPr>
        <p:txBody>
          <a:bodyPr wrap="square" rtlCol="0" anchor="t"/>
          <a:lstStyle/>
          <a:p>
            <a:pPr indent="0" marL="0">
              <a:buNone/>
            </a:pPr>
            <a:r>
              <a:rPr lang="en-US" sz="1400" b="1" dirty="0">
                <a:solidFill>
                  <a:srgbClr val="C47D2B"/>
                </a:solidFill>
              </a:rPr>
              <a:t>Dashashwamedh Ghat, Varanasi
</a:t>
            </a:r>
            <a:endParaRPr lang="en-US" sz="1400" dirty="0"/>
          </a:p>
          <a:p>
            <a:pPr indent="0" marL="0">
              <a:buNone/>
            </a:pPr>
            <a:r>
              <a:rPr lang="en-US" sz="1100" dirty="0">
                <a:solidFill>
                  <a:srgbClr val="2C2C2C"/>
                </a:solidFill>
              </a:rPr>
              <a:t>Visual: D ≈ 1.6–1.8. Hundreds of colors, saris, temple carvings, boats, fires, flowers. Constant motion.
</a:t>
            </a:r>
            <a:endParaRPr lang="en-US" sz="1400" dirty="0"/>
          </a:p>
          <a:p>
            <a:pPr indent="0" marL="0">
              <a:buNone/>
            </a:pPr>
            <a:r>
              <a:rPr lang="en-US" sz="1100" dirty="0">
                <a:solidFill>
                  <a:srgbClr val="2C2C2C"/>
                </a:solidFill>
              </a:rPr>
              <a:t>Acoustic: 70–80 dB. Bells, chanting, vendors, river sounds, all simultaneous.
</a:t>
            </a:r>
            <a:endParaRPr lang="en-US" sz="1400" dirty="0"/>
          </a:p>
          <a:p>
            <a:pPr indent="0" marL="0">
              <a:buNone/>
            </a:pPr>
            <a:r>
              <a:rPr lang="en-US" sz="1100" dirty="0">
                <a:solidFill>
                  <a:srgbClr val="2C2C2C"/>
                </a:solidFill>
              </a:rPr>
              <a:t>Thermal: 35°C+ in summer. Tolerated.
</a:t>
            </a:r>
            <a:endParaRPr lang="en-US" sz="1400" dirty="0"/>
          </a:p>
          <a:p>
            <a:pPr indent="0" marL="0">
              <a:buNone/>
            </a:pPr>
            <a:r>
              <a:rPr lang="en-US" sz="1100" dirty="0">
                <a:solidFill>
                  <a:srgbClr val="2C2C2C"/>
                </a:solidFill>
              </a:rPr>
              <a:t>Olfactory: Incense + marigold + cooking + river. Dense, layered, intense.
</a:t>
            </a:r>
            <a:endParaRPr lang="en-US" sz="1400" dirty="0"/>
          </a:p>
          <a:p>
            <a:pPr indent="0" marL="0">
              <a:buNone/>
            </a:pPr>
            <a:r>
              <a:rPr lang="en-US" sz="1100" b="1" i="1" dirty="0">
                <a:solidFill>
                  <a:srgbClr val="C47D2B"/>
                </a:solidFill>
              </a:rPr>
              <a:t>People sit here for hours. They are COMFORTABLE. This is their Goldilocks zone.</a:t>
            </a:r>
            <a:endParaRPr lang="en-US" sz="1400" dirty="0"/>
          </a:p>
        </p:txBody>
      </p:sp>
      <p:sp>
        <p:nvSpPr>
          <p:cNvPr id="8" name="Shape 6"/>
          <p:cNvSpPr/>
          <p:nvPr/>
        </p:nvSpPr>
        <p:spPr>
          <a:xfrm>
            <a:off x="4663440" y="868680"/>
            <a:ext cx="4114800" cy="393192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9" name="Text 7"/>
          <p:cNvSpPr/>
          <p:nvPr/>
        </p:nvSpPr>
        <p:spPr>
          <a:xfrm>
            <a:off x="4846320" y="914400"/>
            <a:ext cx="3749040" cy="3840480"/>
          </a:xfrm>
          <a:prstGeom prst="rect">
            <a:avLst/>
          </a:prstGeom>
          <a:noFill/>
          <a:ln/>
        </p:spPr>
        <p:txBody>
          <a:bodyPr wrap="square" rtlCol="0" anchor="t"/>
          <a:lstStyle/>
          <a:p>
            <a:pPr indent="0" marL="0">
              <a:buNone/>
            </a:pPr>
            <a:r>
              <a:rPr lang="en-US" sz="1400" b="1" dirty="0">
                <a:solidFill>
                  <a:srgbClr val="3B6A9C"/>
                </a:solidFill>
              </a:rPr>
              <a:t>Apartment, Stockholm
</a:t>
            </a:r>
            <a:endParaRPr lang="en-US" sz="1400" dirty="0"/>
          </a:p>
          <a:p>
            <a:pPr indent="0" marL="0">
              <a:buNone/>
            </a:pPr>
            <a:r>
              <a:rPr lang="en-US" sz="1100" dirty="0">
                <a:solidFill>
                  <a:srgbClr val="2C2C2C"/>
                </a:solidFill>
              </a:rPr>
              <a:t>Visual: D ≈ 1.1–1.2. White walls, blond wood, one plant, clean lines. Almost no ornament.
</a:t>
            </a:r>
            <a:endParaRPr lang="en-US" sz="1400" dirty="0"/>
          </a:p>
          <a:p>
            <a:pPr indent="0" marL="0">
              <a:buNone/>
            </a:pPr>
            <a:r>
              <a:rPr lang="en-US" sz="1100" dirty="0">
                <a:solidFill>
                  <a:srgbClr val="2C2C2C"/>
                </a:solidFill>
              </a:rPr>
              <a:t>Acoustic: &lt; 35 dB. Triple-glazed windows. Clock ticking is audible.
</a:t>
            </a:r>
            <a:endParaRPr lang="en-US" sz="1400" dirty="0"/>
          </a:p>
          <a:p>
            <a:pPr indent="0" marL="0">
              <a:buNone/>
            </a:pPr>
            <a:r>
              <a:rPr lang="en-US" sz="1100" dirty="0">
                <a:solidFill>
                  <a:srgbClr val="2C2C2C"/>
                </a:solidFill>
              </a:rPr>
              <a:t>Thermal: 21°C. Precisely regulated.
</a:t>
            </a:r>
            <a:endParaRPr lang="en-US" sz="1400" dirty="0"/>
          </a:p>
          <a:p>
            <a:pPr indent="0" marL="0">
              <a:buNone/>
            </a:pPr>
            <a:r>
              <a:rPr lang="en-US" sz="1100" dirty="0">
                <a:solidFill>
                  <a:srgbClr val="2C2C2C"/>
                </a:solidFill>
              </a:rPr>
              <a:t>Olfactory: Neutral. Perhaps faint coffee.
</a:t>
            </a:r>
            <a:endParaRPr lang="en-US" sz="1400" dirty="0"/>
          </a:p>
          <a:p>
            <a:pPr indent="0" marL="0">
              <a:buNone/>
            </a:pPr>
            <a:r>
              <a:rPr lang="en-US" sz="1100" b="1" i="1" dirty="0">
                <a:solidFill>
                  <a:srgbClr val="3B6A9C"/>
                </a:solidFill>
              </a:rPr>
              <a:t>Residents find this COMFORTABLE. The Varanasi ghat would be overwhelming.</a:t>
            </a:r>
            <a:endParaRPr lang="en-US" sz="1400" dirty="0"/>
          </a:p>
          <a:p>
            <a:pPr indent="0" marL="0">
              <a:buNone/>
            </a:pPr>
            <a:endParaRPr lang="en-US" sz="1400" dirty="0"/>
          </a:p>
          <a:p>
            <a:pPr indent="0" marL="0">
              <a:buNone/>
            </a:pPr>
            <a:r>
              <a:rPr lang="en-US" sz="1100" b="1" i="1" dirty="0">
                <a:solidFill>
                  <a:srgbClr val="3B6A9C"/>
                </a:solidFill>
              </a:rPr>
              <a:t>This is THEIR Goldilocks zone.</a:t>
            </a:r>
            <a:endParaRPr lang="en-US" sz="1400" dirty="0"/>
          </a:p>
          <a:p>
            <a:pPr indent="0" marL="0">
              <a:buNone/>
            </a:pPr>
            <a:r>
              <a:rPr lang="en-US" sz="1100" b="1" i="1" dirty="0">
                <a:solidFill>
                  <a:srgbClr val="3B6A9C"/>
                </a:solidFill>
              </a:rPr>
              <a:t>Same principle. Different parameters.</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1097280"/>
            <a:ext cx="1828800" cy="1097280"/>
          </a:xfrm>
          <a:prstGeom prst="rect">
            <a:avLst/>
          </a:prstGeom>
          <a:noFill/>
          <a:ln/>
        </p:spPr>
        <p:txBody>
          <a:bodyPr wrap="square" rtlCol="0" anchor="ctr"/>
          <a:lstStyle/>
          <a:p>
            <a:pPr indent="0" marL="0">
              <a:buNone/>
            </a:pPr>
            <a:r>
              <a:rPr lang="en-US" sz="6000" b="1" dirty="0">
                <a:solidFill>
                  <a:srgbClr val="C47D2B"/>
                </a:solidFill>
                <a:latin typeface="Georgia" pitchFamily="34" charset="0"/>
                <a:ea typeface="Georgia" pitchFamily="34" charset="-122"/>
                <a:cs typeface="Georgia" pitchFamily="34" charset="-120"/>
              </a:rPr>
              <a:t>5</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Applications:</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Designing with the</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Goldilocks Principle</a:t>
            </a:r>
            <a:endParaRPr lang="en-US" sz="3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Hospitals: The Multi-Channel Goldilocks Catastrophe</a:t>
            </a:r>
            <a:endParaRPr lang="en-US" sz="2400" dirty="0"/>
          </a:p>
        </p:txBody>
      </p:sp>
      <p:sp>
        <p:nvSpPr>
          <p:cNvPr id="4" name="Shape 2"/>
          <p:cNvSpPr/>
          <p:nvPr/>
        </p:nvSpPr>
        <p:spPr>
          <a:xfrm>
            <a:off x="457200" y="914400"/>
            <a:ext cx="2651760" cy="164592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5" name="Text 3"/>
          <p:cNvSpPr/>
          <p:nvPr/>
        </p:nvSpPr>
        <p:spPr>
          <a:xfrm>
            <a:off x="594360" y="1051560"/>
            <a:ext cx="2377440" cy="1371600"/>
          </a:xfrm>
          <a:prstGeom prst="rect">
            <a:avLst/>
          </a:prstGeom>
          <a:noFill/>
          <a:ln/>
        </p:spPr>
        <p:txBody>
          <a:bodyPr wrap="square" rtlCol="0" anchor="ctr"/>
          <a:lstStyle/>
          <a:p>
            <a:pPr indent="0" marL="0">
              <a:buNone/>
            </a:pPr>
            <a:r>
              <a:rPr lang="en-US" sz="1200" b="1" dirty="0">
                <a:solidFill>
                  <a:srgbClr val="FFFFFF"/>
                </a:solidFill>
              </a:rPr>
              <a:t>Visual
</a:t>
            </a:r>
            <a:endParaRPr lang="en-US" sz="1200" dirty="0"/>
          </a:p>
          <a:p>
            <a:pPr indent="0" marL="0">
              <a:buNone/>
            </a:pPr>
            <a:r>
              <a:rPr lang="en-US" sz="1000" dirty="0">
                <a:solidFill>
                  <a:srgbClr val="E0E0E0"/>
                </a:solidFill>
              </a:rPr>
              <a:t>EXTREME complexity</a:t>
            </a:r>
            <a:endParaRPr lang="en-US" sz="1200" dirty="0"/>
          </a:p>
          <a:p>
            <a:pPr indent="0" marL="0">
              <a:buNone/>
            </a:pPr>
            <a:r>
              <a:rPr lang="en-US" sz="1000" dirty="0">
                <a:solidFill>
                  <a:srgbClr val="E0E0E0"/>
                </a:solidFill>
              </a:rPr>
              <a:t>(equipment, signage)</a:t>
            </a:r>
            <a:endParaRPr lang="en-US" sz="1200" dirty="0"/>
          </a:p>
        </p:txBody>
      </p:sp>
      <p:sp>
        <p:nvSpPr>
          <p:cNvPr id="6" name="Shape 4"/>
          <p:cNvSpPr/>
          <p:nvPr/>
        </p:nvSpPr>
        <p:spPr>
          <a:xfrm>
            <a:off x="3337560" y="914400"/>
            <a:ext cx="2651760" cy="164592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7" name="Text 5"/>
          <p:cNvSpPr/>
          <p:nvPr/>
        </p:nvSpPr>
        <p:spPr>
          <a:xfrm>
            <a:off x="3474720" y="1051560"/>
            <a:ext cx="2377440" cy="1371600"/>
          </a:xfrm>
          <a:prstGeom prst="rect">
            <a:avLst/>
          </a:prstGeom>
          <a:noFill/>
          <a:ln/>
        </p:spPr>
        <p:txBody>
          <a:bodyPr wrap="square" rtlCol="0" anchor="ctr"/>
          <a:lstStyle/>
          <a:p>
            <a:pPr indent="0" marL="0">
              <a:buNone/>
            </a:pPr>
            <a:r>
              <a:rPr lang="en-US" sz="1200" b="1" dirty="0">
                <a:solidFill>
                  <a:srgbClr val="FFFFFF"/>
                </a:solidFill>
              </a:rPr>
              <a:t>Acoustic
</a:t>
            </a:r>
            <a:endParaRPr lang="en-US" sz="1200" dirty="0"/>
          </a:p>
          <a:p>
            <a:pPr indent="0" marL="0">
              <a:buNone/>
            </a:pPr>
            <a:r>
              <a:rPr lang="en-US" sz="1000" dirty="0">
                <a:solidFill>
                  <a:srgbClr val="E0E0E0"/>
                </a:solidFill>
              </a:rPr>
              <a:t>UNPREDICTABLE alarms</a:t>
            </a:r>
            <a:endParaRPr lang="en-US" sz="1200" dirty="0"/>
          </a:p>
          <a:p>
            <a:pPr indent="0" marL="0">
              <a:buNone/>
            </a:pPr>
            <a:r>
              <a:rPr lang="en-US" sz="1000" dirty="0">
                <a:solidFill>
                  <a:srgbClr val="E0E0E0"/>
                </a:solidFill>
              </a:rPr>
              <a:t>at random intervals</a:t>
            </a:r>
            <a:endParaRPr lang="en-US" sz="1200" dirty="0"/>
          </a:p>
        </p:txBody>
      </p:sp>
      <p:sp>
        <p:nvSpPr>
          <p:cNvPr id="8" name="Shape 6"/>
          <p:cNvSpPr/>
          <p:nvPr/>
        </p:nvSpPr>
        <p:spPr>
          <a:xfrm>
            <a:off x="6217920" y="914400"/>
            <a:ext cx="2651760" cy="164592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9" name="Text 7"/>
          <p:cNvSpPr/>
          <p:nvPr/>
        </p:nvSpPr>
        <p:spPr>
          <a:xfrm>
            <a:off x="6355080" y="1051560"/>
            <a:ext cx="2377440" cy="1371600"/>
          </a:xfrm>
          <a:prstGeom prst="rect">
            <a:avLst/>
          </a:prstGeom>
          <a:noFill/>
          <a:ln/>
        </p:spPr>
        <p:txBody>
          <a:bodyPr wrap="square" rtlCol="0" anchor="ctr"/>
          <a:lstStyle/>
          <a:p>
            <a:pPr indent="0" marL="0">
              <a:buNone/>
            </a:pPr>
            <a:r>
              <a:rPr lang="en-US" sz="1200" b="1" dirty="0">
                <a:solidFill>
                  <a:srgbClr val="FFFFFF"/>
                </a:solidFill>
              </a:rPr>
              <a:t>Thermal
</a:t>
            </a:r>
            <a:endParaRPr lang="en-US" sz="1200" dirty="0"/>
          </a:p>
          <a:p>
            <a:pPr indent="0" marL="0">
              <a:buNone/>
            </a:pPr>
            <a:r>
              <a:rPr lang="en-US" sz="1000" dirty="0">
                <a:solidFill>
                  <a:srgbClr val="E0E0E0"/>
                </a:solidFill>
              </a:rPr>
              <a:t>INCONSISTENT</a:t>
            </a:r>
            <a:endParaRPr lang="en-US" sz="1200" dirty="0"/>
          </a:p>
          <a:p>
            <a:pPr indent="0" marL="0">
              <a:buNone/>
            </a:pPr>
            <a:r>
              <a:rPr lang="en-US" sz="1000" dirty="0">
                <a:solidFill>
                  <a:srgbClr val="E0E0E0"/>
                </a:solidFill>
              </a:rPr>
              <a:t>(cold corridors, warm rooms)</a:t>
            </a:r>
            <a:endParaRPr lang="en-US" sz="1200" dirty="0"/>
          </a:p>
        </p:txBody>
      </p:sp>
      <p:sp>
        <p:nvSpPr>
          <p:cNvPr id="10" name="Shape 8"/>
          <p:cNvSpPr/>
          <p:nvPr/>
        </p:nvSpPr>
        <p:spPr>
          <a:xfrm>
            <a:off x="457200" y="2834640"/>
            <a:ext cx="2651760" cy="164592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11" name="Text 9"/>
          <p:cNvSpPr/>
          <p:nvPr/>
        </p:nvSpPr>
        <p:spPr>
          <a:xfrm>
            <a:off x="594360" y="2971800"/>
            <a:ext cx="2377440" cy="1371600"/>
          </a:xfrm>
          <a:prstGeom prst="rect">
            <a:avLst/>
          </a:prstGeom>
          <a:noFill/>
          <a:ln/>
        </p:spPr>
        <p:txBody>
          <a:bodyPr wrap="square" rtlCol="0" anchor="ctr"/>
          <a:lstStyle/>
          <a:p>
            <a:pPr indent="0" marL="0">
              <a:buNone/>
            </a:pPr>
            <a:r>
              <a:rPr lang="en-US" sz="1200" b="1" dirty="0">
                <a:solidFill>
                  <a:srgbClr val="FFFFFF"/>
                </a:solidFill>
              </a:rPr>
              <a:t>Olfactory
</a:t>
            </a:r>
            <a:endParaRPr lang="en-US" sz="1200" dirty="0"/>
          </a:p>
          <a:p>
            <a:pPr indent="0" marL="0">
              <a:buNone/>
            </a:pPr>
            <a:r>
              <a:rPr lang="en-US" sz="1000" dirty="0">
                <a:solidFill>
                  <a:srgbClr val="E0E0E0"/>
                </a:solidFill>
              </a:rPr>
              <a:t>INCONGRUENT chemicals</a:t>
            </a:r>
            <a:endParaRPr lang="en-US" sz="1200" dirty="0"/>
          </a:p>
          <a:p>
            <a:pPr indent="0" marL="0">
              <a:buNone/>
            </a:pPr>
            <a:r>
              <a:rPr lang="en-US" sz="1000" dirty="0">
                <a:solidFill>
                  <a:srgbClr val="E0E0E0"/>
                </a:solidFill>
              </a:rPr>
              <a:t>in healing contexts</a:t>
            </a:r>
            <a:endParaRPr lang="en-US" sz="1200" dirty="0"/>
          </a:p>
        </p:txBody>
      </p:sp>
      <p:sp>
        <p:nvSpPr>
          <p:cNvPr id="12" name="Shape 10"/>
          <p:cNvSpPr/>
          <p:nvPr/>
        </p:nvSpPr>
        <p:spPr>
          <a:xfrm>
            <a:off x="3337560" y="2834640"/>
            <a:ext cx="2651760" cy="164592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13" name="Text 11"/>
          <p:cNvSpPr/>
          <p:nvPr/>
        </p:nvSpPr>
        <p:spPr>
          <a:xfrm>
            <a:off x="3474720" y="2971800"/>
            <a:ext cx="2377440" cy="1371600"/>
          </a:xfrm>
          <a:prstGeom prst="rect">
            <a:avLst/>
          </a:prstGeom>
          <a:noFill/>
          <a:ln/>
        </p:spPr>
        <p:txBody>
          <a:bodyPr wrap="square" rtlCol="0" anchor="ctr"/>
          <a:lstStyle/>
          <a:p>
            <a:pPr indent="0" marL="0">
              <a:buNone/>
            </a:pPr>
            <a:r>
              <a:rPr lang="en-US" sz="1200" b="1" dirty="0">
                <a:solidFill>
                  <a:srgbClr val="FFFFFF"/>
                </a:solidFill>
              </a:rPr>
              <a:t>Spatial
</a:t>
            </a:r>
            <a:endParaRPr lang="en-US" sz="1200" dirty="0"/>
          </a:p>
          <a:p>
            <a:pPr indent="0" marL="0">
              <a:buNone/>
            </a:pPr>
            <a:r>
              <a:rPr lang="en-US" sz="1000" dirty="0">
                <a:solidFill>
                  <a:srgbClr val="E0E0E0"/>
                </a:solidFill>
              </a:rPr>
              <a:t>NO REFUGE</a:t>
            </a:r>
            <a:endParaRPr lang="en-US" sz="1200" dirty="0"/>
          </a:p>
          <a:p>
            <a:pPr indent="0" marL="0">
              <a:buNone/>
            </a:pPr>
            <a:r>
              <a:rPr lang="en-US" sz="1000" dirty="0">
                <a:solidFill>
                  <a:srgbClr val="E0E0E0"/>
                </a:solidFill>
              </a:rPr>
              <a:t>(long exposed corridors)</a:t>
            </a:r>
            <a:endParaRPr lang="en-US" sz="1200" dirty="0"/>
          </a:p>
        </p:txBody>
      </p:sp>
      <p:sp>
        <p:nvSpPr>
          <p:cNvPr id="14" name="Shape 12"/>
          <p:cNvSpPr/>
          <p:nvPr/>
        </p:nvSpPr>
        <p:spPr>
          <a:xfrm>
            <a:off x="6217920" y="2834640"/>
            <a:ext cx="2651760" cy="1645920"/>
          </a:xfrm>
          <a:prstGeom prst="rect">
            <a:avLst/>
          </a:prstGeom>
          <a:solidFill>
            <a:srgbClr val="4A7C59"/>
          </a:solidFill>
          <a:ln/>
          <a:effectLst>
            <a:outerShdw sx="100000" sy="100000" kx="0" ky="0" algn="bl" rotWithShape="0" blurRad="76200" dist="25400" dir="8100000">
              <a:srgbClr val="000000">
                <a:alpha val="12000"/>
              </a:srgbClr>
            </a:outerShdw>
          </a:effectLst>
        </p:spPr>
      </p:sp>
      <p:sp>
        <p:nvSpPr>
          <p:cNvPr id="15" name="Text 13"/>
          <p:cNvSpPr/>
          <p:nvPr/>
        </p:nvSpPr>
        <p:spPr>
          <a:xfrm>
            <a:off x="6355080" y="2971800"/>
            <a:ext cx="2377440" cy="1371600"/>
          </a:xfrm>
          <a:prstGeom prst="rect">
            <a:avLst/>
          </a:prstGeom>
          <a:noFill/>
          <a:ln/>
        </p:spPr>
        <p:txBody>
          <a:bodyPr wrap="square" rtlCol="0" anchor="ctr"/>
          <a:lstStyle/>
          <a:p>
            <a:pPr indent="0" marL="0">
              <a:buNone/>
            </a:pPr>
            <a:r>
              <a:rPr lang="en-US" sz="1200" b="1" dirty="0">
                <a:solidFill>
                  <a:srgbClr val="FFFFFF"/>
                </a:solidFill>
              </a:rPr>
              <a:t>Goldilocks Fix
</a:t>
            </a:r>
            <a:endParaRPr lang="en-US" sz="1200" dirty="0"/>
          </a:p>
          <a:p>
            <a:pPr indent="0" marL="0">
              <a:buNone/>
            </a:pPr>
            <a:r>
              <a:rPr lang="en-US" sz="1000" dirty="0">
                <a:solidFill>
                  <a:srgbClr val="E0E0E0"/>
                </a:solidFill>
              </a:rPr>
              <a:t>COORDINATED multi-</a:t>
            </a:r>
            <a:endParaRPr lang="en-US" sz="1200" dirty="0"/>
          </a:p>
          <a:p>
            <a:pPr indent="0" marL="0">
              <a:buNone/>
            </a:pPr>
            <a:r>
              <a:rPr lang="en-US" sz="1000" dirty="0">
                <a:solidFill>
                  <a:srgbClr val="E0E0E0"/>
                </a:solidFill>
              </a:rPr>
              <a:t>channel intervention</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Hospital Before/After: The Khoo Teck Puat Hospital, Singapore</a:t>
            </a:r>
            <a:endParaRPr lang="en-US" sz="2200" dirty="0"/>
          </a:p>
        </p:txBody>
      </p:sp>
      <p:sp>
        <p:nvSpPr>
          <p:cNvPr id="6" name="Shape 4"/>
          <p:cNvSpPr/>
          <p:nvPr/>
        </p:nvSpPr>
        <p:spPr>
          <a:xfrm>
            <a:off x="365760" y="868680"/>
            <a:ext cx="4023360" cy="393192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3657600" cy="3840480"/>
          </a:xfrm>
          <a:prstGeom prst="rect">
            <a:avLst/>
          </a:prstGeom>
          <a:noFill/>
          <a:ln/>
        </p:spPr>
        <p:txBody>
          <a:bodyPr wrap="square" rtlCol="0" anchor="t"/>
          <a:lstStyle/>
          <a:p>
            <a:pPr indent="0" marL="0">
              <a:buNone/>
            </a:pPr>
            <a:r>
              <a:rPr lang="en-US" sz="1400" b="1" dirty="0">
                <a:solidFill>
                  <a:srgbClr val="C05050"/>
                </a:solidFill>
              </a:rPr>
              <a:t>Typical Hospital Ward
</a:t>
            </a:r>
            <a:endParaRPr lang="en-US" sz="1400" dirty="0"/>
          </a:p>
          <a:p>
            <a:pPr indent="0" marL="0">
              <a:buNone/>
            </a:pPr>
            <a:r>
              <a:rPr lang="en-US" sz="1100" dirty="0">
                <a:solidFill>
                  <a:srgbClr val="2C2C2C"/>
                </a:solidFill>
              </a:rPr>
              <a:t>Visual: fluorescent panels on dropped ceiling tiles. Equipment, cords, monitors everywhere. D ≈ 1.6–1.8 but disorganized—high complexity without hierarchy.
</a:t>
            </a:r>
            <a:endParaRPr lang="en-US" sz="1400" dirty="0"/>
          </a:p>
          <a:p>
            <a:pPr indent="0" marL="0">
              <a:buNone/>
            </a:pPr>
            <a:r>
              <a:rPr lang="en-US" sz="1100" dirty="0">
                <a:solidFill>
                  <a:srgbClr val="2C2C2C"/>
                </a:solidFill>
              </a:rPr>
              <a:t>Acoustic: alarms fire every 45–90 seconds on a typical ward (Cvach, 2012). Each alarm = phasic LC burst = attention capture. Cumulative: hundreds of attention interruptions per hour.
</a:t>
            </a:r>
            <a:endParaRPr lang="en-US" sz="1400" dirty="0"/>
          </a:p>
          <a:p>
            <a:pPr indent="0" marL="0">
              <a:buNone/>
            </a:pPr>
            <a:r>
              <a:rPr lang="en-US" sz="1100" dirty="0">
                <a:solidFill>
                  <a:srgbClr val="2C2C2C"/>
                </a:solidFill>
              </a:rPr>
              <a:t>Olfactory: cleaning chemicals (ammonia, bleach) in a context where the brain expects “healing.” Cross-modal incongruence PE.
</a:t>
            </a:r>
            <a:endParaRPr lang="en-US" sz="1400" dirty="0"/>
          </a:p>
          <a:p>
            <a:pPr indent="0" marL="0">
              <a:buNone/>
            </a:pPr>
            <a:r>
              <a:rPr lang="en-US" sz="1000" b="1" dirty="0">
                <a:solidFill>
                  <a:srgbClr val="C05050"/>
                </a:solidFill>
              </a:rPr>
              <a:t>Patient outcome: elevated cortisol, disrupted sleep, slower wound healing (Ulrich et al., 2008).</a:t>
            </a:r>
            <a:endParaRPr lang="en-US" sz="1400" dirty="0"/>
          </a:p>
        </p:txBody>
      </p:sp>
      <p:sp>
        <p:nvSpPr>
          <p:cNvPr id="8" name="Shape 6"/>
          <p:cNvSpPr/>
          <p:nvPr/>
        </p:nvSpPr>
        <p:spPr>
          <a:xfrm>
            <a:off x="4663440" y="868680"/>
            <a:ext cx="4114800" cy="393192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9" name="Text 7"/>
          <p:cNvSpPr/>
          <p:nvPr/>
        </p:nvSpPr>
        <p:spPr>
          <a:xfrm>
            <a:off x="4846320" y="914400"/>
            <a:ext cx="3749040" cy="3840480"/>
          </a:xfrm>
          <a:prstGeom prst="rect">
            <a:avLst/>
          </a:prstGeom>
          <a:noFill/>
          <a:ln/>
        </p:spPr>
        <p:txBody>
          <a:bodyPr wrap="square" rtlCol="0" anchor="t"/>
          <a:lstStyle/>
          <a:p>
            <a:pPr indent="0" marL="0">
              <a:buNone/>
            </a:pPr>
            <a:r>
              <a:rPr lang="en-US" sz="1400" b="1" dirty="0">
                <a:solidFill>
                  <a:srgbClr val="4A7C59"/>
                </a:solidFill>
              </a:rPr>
              <a:t>Khoo Teck Puat Hospital
(Biophilic, multi-channel)
</a:t>
            </a:r>
            <a:endParaRPr lang="en-US" sz="1400" dirty="0"/>
          </a:p>
          <a:p>
            <a:pPr indent="0" marL="0">
              <a:buNone/>
            </a:pPr>
            <a:r>
              <a:rPr lang="en-US" sz="1100" dirty="0">
                <a:solidFill>
                  <a:srgbClr val="2C2C2C"/>
                </a:solidFill>
              </a:rPr>
              <a:t>Visual: garden views from every bed. Organized complexity (D ≈ 1.3) from vegetation at multiple scales. Warm wood accents at ~35–40%.
</a:t>
            </a:r>
            <a:endParaRPr lang="en-US" sz="1400" dirty="0"/>
          </a:p>
          <a:p>
            <a:pPr indent="0" marL="0">
              <a:buNone/>
            </a:pPr>
            <a:r>
              <a:rPr lang="en-US" sz="1100" dirty="0">
                <a:solidFill>
                  <a:srgbClr val="2C2C2C"/>
                </a:solidFill>
              </a:rPr>
              <a:t>Acoustic: smart alarm triage reduces false alarms by 70%. Water features provide constant broadband masking (~45 dB), suppressing phasic responses.
</a:t>
            </a:r>
            <a:endParaRPr lang="en-US" sz="1400" dirty="0"/>
          </a:p>
          <a:p>
            <a:pPr indent="0" marL="0">
              <a:buNone/>
            </a:pPr>
            <a:r>
              <a:rPr lang="en-US" sz="1100" dirty="0">
                <a:solidFill>
                  <a:srgbClr val="2C2C2C"/>
                </a:solidFill>
              </a:rPr>
              <a:t>Olfactory: garden scents enter wards through operable windows. Congruent with “healing garden” context.
</a:t>
            </a:r>
            <a:endParaRPr lang="en-US" sz="1400" dirty="0"/>
          </a:p>
          <a:p>
            <a:pPr indent="0" marL="0">
              <a:buNone/>
            </a:pPr>
            <a:r>
              <a:rPr lang="en-US" sz="1000" b="1" dirty="0">
                <a:solidFill>
                  <a:srgbClr val="4A7C59"/>
                </a:solidFill>
              </a:rPr>
              <a:t>Outcome: 30% faster recovery, 50% less sedative use, significantly improved patient satisfaction (Tan, 2013).</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Open-Plan Offices: The LC-NE Disaster</a:t>
            </a:r>
            <a:endParaRPr lang="en-US" sz="2400" dirty="0"/>
          </a:p>
        </p:txBody>
      </p:sp>
      <p:sp>
        <p:nvSpPr>
          <p:cNvPr id="4" name="Shape 2"/>
          <p:cNvSpPr/>
          <p:nvPr/>
        </p:nvSpPr>
        <p:spPr>
          <a:xfrm>
            <a:off x="457200" y="1005840"/>
            <a:ext cx="2560320" cy="91440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5" name="Text 3"/>
          <p:cNvSpPr/>
          <p:nvPr/>
        </p:nvSpPr>
        <p:spPr>
          <a:xfrm>
            <a:off x="457200" y="1005840"/>
            <a:ext cx="2560320" cy="914400"/>
          </a:xfrm>
          <a:prstGeom prst="rect">
            <a:avLst/>
          </a:prstGeom>
          <a:noFill/>
          <a:ln/>
        </p:spPr>
        <p:txBody>
          <a:bodyPr wrap="square" rtlCol="0" anchor="ctr"/>
          <a:lstStyle/>
          <a:p>
            <a:pPr algn="ctr" indent="0" marL="0">
              <a:buNone/>
            </a:pPr>
            <a:r>
              <a:rPr lang="en-US" sz="1100" b="1" dirty="0">
                <a:solidFill>
                  <a:srgbClr val="FFFFFF"/>
                </a:solidFill>
              </a:rPr>
              <a:t>Unpredictable Speech</a:t>
            </a:r>
            <a:endParaRPr lang="en-US" sz="1100" dirty="0"/>
          </a:p>
          <a:p>
            <a:pPr algn="ctr" indent="0" marL="0">
              <a:buNone/>
            </a:pPr>
            <a:r>
              <a:rPr lang="en-US" sz="1100" b="1" dirty="0">
                <a:solidFill>
                  <a:srgbClr val="FFFFFF"/>
                </a:solidFill>
              </a:rPr>
              <a:t>→ Phasic LC bursts</a:t>
            </a:r>
            <a:endParaRPr lang="en-US" sz="1100" dirty="0"/>
          </a:p>
        </p:txBody>
      </p:sp>
      <p:sp>
        <p:nvSpPr>
          <p:cNvPr id="6" name="Shape 4"/>
          <p:cNvSpPr/>
          <p:nvPr/>
        </p:nvSpPr>
        <p:spPr>
          <a:xfrm>
            <a:off x="3291840" y="1005840"/>
            <a:ext cx="2560320" cy="914400"/>
          </a:xfrm>
          <a:prstGeom prst="rect">
            <a:avLst/>
          </a:prstGeom>
          <a:solidFill>
            <a:srgbClr val="3B6A9C"/>
          </a:solidFill>
          <a:ln/>
          <a:effectLst>
            <a:outerShdw sx="100000" sy="100000" kx="0" ky="0" algn="bl" rotWithShape="0" blurRad="76200" dist="25400" dir="8100000">
              <a:srgbClr val="000000">
                <a:alpha val="12000"/>
              </a:srgbClr>
            </a:outerShdw>
          </a:effectLst>
        </p:spPr>
      </p:sp>
      <p:sp>
        <p:nvSpPr>
          <p:cNvPr id="7" name="Text 5"/>
          <p:cNvSpPr/>
          <p:nvPr/>
        </p:nvSpPr>
        <p:spPr>
          <a:xfrm>
            <a:off x="3291840" y="1005840"/>
            <a:ext cx="2560320" cy="914400"/>
          </a:xfrm>
          <a:prstGeom prst="rect">
            <a:avLst/>
          </a:prstGeom>
          <a:noFill/>
          <a:ln/>
        </p:spPr>
        <p:txBody>
          <a:bodyPr wrap="square" rtlCol="0" anchor="ctr"/>
          <a:lstStyle/>
          <a:p>
            <a:pPr algn="ctr" indent="0" marL="0">
              <a:buNone/>
            </a:pPr>
            <a:r>
              <a:rPr lang="en-US" sz="1100" b="1" dirty="0">
                <a:solidFill>
                  <a:srgbClr val="FFFFFF"/>
                </a:solidFill>
              </a:rPr>
              <a:t>Poor Interior Daylight</a:t>
            </a:r>
            <a:endParaRPr lang="en-US" sz="1100" dirty="0"/>
          </a:p>
          <a:p>
            <a:pPr algn="ctr" indent="0" marL="0">
              <a:buNone/>
            </a:pPr>
            <a:r>
              <a:rPr lang="en-US" sz="1100" b="1" dirty="0">
                <a:solidFill>
                  <a:srgbClr val="FFFFFF"/>
                </a:solidFill>
              </a:rPr>
              <a:t>→ Weak tonic LC mode</a:t>
            </a:r>
            <a:endParaRPr lang="en-US" sz="1100" dirty="0"/>
          </a:p>
        </p:txBody>
      </p:sp>
      <p:sp>
        <p:nvSpPr>
          <p:cNvPr id="8" name="Shape 6"/>
          <p:cNvSpPr/>
          <p:nvPr/>
        </p:nvSpPr>
        <p:spPr>
          <a:xfrm>
            <a:off x="6126480" y="1005840"/>
            <a:ext cx="2560320" cy="914400"/>
          </a:xfrm>
          <a:prstGeom prst="rect">
            <a:avLst/>
          </a:prstGeom>
          <a:solidFill>
            <a:srgbClr val="B85042"/>
          </a:solidFill>
          <a:ln/>
          <a:effectLst>
            <a:outerShdw sx="100000" sy="100000" kx="0" ky="0" algn="bl" rotWithShape="0" blurRad="76200" dist="25400" dir="8100000">
              <a:srgbClr val="000000">
                <a:alpha val="12000"/>
              </a:srgbClr>
            </a:outerShdw>
          </a:effectLst>
        </p:spPr>
      </p:sp>
      <p:sp>
        <p:nvSpPr>
          <p:cNvPr id="9" name="Text 7"/>
          <p:cNvSpPr/>
          <p:nvPr/>
        </p:nvSpPr>
        <p:spPr>
          <a:xfrm>
            <a:off x="6126480" y="1005840"/>
            <a:ext cx="2560320" cy="914400"/>
          </a:xfrm>
          <a:prstGeom prst="rect">
            <a:avLst/>
          </a:prstGeom>
          <a:noFill/>
          <a:ln/>
        </p:spPr>
        <p:txBody>
          <a:bodyPr wrap="square" rtlCol="0" anchor="ctr"/>
          <a:lstStyle/>
          <a:p>
            <a:pPr algn="ctr" indent="0" marL="0">
              <a:buNone/>
            </a:pPr>
            <a:r>
              <a:rPr lang="en-US" sz="1100" b="1" dirty="0">
                <a:solidFill>
                  <a:srgbClr val="FFFFFF"/>
                </a:solidFill>
              </a:rPr>
              <a:t>No Refuge Zones</a:t>
            </a:r>
            <a:endParaRPr lang="en-US" sz="1100" dirty="0"/>
          </a:p>
          <a:p>
            <a:pPr algn="ctr" indent="0" marL="0">
              <a:buNone/>
            </a:pPr>
            <a:r>
              <a:rPr lang="en-US" sz="1100" b="1" dirty="0">
                <a:solidFill>
                  <a:srgbClr val="FFFFFF"/>
                </a:solidFill>
              </a:rPr>
              <a:t>→ No escape from intrusion</a:t>
            </a:r>
            <a:endParaRPr lang="en-US" sz="1100" dirty="0"/>
          </a:p>
        </p:txBody>
      </p:sp>
      <p:sp>
        <p:nvSpPr>
          <p:cNvPr id="10" name="Shape 8"/>
          <p:cNvSpPr/>
          <p:nvPr/>
        </p:nvSpPr>
        <p:spPr>
          <a:xfrm>
            <a:off x="3291840" y="2194560"/>
            <a:ext cx="2560320" cy="82296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11" name="Text 9"/>
          <p:cNvSpPr/>
          <p:nvPr/>
        </p:nvSpPr>
        <p:spPr>
          <a:xfrm>
            <a:off x="3291840" y="2194560"/>
            <a:ext cx="2560320" cy="822960"/>
          </a:xfrm>
          <a:prstGeom prst="rect">
            <a:avLst/>
          </a:prstGeom>
          <a:noFill/>
          <a:ln/>
        </p:spPr>
        <p:txBody>
          <a:bodyPr wrap="square" rtlCol="0" anchor="ctr"/>
          <a:lstStyle/>
          <a:p>
            <a:pPr algn="ctr" indent="0" marL="0">
              <a:buNone/>
            </a:pPr>
            <a:r>
              <a:rPr lang="en-US" sz="1300" b="1" dirty="0">
                <a:solidFill>
                  <a:srgbClr val="C47D2B"/>
                </a:solidFill>
              </a:rPr>
              <a:t>Locus Coeruleus</a:t>
            </a:r>
            <a:endParaRPr lang="en-US" sz="1300" dirty="0"/>
          </a:p>
          <a:p>
            <a:pPr algn="ctr" indent="0" marL="0">
              <a:buNone/>
            </a:pPr>
            <a:r>
              <a:rPr lang="en-US" sz="1300" b="1" dirty="0">
                <a:solidFill>
                  <a:srgbClr val="C47D2B"/>
                </a:solidFill>
              </a:rPr>
              <a:t>Exploration Mode</a:t>
            </a:r>
            <a:endParaRPr lang="en-US" sz="1300" dirty="0"/>
          </a:p>
        </p:txBody>
      </p:sp>
      <p:sp>
        <p:nvSpPr>
          <p:cNvPr id="12" name="Shape 10"/>
          <p:cNvSpPr/>
          <p:nvPr/>
        </p:nvSpPr>
        <p:spPr>
          <a:xfrm>
            <a:off x="1371600" y="3291840"/>
            <a:ext cx="6400800" cy="73152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13" name="Text 11"/>
          <p:cNvSpPr/>
          <p:nvPr/>
        </p:nvSpPr>
        <p:spPr>
          <a:xfrm>
            <a:off x="1371600" y="3291840"/>
            <a:ext cx="6400800" cy="731520"/>
          </a:xfrm>
          <a:prstGeom prst="rect">
            <a:avLst/>
          </a:prstGeom>
          <a:noFill/>
          <a:ln/>
        </p:spPr>
        <p:txBody>
          <a:bodyPr wrap="square" rtlCol="0" anchor="ctr"/>
          <a:lstStyle/>
          <a:p>
            <a:pPr algn="ctr" indent="0" marL="0">
              <a:buNone/>
            </a:pPr>
            <a:r>
              <a:rPr lang="en-US" sz="1300" b="1" dirty="0">
                <a:solidFill>
                  <a:srgbClr val="1B3A5C"/>
                </a:solidFill>
              </a:rPr>
              <a:t>Low tonic NE + frequent phasic bursts = the OPPOSITE of deep work mode</a:t>
            </a:r>
            <a:endParaRPr lang="en-US" sz="1300" dirty="0"/>
          </a:p>
        </p:txBody>
      </p:sp>
      <p:sp>
        <p:nvSpPr>
          <p:cNvPr id="14" name="Shape 12"/>
          <p:cNvSpPr/>
          <p:nvPr/>
        </p:nvSpPr>
        <p:spPr>
          <a:xfrm>
            <a:off x="457200" y="4206240"/>
            <a:ext cx="8229600" cy="640080"/>
          </a:xfrm>
          <a:prstGeom prst="rect">
            <a:avLst/>
          </a:prstGeom>
          <a:solidFill>
            <a:srgbClr val="4A7C59"/>
          </a:solidFill>
          <a:ln/>
          <a:effectLst>
            <a:outerShdw sx="100000" sy="100000" kx="0" ky="0" algn="bl" rotWithShape="0" blurRad="76200" dist="25400" dir="8100000">
              <a:srgbClr val="000000">
                <a:alpha val="12000"/>
              </a:srgbClr>
            </a:outerShdw>
          </a:effectLst>
        </p:spPr>
      </p:sp>
      <p:sp>
        <p:nvSpPr>
          <p:cNvPr id="15" name="Text 13"/>
          <p:cNvSpPr/>
          <p:nvPr/>
        </p:nvSpPr>
        <p:spPr>
          <a:xfrm>
            <a:off x="457200" y="4206240"/>
            <a:ext cx="8229600" cy="640080"/>
          </a:xfrm>
          <a:prstGeom prst="rect">
            <a:avLst/>
          </a:prstGeom>
          <a:noFill/>
          <a:ln/>
        </p:spPr>
        <p:txBody>
          <a:bodyPr wrap="square" rtlCol="0" anchor="ctr"/>
          <a:lstStyle/>
          <a:p>
            <a:pPr algn="ctr" indent="0" marL="0">
              <a:buNone/>
            </a:pPr>
            <a:r>
              <a:rPr lang="en-US" sz="1200" b="1" dirty="0">
                <a:solidFill>
                  <a:srgbClr val="FFFFFF"/>
                </a:solidFill>
              </a:rPr>
              <a:t>Fix: Bright blue-enriched light (tonic LC) + acoustic control (phasic suppression) + focus pods (refuge)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Before/After: A Real Office Goldilocks Intervention</a:t>
            </a:r>
            <a:endParaRPr lang="en-US" sz="2200" dirty="0"/>
          </a:p>
        </p:txBody>
      </p:sp>
      <p:sp>
        <p:nvSpPr>
          <p:cNvPr id="6" name="Shape 4"/>
          <p:cNvSpPr/>
          <p:nvPr/>
        </p:nvSpPr>
        <p:spPr>
          <a:xfrm>
            <a:off x="365760" y="868680"/>
            <a:ext cx="4023360" cy="393192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3657600" cy="3840480"/>
          </a:xfrm>
          <a:prstGeom prst="rect">
            <a:avLst/>
          </a:prstGeom>
          <a:noFill/>
          <a:ln/>
        </p:spPr>
        <p:txBody>
          <a:bodyPr wrap="square" rtlCol="0" anchor="t"/>
          <a:lstStyle/>
          <a:p>
            <a:pPr indent="0" marL="0">
              <a:buNone/>
            </a:pPr>
            <a:r>
              <a:rPr lang="en-US" sz="1400" b="1" dirty="0">
                <a:solidFill>
                  <a:srgbClr val="C05050"/>
                </a:solidFill>
              </a:rPr>
              <a:t>Before: Standard Open Plan
</a:t>
            </a:r>
            <a:endParaRPr lang="en-US" sz="1400" dirty="0"/>
          </a:p>
          <a:p>
            <a:pPr indent="0" marL="0">
              <a:buNone/>
            </a:pPr>
            <a:r>
              <a:rPr lang="en-US" sz="1100" dirty="0">
                <a:solidFill>
                  <a:srgbClr val="2C2C2C"/>
                </a:solidFill>
              </a:rPr>
              <a:t>Light: Interior desks get 150–200 lux from overhead fluorescents. No blue-enrichment. Tonic LC = weak.
</a:t>
            </a:r>
            <a:endParaRPr lang="en-US" sz="1400" dirty="0"/>
          </a:p>
          <a:p>
            <a:pPr indent="0" marL="0">
              <a:buNone/>
            </a:pPr>
            <a:r>
              <a:rPr lang="en-US" sz="1100" dirty="0">
                <a:solidFill>
                  <a:srgbClr val="2C2C2C"/>
                </a:solidFill>
              </a:rPr>
              <a:t>Sound: Avg 58 dB with speech peaks to 72 dB every 30–60 sec. Each peak = phasic LC burst. ~120 attention interruptions/hour.
</a:t>
            </a:r>
            <a:endParaRPr lang="en-US" sz="1400" dirty="0"/>
          </a:p>
          <a:p>
            <a:pPr indent="0" marL="0">
              <a:buNone/>
            </a:pPr>
            <a:r>
              <a:rPr lang="en-US" sz="1100" dirty="0">
                <a:solidFill>
                  <a:srgbClr val="2C2C2C"/>
                </a:solidFill>
              </a:rPr>
              <a:t>Spatial: No enclosure option. Can’t escape visual or auditory intrusion. Prospect without refuge.
</a:t>
            </a:r>
            <a:endParaRPr lang="en-US" sz="1400" dirty="0"/>
          </a:p>
          <a:p>
            <a:pPr indent="0" marL="0">
              <a:buNone/>
            </a:pPr>
            <a:r>
              <a:rPr lang="en-US" sz="1000" b="1" dirty="0">
                <a:solidFill>
                  <a:srgbClr val="C05050"/>
                </a:solidFill>
              </a:rPr>
              <a:t>Result: Developers report 2–3 hours of uninterrupted focus per 8-hour day. Headphone use at 85%.</a:t>
            </a:r>
            <a:endParaRPr lang="en-US" sz="1400" dirty="0"/>
          </a:p>
        </p:txBody>
      </p:sp>
      <p:sp>
        <p:nvSpPr>
          <p:cNvPr id="8" name="Shape 6"/>
          <p:cNvSpPr/>
          <p:nvPr/>
        </p:nvSpPr>
        <p:spPr>
          <a:xfrm>
            <a:off x="4663440" y="868680"/>
            <a:ext cx="4114800" cy="393192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9" name="Text 7"/>
          <p:cNvSpPr/>
          <p:nvPr/>
        </p:nvSpPr>
        <p:spPr>
          <a:xfrm>
            <a:off x="4846320" y="914400"/>
            <a:ext cx="3749040" cy="3840480"/>
          </a:xfrm>
          <a:prstGeom prst="rect">
            <a:avLst/>
          </a:prstGeom>
          <a:noFill/>
          <a:ln/>
        </p:spPr>
        <p:txBody>
          <a:bodyPr wrap="square" rtlCol="0" anchor="t"/>
          <a:lstStyle/>
          <a:p>
            <a:pPr indent="0" marL="0">
              <a:buNone/>
            </a:pPr>
            <a:r>
              <a:rPr lang="en-US" sz="1400" b="1" dirty="0">
                <a:solidFill>
                  <a:srgbClr val="4A7C59"/>
                </a:solidFill>
              </a:rPr>
              <a:t>After: Goldilocks Intervention
</a:t>
            </a:r>
            <a:endParaRPr lang="en-US" sz="1400" dirty="0"/>
          </a:p>
          <a:p>
            <a:pPr indent="0" marL="0">
              <a:buNone/>
            </a:pPr>
            <a:r>
              <a:rPr lang="en-US" sz="1100" dirty="0">
                <a:solidFill>
                  <a:srgbClr val="2C2C2C"/>
                </a:solidFill>
              </a:rPr>
              <a:t>Light: Circadian LED panels at 500+ lux, blue-enriched 6500K mornings, warm 3000K afternoons. Tonic LC = strong.
</a:t>
            </a:r>
            <a:endParaRPr lang="en-US" sz="1400" dirty="0"/>
          </a:p>
          <a:p>
            <a:pPr indent="0" marL="0">
              <a:buNone/>
            </a:pPr>
            <a:r>
              <a:rPr lang="en-US" sz="1100" dirty="0">
                <a:solidFill>
                  <a:srgbClr val="2C2C2C"/>
                </a:solidFill>
              </a:rPr>
              <a:t>Sound: Acoustic felt panels + white noise masking (42 dB floor). Speech peaks drop to 48 dB. Phasic interruptions reduced 80%.
</a:t>
            </a:r>
            <a:endParaRPr lang="en-US" sz="1400" dirty="0"/>
          </a:p>
          <a:p>
            <a:pPr indent="0" marL="0">
              <a:buNone/>
            </a:pPr>
            <a:r>
              <a:rPr lang="en-US" sz="1100" dirty="0">
                <a:solidFill>
                  <a:srgbClr val="2C2C2C"/>
                </a:solidFill>
              </a:rPr>
              <a:t>Spatial: 4 enclosed focus pods (2.5m ceiling, wood-lined, sound-isolated). Prospect-refuge: open desk = prospect, pod = refuge.
</a:t>
            </a:r>
            <a:endParaRPr lang="en-US" sz="1400" dirty="0"/>
          </a:p>
          <a:p>
            <a:pPr indent="0" marL="0">
              <a:buNone/>
            </a:pPr>
            <a:r>
              <a:rPr lang="en-US" sz="1000" b="1" dirty="0">
                <a:solidFill>
                  <a:srgbClr val="4A7C59"/>
                </a:solidFill>
              </a:rPr>
              <a:t>Result: Uninterrupted focus time doubles to 4–5 hours. Self-reported satisfaction +40%. Headphone use drops to 25%.</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Cross-Modal Compensation: Channels Trade Off</a:t>
            </a:r>
            <a:endParaRPr lang="en-US" sz="2400" dirty="0"/>
          </a:p>
        </p:txBody>
      </p:sp>
      <p:sp>
        <p:nvSpPr>
          <p:cNvPr id="4" name="Shape 2"/>
          <p:cNvSpPr/>
          <p:nvPr/>
        </p:nvSpPr>
        <p:spPr>
          <a:xfrm>
            <a:off x="457200" y="914400"/>
            <a:ext cx="3840480" cy="182880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5" name="Text 3"/>
          <p:cNvSpPr/>
          <p:nvPr/>
        </p:nvSpPr>
        <p:spPr>
          <a:xfrm>
            <a:off x="640080" y="1005840"/>
            <a:ext cx="3474720" cy="1645920"/>
          </a:xfrm>
          <a:prstGeom prst="rect">
            <a:avLst/>
          </a:prstGeom>
          <a:noFill/>
          <a:ln/>
        </p:spPr>
        <p:txBody>
          <a:bodyPr wrap="square" rtlCol="0" anchor="ctr"/>
          <a:lstStyle/>
          <a:p>
            <a:pPr indent="0" marL="0">
              <a:buNone/>
            </a:pPr>
            <a:r>
              <a:rPr lang="en-US" sz="1300" b="1" dirty="0">
                <a:solidFill>
                  <a:srgbClr val="1B3A5C"/>
                </a:solidFill>
              </a:rPr>
              <a:t>Quiet + Low Visual Complexity
</a:t>
            </a:r>
            <a:endParaRPr lang="en-US" sz="1300" dirty="0"/>
          </a:p>
          <a:p>
            <a:pPr indent="0" marL="0">
              <a:buNone/>
            </a:pPr>
            <a:endParaRPr lang="en-US" sz="1300" dirty="0"/>
          </a:p>
          <a:p>
            <a:pPr indent="0" marL="0">
              <a:buNone/>
            </a:pPr>
            <a:r>
              <a:rPr lang="en-US" sz="1200" dirty="0">
                <a:solidFill>
                  <a:srgbClr val="2C2C2C"/>
                </a:solidFill>
              </a:rPr>
              <a:t>Total PE too low. Under-stimulation.</a:t>
            </a:r>
            <a:endParaRPr lang="en-US" sz="1300" dirty="0"/>
          </a:p>
          <a:p>
            <a:pPr indent="0" marL="0">
              <a:buNone/>
            </a:pPr>
            <a:r>
              <a:rPr lang="en-US" sz="1200" dirty="0">
                <a:solidFill>
                  <a:srgbClr val="2C2C2C"/>
                </a:solidFill>
              </a:rPr>
              <a:t>Fix: increase visual complexity.</a:t>
            </a:r>
            <a:endParaRPr lang="en-US" sz="1300" dirty="0"/>
          </a:p>
        </p:txBody>
      </p:sp>
      <p:sp>
        <p:nvSpPr>
          <p:cNvPr id="6" name="Shape 4"/>
          <p:cNvSpPr/>
          <p:nvPr/>
        </p:nvSpPr>
        <p:spPr>
          <a:xfrm>
            <a:off x="4846320" y="914400"/>
            <a:ext cx="3840480" cy="182880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7" name="Text 5"/>
          <p:cNvSpPr/>
          <p:nvPr/>
        </p:nvSpPr>
        <p:spPr>
          <a:xfrm>
            <a:off x="5029200" y="1005840"/>
            <a:ext cx="3474720" cy="1645920"/>
          </a:xfrm>
          <a:prstGeom prst="rect">
            <a:avLst/>
          </a:prstGeom>
          <a:noFill/>
          <a:ln/>
        </p:spPr>
        <p:txBody>
          <a:bodyPr wrap="square" rtlCol="0" anchor="ctr"/>
          <a:lstStyle/>
          <a:p>
            <a:pPr indent="0" marL="0">
              <a:buNone/>
            </a:pPr>
            <a:r>
              <a:rPr lang="en-US" sz="1300" b="1" dirty="0">
                <a:solidFill>
                  <a:srgbClr val="C47D2B"/>
                </a:solidFill>
              </a:rPr>
              <a:t>Noisy + High Visual Complexity
</a:t>
            </a:r>
            <a:endParaRPr lang="en-US" sz="1300" dirty="0"/>
          </a:p>
          <a:p>
            <a:pPr indent="0" marL="0">
              <a:buNone/>
            </a:pPr>
            <a:endParaRPr lang="en-US" sz="1300" dirty="0"/>
          </a:p>
          <a:p>
            <a:pPr indent="0" marL="0">
              <a:buNone/>
            </a:pPr>
            <a:r>
              <a:rPr lang="en-US" sz="1200" dirty="0">
                <a:solidFill>
                  <a:srgbClr val="2C2C2C"/>
                </a:solidFill>
              </a:rPr>
              <a:t>Total PE too high. Overwhelm.</a:t>
            </a:r>
            <a:endParaRPr lang="en-US" sz="1300" dirty="0"/>
          </a:p>
          <a:p>
            <a:pPr indent="0" marL="0">
              <a:buNone/>
            </a:pPr>
            <a:r>
              <a:rPr lang="en-US" sz="1200" dirty="0">
                <a:solidFill>
                  <a:srgbClr val="2C2C2C"/>
                </a:solidFill>
              </a:rPr>
              <a:t>Fix: reduce visual complexity.</a:t>
            </a:r>
            <a:endParaRPr lang="en-US" sz="1300" dirty="0"/>
          </a:p>
        </p:txBody>
      </p:sp>
      <p:sp>
        <p:nvSpPr>
          <p:cNvPr id="8" name="Shape 6"/>
          <p:cNvSpPr/>
          <p:nvPr/>
        </p:nvSpPr>
        <p:spPr>
          <a:xfrm>
            <a:off x="1371600" y="3017520"/>
            <a:ext cx="6400800" cy="137160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9" name="Text 7"/>
          <p:cNvSpPr/>
          <p:nvPr/>
        </p:nvSpPr>
        <p:spPr>
          <a:xfrm>
            <a:off x="1554480" y="3108960"/>
            <a:ext cx="6035040" cy="1188720"/>
          </a:xfrm>
          <a:prstGeom prst="rect">
            <a:avLst/>
          </a:prstGeom>
          <a:noFill/>
          <a:ln/>
        </p:spPr>
        <p:txBody>
          <a:bodyPr wrap="square" rtlCol="0" anchor="ctr"/>
          <a:lstStyle/>
          <a:p>
            <a:pPr indent="0" marL="0">
              <a:buNone/>
            </a:pPr>
            <a:r>
              <a:rPr lang="en-US" sz="1400" b="1" dirty="0">
                <a:solidFill>
                  <a:srgbClr val="C47D2B"/>
                </a:solidFill>
              </a:rPr>
              <a:t>Channels compensate through shared LC-NE arousal pathway
</a:t>
            </a:r>
            <a:endParaRPr lang="en-US" sz="1400" dirty="0"/>
          </a:p>
          <a:p>
            <a:pPr indent="0" marL="0">
              <a:buNone/>
            </a:pPr>
            <a:r>
              <a:rPr lang="en-US" sz="1200" dirty="0">
                <a:solidFill>
                  <a:srgbClr val="FFFFFF"/>
                </a:solidFill>
              </a:rPr>
              <a:t>Visual and acoustic design are NOT independent.</a:t>
            </a:r>
            <a:endParaRPr lang="en-US" sz="1400" dirty="0"/>
          </a:p>
          <a:p>
            <a:pPr indent="0" marL="0">
              <a:buNone/>
            </a:pPr>
            <a:r>
              <a:rPr lang="en-US" sz="1200" dirty="0">
                <a:solidFill>
                  <a:srgbClr val="FFFFFF"/>
                </a:solidFill>
              </a:rPr>
              <a:t>Jointly optimized against a total PE budget.</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Cross-Modal Compensation in Practice</a:t>
            </a:r>
            <a:endParaRPr lang="en-US" sz="2200" dirty="0"/>
          </a:p>
        </p:txBody>
      </p:sp>
      <p:sp>
        <p:nvSpPr>
          <p:cNvPr id="6" name="Shape 4"/>
          <p:cNvSpPr/>
          <p:nvPr/>
        </p:nvSpPr>
        <p:spPr>
          <a:xfrm>
            <a:off x="365760" y="868680"/>
            <a:ext cx="4114800" cy="3931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365760" y="868680"/>
            <a:ext cx="4114800" cy="548640"/>
          </a:xfrm>
          <a:prstGeom prst="rect">
            <a:avLst/>
          </a:prstGeom>
          <a:solidFill>
            <a:srgbClr val="4A7C59"/>
          </a:solidFill>
          <a:ln/>
        </p:spPr>
      </p:sp>
      <p:sp>
        <p:nvSpPr>
          <p:cNvPr id="8" name="Text 6"/>
          <p:cNvSpPr/>
          <p:nvPr/>
        </p:nvSpPr>
        <p:spPr>
          <a:xfrm>
            <a:off x="365760" y="868680"/>
            <a:ext cx="4114800" cy="54864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The Japanese Tea House</a:t>
            </a:r>
            <a:endParaRPr lang="en-US" sz="1300" dirty="0"/>
          </a:p>
        </p:txBody>
      </p:sp>
      <p:sp>
        <p:nvSpPr>
          <p:cNvPr id="9" name="Text 7"/>
          <p:cNvSpPr/>
          <p:nvPr/>
        </p:nvSpPr>
        <p:spPr>
          <a:xfrm>
            <a:off x="502920" y="1554480"/>
            <a:ext cx="3840480" cy="3017520"/>
          </a:xfrm>
          <a:prstGeom prst="rect">
            <a:avLst/>
          </a:prstGeom>
          <a:noFill/>
          <a:ln/>
        </p:spPr>
        <p:txBody>
          <a:bodyPr wrap="square" rtlCol="0" anchor="ctr"/>
          <a:lstStyle/>
          <a:p>
            <a:pPr indent="0" marL="0">
              <a:buNone/>
            </a:pPr>
            <a:r>
              <a:rPr lang="en-US" sz="1000" dirty="0">
                <a:solidFill>
                  <a:srgbClr val="2C2C2C"/>
                </a:solidFill>
              </a:rPr>
              <a:t>Extremely quiet (&lt; 30 dB). Minimal furniture. Neutral palette. By acoustic and visual measures alone: UNDER-stimulating.</a:t>
            </a:r>
            <a:endParaRPr lang="en-US" sz="1000" dirty="0"/>
          </a:p>
          <a:p>
            <a:pPr indent="0" marL="0">
              <a:buNone/>
            </a:pPr>
            <a:endParaRPr lang="en-US" sz="1000" dirty="0"/>
          </a:p>
          <a:p>
            <a:pPr indent="0" marL="0">
              <a:buNone/>
            </a:pPr>
            <a:r>
              <a:rPr lang="en-US" sz="1000" dirty="0">
                <a:solidFill>
                  <a:srgbClr val="2C2C2C"/>
                </a:solidFill>
              </a:rPr>
              <a:t>But: tatami mat texture, tokonoma alcove with one scroll and one flower, shoji screen casting moving shadows, garden view framed by the window.</a:t>
            </a:r>
            <a:endParaRPr lang="en-US" sz="1000" dirty="0"/>
          </a:p>
          <a:p>
            <a:pPr indent="0" marL="0">
              <a:buNone/>
            </a:pPr>
            <a:endParaRPr lang="en-US" sz="1000" dirty="0"/>
          </a:p>
          <a:p>
            <a:pPr indent="0" marL="0">
              <a:buNone/>
            </a:pPr>
            <a:r>
              <a:rPr lang="en-US" sz="1000" dirty="0">
                <a:solidFill>
                  <a:srgbClr val="2C2C2C"/>
                </a:solidFill>
              </a:rPr>
              <a:t>The visual channel provides just enough 1/f fractal complexity and gentle motion to compensate for acoustic and material minimalism. Total PE stays in the learnable range.</a:t>
            </a:r>
            <a:endParaRPr lang="en-US" sz="1000" dirty="0"/>
          </a:p>
        </p:txBody>
      </p:sp>
      <p:sp>
        <p:nvSpPr>
          <p:cNvPr id="10" name="Shape 8"/>
          <p:cNvSpPr/>
          <p:nvPr/>
        </p:nvSpPr>
        <p:spPr>
          <a:xfrm>
            <a:off x="4754880" y="868680"/>
            <a:ext cx="4114800" cy="3931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4754880" y="868680"/>
            <a:ext cx="4114800" cy="548640"/>
          </a:xfrm>
          <a:prstGeom prst="rect">
            <a:avLst/>
          </a:prstGeom>
          <a:solidFill>
            <a:srgbClr val="C47D2B"/>
          </a:solidFill>
          <a:ln/>
        </p:spPr>
      </p:sp>
      <p:sp>
        <p:nvSpPr>
          <p:cNvPr id="12" name="Text 10"/>
          <p:cNvSpPr/>
          <p:nvPr/>
        </p:nvSpPr>
        <p:spPr>
          <a:xfrm>
            <a:off x="4754880" y="868680"/>
            <a:ext cx="4114800" cy="54864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The Indian Railway Station</a:t>
            </a:r>
            <a:endParaRPr lang="en-US" sz="1300" dirty="0"/>
          </a:p>
        </p:txBody>
      </p:sp>
      <p:sp>
        <p:nvSpPr>
          <p:cNvPr id="13" name="Text 11"/>
          <p:cNvSpPr/>
          <p:nvPr/>
        </p:nvSpPr>
        <p:spPr>
          <a:xfrm>
            <a:off x="4892040" y="1554480"/>
            <a:ext cx="3840480" cy="3017520"/>
          </a:xfrm>
          <a:prstGeom prst="rect">
            <a:avLst/>
          </a:prstGeom>
          <a:noFill/>
          <a:ln/>
        </p:spPr>
        <p:txBody>
          <a:bodyPr wrap="square" rtlCol="0" anchor="ctr"/>
          <a:lstStyle/>
          <a:p>
            <a:pPr indent="0" marL="0">
              <a:buNone/>
            </a:pPr>
            <a:r>
              <a:rPr lang="en-US" sz="1000" dirty="0">
                <a:solidFill>
                  <a:srgbClr val="2C2C2C"/>
                </a:solidFill>
              </a:rPr>
              <a:t>Extremely loud (&gt; 80 dB). Extreme social density. Visual chaos. By Western standards: OVER-stimulating.</a:t>
            </a:r>
            <a:endParaRPr lang="en-US" sz="1000" dirty="0"/>
          </a:p>
          <a:p>
            <a:pPr indent="0" marL="0">
              <a:buNone/>
            </a:pPr>
            <a:endParaRPr lang="en-US" sz="1000" dirty="0"/>
          </a:p>
          <a:p>
            <a:pPr indent="0" marL="0">
              <a:buNone/>
            </a:pPr>
            <a:r>
              <a:rPr lang="en-US" sz="1000" dirty="0">
                <a:solidFill>
                  <a:srgbClr val="2C2C2C"/>
                </a:solidFill>
              </a:rPr>
              <a:t>But: experienced Indian commuters show low cortisol. The acoustic PE is partially compensated by spatial familiarity (zero PE in navigation) and social warmth (interpersonal density = positive valence, not threat).</a:t>
            </a:r>
            <a:endParaRPr lang="en-US" sz="1000" dirty="0"/>
          </a:p>
          <a:p>
            <a:pPr indent="0" marL="0">
              <a:buNone/>
            </a:pPr>
            <a:endParaRPr lang="en-US" sz="1000" dirty="0"/>
          </a:p>
          <a:p>
            <a:pPr indent="0" marL="0">
              <a:buNone/>
            </a:pPr>
            <a:r>
              <a:rPr lang="en-US" sz="1000" dirty="0">
                <a:solidFill>
                  <a:srgbClr val="2C2C2C"/>
                </a:solidFill>
              </a:rPr>
              <a:t>The familiar spatial channel compensates for the overloaded acoustic channel. Different cultures have different compensation strategies.</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The Future: Dynamic Goldilocks Profiles</a:t>
            </a:r>
            <a:endParaRPr lang="en-US" sz="2400" dirty="0"/>
          </a:p>
        </p:txBody>
      </p:sp>
      <p:sp>
        <p:nvSpPr>
          <p:cNvPr id="4" name="Shape 2"/>
          <p:cNvSpPr/>
          <p:nvPr/>
        </p:nvSpPr>
        <p:spPr>
          <a:xfrm>
            <a:off x="320040" y="914400"/>
            <a:ext cx="201168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320040" y="914400"/>
            <a:ext cx="2011680" cy="731520"/>
          </a:xfrm>
          <a:prstGeom prst="rect">
            <a:avLst/>
          </a:prstGeom>
          <a:solidFill>
            <a:srgbClr val="3B6A9C"/>
          </a:solidFill>
          <a:ln/>
        </p:spPr>
      </p:sp>
      <p:sp>
        <p:nvSpPr>
          <p:cNvPr id="6" name="Text 4"/>
          <p:cNvSpPr/>
          <p:nvPr/>
        </p:nvSpPr>
        <p:spPr>
          <a:xfrm>
            <a:off x="320040" y="914400"/>
            <a:ext cx="2011680" cy="731520"/>
          </a:xfrm>
          <a:prstGeom prst="rect">
            <a:avLst/>
          </a:prstGeom>
          <a:noFill/>
          <a:ln/>
        </p:spPr>
        <p:txBody>
          <a:bodyPr wrap="square" rtlCol="0" anchor="ctr"/>
          <a:lstStyle/>
          <a:p>
            <a:pPr algn="ctr" indent="0" marL="0">
              <a:buNone/>
            </a:pPr>
            <a:r>
              <a:rPr lang="en-US" sz="2000" b="1" dirty="0">
                <a:solidFill>
                  <a:srgbClr val="FFFFFF"/>
                </a:solidFill>
              </a:rPr>
              <a:t>8am
</a:t>
            </a:r>
            <a:endParaRPr lang="en-US" sz="2000" dirty="0"/>
          </a:p>
          <a:p>
            <a:pPr algn="ctr" indent="0" marL="0">
              <a:buNone/>
            </a:pPr>
            <a:r>
              <a:rPr lang="en-US" sz="1100" dirty="0">
                <a:solidFill>
                  <a:srgbClr val="E0E0E0"/>
                </a:solidFill>
              </a:rPr>
              <a:t>Morning Focus</a:t>
            </a:r>
            <a:endParaRPr lang="en-US" sz="2000" dirty="0"/>
          </a:p>
        </p:txBody>
      </p:sp>
      <p:sp>
        <p:nvSpPr>
          <p:cNvPr id="7" name="Text 5"/>
          <p:cNvSpPr/>
          <p:nvPr/>
        </p:nvSpPr>
        <p:spPr>
          <a:xfrm>
            <a:off x="457200" y="1828800"/>
            <a:ext cx="1737360" cy="2286000"/>
          </a:xfrm>
          <a:prstGeom prst="rect">
            <a:avLst/>
          </a:prstGeom>
          <a:noFill/>
          <a:ln/>
        </p:spPr>
        <p:txBody>
          <a:bodyPr wrap="square" rtlCol="0" anchor="ctr"/>
          <a:lstStyle/>
          <a:p>
            <a:pPr indent="0" marL="0">
              <a:buNone/>
            </a:pPr>
            <a:r>
              <a:rPr lang="en-US" sz="1100" dirty="0">
                <a:solidFill>
                  <a:srgbClr val="2C2C2C"/>
                </a:solidFill>
              </a:rPr>
              <a:t>Bright blue light,</a:t>
            </a:r>
            <a:endParaRPr lang="en-US" sz="1100" dirty="0"/>
          </a:p>
          <a:p>
            <a:pPr indent="0" marL="0">
              <a:buNone/>
            </a:pPr>
            <a:r>
              <a:rPr lang="en-US" sz="1100" dirty="0">
                <a:solidFill>
                  <a:srgbClr val="2C2C2C"/>
                </a:solidFill>
              </a:rPr>
              <a:t>quiet, neutral walls,</a:t>
            </a:r>
            <a:endParaRPr lang="en-US" sz="1100" dirty="0"/>
          </a:p>
          <a:p>
            <a:pPr indent="0" marL="0">
              <a:buNone/>
            </a:pPr>
            <a:r>
              <a:rPr lang="en-US" sz="1100" dirty="0">
                <a:solidFill>
                  <a:srgbClr val="2C2C2C"/>
                </a:solidFill>
              </a:rPr>
              <a:t>22°C</a:t>
            </a:r>
            <a:endParaRPr lang="en-US" sz="1100" dirty="0"/>
          </a:p>
        </p:txBody>
      </p:sp>
      <p:sp>
        <p:nvSpPr>
          <p:cNvPr id="8" name="Shape 6"/>
          <p:cNvSpPr/>
          <p:nvPr/>
        </p:nvSpPr>
        <p:spPr>
          <a:xfrm>
            <a:off x="2514600" y="914400"/>
            <a:ext cx="201168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2514600" y="914400"/>
            <a:ext cx="2011680" cy="731520"/>
          </a:xfrm>
          <a:prstGeom prst="rect">
            <a:avLst/>
          </a:prstGeom>
          <a:solidFill>
            <a:srgbClr val="C47D2B"/>
          </a:solidFill>
          <a:ln/>
        </p:spPr>
      </p:sp>
      <p:sp>
        <p:nvSpPr>
          <p:cNvPr id="10" name="Text 8"/>
          <p:cNvSpPr/>
          <p:nvPr/>
        </p:nvSpPr>
        <p:spPr>
          <a:xfrm>
            <a:off x="2514600" y="914400"/>
            <a:ext cx="2011680" cy="731520"/>
          </a:xfrm>
          <a:prstGeom prst="rect">
            <a:avLst/>
          </a:prstGeom>
          <a:noFill/>
          <a:ln/>
        </p:spPr>
        <p:txBody>
          <a:bodyPr wrap="square" rtlCol="0" anchor="ctr"/>
          <a:lstStyle/>
          <a:p>
            <a:pPr algn="ctr" indent="0" marL="0">
              <a:buNone/>
            </a:pPr>
            <a:r>
              <a:rPr lang="en-US" sz="2000" b="1" dirty="0">
                <a:solidFill>
                  <a:srgbClr val="FFFFFF"/>
                </a:solidFill>
              </a:rPr>
              <a:t>11am
</a:t>
            </a:r>
            <a:endParaRPr lang="en-US" sz="2000" dirty="0"/>
          </a:p>
          <a:p>
            <a:pPr algn="ctr" indent="0" marL="0">
              <a:buNone/>
            </a:pPr>
            <a:r>
              <a:rPr lang="en-US" sz="1100" dirty="0">
                <a:solidFill>
                  <a:srgbClr val="E0E0E0"/>
                </a:solidFill>
              </a:rPr>
              <a:t>Collaboration</a:t>
            </a:r>
            <a:endParaRPr lang="en-US" sz="2000" dirty="0"/>
          </a:p>
        </p:txBody>
      </p:sp>
      <p:sp>
        <p:nvSpPr>
          <p:cNvPr id="11" name="Text 9"/>
          <p:cNvSpPr/>
          <p:nvPr/>
        </p:nvSpPr>
        <p:spPr>
          <a:xfrm>
            <a:off x="2651760" y="1828800"/>
            <a:ext cx="1737360" cy="2286000"/>
          </a:xfrm>
          <a:prstGeom prst="rect">
            <a:avLst/>
          </a:prstGeom>
          <a:noFill/>
          <a:ln/>
        </p:spPr>
        <p:txBody>
          <a:bodyPr wrap="square" rtlCol="0" anchor="ctr"/>
          <a:lstStyle/>
          <a:p>
            <a:pPr indent="0" marL="0">
              <a:buNone/>
            </a:pPr>
            <a:r>
              <a:rPr lang="en-US" sz="1100" dirty="0">
                <a:solidFill>
                  <a:srgbClr val="2C2C2C"/>
                </a:solidFill>
              </a:rPr>
              <a:t>Moderate ambient,</a:t>
            </a:r>
            <a:endParaRPr lang="en-US" sz="1100" dirty="0"/>
          </a:p>
          <a:p>
            <a:pPr indent="0" marL="0">
              <a:buNone/>
            </a:pPr>
            <a:r>
              <a:rPr lang="en-US" sz="1100" dirty="0">
                <a:solidFill>
                  <a:srgbClr val="2C2C2C"/>
                </a:solidFill>
              </a:rPr>
              <a:t>nature views, warm</a:t>
            </a:r>
            <a:endParaRPr lang="en-US" sz="1100" dirty="0"/>
          </a:p>
          <a:p>
            <a:pPr indent="0" marL="0">
              <a:buNone/>
            </a:pPr>
            <a:r>
              <a:rPr lang="en-US" sz="1100" dirty="0">
                <a:solidFill>
                  <a:srgbClr val="2C2C2C"/>
                </a:solidFill>
              </a:rPr>
              <a:t>colors, 23°C</a:t>
            </a:r>
            <a:endParaRPr lang="en-US" sz="1100" dirty="0"/>
          </a:p>
        </p:txBody>
      </p:sp>
      <p:sp>
        <p:nvSpPr>
          <p:cNvPr id="12" name="Shape 10"/>
          <p:cNvSpPr/>
          <p:nvPr/>
        </p:nvSpPr>
        <p:spPr>
          <a:xfrm>
            <a:off x="4709160" y="914400"/>
            <a:ext cx="201168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4709160" y="914400"/>
            <a:ext cx="2011680" cy="731520"/>
          </a:xfrm>
          <a:prstGeom prst="rect">
            <a:avLst/>
          </a:prstGeom>
          <a:solidFill>
            <a:srgbClr val="4A7C59"/>
          </a:solidFill>
          <a:ln/>
        </p:spPr>
      </p:sp>
      <p:sp>
        <p:nvSpPr>
          <p:cNvPr id="14" name="Text 12"/>
          <p:cNvSpPr/>
          <p:nvPr/>
        </p:nvSpPr>
        <p:spPr>
          <a:xfrm>
            <a:off x="4709160" y="914400"/>
            <a:ext cx="2011680" cy="731520"/>
          </a:xfrm>
          <a:prstGeom prst="rect">
            <a:avLst/>
          </a:prstGeom>
          <a:noFill/>
          <a:ln/>
        </p:spPr>
        <p:txBody>
          <a:bodyPr wrap="square" rtlCol="0" anchor="ctr"/>
          <a:lstStyle/>
          <a:p>
            <a:pPr algn="ctr" indent="0" marL="0">
              <a:buNone/>
            </a:pPr>
            <a:r>
              <a:rPr lang="en-US" sz="2000" b="1" dirty="0">
                <a:solidFill>
                  <a:srgbClr val="FFFFFF"/>
                </a:solidFill>
              </a:rPr>
              <a:t>2pm
</a:t>
            </a:r>
            <a:endParaRPr lang="en-US" sz="2000" dirty="0"/>
          </a:p>
          <a:p>
            <a:pPr algn="ctr" indent="0" marL="0">
              <a:buNone/>
            </a:pPr>
            <a:r>
              <a:rPr lang="en-US" sz="1100" dirty="0">
                <a:solidFill>
                  <a:srgbClr val="E0E0E0"/>
                </a:solidFill>
              </a:rPr>
              <a:t>Creative Session</a:t>
            </a:r>
            <a:endParaRPr lang="en-US" sz="2000" dirty="0"/>
          </a:p>
        </p:txBody>
      </p:sp>
      <p:sp>
        <p:nvSpPr>
          <p:cNvPr id="15" name="Text 13"/>
          <p:cNvSpPr/>
          <p:nvPr/>
        </p:nvSpPr>
        <p:spPr>
          <a:xfrm>
            <a:off x="4846320" y="1828800"/>
            <a:ext cx="1737360" cy="2286000"/>
          </a:xfrm>
          <a:prstGeom prst="rect">
            <a:avLst/>
          </a:prstGeom>
          <a:noFill/>
          <a:ln/>
        </p:spPr>
        <p:txBody>
          <a:bodyPr wrap="square" rtlCol="0" anchor="ctr"/>
          <a:lstStyle/>
          <a:p>
            <a:pPr indent="0" marL="0">
              <a:buNone/>
            </a:pPr>
            <a:r>
              <a:rPr lang="en-US" sz="1100" dirty="0">
                <a:solidFill>
                  <a:srgbClr val="2C2C2C"/>
                </a:solidFill>
              </a:rPr>
              <a:t>Higher complexity,</a:t>
            </a:r>
            <a:endParaRPr lang="en-US" sz="1100" dirty="0"/>
          </a:p>
          <a:p>
            <a:pPr indent="0" marL="0">
              <a:buNone/>
            </a:pPr>
            <a:r>
              <a:rPr lang="en-US" sz="1100" dirty="0">
                <a:solidFill>
                  <a:srgbClr val="2C2C2C"/>
                </a:solidFill>
              </a:rPr>
              <a:t>permissive acoustics,</a:t>
            </a:r>
            <a:endParaRPr lang="en-US" sz="1100" dirty="0"/>
          </a:p>
          <a:p>
            <a:pPr indent="0" marL="0">
              <a:buNone/>
            </a:pPr>
            <a:r>
              <a:rPr lang="en-US" sz="1100" dirty="0">
                <a:solidFill>
                  <a:srgbClr val="2C2C2C"/>
                </a:solidFill>
              </a:rPr>
              <a:t>coffee-shop vibe</a:t>
            </a:r>
            <a:endParaRPr lang="en-US" sz="1100" dirty="0"/>
          </a:p>
        </p:txBody>
      </p:sp>
      <p:sp>
        <p:nvSpPr>
          <p:cNvPr id="16" name="Shape 14"/>
          <p:cNvSpPr/>
          <p:nvPr/>
        </p:nvSpPr>
        <p:spPr>
          <a:xfrm>
            <a:off x="6903720" y="914400"/>
            <a:ext cx="201168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5"/>
          <p:cNvSpPr/>
          <p:nvPr/>
        </p:nvSpPr>
        <p:spPr>
          <a:xfrm>
            <a:off x="6903720" y="914400"/>
            <a:ext cx="2011680" cy="731520"/>
          </a:xfrm>
          <a:prstGeom prst="rect">
            <a:avLst/>
          </a:prstGeom>
          <a:solidFill>
            <a:srgbClr val="1B3A5C"/>
          </a:solidFill>
          <a:ln/>
        </p:spPr>
      </p:sp>
      <p:sp>
        <p:nvSpPr>
          <p:cNvPr id="18" name="Text 16"/>
          <p:cNvSpPr/>
          <p:nvPr/>
        </p:nvSpPr>
        <p:spPr>
          <a:xfrm>
            <a:off x="6903720" y="914400"/>
            <a:ext cx="2011680" cy="731520"/>
          </a:xfrm>
          <a:prstGeom prst="rect">
            <a:avLst/>
          </a:prstGeom>
          <a:noFill/>
          <a:ln/>
        </p:spPr>
        <p:txBody>
          <a:bodyPr wrap="square" rtlCol="0" anchor="ctr"/>
          <a:lstStyle/>
          <a:p>
            <a:pPr algn="ctr" indent="0" marL="0">
              <a:buNone/>
            </a:pPr>
            <a:r>
              <a:rPr lang="en-US" sz="2000" b="1" dirty="0">
                <a:solidFill>
                  <a:srgbClr val="FFFFFF"/>
                </a:solidFill>
              </a:rPr>
              <a:t>4pm
</a:t>
            </a:r>
            <a:endParaRPr lang="en-US" sz="2000" dirty="0"/>
          </a:p>
          <a:p>
            <a:pPr algn="ctr" indent="0" marL="0">
              <a:buNone/>
            </a:pPr>
            <a:r>
              <a:rPr lang="en-US" sz="1100" dirty="0">
                <a:solidFill>
                  <a:srgbClr val="E0E0E0"/>
                </a:solidFill>
              </a:rPr>
              <a:t>Deep Work</a:t>
            </a:r>
            <a:endParaRPr lang="en-US" sz="2000" dirty="0"/>
          </a:p>
        </p:txBody>
      </p:sp>
      <p:sp>
        <p:nvSpPr>
          <p:cNvPr id="19" name="Text 17"/>
          <p:cNvSpPr/>
          <p:nvPr/>
        </p:nvSpPr>
        <p:spPr>
          <a:xfrm>
            <a:off x="7040880" y="1828800"/>
            <a:ext cx="1737360" cy="2286000"/>
          </a:xfrm>
          <a:prstGeom prst="rect">
            <a:avLst/>
          </a:prstGeom>
          <a:noFill/>
          <a:ln/>
        </p:spPr>
        <p:txBody>
          <a:bodyPr wrap="square" rtlCol="0" anchor="ctr"/>
          <a:lstStyle/>
          <a:p>
            <a:pPr indent="0" marL="0">
              <a:buNone/>
            </a:pPr>
            <a:r>
              <a:rPr lang="en-US" sz="1100" dirty="0">
                <a:solidFill>
                  <a:srgbClr val="2C2C2C"/>
                </a:solidFill>
              </a:rPr>
              <a:t>Dim warm light,</a:t>
            </a:r>
            <a:endParaRPr lang="en-US" sz="1100" dirty="0"/>
          </a:p>
          <a:p>
            <a:pPr indent="0" marL="0">
              <a:buNone/>
            </a:pPr>
            <a:r>
              <a:rPr lang="en-US" sz="1100" dirty="0">
                <a:solidFill>
                  <a:srgbClr val="2C2C2C"/>
                </a:solidFill>
              </a:rPr>
              <a:t>very quiet pods,</a:t>
            </a:r>
            <a:endParaRPr lang="en-US" sz="1100" dirty="0"/>
          </a:p>
          <a:p>
            <a:pPr indent="0" marL="0">
              <a:buNone/>
            </a:pPr>
            <a:r>
              <a:rPr lang="en-US" sz="1100" dirty="0">
                <a:solidFill>
                  <a:srgbClr val="2C2C2C"/>
                </a:solidFill>
              </a:rPr>
              <a:t>low complexity</a:t>
            </a:r>
            <a:endParaRPr lang="en-US" sz="1100" dirty="0"/>
          </a:p>
        </p:txBody>
      </p:sp>
      <p:sp>
        <p:nvSpPr>
          <p:cNvPr id="20" name="Text 18"/>
          <p:cNvSpPr/>
          <p:nvPr/>
        </p:nvSpPr>
        <p:spPr>
          <a:xfrm>
            <a:off x="457200" y="4572000"/>
            <a:ext cx="8229600" cy="365760"/>
          </a:xfrm>
          <a:prstGeom prst="rect">
            <a:avLst/>
          </a:prstGeom>
          <a:noFill/>
          <a:ln/>
        </p:spPr>
        <p:txBody>
          <a:bodyPr wrap="square" rtlCol="0" anchor="ctr"/>
          <a:lstStyle/>
          <a:p>
            <a:pPr algn="ctr" indent="0" marL="0">
              <a:buNone/>
            </a:pPr>
            <a:r>
              <a:rPr lang="en-US" sz="1200" b="1" i="1" dirty="0">
                <a:solidFill>
                  <a:srgbClr val="C47D2B"/>
                </a:solidFill>
              </a:rPr>
              <a:t>Activity × Circadian × Culture = Dynamic multi-channel optimization (Kirsh, 2026)</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A Smart Office Through the Day: Pixel HQ (Hypothetical)</a:t>
            </a:r>
            <a:endParaRPr lang="en-US" sz="2200" dirty="0"/>
          </a:p>
        </p:txBody>
      </p:sp>
      <p:sp>
        <p:nvSpPr>
          <p:cNvPr id="6" name="Shape 4"/>
          <p:cNvSpPr/>
          <p:nvPr/>
        </p:nvSpPr>
        <p:spPr>
          <a:xfrm>
            <a:off x="365760" y="868680"/>
            <a:ext cx="8412480" cy="393192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8046720" cy="3840480"/>
          </a:xfrm>
          <a:prstGeom prst="rect">
            <a:avLst/>
          </a:prstGeom>
          <a:noFill/>
          <a:ln/>
        </p:spPr>
        <p:txBody>
          <a:bodyPr wrap="square" rtlCol="0" anchor="t"/>
          <a:lstStyle/>
          <a:p>
            <a:pPr indent="0" marL="0">
              <a:buNone/>
            </a:pPr>
            <a:r>
              <a:rPr lang="en-US" sz="1200" b="1" dirty="0">
                <a:solidFill>
                  <a:srgbClr val="3B6A9C"/>
                </a:solidFill>
              </a:rPr>
              <a:t>8:30 AM — Arrival + Email Triage
</a:t>
            </a:r>
            <a:endParaRPr lang="en-US" sz="1200" dirty="0"/>
          </a:p>
          <a:p>
            <a:pPr indent="0" marL="0">
              <a:buNone/>
            </a:pPr>
            <a:r>
              <a:rPr lang="en-US" sz="1000" dirty="0">
                <a:solidFill>
                  <a:srgbClr val="2C2C2C"/>
                </a:solidFill>
              </a:rPr>
              <a:t>Ceiling panels: 6500K blue-enriched at 600 lux (ipRGC → SCN entrainment → cortisol peak → alert). White noise floor: 42 dB. Thermal: 22°C. Open desk area. Task: email requires moderate focus. Goldilocks channel check: all green.
</a:t>
            </a:r>
            <a:endParaRPr lang="en-US" sz="1200" dirty="0"/>
          </a:p>
          <a:p>
            <a:pPr indent="0" marL="0">
              <a:buNone/>
            </a:pPr>
            <a:r>
              <a:rPr lang="en-US" sz="1200" b="1" dirty="0">
                <a:solidFill>
                  <a:srgbClr val="4A7C59"/>
                </a:solidFill>
              </a:rPr>
              <a:t>10:00 AM — Design Sprint
</a:t>
            </a:r>
            <a:endParaRPr lang="en-US" sz="1200" dirty="0"/>
          </a:p>
          <a:p>
            <a:pPr indent="0" marL="0">
              <a:buNone/>
            </a:pPr>
            <a:r>
              <a:rPr lang="en-US" sz="1000" dirty="0">
                <a:solidFill>
                  <a:srgbClr val="2C2C2C"/>
                </a:solidFill>
              </a:rPr>
              <a:t>Team moves to “Studio” zone. 4m ceilings. Walls shift to warm oak panels with projected mood boards. Acoustic masking raises to 48 dB with “café hum.” Temperature up to 23°C. Goldilocks shift: higher visual complexity + moderate acoustic stimulation to support divergent thinking.
</a:t>
            </a:r>
            <a:endParaRPr lang="en-US" sz="1200" dirty="0"/>
          </a:p>
          <a:p>
            <a:pPr indent="0" marL="0">
              <a:buNone/>
            </a:pPr>
            <a:r>
              <a:rPr lang="en-US" sz="1200" b="1" dirty="0">
                <a:solidFill>
                  <a:srgbClr val="1B3A5C"/>
                </a:solidFill>
              </a:rPr>
              <a:t>1:30 PM — Post-Lunch Code Review
</a:t>
            </a:r>
            <a:endParaRPr lang="en-US" sz="1200" dirty="0"/>
          </a:p>
          <a:p>
            <a:pPr indent="0" marL="0">
              <a:buNone/>
            </a:pPr>
            <a:r>
              <a:rPr lang="en-US" sz="1000" dirty="0">
                <a:solidFill>
                  <a:srgbClr val="2C2C2C"/>
                </a:solidFill>
              </a:rPr>
              <a:t>Individuals retreat to focus pods: 2.5m ceiling, 4000K neutral light at 400 lux, wood-lined, acoustic isolation (&lt;35 dB), 21°C. Goldilocks shift: minimize all non-task PE to maximize sustained attention bandwidth. The pod IS the Goldilocks intervention for the activity.
</a:t>
            </a:r>
            <a:endParaRPr lang="en-US" sz="1200" dirty="0"/>
          </a:p>
          <a:p>
            <a:pPr indent="0" marL="0">
              <a:buNone/>
            </a:pPr>
            <a:r>
              <a:rPr lang="en-US" sz="1200" b="1" dirty="0">
                <a:solidFill>
                  <a:srgbClr val="C47D2B"/>
                </a:solidFill>
              </a:rPr>
              <a:t>4:00 PM — Wind Down + Planning
</a:t>
            </a:r>
            <a:endParaRPr lang="en-US" sz="1200" dirty="0"/>
          </a:p>
          <a:p>
            <a:pPr indent="0" marL="0">
              <a:buNone/>
            </a:pPr>
            <a:r>
              <a:rPr lang="en-US" sz="1000" dirty="0">
                <a:solidFill>
                  <a:srgbClr val="2C2C2C"/>
                </a:solidFill>
              </a:rPr>
              <a:t>Lights shift to 3000K warm at 350 lux (SCN reads “sunset,” begins melatonin pre-cursor). Lounge area: soft seating, nature view, garden sounds. Goldilocks profile matches circadian phase: lower optimal stimulation as the day winds down.</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365760"/>
            <a:ext cx="7680960" cy="640080"/>
          </a:xfrm>
          <a:prstGeom prst="rect">
            <a:avLst/>
          </a:prstGeom>
          <a:noFill/>
          <a:ln/>
        </p:spPr>
        <p:txBody>
          <a:bodyPr wrap="square" rtlCol="0" anchor="ctr"/>
          <a:lstStyle/>
          <a:p>
            <a:pPr indent="0" marL="0">
              <a:buNone/>
            </a:pPr>
            <a:r>
              <a:rPr lang="en-US" sz="3200" b="1" dirty="0">
                <a:solidFill>
                  <a:srgbClr val="C47D2B"/>
                </a:solidFill>
                <a:latin typeface="Georgia" pitchFamily="34" charset="0"/>
                <a:ea typeface="Georgia" pitchFamily="34" charset="-122"/>
                <a:cs typeface="Georgia" pitchFamily="34" charset="-120"/>
              </a:rPr>
              <a:t>The Goldilocks Principle</a:t>
            </a:r>
            <a:endParaRPr lang="en-US" sz="3200" dirty="0"/>
          </a:p>
        </p:txBody>
      </p:sp>
      <p:sp>
        <p:nvSpPr>
          <p:cNvPr id="4" name="Text 2"/>
          <p:cNvSpPr/>
          <p:nvPr/>
        </p:nvSpPr>
        <p:spPr>
          <a:xfrm>
            <a:off x="731520" y="1188720"/>
            <a:ext cx="7680960" cy="3200400"/>
          </a:xfrm>
          <a:prstGeom prst="rect">
            <a:avLst/>
          </a:prstGeom>
          <a:noFill/>
          <a:ln/>
        </p:spPr>
        <p:txBody>
          <a:bodyPr wrap="square" rtlCol="0" anchor="ctr"/>
          <a:lstStyle/>
          <a:p>
            <a:pPr indent="0" marL="0">
              <a:spcAft>
                <a:spcPts val="1200"/>
              </a:spcAft>
              <a:buNone/>
            </a:pPr>
            <a:r>
              <a:rPr lang="en-US" sz="1400" dirty="0">
                <a:solidFill>
                  <a:srgbClr val="FFFFFF"/>
                </a:solidFill>
              </a:rPr>
              <a:t>1. The brain prefers intermediate environmental stimulation across all modalities</a:t>
            </a:r>
            <a:endParaRPr lang="en-US" sz="1400" dirty="0"/>
          </a:p>
          <a:p>
            <a:pPr indent="0" marL="0">
              <a:spcAft>
                <a:spcPts val="1200"/>
              </a:spcAft>
              <a:buNone/>
            </a:pPr>
            <a:r>
              <a:rPr lang="en-US" sz="1400" dirty="0">
                <a:solidFill>
                  <a:srgbClr val="FFFFFF"/>
                </a:solidFill>
              </a:rPr>
              <a:t>2. Berlyne’s framework is richer than “boring vs. stimulating” but misses multi-channel structure</a:t>
            </a:r>
            <a:endParaRPr lang="en-US" sz="1400" dirty="0"/>
          </a:p>
          <a:p>
            <a:pPr indent="0" marL="0">
              <a:spcAft>
                <a:spcPts val="1200"/>
              </a:spcAft>
              <a:buNone/>
            </a:pPr>
            <a:r>
              <a:rPr lang="en-US" sz="1400" dirty="0">
                <a:solidFill>
                  <a:srgbClr val="FFFFFF"/>
                </a:solidFill>
              </a:rPr>
              <a:t>3. PP provides the best mechanism but can’t explain the normative, task-specific, or cultural features</a:t>
            </a:r>
            <a:endParaRPr lang="en-US" sz="1400" dirty="0"/>
          </a:p>
          <a:p>
            <a:pPr indent="0" marL="0">
              <a:spcAft>
                <a:spcPts val="1200"/>
              </a:spcAft>
              <a:buNone/>
            </a:pPr>
            <a:r>
              <a:rPr lang="en-US" sz="1400" dirty="0">
                <a:solidFill>
                  <a:srgbClr val="FFFFFF"/>
                </a:solidFill>
              </a:rPr>
              <a:t>4. Goldilocks set-points are activity-dependent, culturally tunable parameters of the extended cognitive system</a:t>
            </a:r>
            <a:endParaRPr lang="en-US" sz="1400" dirty="0"/>
          </a:p>
          <a:p>
            <a:pPr indent="0" marL="0">
              <a:spcAft>
                <a:spcPts val="1200"/>
              </a:spcAft>
              <a:buNone/>
            </a:pPr>
            <a:r>
              <a:rPr lang="en-US" sz="1400" dirty="0">
                <a:solidFill>
                  <a:srgbClr val="FFFFFF"/>
                </a:solidFill>
              </a:rPr>
              <a:t>5. Design implication: optimize the Goldilocks profile for the activity space, not just the physical space</a:t>
            </a:r>
            <a:endParaRPr lang="en-US" sz="1400" dirty="0"/>
          </a:p>
          <a:p>
            <a:pPr indent="0" marL="0">
              <a:spcAft>
                <a:spcPts val="1200"/>
              </a:spcAft>
              <a:buNone/>
            </a:pPr>
            <a:r>
              <a:rPr lang="en-US" sz="1400" dirty="0">
                <a:solidFill>
                  <a:srgbClr val="FFFFFF"/>
                </a:solidFill>
              </a:rPr>
              <a:t>6. The system provides the tools: templates, mechanism chains, Bayesian composition</a:t>
            </a:r>
            <a:endParaRPr lang="en-US" sz="1400" dirty="0"/>
          </a:p>
        </p:txBody>
      </p:sp>
      <p:sp>
        <p:nvSpPr>
          <p:cNvPr id="5" name="Shape 3"/>
          <p:cNvSpPr/>
          <p:nvPr/>
        </p:nvSpPr>
        <p:spPr>
          <a:xfrm>
            <a:off x="0" y="4754880"/>
            <a:ext cx="9144000" cy="388620"/>
          </a:xfrm>
          <a:prstGeom prst="rect">
            <a:avLst/>
          </a:prstGeom>
          <a:solidFill>
            <a:srgbClr val="C47D2B"/>
          </a:solidFill>
          <a:ln/>
        </p:spPr>
      </p:sp>
      <p:sp>
        <p:nvSpPr>
          <p:cNvPr id="6" name="Text 4"/>
          <p:cNvSpPr/>
          <p:nvPr/>
        </p:nvSpPr>
        <p:spPr>
          <a:xfrm>
            <a:off x="457200" y="4773168"/>
            <a:ext cx="8229600" cy="365760"/>
          </a:xfrm>
          <a:prstGeom prst="rect">
            <a:avLst/>
          </a:prstGeom>
          <a:noFill/>
          <a:ln/>
        </p:spPr>
        <p:txBody>
          <a:bodyPr wrap="square" rtlCol="0" anchor="ctr"/>
          <a:lstStyle/>
          <a:p>
            <a:pPr algn="ctr" indent="0" marL="0">
              <a:buNone/>
            </a:pPr>
            <a:r>
              <a:rPr lang="en-US" sz="1200" b="1" dirty="0">
                <a:solidFill>
                  <a:srgbClr val="0F1B2D"/>
                </a:solidFill>
              </a:rPr>
              <a:t>David Kirsh • kirsh@ucsd.edu • Cognitive Science, UCSD</a:t>
            </a:r>
            <a:endParaRPr lang="en-US" sz="120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182880"/>
          </a:xfrm>
          <a:prstGeom prst="rect">
            <a:avLst/>
          </a:prstGeom>
          <a:noFill/>
          <a:ln/>
        </p:spPr>
        <p:txBody>
          <a:bodyPr wrap="square" lIns="0" tIns="0" rIns="0" bIns="0" rtlCol="0" anchor="ctr"/>
          <a:lstStyle/>
          <a:p>
            <a:pPr indent="0" marL="0">
              <a:buNone/>
            </a:pPr>
            <a:r>
              <a:rPr lang="en-US" sz="900" b="1" spc="300" kern="0" dirty="0">
                <a:solidFill>
                  <a:srgbClr val="1B4F72"/>
                </a:solidFill>
                <a:latin typeface="Calibri" pitchFamily="34" charset="0"/>
                <a:ea typeface="Calibri" pitchFamily="34" charset="-122"/>
                <a:cs typeface="Calibri" pitchFamily="34" charset="-120"/>
              </a:rPr>
              <a:t>BEYOND IMPLICIT PROCESSING</a:t>
            </a:r>
            <a:endParaRPr lang="en-US" sz="900" dirty="0"/>
          </a:p>
        </p:txBody>
      </p:sp>
      <p:sp>
        <p:nvSpPr>
          <p:cNvPr id="3" name="Text 1"/>
          <p:cNvSpPr/>
          <p:nvPr/>
        </p:nvSpPr>
        <p:spPr>
          <a:xfrm>
            <a:off x="548640" y="438912"/>
            <a:ext cx="8046720" cy="777240"/>
          </a:xfrm>
          <a:prstGeom prst="rect">
            <a:avLst/>
          </a:prstGeom>
          <a:noFill/>
          <a:ln/>
        </p:spPr>
        <p:txBody>
          <a:bodyPr wrap="square" lIns="0" tIns="0" rIns="0" bIns="0" rtlCol="0" anchor="ctr"/>
          <a:lstStyle/>
          <a:p>
            <a:pPr indent="0" marL="0">
              <a:lnSpc>
                <a:spcPct val="105000"/>
              </a:lnSpc>
              <a:buNone/>
            </a:pPr>
            <a:r>
              <a:rPr lang="en-US" sz="2400" b="1" dirty="0">
                <a:solidFill>
                  <a:srgbClr val="1A1A2E"/>
                </a:solidFill>
                <a:latin typeface="Georgia" pitchFamily="34" charset="0"/>
                <a:ea typeface="Georgia" pitchFamily="34" charset="-122"/>
                <a:cs typeface="Georgia" pitchFamily="34" charset="-120"/>
              </a:rPr>
              <a:t>The Kidd &amp; Hayden Problem:</a:t>
            </a:r>
            <a:endParaRPr lang="en-US" sz="2400" dirty="0"/>
          </a:p>
          <a:p>
            <a:pPr indent="0" marL="0">
              <a:lnSpc>
                <a:spcPct val="105000"/>
              </a:lnSpc>
              <a:buNone/>
            </a:pPr>
            <a:r>
              <a:rPr lang="en-US" sz="2400" b="1" dirty="0">
                <a:solidFill>
                  <a:srgbClr val="1A1A2E"/>
                </a:solidFill>
                <a:latin typeface="Georgia" pitchFamily="34" charset="0"/>
                <a:ea typeface="Georgia" pitchFamily="34" charset="-122"/>
                <a:cs typeface="Georgia" pitchFamily="34" charset="-120"/>
              </a:rPr>
              <a:t>What the Curiosity Inverted-U Doesn't Show</a:t>
            </a:r>
            <a:endParaRPr lang="en-US" sz="2400" dirty="0"/>
          </a:p>
        </p:txBody>
      </p:sp>
      <p:sp>
        <p:nvSpPr>
          <p:cNvPr id="4" name="Text 2"/>
          <p:cNvSpPr/>
          <p:nvPr/>
        </p:nvSpPr>
        <p:spPr>
          <a:xfrm>
            <a:off x="548640" y="1143000"/>
            <a:ext cx="8046720" cy="27432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Kidd &amp; Hayden (2015) established an inverted-U for curiosity. But their evidence base has a critical limitation.</a:t>
            </a:r>
            <a:endParaRPr lang="en-US" sz="1300" dirty="0"/>
          </a:p>
        </p:txBody>
      </p:sp>
      <p:sp>
        <p:nvSpPr>
          <p:cNvPr id="5" name="Shape 3"/>
          <p:cNvSpPr/>
          <p:nvPr/>
        </p:nvSpPr>
        <p:spPr>
          <a:xfrm>
            <a:off x="548640" y="1508760"/>
            <a:ext cx="3840480" cy="1463040"/>
          </a:xfrm>
          <a:prstGeom prst="rect">
            <a:avLst>
              <a:gd name="adj" fmla="val 3125"/>
            </a:avLst>
          </a:prstGeom>
          <a:solidFill>
            <a:srgbClr val="F8F9FA"/>
          </a:solidFill>
          <a:ln w="6350">
            <a:solidFill>
              <a:srgbClr val="E2E8F0"/>
            </a:solidFill>
            <a:prstDash val="solid"/>
          </a:ln>
        </p:spPr>
      </p:sp>
      <p:sp>
        <p:nvSpPr>
          <p:cNvPr id="6" name="Shape 4"/>
          <p:cNvSpPr/>
          <p:nvPr/>
        </p:nvSpPr>
        <p:spPr>
          <a:xfrm>
            <a:off x="548640" y="1554480"/>
            <a:ext cx="45720" cy="1371600"/>
          </a:xfrm>
          <a:prstGeom prst="rect">
            <a:avLst/>
          </a:prstGeom>
          <a:solidFill>
            <a:srgbClr val="2E7D32"/>
          </a:solidFill>
          <a:ln w="12700">
            <a:solidFill>
              <a:srgbClr val="333333"/>
            </a:solidFill>
            <a:prstDash val="solid"/>
          </a:ln>
        </p:spPr>
      </p:sp>
      <p:sp>
        <p:nvSpPr>
          <p:cNvPr id="7" name="Text 5"/>
          <p:cNvSpPr/>
          <p:nvPr/>
        </p:nvSpPr>
        <p:spPr>
          <a:xfrm>
            <a:off x="777240" y="1554480"/>
            <a:ext cx="3383280" cy="228600"/>
          </a:xfrm>
          <a:prstGeom prst="rect">
            <a:avLst/>
          </a:prstGeom>
          <a:noFill/>
          <a:ln/>
        </p:spPr>
        <p:txBody>
          <a:bodyPr wrap="square" lIns="0" tIns="36576" rIns="0" bIns="0" rtlCol="0" anchor="t"/>
          <a:lstStyle/>
          <a:p>
            <a:pPr indent="0" marL="0">
              <a:buNone/>
            </a:pPr>
            <a:r>
              <a:rPr lang="en-US" sz="900" b="1" spc="200" kern="0" dirty="0">
                <a:solidFill>
                  <a:srgbClr val="2E7D32"/>
                </a:solidFill>
                <a:latin typeface="Calibri" pitchFamily="34" charset="0"/>
                <a:ea typeface="Calibri" pitchFamily="34" charset="-122"/>
                <a:cs typeface="Calibri" pitchFamily="34" charset="-120"/>
              </a:rPr>
              <a:t>WHAT KIDD &amp; HAYDEN ESTABLISH</a:t>
            </a:r>
            <a:endParaRPr lang="en-US" sz="900" dirty="0"/>
          </a:p>
        </p:txBody>
      </p:sp>
      <p:sp>
        <p:nvSpPr>
          <p:cNvPr id="8" name="Text 6"/>
          <p:cNvSpPr/>
          <p:nvPr/>
        </p:nvSpPr>
        <p:spPr>
          <a:xfrm>
            <a:off x="777240" y="1874520"/>
            <a:ext cx="3383280" cy="1005840"/>
          </a:xfrm>
          <a:prstGeom prst="rect">
            <a:avLst/>
          </a:prstGeom>
          <a:noFill/>
          <a:ln/>
        </p:spPr>
        <p:txBody>
          <a:bodyPr wrap="square" lIns="0" tIns="0" rIns="0" bIns="0" rtlCol="0" anchor="t"/>
          <a:lstStyle/>
          <a:p>
            <a:pPr indent="0" marL="0">
              <a:lnSpc>
                <a:spcPct val="120000"/>
              </a:lnSpc>
              <a:buNone/>
            </a:pPr>
            <a:r>
              <a:rPr lang="en-US" sz="1050" dirty="0">
                <a:solidFill>
                  <a:srgbClr val="1A1A2E"/>
                </a:solidFill>
                <a:latin typeface="Calibri" pitchFamily="34" charset="0"/>
                <a:ea typeface="Calibri" pitchFamily="34" charset="-122"/>
                <a:cs typeface="Calibri" pitchFamily="34" charset="-120"/>
              </a:rPr>
              <a:t>Infants, monkeys, and rats show an inverted-U for looking time / information seeking:
</a:t>
            </a:r>
            <a:pPr indent="0" marL="0">
              <a:lnSpc>
                <a:spcPct val="120000"/>
              </a:lnSpc>
              <a:buNone/>
            </a:pPr>
            <a:r>
              <a:rPr lang="en-US" sz="1050" b="1" dirty="0">
                <a:solidFill>
                  <a:srgbClr val="1A1A2E"/>
                </a:solidFill>
                <a:latin typeface="Calibri" pitchFamily="34" charset="0"/>
                <a:ea typeface="Calibri" pitchFamily="34" charset="-122"/>
                <a:cs typeface="Calibri" pitchFamily="34" charset="-120"/>
              </a:rPr>
              <a:t>Too predictable → disengagement
Moderate surprise → sustained attention
Too unpredictable → look-away
</a:t>
            </a:r>
            <a:pPr indent="0" marL="0">
              <a:lnSpc>
                <a:spcPct val="120000"/>
              </a:lnSpc>
              <a:buNone/>
            </a:pPr>
            <a:r>
              <a:rPr lang="en-US" sz="1050" i="1" dirty="0">
                <a:solidFill>
                  <a:srgbClr val="4A5568"/>
                </a:solidFill>
                <a:latin typeface="Calibri" pitchFamily="34" charset="0"/>
                <a:ea typeface="Calibri" pitchFamily="34" charset="-122"/>
                <a:cs typeface="Calibri" pitchFamily="34" charset="-120"/>
              </a:rPr>
              <a:t>This is implicit PE-driven curiosity operating at the level of sensory prediction.</a:t>
            </a:r>
            <a:endParaRPr lang="en-US" sz="1050" dirty="0"/>
          </a:p>
        </p:txBody>
      </p:sp>
      <p:sp>
        <p:nvSpPr>
          <p:cNvPr id="9" name="Shape 7"/>
          <p:cNvSpPr/>
          <p:nvPr/>
        </p:nvSpPr>
        <p:spPr>
          <a:xfrm>
            <a:off x="4754880" y="1508760"/>
            <a:ext cx="4206240" cy="1463040"/>
          </a:xfrm>
          <a:prstGeom prst="rect">
            <a:avLst>
              <a:gd name="adj" fmla="val 3125"/>
            </a:avLst>
          </a:prstGeom>
          <a:solidFill>
            <a:srgbClr val="F8F9FA"/>
          </a:solidFill>
          <a:ln w="6350">
            <a:solidFill>
              <a:srgbClr val="E2E8F0"/>
            </a:solidFill>
            <a:prstDash val="solid"/>
          </a:ln>
        </p:spPr>
      </p:sp>
      <p:sp>
        <p:nvSpPr>
          <p:cNvPr id="10" name="Shape 8"/>
          <p:cNvSpPr/>
          <p:nvPr/>
        </p:nvSpPr>
        <p:spPr>
          <a:xfrm>
            <a:off x="4754880" y="1554480"/>
            <a:ext cx="45720" cy="1371600"/>
          </a:xfrm>
          <a:prstGeom prst="rect">
            <a:avLst/>
          </a:prstGeom>
          <a:solidFill>
            <a:srgbClr val="C0392B"/>
          </a:solidFill>
          <a:ln w="12700">
            <a:solidFill>
              <a:srgbClr val="333333"/>
            </a:solidFill>
            <a:prstDash val="solid"/>
          </a:ln>
        </p:spPr>
      </p:sp>
      <p:sp>
        <p:nvSpPr>
          <p:cNvPr id="11" name="Text 9"/>
          <p:cNvSpPr/>
          <p:nvPr/>
        </p:nvSpPr>
        <p:spPr>
          <a:xfrm>
            <a:off x="4983480" y="1554480"/>
            <a:ext cx="3749040" cy="228600"/>
          </a:xfrm>
          <a:prstGeom prst="rect">
            <a:avLst/>
          </a:prstGeom>
          <a:noFill/>
          <a:ln/>
        </p:spPr>
        <p:txBody>
          <a:bodyPr wrap="square" lIns="0" tIns="36576" rIns="0" bIns="0" rtlCol="0" anchor="t"/>
          <a:lstStyle/>
          <a:p>
            <a:pPr indent="0" marL="0">
              <a:buNone/>
            </a:pPr>
            <a:r>
              <a:rPr lang="en-US" sz="900" b="1" spc="200" kern="0" dirty="0">
                <a:solidFill>
                  <a:srgbClr val="C0392B"/>
                </a:solidFill>
                <a:latin typeface="Calibri" pitchFamily="34" charset="0"/>
                <a:ea typeface="Calibri" pitchFamily="34" charset="-122"/>
                <a:cs typeface="Calibri" pitchFamily="34" charset="-120"/>
              </a:rPr>
              <a:t>WHAT IT CANNOT SHOW</a:t>
            </a:r>
            <a:endParaRPr lang="en-US" sz="900" dirty="0"/>
          </a:p>
        </p:txBody>
      </p:sp>
      <p:sp>
        <p:nvSpPr>
          <p:cNvPr id="12" name="Text 10"/>
          <p:cNvSpPr/>
          <p:nvPr/>
        </p:nvSpPr>
        <p:spPr>
          <a:xfrm>
            <a:off x="4983480" y="1874520"/>
            <a:ext cx="3749040" cy="1005840"/>
          </a:xfrm>
          <a:prstGeom prst="rect">
            <a:avLst/>
          </a:prstGeom>
          <a:noFill/>
          <a:ln/>
        </p:spPr>
        <p:txBody>
          <a:bodyPr wrap="square" lIns="0" tIns="0" rIns="0" bIns="0" rtlCol="0" anchor="t"/>
          <a:lstStyle/>
          <a:p>
            <a:pPr indent="0" marL="0">
              <a:lnSpc>
                <a:spcPct val="120000"/>
              </a:lnSpc>
              <a:buNone/>
            </a:pPr>
            <a:r>
              <a:rPr lang="en-US" sz="1050" dirty="0">
                <a:solidFill>
                  <a:srgbClr val="1A1A2E"/>
                </a:solidFill>
                <a:latin typeface="Calibri" pitchFamily="34" charset="0"/>
                <a:ea typeface="Calibri" pitchFamily="34" charset="-122"/>
                <a:cs typeface="Calibri" pitchFamily="34" charset="-120"/>
              </a:rPr>
              <a:t>Adult humans have extensive explicit processing:
</a:t>
            </a:r>
            <a:pPr indent="0" marL="0">
              <a:lnSpc>
                <a:spcPct val="120000"/>
              </a:lnSpc>
              <a:buNone/>
            </a:pPr>
            <a:r>
              <a:rPr lang="en-US" sz="1050" dirty="0">
                <a:solidFill>
                  <a:srgbClr val="1A1A2E"/>
                </a:solidFill>
                <a:latin typeface="Calibri" pitchFamily="34" charset="0"/>
                <a:ea typeface="Calibri" pitchFamily="34" charset="-122"/>
                <a:cs typeface="Calibri" pitchFamily="34" charset="-120"/>
              </a:rPr>
              <a:t>A graduate student persists through high-PE mathematics BECAUSE she explicitly values the outcome.
</a:t>
            </a:r>
            <a:pPr indent="0" marL="0">
              <a:lnSpc>
                <a:spcPct val="120000"/>
              </a:lnSpc>
              <a:buNone/>
            </a:pPr>
            <a:r>
              <a:rPr lang="en-US" sz="1050" dirty="0">
                <a:solidFill>
                  <a:srgbClr val="1A1A2E"/>
                </a:solidFill>
                <a:latin typeface="Calibri" pitchFamily="34" charset="0"/>
                <a:ea typeface="Calibri" pitchFamily="34" charset="-122"/>
                <a:cs typeface="Calibri" pitchFamily="34" charset="-120"/>
              </a:rPr>
              <a:t>An architect DELIBERATELY chooses moderate visual complexity — not because her PE system demands it, but because she knows it works.</a:t>
            </a:r>
            <a:endParaRPr lang="en-US" sz="1050" dirty="0"/>
          </a:p>
        </p:txBody>
      </p:sp>
      <p:sp>
        <p:nvSpPr>
          <p:cNvPr id="13" name="Shape 11"/>
          <p:cNvSpPr/>
          <p:nvPr/>
        </p:nvSpPr>
        <p:spPr>
          <a:xfrm>
            <a:off x="548640" y="3200400"/>
            <a:ext cx="8412480" cy="548640"/>
          </a:xfrm>
          <a:prstGeom prst="rect">
            <a:avLst>
              <a:gd name="adj" fmla="val 8333"/>
            </a:avLst>
          </a:prstGeom>
          <a:solidFill>
            <a:srgbClr val="F8F9FA"/>
          </a:solidFill>
          <a:ln w="6350">
            <a:solidFill>
              <a:srgbClr val="E2E8F0"/>
            </a:solidFill>
            <a:prstDash val="solid"/>
          </a:ln>
        </p:spPr>
      </p:sp>
      <p:sp>
        <p:nvSpPr>
          <p:cNvPr id="14" name="Shape 12"/>
          <p:cNvSpPr/>
          <p:nvPr/>
        </p:nvSpPr>
        <p:spPr>
          <a:xfrm>
            <a:off x="548640" y="3246120"/>
            <a:ext cx="45720" cy="457200"/>
          </a:xfrm>
          <a:prstGeom prst="rect">
            <a:avLst/>
          </a:prstGeom>
          <a:solidFill>
            <a:srgbClr val="1B4F72"/>
          </a:solidFill>
          <a:ln w="12700">
            <a:solidFill>
              <a:srgbClr val="333333"/>
            </a:solidFill>
            <a:prstDash val="solid"/>
          </a:ln>
        </p:spPr>
      </p:sp>
      <p:sp>
        <p:nvSpPr>
          <p:cNvPr id="15" name="Text 13"/>
          <p:cNvSpPr/>
          <p:nvPr/>
        </p:nvSpPr>
        <p:spPr>
          <a:xfrm>
            <a:off x="777240" y="3255264"/>
            <a:ext cx="2560320" cy="411480"/>
          </a:xfrm>
          <a:prstGeom prst="rect">
            <a:avLst/>
          </a:prstGeom>
          <a:noFill/>
          <a:ln/>
        </p:spPr>
        <p:txBody>
          <a:bodyPr wrap="square" lIns="0" tIns="0" rIns="0" bIns="0" rtlCol="0" anchor="ctr"/>
          <a:lstStyle/>
          <a:p>
            <a:pPr indent="0" marL="0">
              <a:buNone/>
            </a:pPr>
            <a:r>
              <a:rPr lang="en-US" sz="1100" b="1" dirty="0">
                <a:solidFill>
                  <a:srgbClr val="1B4F72"/>
                </a:solidFill>
                <a:latin typeface="Calibri" pitchFamily="34" charset="0"/>
                <a:ea typeface="Calibri" pitchFamily="34" charset="-122"/>
                <a:cs typeface="Calibri" pitchFamily="34" charset="-120"/>
              </a:rPr>
              <a:t>Adults override the implicit inverted-U</a:t>
            </a:r>
            <a:endParaRPr lang="en-US" sz="1100" dirty="0"/>
          </a:p>
        </p:txBody>
      </p:sp>
      <p:sp>
        <p:nvSpPr>
          <p:cNvPr id="16" name="Text 14"/>
          <p:cNvSpPr/>
          <p:nvPr/>
        </p:nvSpPr>
        <p:spPr>
          <a:xfrm>
            <a:off x="3383280" y="3255264"/>
            <a:ext cx="5394960" cy="411480"/>
          </a:xfrm>
          <a:prstGeom prst="rect">
            <a:avLst/>
          </a:prstGeom>
          <a:noFill/>
          <a:ln/>
        </p:spPr>
        <p:txBody>
          <a:bodyPr wrap="square" lIns="0" tIns="0" rIns="0" bIns="0" rtlCol="0" anchor="ctr"/>
          <a:lstStyle/>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Explicit goals, values, and metacognitive awareness let adults persist through high PE (studying hard material) or seek it out (horror films, extreme sports, Varanasi). The infant inverted-U is a floor, not a ceiling.</a:t>
            </a:r>
            <a:endParaRPr lang="en-US" sz="1000" dirty="0"/>
          </a:p>
        </p:txBody>
      </p:sp>
      <p:sp>
        <p:nvSpPr>
          <p:cNvPr id="17" name="Shape 15"/>
          <p:cNvSpPr/>
          <p:nvPr/>
        </p:nvSpPr>
        <p:spPr>
          <a:xfrm>
            <a:off x="548640" y="3840480"/>
            <a:ext cx="8412480" cy="548640"/>
          </a:xfrm>
          <a:prstGeom prst="rect">
            <a:avLst>
              <a:gd name="adj" fmla="val 8333"/>
            </a:avLst>
          </a:prstGeom>
          <a:solidFill>
            <a:srgbClr val="F8F9FA"/>
          </a:solidFill>
          <a:ln w="6350">
            <a:solidFill>
              <a:srgbClr val="E2E8F0"/>
            </a:solidFill>
            <a:prstDash val="solid"/>
          </a:ln>
        </p:spPr>
      </p:sp>
      <p:sp>
        <p:nvSpPr>
          <p:cNvPr id="18" name="Shape 16"/>
          <p:cNvSpPr/>
          <p:nvPr/>
        </p:nvSpPr>
        <p:spPr>
          <a:xfrm>
            <a:off x="548640" y="3886200"/>
            <a:ext cx="45720" cy="457200"/>
          </a:xfrm>
          <a:prstGeom prst="rect">
            <a:avLst/>
          </a:prstGeom>
          <a:solidFill>
            <a:srgbClr val="5B2C6F"/>
          </a:solidFill>
          <a:ln w="12700">
            <a:solidFill>
              <a:srgbClr val="333333"/>
            </a:solidFill>
            <a:prstDash val="solid"/>
          </a:ln>
        </p:spPr>
      </p:sp>
      <p:sp>
        <p:nvSpPr>
          <p:cNvPr id="19" name="Text 17"/>
          <p:cNvSpPr/>
          <p:nvPr/>
        </p:nvSpPr>
        <p:spPr>
          <a:xfrm>
            <a:off x="777240" y="3895344"/>
            <a:ext cx="2560320" cy="411480"/>
          </a:xfrm>
          <a:prstGeom prst="rect">
            <a:avLst/>
          </a:prstGeom>
          <a:noFill/>
          <a:ln/>
        </p:spPr>
        <p:txBody>
          <a:bodyPr wrap="square" lIns="0" tIns="0" rIns="0" bIns="0" rtlCol="0" anchor="ctr"/>
          <a:lstStyle/>
          <a:p>
            <a:pPr indent="0" marL="0">
              <a:buNone/>
            </a:pPr>
            <a:r>
              <a:rPr lang="en-US" sz="1100" b="1" dirty="0">
                <a:solidFill>
                  <a:srgbClr val="5B2C6F"/>
                </a:solidFill>
                <a:latin typeface="Calibri" pitchFamily="34" charset="0"/>
                <a:ea typeface="Calibri" pitchFamily="34" charset="-122"/>
                <a:cs typeface="Calibri" pitchFamily="34" charset="-120"/>
              </a:rPr>
              <a:t>Even 'implicit' processing is higher-level in adults</a:t>
            </a:r>
            <a:endParaRPr lang="en-US" sz="1100" dirty="0"/>
          </a:p>
        </p:txBody>
      </p:sp>
      <p:sp>
        <p:nvSpPr>
          <p:cNvPr id="20" name="Text 18"/>
          <p:cNvSpPr/>
          <p:nvPr/>
        </p:nvSpPr>
        <p:spPr>
          <a:xfrm>
            <a:off x="3383280" y="3895344"/>
            <a:ext cx="5394960" cy="411480"/>
          </a:xfrm>
          <a:prstGeom prst="rect">
            <a:avLst/>
          </a:prstGeom>
          <a:noFill/>
          <a:ln/>
        </p:spPr>
        <p:txBody>
          <a:bodyPr wrap="square" lIns="0" tIns="0" rIns="0" bIns="0" rtlCol="0" anchor="ctr"/>
          <a:lstStyle/>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An adult's automatic processing operates over model selection and theory comparison — not just feature prediction. Your visual system implicitly evaluates whether a facade is 'right' at the level of architectural grammar, not just spatial frequencies.</a:t>
            </a:r>
            <a:endParaRPr lang="en-US" sz="1000" dirty="0"/>
          </a:p>
        </p:txBody>
      </p:sp>
      <p:sp>
        <p:nvSpPr>
          <p:cNvPr id="21" name="Shape 19"/>
          <p:cNvSpPr/>
          <p:nvPr/>
        </p:nvSpPr>
        <p:spPr>
          <a:xfrm>
            <a:off x="548640" y="4480560"/>
            <a:ext cx="8412480" cy="548640"/>
          </a:xfrm>
          <a:prstGeom prst="rect">
            <a:avLst>
              <a:gd name="adj" fmla="val 8333"/>
            </a:avLst>
          </a:prstGeom>
          <a:solidFill>
            <a:srgbClr val="F8F9FA"/>
          </a:solidFill>
          <a:ln w="6350">
            <a:solidFill>
              <a:srgbClr val="E2E8F0"/>
            </a:solidFill>
            <a:prstDash val="solid"/>
          </a:ln>
        </p:spPr>
      </p:sp>
      <p:sp>
        <p:nvSpPr>
          <p:cNvPr id="22" name="Shape 20"/>
          <p:cNvSpPr/>
          <p:nvPr/>
        </p:nvSpPr>
        <p:spPr>
          <a:xfrm>
            <a:off x="548640" y="4526280"/>
            <a:ext cx="45720" cy="457200"/>
          </a:xfrm>
          <a:prstGeom prst="rect">
            <a:avLst/>
          </a:prstGeom>
          <a:solidFill>
            <a:srgbClr val="6B4226"/>
          </a:solidFill>
          <a:ln w="12700">
            <a:solidFill>
              <a:srgbClr val="333333"/>
            </a:solidFill>
            <a:prstDash val="solid"/>
          </a:ln>
        </p:spPr>
      </p:sp>
      <p:sp>
        <p:nvSpPr>
          <p:cNvPr id="23" name="Text 21"/>
          <p:cNvSpPr/>
          <p:nvPr/>
        </p:nvSpPr>
        <p:spPr>
          <a:xfrm>
            <a:off x="777240" y="4535424"/>
            <a:ext cx="2560320" cy="411480"/>
          </a:xfrm>
          <a:prstGeom prst="rect">
            <a:avLst/>
          </a:prstGeom>
          <a:noFill/>
          <a:ln/>
        </p:spPr>
        <p:txBody>
          <a:bodyPr wrap="square" lIns="0" tIns="0" rIns="0" bIns="0" rtlCol="0" anchor="ctr"/>
          <a:lstStyle/>
          <a:p>
            <a:pPr indent="0" marL="0">
              <a:buNone/>
            </a:pPr>
            <a:r>
              <a:rPr lang="en-US" sz="1100" b="1" dirty="0">
                <a:solidFill>
                  <a:srgbClr val="6B4226"/>
                </a:solidFill>
                <a:latin typeface="Calibri" pitchFamily="34" charset="0"/>
                <a:ea typeface="Calibri" pitchFamily="34" charset="-122"/>
                <a:cs typeface="Calibri" pitchFamily="34" charset="-120"/>
              </a:rPr>
              <a:t>The inverted-U WIDENS with expertise</a:t>
            </a:r>
            <a:endParaRPr lang="en-US" sz="1100" dirty="0"/>
          </a:p>
        </p:txBody>
      </p:sp>
      <p:sp>
        <p:nvSpPr>
          <p:cNvPr id="24" name="Text 22"/>
          <p:cNvSpPr/>
          <p:nvPr/>
        </p:nvSpPr>
        <p:spPr>
          <a:xfrm>
            <a:off x="3383280" y="4535424"/>
            <a:ext cx="5394960" cy="411480"/>
          </a:xfrm>
          <a:prstGeom prst="rect">
            <a:avLst/>
          </a:prstGeom>
          <a:noFill/>
          <a:ln/>
        </p:spPr>
        <p:txBody>
          <a:bodyPr wrap="square" lIns="0" tIns="0" rIns="0" bIns="0" rtlCol="0" anchor="ctr"/>
          <a:lstStyle/>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An experienced architect can tolerate and enjoy higher visual complexity than a novice — because her predictive model is deeper. Expertise shifts the entire Goldilocks profile rightward. Kidd's infants have no expertise to shift.</a:t>
            </a:r>
            <a:endParaRPr lang="en-US" sz="100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182880"/>
          </a:xfrm>
          <a:prstGeom prst="rect">
            <a:avLst/>
          </a:prstGeom>
          <a:noFill/>
          <a:ln/>
        </p:spPr>
        <p:txBody>
          <a:bodyPr wrap="square" lIns="0" tIns="0" rIns="0" bIns="0" rtlCol="0" anchor="ctr"/>
          <a:lstStyle/>
          <a:p>
            <a:pPr indent="0" marL="0">
              <a:buNone/>
            </a:pPr>
            <a:r>
              <a:rPr lang="en-US" sz="900" b="1" spc="300" kern="0" dirty="0">
                <a:solidFill>
                  <a:srgbClr val="1B4F72"/>
                </a:solidFill>
                <a:latin typeface="Calibri" pitchFamily="34" charset="0"/>
                <a:ea typeface="Calibri" pitchFamily="34" charset="-122"/>
                <a:cs typeface="Calibri" pitchFamily="34" charset="-120"/>
              </a:rPr>
              <a:t>THE EXPLICIT CHANNEL</a:t>
            </a:r>
            <a:endParaRPr lang="en-US" sz="900" dirty="0"/>
          </a:p>
        </p:txBody>
      </p:sp>
      <p:sp>
        <p:nvSpPr>
          <p:cNvPr id="3" name="Text 1"/>
          <p:cNvSpPr/>
          <p:nvPr/>
        </p:nvSpPr>
        <p:spPr>
          <a:xfrm>
            <a:off x="548640" y="438912"/>
            <a:ext cx="8046720" cy="777240"/>
          </a:xfrm>
          <a:prstGeom prst="rect">
            <a:avLst/>
          </a:prstGeom>
          <a:noFill/>
          <a:ln/>
        </p:spPr>
        <p:txBody>
          <a:bodyPr wrap="square" lIns="0" tIns="0" rIns="0" bIns="0" rtlCol="0" anchor="ctr"/>
          <a:lstStyle/>
          <a:p>
            <a:pPr indent="0" marL="0">
              <a:lnSpc>
                <a:spcPct val="105000"/>
              </a:lnSpc>
              <a:buNone/>
            </a:pPr>
            <a:r>
              <a:rPr lang="en-US" sz="2600" b="1" dirty="0">
                <a:solidFill>
                  <a:srgbClr val="1A1A2E"/>
                </a:solidFill>
                <a:latin typeface="Georgia" pitchFamily="34" charset="0"/>
                <a:ea typeface="Georgia" pitchFamily="34" charset="-122"/>
                <a:cs typeface="Georgia" pitchFamily="34" charset="-120"/>
              </a:rPr>
              <a:t>Environments Affect Adults Through</a:t>
            </a:r>
            <a:endParaRPr lang="en-US" sz="2600" dirty="0"/>
          </a:p>
          <a:p>
            <a:pPr indent="0" marL="0">
              <a:lnSpc>
                <a:spcPct val="105000"/>
              </a:lnSpc>
              <a:buNone/>
            </a:pPr>
            <a:r>
              <a:rPr lang="en-US" sz="2600" b="1" dirty="0">
                <a:solidFill>
                  <a:srgbClr val="1A1A2E"/>
                </a:solidFill>
                <a:latin typeface="Georgia" pitchFamily="34" charset="0"/>
                <a:ea typeface="Georgia" pitchFamily="34" charset="-122"/>
                <a:cs typeface="Georgia" pitchFamily="34" charset="-120"/>
              </a:rPr>
              <a:t>Two Processing Channels</a:t>
            </a:r>
            <a:endParaRPr lang="en-US" sz="2600" dirty="0"/>
          </a:p>
        </p:txBody>
      </p:sp>
      <p:sp>
        <p:nvSpPr>
          <p:cNvPr id="4" name="Text 2"/>
          <p:cNvSpPr/>
          <p:nvPr/>
        </p:nvSpPr>
        <p:spPr>
          <a:xfrm>
            <a:off x="548640" y="1115568"/>
            <a:ext cx="8046720" cy="27432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The Goldilocks inverted-U for adults integrates BOTH implicit PE and explicit evaluation</a:t>
            </a:r>
            <a:endParaRPr lang="en-US" sz="1300" dirty="0"/>
          </a:p>
        </p:txBody>
      </p:sp>
      <p:sp>
        <p:nvSpPr>
          <p:cNvPr id="5" name="Shape 3"/>
          <p:cNvSpPr/>
          <p:nvPr/>
        </p:nvSpPr>
        <p:spPr>
          <a:xfrm>
            <a:off x="548640" y="1417320"/>
            <a:ext cx="3840480" cy="2468880"/>
          </a:xfrm>
          <a:prstGeom prst="rect">
            <a:avLst>
              <a:gd name="adj" fmla="val 1852"/>
            </a:avLst>
          </a:prstGeom>
          <a:solidFill>
            <a:srgbClr val="F8F9FA"/>
          </a:solidFill>
          <a:ln w="6350">
            <a:solidFill>
              <a:srgbClr val="E2E8F0"/>
            </a:solidFill>
            <a:prstDash val="solid"/>
          </a:ln>
        </p:spPr>
      </p:sp>
      <p:sp>
        <p:nvSpPr>
          <p:cNvPr id="6" name="Shape 4"/>
          <p:cNvSpPr/>
          <p:nvPr/>
        </p:nvSpPr>
        <p:spPr>
          <a:xfrm>
            <a:off x="548640" y="1463040"/>
            <a:ext cx="45720" cy="2377440"/>
          </a:xfrm>
          <a:prstGeom prst="rect">
            <a:avLst/>
          </a:prstGeom>
          <a:solidFill>
            <a:srgbClr val="1B4F72"/>
          </a:solidFill>
          <a:ln w="12700">
            <a:solidFill>
              <a:srgbClr val="333333"/>
            </a:solidFill>
            <a:prstDash val="solid"/>
          </a:ln>
        </p:spPr>
      </p:sp>
      <p:sp>
        <p:nvSpPr>
          <p:cNvPr id="7" name="Text 5"/>
          <p:cNvSpPr/>
          <p:nvPr/>
        </p:nvSpPr>
        <p:spPr>
          <a:xfrm>
            <a:off x="777240" y="1463040"/>
            <a:ext cx="3383280" cy="164592"/>
          </a:xfrm>
          <a:prstGeom prst="rect">
            <a:avLst/>
          </a:prstGeom>
          <a:noFill/>
          <a:ln/>
        </p:spPr>
        <p:txBody>
          <a:bodyPr wrap="square" lIns="0" tIns="0" rIns="0" bIns="0" rtlCol="0" anchor="ctr"/>
          <a:lstStyle/>
          <a:p>
            <a:pPr indent="0" marL="0">
              <a:buNone/>
            </a:pPr>
            <a:r>
              <a:rPr lang="en-US" sz="900" b="1" spc="200" kern="0" dirty="0">
                <a:solidFill>
                  <a:srgbClr val="1B4F72"/>
                </a:solidFill>
                <a:latin typeface="Calibri" pitchFamily="34" charset="0"/>
                <a:ea typeface="Calibri" pitchFamily="34" charset="-122"/>
                <a:cs typeface="Calibri" pitchFamily="34" charset="-120"/>
              </a:rPr>
              <a:t>IMPLICIT CHANNEL (subpersonal)</a:t>
            </a:r>
            <a:endParaRPr lang="en-US" sz="900" dirty="0"/>
          </a:p>
        </p:txBody>
      </p:sp>
      <p:sp>
        <p:nvSpPr>
          <p:cNvPr id="8" name="Text 6"/>
          <p:cNvSpPr/>
          <p:nvPr/>
        </p:nvSpPr>
        <p:spPr>
          <a:xfrm>
            <a:off x="777240" y="1719072"/>
            <a:ext cx="3383280" cy="2011680"/>
          </a:xfrm>
          <a:prstGeom prst="rect">
            <a:avLst/>
          </a:prstGeom>
          <a:noFill/>
          <a:ln/>
        </p:spPr>
        <p:txBody>
          <a:bodyPr wrap="square" lIns="0" tIns="0" rIns="0" bIns="0" rtlCol="0" anchor="ctr"/>
          <a:lstStyle/>
          <a:p>
            <a:pPr indent="0" marL="0">
              <a:lnSpc>
                <a:spcPct val="115000"/>
              </a:lnSpc>
              <a:buNone/>
            </a:pPr>
            <a:r>
              <a:rPr lang="en-US" sz="1000" i="1" dirty="0">
                <a:solidFill>
                  <a:srgbClr val="4A5568"/>
                </a:solidFill>
                <a:latin typeface="Calibri" pitchFamily="34" charset="0"/>
                <a:ea typeface="Calibri" pitchFamily="34" charset="-122"/>
                <a:cs typeface="Calibri" pitchFamily="34" charset="-120"/>
              </a:rPr>
              <a:t>What Kidd &amp; PP capture: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Autonomic responses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Heart rate, skin conductance, cortisol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Affective valence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Amygdala, insula, ventral striatum activation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Prediction error processing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V1→IT hierarchy, auditory cortex, somatosensory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Attentional capture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LC-NE phasic bursts, ventral attention network
</a:t>
            </a:r>
            <a:pPr indent="0" marL="0">
              <a:lnSpc>
                <a:spcPct val="115000"/>
              </a:lnSpc>
              <a:buNone/>
            </a:pPr>
            <a:r>
              <a:rPr lang="en-US" sz="1000" i="1" dirty="0">
                <a:solidFill>
                  <a:srgbClr val="1B4F72"/>
                </a:solidFill>
                <a:latin typeface="Calibri" pitchFamily="34" charset="0"/>
                <a:ea typeface="Calibri" pitchFamily="34" charset="-122"/>
                <a:cs typeface="Calibri" pitchFamily="34" charset="-120"/>
              </a:rPr>
              <a:t>This is where the infant inverted-U lives.</a:t>
            </a:r>
            <a:endParaRPr lang="en-US" sz="1000" dirty="0"/>
          </a:p>
        </p:txBody>
      </p:sp>
      <p:sp>
        <p:nvSpPr>
          <p:cNvPr id="9" name="Shape 7"/>
          <p:cNvSpPr/>
          <p:nvPr/>
        </p:nvSpPr>
        <p:spPr>
          <a:xfrm>
            <a:off x="4754880" y="1417320"/>
            <a:ext cx="4206240" cy="2468880"/>
          </a:xfrm>
          <a:prstGeom prst="rect">
            <a:avLst>
              <a:gd name="adj" fmla="val 1852"/>
            </a:avLst>
          </a:prstGeom>
          <a:solidFill>
            <a:srgbClr val="F8F9FA"/>
          </a:solidFill>
          <a:ln w="6350">
            <a:solidFill>
              <a:srgbClr val="E2E8F0"/>
            </a:solidFill>
            <a:prstDash val="solid"/>
          </a:ln>
        </p:spPr>
      </p:sp>
      <p:sp>
        <p:nvSpPr>
          <p:cNvPr id="10" name="Shape 8"/>
          <p:cNvSpPr/>
          <p:nvPr/>
        </p:nvSpPr>
        <p:spPr>
          <a:xfrm>
            <a:off x="4754880" y="1463040"/>
            <a:ext cx="45720" cy="2377440"/>
          </a:xfrm>
          <a:prstGeom prst="rect">
            <a:avLst/>
          </a:prstGeom>
          <a:solidFill>
            <a:srgbClr val="5B2C6F"/>
          </a:solidFill>
          <a:ln w="12700">
            <a:solidFill>
              <a:srgbClr val="333333"/>
            </a:solidFill>
            <a:prstDash val="solid"/>
          </a:ln>
        </p:spPr>
      </p:sp>
      <p:sp>
        <p:nvSpPr>
          <p:cNvPr id="11" name="Text 9"/>
          <p:cNvSpPr/>
          <p:nvPr/>
        </p:nvSpPr>
        <p:spPr>
          <a:xfrm>
            <a:off x="4983480" y="1463040"/>
            <a:ext cx="3749040" cy="164592"/>
          </a:xfrm>
          <a:prstGeom prst="rect">
            <a:avLst/>
          </a:prstGeom>
          <a:noFill/>
          <a:ln/>
        </p:spPr>
        <p:txBody>
          <a:bodyPr wrap="square" lIns="0" tIns="0" rIns="0" bIns="0" rtlCol="0" anchor="ctr"/>
          <a:lstStyle/>
          <a:p>
            <a:pPr indent="0" marL="0">
              <a:buNone/>
            </a:pPr>
            <a:r>
              <a:rPr lang="en-US" sz="900" b="1" spc="200" kern="0" dirty="0">
                <a:solidFill>
                  <a:srgbClr val="5B2C6F"/>
                </a:solidFill>
                <a:latin typeface="Calibri" pitchFamily="34" charset="0"/>
                <a:ea typeface="Calibri" pitchFamily="34" charset="-122"/>
                <a:cs typeface="Calibri" pitchFamily="34" charset="-120"/>
              </a:rPr>
              <a:t>EXPLICIT CHANNEL (personal-level)</a:t>
            </a:r>
            <a:endParaRPr lang="en-US" sz="900" dirty="0"/>
          </a:p>
        </p:txBody>
      </p:sp>
      <p:sp>
        <p:nvSpPr>
          <p:cNvPr id="12" name="Text 10"/>
          <p:cNvSpPr/>
          <p:nvPr/>
        </p:nvSpPr>
        <p:spPr>
          <a:xfrm>
            <a:off x="4983480" y="1719072"/>
            <a:ext cx="3749040" cy="2011680"/>
          </a:xfrm>
          <a:prstGeom prst="rect">
            <a:avLst/>
          </a:prstGeom>
          <a:noFill/>
          <a:ln/>
        </p:spPr>
        <p:txBody>
          <a:bodyPr wrap="square" lIns="0" tIns="0" rIns="0" bIns="0" rtlCol="0" anchor="ctr"/>
          <a:lstStyle/>
          <a:p>
            <a:pPr indent="0" marL="0">
              <a:lnSpc>
                <a:spcPct val="115000"/>
              </a:lnSpc>
              <a:buNone/>
            </a:pPr>
            <a:r>
              <a:rPr lang="en-US" sz="1000" i="1" dirty="0">
                <a:solidFill>
                  <a:srgbClr val="4A5568"/>
                </a:solidFill>
                <a:latin typeface="Calibri" pitchFamily="34" charset="0"/>
                <a:ea typeface="Calibri" pitchFamily="34" charset="-122"/>
                <a:cs typeface="Calibri" pitchFamily="34" charset="-120"/>
              </a:rPr>
              <a:t>What Kidd &amp; PP miss: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Aesthetic judgment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"This building feels right" — reflective evaluation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Semantic meaning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A hospital that "doesn't feel institutional" — category-level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Cultural aesthetic norms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Transmitted preferences, not just altered priors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Deliberate engagement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Choosing to stay in high-PE environments for explicit reasons
</a:t>
            </a:r>
            <a:pPr indent="0" marL="0">
              <a:lnSpc>
                <a:spcPct val="115000"/>
              </a:lnSpc>
              <a:buNone/>
            </a:pPr>
            <a:r>
              <a:rPr lang="en-US" sz="1000" i="1" dirty="0">
                <a:solidFill>
                  <a:srgbClr val="5B2C6F"/>
                </a:solidFill>
                <a:latin typeface="Calibri" pitchFamily="34" charset="0"/>
                <a:ea typeface="Calibri" pitchFamily="34" charset="-122"/>
                <a:cs typeface="Calibri" pitchFamily="34" charset="-120"/>
              </a:rPr>
              <a:t>This is uniquely adult and uniquely human.</a:t>
            </a:r>
            <a:endParaRPr lang="en-US" sz="1000" dirty="0"/>
          </a:p>
        </p:txBody>
      </p:sp>
      <p:sp>
        <p:nvSpPr>
          <p:cNvPr id="13" name="Text 11"/>
          <p:cNvSpPr/>
          <p:nvPr/>
        </p:nvSpPr>
        <p:spPr>
          <a:xfrm>
            <a:off x="4114800" y="2286000"/>
            <a:ext cx="457200" cy="457200"/>
          </a:xfrm>
          <a:prstGeom prst="rect">
            <a:avLst/>
          </a:prstGeom>
          <a:noFill/>
          <a:ln/>
        </p:spPr>
        <p:txBody>
          <a:bodyPr wrap="square" rtlCol="0" anchor="ctr"/>
          <a:lstStyle/>
          <a:p>
            <a:pPr algn="ctr" indent="0" marL="0">
              <a:buNone/>
            </a:pPr>
            <a:r>
              <a:rPr lang="en-US" sz="2400" b="1" dirty="0">
                <a:solidFill>
                  <a:srgbClr val="94A3B8"/>
                </a:solidFill>
                <a:latin typeface="Georgia" pitchFamily="34" charset="0"/>
                <a:ea typeface="Georgia" pitchFamily="34" charset="-122"/>
                <a:cs typeface="Georgia" pitchFamily="34" charset="-120"/>
              </a:rPr>
              <a:t>+</a:t>
            </a:r>
            <a:endParaRPr lang="en-US" sz="2400" dirty="0"/>
          </a:p>
        </p:txBody>
      </p:sp>
      <p:sp>
        <p:nvSpPr>
          <p:cNvPr id="14" name="Shape 12"/>
          <p:cNvSpPr/>
          <p:nvPr/>
        </p:nvSpPr>
        <p:spPr>
          <a:xfrm>
            <a:off x="548640" y="4069080"/>
            <a:ext cx="8412480" cy="914400"/>
          </a:xfrm>
          <a:prstGeom prst="rect">
            <a:avLst>
              <a:gd name="adj" fmla="val 5000"/>
            </a:avLst>
          </a:prstGeom>
          <a:solidFill>
            <a:srgbClr val="F8F9FA"/>
          </a:solidFill>
          <a:ln w="6350">
            <a:solidFill>
              <a:srgbClr val="E2E8F0"/>
            </a:solidFill>
            <a:prstDash val="solid"/>
          </a:ln>
        </p:spPr>
      </p:sp>
      <p:sp>
        <p:nvSpPr>
          <p:cNvPr id="15" name="Shape 13"/>
          <p:cNvSpPr/>
          <p:nvPr/>
        </p:nvSpPr>
        <p:spPr>
          <a:xfrm>
            <a:off x="548640" y="4114800"/>
            <a:ext cx="45720" cy="822960"/>
          </a:xfrm>
          <a:prstGeom prst="rect">
            <a:avLst/>
          </a:prstGeom>
          <a:solidFill>
            <a:srgbClr val="2E7D32"/>
          </a:solidFill>
          <a:ln w="12700">
            <a:solidFill>
              <a:srgbClr val="333333"/>
            </a:solidFill>
            <a:prstDash val="solid"/>
          </a:ln>
        </p:spPr>
      </p:sp>
      <p:sp>
        <p:nvSpPr>
          <p:cNvPr id="16" name="Text 14"/>
          <p:cNvSpPr/>
          <p:nvPr/>
        </p:nvSpPr>
        <p:spPr>
          <a:xfrm>
            <a:off x="777240" y="4114800"/>
            <a:ext cx="7955280" cy="164592"/>
          </a:xfrm>
          <a:prstGeom prst="rect">
            <a:avLst/>
          </a:prstGeom>
          <a:noFill/>
          <a:ln/>
        </p:spPr>
        <p:txBody>
          <a:bodyPr wrap="square" lIns="0" tIns="0" rIns="0" bIns="0" rtlCol="0" anchor="ctr"/>
          <a:lstStyle/>
          <a:p>
            <a:pPr indent="0" marL="0">
              <a:buNone/>
            </a:pPr>
            <a:r>
              <a:rPr lang="en-US" sz="900" b="1" spc="200" kern="0" dirty="0">
                <a:solidFill>
                  <a:srgbClr val="2E7D32"/>
                </a:solidFill>
                <a:latin typeface="Calibri" pitchFamily="34" charset="0"/>
                <a:ea typeface="Calibri" pitchFamily="34" charset="-122"/>
                <a:cs typeface="Calibri" pitchFamily="34" charset="-120"/>
              </a:rPr>
              <a:t>THE GOLDILOCKS ADVANTAGE</a:t>
            </a:r>
            <a:endParaRPr lang="en-US" sz="900" dirty="0"/>
          </a:p>
        </p:txBody>
      </p:sp>
      <p:sp>
        <p:nvSpPr>
          <p:cNvPr id="17" name="Text 15"/>
          <p:cNvSpPr/>
          <p:nvPr/>
        </p:nvSpPr>
        <p:spPr>
          <a:xfrm>
            <a:off x="777240" y="4370832"/>
            <a:ext cx="7955280" cy="502920"/>
          </a:xfrm>
          <a:prstGeom prst="rect">
            <a:avLst/>
          </a:prstGeom>
          <a:noFill/>
          <a:ln/>
        </p:spPr>
        <p:txBody>
          <a:bodyPr wrap="square" lIns="0" tIns="0" rIns="0" bIns="0" rtlCol="0" anchor="ctr"/>
          <a:lstStyle/>
          <a:p>
            <a:pPr indent="0" marL="0">
              <a:lnSpc>
                <a:spcPct val="130000"/>
              </a:lnSpc>
              <a:buNone/>
            </a:pPr>
            <a:r>
              <a:rPr lang="en-US" sz="1050" dirty="0">
                <a:solidFill>
                  <a:srgbClr val="1A1A2E"/>
                </a:solidFill>
                <a:latin typeface="Calibri" pitchFamily="34" charset="0"/>
                <a:ea typeface="Calibri" pitchFamily="34" charset="-122"/>
                <a:cs typeface="Calibri" pitchFamily="34" charset="-120"/>
              </a:rPr>
              <a:t xml:space="preserve">The full adult Goldilocks inverted-U integrates both channels. </a:t>
            </a:r>
            <a:pPr indent="0" marL="0">
              <a:lnSpc>
                <a:spcPct val="130000"/>
              </a:lnSpc>
              <a:buNone/>
            </a:pPr>
            <a:r>
              <a:rPr lang="en-US" sz="1050" b="1" dirty="0">
                <a:solidFill>
                  <a:srgbClr val="1A1A2E"/>
                </a:solidFill>
                <a:latin typeface="Calibri" pitchFamily="34" charset="0"/>
                <a:ea typeface="Calibri" pitchFamily="34" charset="-122"/>
                <a:cs typeface="Calibri" pitchFamily="34" charset="-120"/>
              </a:rPr>
              <a:t>The cultural set-point shifts we see in India may be partly explicit</a:t>
            </a:r>
            <a:pPr indent="0" marL="0">
              <a:lnSpc>
                <a:spcPct val="130000"/>
              </a:lnSpc>
              <a:buNone/>
            </a:pPr>
            <a:r>
              <a:rPr lang="en-US" sz="1050" dirty="0">
                <a:solidFill>
                  <a:srgbClr val="1A1A2E"/>
                </a:solidFill>
                <a:latin typeface="Calibri" pitchFamily="34" charset="0"/>
                <a:ea typeface="Calibri" pitchFamily="34" charset="-122"/>
                <a:cs typeface="Calibri" pitchFamily="34" charset="-120"/>
              </a:rPr>
              <a:t xml:space="preserve"> — transmitted aesthetic norms and deliberate environmental choices, not just recalibrated sensory priors. </a:t>
            </a:r>
            <a:pPr indent="0" marL="0">
              <a:lnSpc>
                <a:spcPct val="130000"/>
              </a:lnSpc>
              <a:buNone/>
            </a:pPr>
            <a:r>
              <a:rPr lang="en-US" sz="1050" dirty="0">
                <a:solidFill>
                  <a:srgbClr val="1A1A2E"/>
                </a:solidFill>
                <a:latin typeface="Calibri" pitchFamily="34" charset="0"/>
                <a:ea typeface="Calibri" pitchFamily="34" charset="-122"/>
                <a:cs typeface="Calibri" pitchFamily="34" charset="-120"/>
              </a:rPr>
              <a:t>A patient's response to a hospital room is BOTH implicit (autonomic stress from acoustic chaos) AND explicit ("this looks like a place where people die").</a:t>
            </a:r>
            <a:endParaRPr lang="en-US" sz="105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182880"/>
          </a:xfrm>
          <a:prstGeom prst="rect">
            <a:avLst/>
          </a:prstGeom>
          <a:noFill/>
          <a:ln/>
        </p:spPr>
        <p:txBody>
          <a:bodyPr wrap="square" lIns="0" tIns="0" rIns="0" bIns="0" rtlCol="0" anchor="ctr"/>
          <a:lstStyle/>
          <a:p>
            <a:pPr indent="0" marL="0">
              <a:buNone/>
            </a:pPr>
            <a:r>
              <a:rPr lang="en-US" sz="900" b="1" spc="300" kern="0" dirty="0">
                <a:solidFill>
                  <a:srgbClr val="1B4F72"/>
                </a:solidFill>
                <a:latin typeface="Calibri" pitchFamily="34" charset="0"/>
                <a:ea typeface="Calibri" pitchFamily="34" charset="-122"/>
                <a:cs typeface="Calibri" pitchFamily="34" charset="-120"/>
              </a:rPr>
              <a:t>THEORETICAL ADVANTAGE</a:t>
            </a:r>
            <a:endParaRPr lang="en-US" sz="900" dirty="0"/>
          </a:p>
        </p:txBody>
      </p:sp>
      <p:sp>
        <p:nvSpPr>
          <p:cNvPr id="3" name="Text 1"/>
          <p:cNvSpPr/>
          <p:nvPr/>
        </p:nvSpPr>
        <p:spPr>
          <a:xfrm>
            <a:off x="548640" y="438912"/>
            <a:ext cx="8046720" cy="777240"/>
          </a:xfrm>
          <a:prstGeom prst="rect">
            <a:avLst/>
          </a:prstGeom>
          <a:noFill/>
          <a:ln/>
        </p:spPr>
        <p:txBody>
          <a:bodyPr wrap="square" lIns="0" tIns="0" rIns="0" bIns="0" rtlCol="0" anchor="ctr"/>
          <a:lstStyle/>
          <a:p>
            <a:pPr indent="0" marL="0">
              <a:lnSpc>
                <a:spcPct val="105000"/>
              </a:lnSpc>
              <a:buNone/>
            </a:pPr>
            <a:r>
              <a:rPr lang="en-US" sz="2400" b="1" dirty="0">
                <a:solidFill>
                  <a:srgbClr val="1A1A2E"/>
                </a:solidFill>
                <a:latin typeface="Georgia" pitchFamily="34" charset="0"/>
                <a:ea typeface="Georgia" pitchFamily="34" charset="-122"/>
                <a:cs typeface="Georgia" pitchFamily="34" charset="-120"/>
              </a:rPr>
              <a:t>Why Goldilocks Can Incorporate</a:t>
            </a:r>
            <a:endParaRPr lang="en-US" sz="2400" dirty="0"/>
          </a:p>
          <a:p>
            <a:pPr indent="0" marL="0">
              <a:lnSpc>
                <a:spcPct val="105000"/>
              </a:lnSpc>
              <a:buNone/>
            </a:pPr>
            <a:r>
              <a:rPr lang="en-US" sz="2400" b="1" dirty="0">
                <a:solidFill>
                  <a:srgbClr val="1A1A2E"/>
                </a:solidFill>
                <a:latin typeface="Georgia" pitchFamily="34" charset="0"/>
                <a:ea typeface="Georgia" pitchFamily="34" charset="-122"/>
                <a:cs typeface="Georgia" pitchFamily="34" charset="-120"/>
              </a:rPr>
              <a:t>Explicit Processing — and Others Can't</a:t>
            </a:r>
            <a:endParaRPr lang="en-US" sz="2400" dirty="0"/>
          </a:p>
        </p:txBody>
      </p:sp>
      <p:sp>
        <p:nvSpPr>
          <p:cNvPr id="4" name="Shape 2"/>
          <p:cNvSpPr/>
          <p:nvPr/>
        </p:nvSpPr>
        <p:spPr>
          <a:xfrm>
            <a:off x="548640" y="1261872"/>
            <a:ext cx="8412480" cy="777240"/>
          </a:xfrm>
          <a:prstGeom prst="rect">
            <a:avLst>
              <a:gd name="adj" fmla="val 5882"/>
            </a:avLst>
          </a:prstGeom>
          <a:solidFill>
            <a:srgbClr val="F8F9FA"/>
          </a:solidFill>
          <a:ln w="6350">
            <a:solidFill>
              <a:srgbClr val="E2E8F0"/>
            </a:solidFill>
            <a:prstDash val="solid"/>
          </a:ln>
        </p:spPr>
      </p:sp>
      <p:sp>
        <p:nvSpPr>
          <p:cNvPr id="5" name="Shape 3"/>
          <p:cNvSpPr/>
          <p:nvPr/>
        </p:nvSpPr>
        <p:spPr>
          <a:xfrm>
            <a:off x="548640" y="1307592"/>
            <a:ext cx="45720" cy="685800"/>
          </a:xfrm>
          <a:prstGeom prst="rect">
            <a:avLst/>
          </a:prstGeom>
          <a:solidFill>
            <a:srgbClr val="1B4F72"/>
          </a:solidFill>
          <a:ln w="12700">
            <a:solidFill>
              <a:srgbClr val="333333"/>
            </a:solidFill>
            <a:prstDash val="solid"/>
          </a:ln>
        </p:spPr>
      </p:sp>
      <p:sp>
        <p:nvSpPr>
          <p:cNvPr id="6" name="Text 4"/>
          <p:cNvSpPr/>
          <p:nvPr/>
        </p:nvSpPr>
        <p:spPr>
          <a:xfrm>
            <a:off x="777240" y="1298448"/>
            <a:ext cx="2194560" cy="201168"/>
          </a:xfrm>
          <a:prstGeom prst="rect">
            <a:avLst/>
          </a:prstGeom>
          <a:noFill/>
          <a:ln/>
        </p:spPr>
        <p:txBody>
          <a:bodyPr wrap="square" lIns="0" tIns="0" rIns="0" bIns="0" rtlCol="0" anchor="ctr"/>
          <a:lstStyle/>
          <a:p>
            <a:pPr indent="0" marL="0">
              <a:buNone/>
            </a:pPr>
            <a:r>
              <a:rPr lang="en-US" sz="1200" b="1" dirty="0">
                <a:solidFill>
                  <a:srgbClr val="1B4F72"/>
                </a:solidFill>
                <a:latin typeface="Georgia" pitchFamily="34" charset="0"/>
                <a:ea typeface="Georgia" pitchFamily="34" charset="-122"/>
                <a:cs typeface="Georgia" pitchFamily="34" charset="-120"/>
              </a:rPr>
              <a:t>Predictive Processing</a:t>
            </a:r>
            <a:endParaRPr lang="en-US" sz="1200" dirty="0"/>
          </a:p>
        </p:txBody>
      </p:sp>
      <p:sp>
        <p:nvSpPr>
          <p:cNvPr id="7" name="Text 5"/>
          <p:cNvSpPr/>
          <p:nvPr/>
        </p:nvSpPr>
        <p:spPr>
          <a:xfrm>
            <a:off x="777240" y="1517904"/>
            <a:ext cx="5943600" cy="457200"/>
          </a:xfrm>
          <a:prstGeom prst="rect">
            <a:avLst/>
          </a:prstGeom>
          <a:noFill/>
          <a:ln/>
        </p:spPr>
        <p:txBody>
          <a:bodyPr wrap="square" lIns="0" tIns="0" rIns="0" bIns="0" rtlCol="0" anchor="ctr"/>
          <a:lstStyle/>
          <a:p>
            <a:pPr indent="0" marL="0">
              <a:lnSpc>
                <a:spcPct val="120000"/>
              </a:lnSpc>
              <a:buNone/>
            </a:pPr>
            <a:r>
              <a:rPr lang="en-US" sz="900" dirty="0">
                <a:solidFill>
                  <a:srgbClr val="1A1A2E"/>
                </a:solidFill>
                <a:latin typeface="Calibri" pitchFamily="34" charset="0"/>
                <a:ea typeface="Calibri" pitchFamily="34" charset="-122"/>
                <a:cs typeface="Calibri" pitchFamily="34" charset="-120"/>
              </a:rPr>
              <a:t>Fundamentally subpersonal. PE operates below conscious awareness. Active inference adds agency but not reflective evaluation. The dark room problem emerges because PP cannot represent explicit goals overriding PE minimization.</a:t>
            </a:r>
            <a:endParaRPr lang="en-US" sz="900" dirty="0"/>
          </a:p>
        </p:txBody>
      </p:sp>
      <p:sp>
        <p:nvSpPr>
          <p:cNvPr id="8" name="Text 6"/>
          <p:cNvSpPr/>
          <p:nvPr/>
        </p:nvSpPr>
        <p:spPr>
          <a:xfrm>
            <a:off x="6858000" y="1298448"/>
            <a:ext cx="1920240" cy="685800"/>
          </a:xfrm>
          <a:prstGeom prst="rect">
            <a:avLst/>
          </a:prstGeom>
          <a:noFill/>
          <a:ln/>
        </p:spPr>
        <p:txBody>
          <a:bodyPr wrap="square" lIns="0" tIns="0" rIns="0" bIns="0" rtlCol="0" anchor="ctr"/>
          <a:lstStyle/>
          <a:p>
            <a:pPr algn="r" indent="0" marL="0">
              <a:buNone/>
            </a:pPr>
            <a:r>
              <a:rPr lang="en-US" sz="950" b="1" dirty="0">
                <a:solidFill>
                  <a:srgbClr val="1B4F72"/>
                </a:solidFill>
                <a:latin typeface="Calibri" pitchFamily="34" charset="0"/>
                <a:ea typeface="Calibri" pitchFamily="34" charset="-122"/>
                <a:cs typeface="Calibri" pitchFamily="34" charset="-120"/>
              </a:rPr>
              <a:t>Cannot represent aesthetic judgment</a:t>
            </a:r>
            <a:endParaRPr lang="en-US" sz="950" dirty="0"/>
          </a:p>
        </p:txBody>
      </p:sp>
      <p:sp>
        <p:nvSpPr>
          <p:cNvPr id="9" name="Shape 7"/>
          <p:cNvSpPr/>
          <p:nvPr/>
        </p:nvSpPr>
        <p:spPr>
          <a:xfrm>
            <a:off x="548640" y="2130552"/>
            <a:ext cx="8412480" cy="777240"/>
          </a:xfrm>
          <a:prstGeom prst="rect">
            <a:avLst>
              <a:gd name="adj" fmla="val 5882"/>
            </a:avLst>
          </a:prstGeom>
          <a:solidFill>
            <a:srgbClr val="F8F9FA"/>
          </a:solidFill>
          <a:ln w="6350">
            <a:solidFill>
              <a:srgbClr val="E2E8F0"/>
            </a:solidFill>
            <a:prstDash val="solid"/>
          </a:ln>
        </p:spPr>
      </p:sp>
      <p:sp>
        <p:nvSpPr>
          <p:cNvPr id="10" name="Shape 8"/>
          <p:cNvSpPr/>
          <p:nvPr/>
        </p:nvSpPr>
        <p:spPr>
          <a:xfrm>
            <a:off x="548640" y="2176272"/>
            <a:ext cx="45720" cy="685800"/>
          </a:xfrm>
          <a:prstGeom prst="rect">
            <a:avLst/>
          </a:prstGeom>
          <a:solidFill>
            <a:srgbClr val="C0392B"/>
          </a:solidFill>
          <a:ln w="12700">
            <a:solidFill>
              <a:srgbClr val="333333"/>
            </a:solidFill>
            <a:prstDash val="solid"/>
          </a:ln>
        </p:spPr>
      </p:sp>
      <p:sp>
        <p:nvSpPr>
          <p:cNvPr id="11" name="Text 9"/>
          <p:cNvSpPr/>
          <p:nvPr/>
        </p:nvSpPr>
        <p:spPr>
          <a:xfrm>
            <a:off x="777240" y="2167128"/>
            <a:ext cx="2194560" cy="201168"/>
          </a:xfrm>
          <a:prstGeom prst="rect">
            <a:avLst/>
          </a:prstGeom>
          <a:noFill/>
          <a:ln/>
        </p:spPr>
        <p:txBody>
          <a:bodyPr wrap="square" lIns="0" tIns="0" rIns="0" bIns="0" rtlCol="0" anchor="ctr"/>
          <a:lstStyle/>
          <a:p>
            <a:pPr indent="0" marL="0">
              <a:buNone/>
            </a:pPr>
            <a:r>
              <a:rPr lang="en-US" sz="1200" b="1" dirty="0">
                <a:solidFill>
                  <a:srgbClr val="C0392B"/>
                </a:solidFill>
                <a:latin typeface="Georgia" pitchFamily="34" charset="0"/>
                <a:ea typeface="Georgia" pitchFamily="34" charset="-122"/>
                <a:cs typeface="Georgia" pitchFamily="34" charset="-120"/>
              </a:rPr>
              <a:t>Stress Recovery (SRT)</a:t>
            </a:r>
            <a:endParaRPr lang="en-US" sz="1200" dirty="0"/>
          </a:p>
        </p:txBody>
      </p:sp>
      <p:sp>
        <p:nvSpPr>
          <p:cNvPr id="12" name="Text 10"/>
          <p:cNvSpPr/>
          <p:nvPr/>
        </p:nvSpPr>
        <p:spPr>
          <a:xfrm>
            <a:off x="777240" y="2386584"/>
            <a:ext cx="5943600" cy="457200"/>
          </a:xfrm>
          <a:prstGeom prst="rect">
            <a:avLst/>
          </a:prstGeom>
          <a:noFill/>
          <a:ln/>
        </p:spPr>
        <p:txBody>
          <a:bodyPr wrap="square" lIns="0" tIns="0" rIns="0" bIns="0" rtlCol="0" anchor="ctr"/>
          <a:lstStyle/>
          <a:p>
            <a:pPr indent="0" marL="0">
              <a:lnSpc>
                <a:spcPct val="120000"/>
              </a:lnSpc>
              <a:buNone/>
            </a:pPr>
            <a:r>
              <a:rPr lang="en-US" sz="900" dirty="0">
                <a:solidFill>
                  <a:srgbClr val="1A1A2E"/>
                </a:solidFill>
                <a:latin typeface="Calibri" pitchFamily="34" charset="0"/>
                <a:ea typeface="Calibri" pitchFamily="34" charset="-122"/>
                <a:cs typeface="Calibri" pitchFamily="34" charset="-120"/>
              </a:rPr>
              <a:t>Ulrich's core claim is a 'pre-cognitive affective pathway' — stress recovery happens BEFORE and WITHOUT cognitive appraisal. If you let explicit processing in, SRT loses its theoretical distinctiveness.</a:t>
            </a:r>
            <a:endParaRPr lang="en-US" sz="900" dirty="0"/>
          </a:p>
        </p:txBody>
      </p:sp>
      <p:sp>
        <p:nvSpPr>
          <p:cNvPr id="13" name="Text 11"/>
          <p:cNvSpPr/>
          <p:nvPr/>
        </p:nvSpPr>
        <p:spPr>
          <a:xfrm>
            <a:off x="6858000" y="2167128"/>
            <a:ext cx="1920240" cy="685800"/>
          </a:xfrm>
          <a:prstGeom prst="rect">
            <a:avLst/>
          </a:prstGeom>
          <a:noFill/>
          <a:ln/>
        </p:spPr>
        <p:txBody>
          <a:bodyPr wrap="square" lIns="0" tIns="0" rIns="0" bIns="0" rtlCol="0" anchor="ctr"/>
          <a:lstStyle/>
          <a:p>
            <a:pPr algn="r" indent="0" marL="0">
              <a:buNone/>
            </a:pPr>
            <a:r>
              <a:rPr lang="en-US" sz="950" b="1" dirty="0">
                <a:solidFill>
                  <a:srgbClr val="C0392B"/>
                </a:solidFill>
                <a:latin typeface="Calibri" pitchFamily="34" charset="0"/>
                <a:ea typeface="Calibri" pitchFamily="34" charset="-122"/>
                <a:cs typeface="Calibri" pitchFamily="34" charset="-120"/>
              </a:rPr>
              <a:t>Excludes cognition by design</a:t>
            </a:r>
            <a:endParaRPr lang="en-US" sz="950" dirty="0"/>
          </a:p>
        </p:txBody>
      </p:sp>
      <p:sp>
        <p:nvSpPr>
          <p:cNvPr id="14" name="Shape 12"/>
          <p:cNvSpPr/>
          <p:nvPr/>
        </p:nvSpPr>
        <p:spPr>
          <a:xfrm>
            <a:off x="548640" y="2999232"/>
            <a:ext cx="8412480" cy="777240"/>
          </a:xfrm>
          <a:prstGeom prst="rect">
            <a:avLst>
              <a:gd name="adj" fmla="val 5882"/>
            </a:avLst>
          </a:prstGeom>
          <a:solidFill>
            <a:srgbClr val="F8F9FA"/>
          </a:solidFill>
          <a:ln w="6350">
            <a:solidFill>
              <a:srgbClr val="E2E8F0"/>
            </a:solidFill>
            <a:prstDash val="solid"/>
          </a:ln>
        </p:spPr>
      </p:sp>
      <p:sp>
        <p:nvSpPr>
          <p:cNvPr id="15" name="Shape 13"/>
          <p:cNvSpPr/>
          <p:nvPr/>
        </p:nvSpPr>
        <p:spPr>
          <a:xfrm>
            <a:off x="548640" y="3044952"/>
            <a:ext cx="45720" cy="685800"/>
          </a:xfrm>
          <a:prstGeom prst="rect">
            <a:avLst/>
          </a:prstGeom>
          <a:solidFill>
            <a:srgbClr val="6B4226"/>
          </a:solidFill>
          <a:ln w="12700">
            <a:solidFill>
              <a:srgbClr val="333333"/>
            </a:solidFill>
            <a:prstDash val="solid"/>
          </a:ln>
        </p:spPr>
      </p:sp>
      <p:sp>
        <p:nvSpPr>
          <p:cNvPr id="16" name="Text 14"/>
          <p:cNvSpPr/>
          <p:nvPr/>
        </p:nvSpPr>
        <p:spPr>
          <a:xfrm>
            <a:off x="777240" y="3035808"/>
            <a:ext cx="2194560" cy="201168"/>
          </a:xfrm>
          <a:prstGeom prst="rect">
            <a:avLst/>
          </a:prstGeom>
          <a:noFill/>
          <a:ln/>
        </p:spPr>
        <p:txBody>
          <a:bodyPr wrap="square" lIns="0" tIns="0" rIns="0" bIns="0" rtlCol="0" anchor="ctr"/>
          <a:lstStyle/>
          <a:p>
            <a:pPr indent="0" marL="0">
              <a:buNone/>
            </a:pPr>
            <a:r>
              <a:rPr lang="en-US" sz="1200" b="1" dirty="0">
                <a:solidFill>
                  <a:srgbClr val="6B4226"/>
                </a:solidFill>
                <a:latin typeface="Georgia" pitchFamily="34" charset="0"/>
                <a:ea typeface="Georgia" pitchFamily="34" charset="-122"/>
                <a:cs typeface="Georgia" pitchFamily="34" charset="-120"/>
              </a:rPr>
              <a:t>Berlyne's Arousal Theory</a:t>
            </a:r>
            <a:endParaRPr lang="en-US" sz="1200" dirty="0"/>
          </a:p>
        </p:txBody>
      </p:sp>
      <p:sp>
        <p:nvSpPr>
          <p:cNvPr id="17" name="Text 15"/>
          <p:cNvSpPr/>
          <p:nvPr/>
        </p:nvSpPr>
        <p:spPr>
          <a:xfrm>
            <a:off x="777240" y="3255264"/>
            <a:ext cx="5943600" cy="457200"/>
          </a:xfrm>
          <a:prstGeom prst="rect">
            <a:avLst/>
          </a:prstGeom>
          <a:noFill/>
          <a:ln/>
        </p:spPr>
        <p:txBody>
          <a:bodyPr wrap="square" lIns="0" tIns="0" rIns="0" bIns="0" rtlCol="0" anchor="ctr"/>
          <a:lstStyle/>
          <a:p>
            <a:pPr indent="0" marL="0">
              <a:lnSpc>
                <a:spcPct val="120000"/>
              </a:lnSpc>
              <a:buNone/>
            </a:pPr>
            <a:r>
              <a:rPr lang="en-US" sz="900" dirty="0">
                <a:solidFill>
                  <a:srgbClr val="1A1A2E"/>
                </a:solidFill>
                <a:latin typeface="Calibri" pitchFamily="34" charset="0"/>
                <a:ea typeface="Calibri" pitchFamily="34" charset="-122"/>
                <a:cs typeface="Calibri" pitchFamily="34" charset="-120"/>
              </a:rPr>
              <a:t>Arousal potential is a stimulus property, not a cognitive evaluation. Collative variables (complexity, novelty) are measured at the stimulus, not at the person's reflective response. No room for 'I choose to find this interesting.'</a:t>
            </a:r>
            <a:endParaRPr lang="en-US" sz="900" dirty="0"/>
          </a:p>
        </p:txBody>
      </p:sp>
      <p:sp>
        <p:nvSpPr>
          <p:cNvPr id="18" name="Text 16"/>
          <p:cNvSpPr/>
          <p:nvPr/>
        </p:nvSpPr>
        <p:spPr>
          <a:xfrm>
            <a:off x="6858000" y="3035808"/>
            <a:ext cx="1920240" cy="685800"/>
          </a:xfrm>
          <a:prstGeom prst="rect">
            <a:avLst/>
          </a:prstGeom>
          <a:noFill/>
          <a:ln/>
        </p:spPr>
        <p:txBody>
          <a:bodyPr wrap="square" lIns="0" tIns="0" rIns="0" bIns="0" rtlCol="0" anchor="ctr"/>
          <a:lstStyle/>
          <a:p>
            <a:pPr algn="r" indent="0" marL="0">
              <a:buNone/>
            </a:pPr>
            <a:r>
              <a:rPr lang="en-US" sz="950" b="1" dirty="0">
                <a:solidFill>
                  <a:srgbClr val="6B4226"/>
                </a:solidFill>
                <a:latin typeface="Calibri" pitchFamily="34" charset="0"/>
                <a:ea typeface="Calibri" pitchFamily="34" charset="-122"/>
                <a:cs typeface="Calibri" pitchFamily="34" charset="-120"/>
              </a:rPr>
              <a:t>Stimulus-centered, not agent-centered</a:t>
            </a:r>
            <a:endParaRPr lang="en-US" sz="950" dirty="0"/>
          </a:p>
        </p:txBody>
      </p:sp>
      <p:sp>
        <p:nvSpPr>
          <p:cNvPr id="19" name="Shape 17"/>
          <p:cNvSpPr/>
          <p:nvPr/>
        </p:nvSpPr>
        <p:spPr>
          <a:xfrm>
            <a:off x="548640" y="3867912"/>
            <a:ext cx="8412480" cy="777240"/>
          </a:xfrm>
          <a:prstGeom prst="rect">
            <a:avLst>
              <a:gd name="adj" fmla="val 5882"/>
            </a:avLst>
          </a:prstGeom>
          <a:solidFill>
            <a:srgbClr val="F8F9FA"/>
          </a:solidFill>
          <a:ln w="6350">
            <a:solidFill>
              <a:srgbClr val="E2E8F0"/>
            </a:solidFill>
            <a:prstDash val="solid"/>
          </a:ln>
        </p:spPr>
      </p:sp>
      <p:sp>
        <p:nvSpPr>
          <p:cNvPr id="20" name="Shape 18"/>
          <p:cNvSpPr/>
          <p:nvPr/>
        </p:nvSpPr>
        <p:spPr>
          <a:xfrm>
            <a:off x="548640" y="3913632"/>
            <a:ext cx="45720" cy="685800"/>
          </a:xfrm>
          <a:prstGeom prst="rect">
            <a:avLst/>
          </a:prstGeom>
          <a:solidFill>
            <a:srgbClr val="5B2C6F"/>
          </a:solidFill>
          <a:ln w="12700">
            <a:solidFill>
              <a:srgbClr val="333333"/>
            </a:solidFill>
            <a:prstDash val="solid"/>
          </a:ln>
        </p:spPr>
      </p:sp>
      <p:sp>
        <p:nvSpPr>
          <p:cNvPr id="21" name="Text 19"/>
          <p:cNvSpPr/>
          <p:nvPr/>
        </p:nvSpPr>
        <p:spPr>
          <a:xfrm>
            <a:off x="777240" y="3904488"/>
            <a:ext cx="2194560" cy="201168"/>
          </a:xfrm>
          <a:prstGeom prst="rect">
            <a:avLst/>
          </a:prstGeom>
          <a:noFill/>
          <a:ln/>
        </p:spPr>
        <p:txBody>
          <a:bodyPr wrap="square" lIns="0" tIns="0" rIns="0" bIns="0" rtlCol="0" anchor="ctr"/>
          <a:lstStyle/>
          <a:p>
            <a:pPr indent="0" marL="0">
              <a:buNone/>
            </a:pPr>
            <a:r>
              <a:rPr lang="en-US" sz="1200" b="1" dirty="0">
                <a:solidFill>
                  <a:srgbClr val="5B2C6F"/>
                </a:solidFill>
                <a:latin typeface="Georgia" pitchFamily="34" charset="0"/>
                <a:ea typeface="Georgia" pitchFamily="34" charset="-122"/>
                <a:cs typeface="Georgia" pitchFamily="34" charset="-120"/>
              </a:rPr>
              <a:t>Attention Restoration (ART)</a:t>
            </a:r>
            <a:endParaRPr lang="en-US" sz="1200" dirty="0"/>
          </a:p>
        </p:txBody>
      </p:sp>
      <p:sp>
        <p:nvSpPr>
          <p:cNvPr id="22" name="Text 20"/>
          <p:cNvSpPr/>
          <p:nvPr/>
        </p:nvSpPr>
        <p:spPr>
          <a:xfrm>
            <a:off x="777240" y="4123944"/>
            <a:ext cx="5943600" cy="457200"/>
          </a:xfrm>
          <a:prstGeom prst="rect">
            <a:avLst/>
          </a:prstGeom>
          <a:noFill/>
          <a:ln/>
        </p:spPr>
        <p:txBody>
          <a:bodyPr wrap="square" lIns="0" tIns="0" rIns="0" bIns="0" rtlCol="0" anchor="ctr"/>
          <a:lstStyle/>
          <a:p>
            <a:pPr indent="0" marL="0">
              <a:lnSpc>
                <a:spcPct val="120000"/>
              </a:lnSpc>
              <a:buNone/>
            </a:pPr>
            <a:r>
              <a:rPr lang="en-US" sz="900" dirty="0">
                <a:solidFill>
                  <a:srgbClr val="1A1A2E"/>
                </a:solidFill>
                <a:latin typeface="Calibri" pitchFamily="34" charset="0"/>
                <a:ea typeface="Calibri" pitchFamily="34" charset="-122"/>
                <a:cs typeface="Calibri" pitchFamily="34" charset="-120"/>
              </a:rPr>
              <a:t>Kaplan's 'soft fascination' is involuntary attention capture by natural stimuli. It works BECAUSE it doesn't require deliberate effort. Adding explicit processing would undermine the restoration mechanism.</a:t>
            </a:r>
            <a:endParaRPr lang="en-US" sz="900" dirty="0"/>
          </a:p>
        </p:txBody>
      </p:sp>
      <p:sp>
        <p:nvSpPr>
          <p:cNvPr id="23" name="Text 21"/>
          <p:cNvSpPr/>
          <p:nvPr/>
        </p:nvSpPr>
        <p:spPr>
          <a:xfrm>
            <a:off x="6858000" y="3904488"/>
            <a:ext cx="1920240" cy="685800"/>
          </a:xfrm>
          <a:prstGeom prst="rect">
            <a:avLst/>
          </a:prstGeom>
          <a:noFill/>
          <a:ln/>
        </p:spPr>
        <p:txBody>
          <a:bodyPr wrap="square" lIns="0" tIns="0" rIns="0" bIns="0" rtlCol="0" anchor="ctr"/>
          <a:lstStyle/>
          <a:p>
            <a:pPr algn="r" indent="0" marL="0">
              <a:buNone/>
            </a:pPr>
            <a:r>
              <a:rPr lang="en-US" sz="950" b="1" dirty="0">
                <a:solidFill>
                  <a:srgbClr val="5B2C6F"/>
                </a:solidFill>
                <a:latin typeface="Calibri" pitchFamily="34" charset="0"/>
                <a:ea typeface="Calibri" pitchFamily="34" charset="-122"/>
                <a:cs typeface="Calibri" pitchFamily="34" charset="-120"/>
              </a:rPr>
              <a:t>Restoration requires effortless engagement</a:t>
            </a:r>
            <a:endParaRPr lang="en-US" sz="950" dirty="0"/>
          </a:p>
        </p:txBody>
      </p:sp>
      <p:sp>
        <p:nvSpPr>
          <p:cNvPr id="24" name="Shape 22"/>
          <p:cNvSpPr/>
          <p:nvPr/>
        </p:nvSpPr>
        <p:spPr>
          <a:xfrm>
            <a:off x="548640" y="4663440"/>
            <a:ext cx="8412480" cy="411480"/>
          </a:xfrm>
          <a:prstGeom prst="rect">
            <a:avLst>
              <a:gd name="adj" fmla="val 11111"/>
            </a:avLst>
          </a:prstGeom>
          <a:solidFill>
            <a:srgbClr val="E8F5E9"/>
          </a:solidFill>
          <a:ln w="6350">
            <a:solidFill>
              <a:srgbClr val="E2E8F0"/>
            </a:solidFill>
            <a:prstDash val="solid"/>
          </a:ln>
        </p:spPr>
      </p:sp>
      <p:sp>
        <p:nvSpPr>
          <p:cNvPr id="25" name="Shape 23"/>
          <p:cNvSpPr/>
          <p:nvPr/>
        </p:nvSpPr>
        <p:spPr>
          <a:xfrm>
            <a:off x="548640" y="4709160"/>
            <a:ext cx="45720" cy="320040"/>
          </a:xfrm>
          <a:prstGeom prst="rect">
            <a:avLst/>
          </a:prstGeom>
          <a:solidFill>
            <a:srgbClr val="2E7D32"/>
          </a:solidFill>
          <a:ln w="12700">
            <a:solidFill>
              <a:srgbClr val="333333"/>
            </a:solidFill>
            <a:prstDash val="solid"/>
          </a:ln>
        </p:spPr>
      </p:sp>
      <p:sp>
        <p:nvSpPr>
          <p:cNvPr id="26" name="Text 24"/>
          <p:cNvSpPr/>
          <p:nvPr/>
        </p:nvSpPr>
        <p:spPr>
          <a:xfrm>
            <a:off x="777240" y="4690872"/>
            <a:ext cx="7955280" cy="320040"/>
          </a:xfrm>
          <a:prstGeom prst="rect">
            <a:avLst/>
          </a:prstGeom>
          <a:noFill/>
          <a:ln/>
        </p:spPr>
        <p:txBody>
          <a:bodyPr wrap="square" lIns="0" tIns="0" rIns="0" bIns="0" rtlCol="0" anchor="ctr"/>
          <a:lstStyle/>
          <a:p>
            <a:pPr indent="0" marL="0">
              <a:lnSpc>
                <a:spcPct val="130000"/>
              </a:lnSpc>
              <a:buNone/>
            </a:pPr>
            <a:r>
              <a:rPr lang="en-US" sz="1050" b="1" dirty="0">
                <a:solidFill>
                  <a:srgbClr val="2E7D32"/>
                </a:solidFill>
                <a:latin typeface="Calibri" pitchFamily="34" charset="0"/>
                <a:ea typeface="Calibri" pitchFamily="34" charset="-122"/>
                <a:cs typeface="Calibri" pitchFamily="34" charset="-120"/>
              </a:rPr>
              <a:t xml:space="preserve">The Goldilocks Principle: </a:t>
            </a:r>
            <a:pPr indent="0" marL="0">
              <a:lnSpc>
                <a:spcPct val="130000"/>
              </a:lnSpc>
              <a:buNone/>
            </a:pPr>
            <a:r>
              <a:rPr lang="en-US" sz="1050" dirty="0">
                <a:solidFill>
                  <a:srgbClr val="1A1A2E"/>
                </a:solidFill>
                <a:latin typeface="Calibri" pitchFamily="34" charset="0"/>
                <a:ea typeface="Calibri" pitchFamily="34" charset="-122"/>
                <a:cs typeface="Calibri" pitchFamily="34" charset="-120"/>
              </a:rPr>
              <a:t xml:space="preserve">Because it is </a:t>
            </a:r>
            <a:pPr indent="0" marL="0">
              <a:lnSpc>
                <a:spcPct val="130000"/>
              </a:lnSpc>
              <a:buNone/>
            </a:pPr>
            <a:r>
              <a:rPr lang="en-US" sz="1050" i="1" dirty="0">
                <a:solidFill>
                  <a:srgbClr val="1A1A2E"/>
                </a:solidFill>
                <a:latin typeface="Calibri" pitchFamily="34" charset="0"/>
                <a:ea typeface="Calibri" pitchFamily="34" charset="-122"/>
                <a:cs typeface="Calibri" pitchFamily="34" charset="-120"/>
              </a:rPr>
              <a:t xml:space="preserve">normative </a:t>
            </a:r>
            <a:pPr indent="0" marL="0">
              <a:lnSpc>
                <a:spcPct val="130000"/>
              </a:lnSpc>
              <a:buNone/>
            </a:pPr>
            <a:r>
              <a:rPr lang="en-US" sz="1050" dirty="0">
                <a:solidFill>
                  <a:srgbClr val="1A1A2E"/>
                </a:solidFill>
                <a:latin typeface="Calibri" pitchFamily="34" charset="0"/>
                <a:ea typeface="Calibri" pitchFamily="34" charset="-122"/>
                <a:cs typeface="Calibri" pitchFamily="34" charset="-120"/>
              </a:rPr>
              <a:t xml:space="preserve">(prescribing an optimum) rather than purely mechanistic, it can integrate both channels. The optimum includes what the person </a:t>
            </a:r>
            <a:pPr indent="0" marL="0">
              <a:lnSpc>
                <a:spcPct val="130000"/>
              </a:lnSpc>
              <a:buNone/>
            </a:pPr>
            <a:r>
              <a:rPr lang="en-US" sz="1050" i="1" dirty="0">
                <a:solidFill>
                  <a:srgbClr val="1A1A2E"/>
                </a:solidFill>
                <a:latin typeface="Calibri" pitchFamily="34" charset="0"/>
                <a:ea typeface="Calibri" pitchFamily="34" charset="-122"/>
                <a:cs typeface="Calibri" pitchFamily="34" charset="-120"/>
              </a:rPr>
              <a:t xml:space="preserve">thinks </a:t>
            </a:r>
            <a:pPr indent="0" marL="0">
              <a:lnSpc>
                <a:spcPct val="130000"/>
              </a:lnSpc>
              <a:buNone/>
            </a:pPr>
            <a:r>
              <a:rPr lang="en-US" sz="1050" dirty="0">
                <a:solidFill>
                  <a:srgbClr val="1A1A2E"/>
                </a:solidFill>
                <a:latin typeface="Calibri" pitchFamily="34" charset="0"/>
                <a:ea typeface="Calibri" pitchFamily="34" charset="-122"/>
                <a:cs typeface="Calibri" pitchFamily="34" charset="-120"/>
              </a:rPr>
              <a:t>about the environment, not just what their PE system computes.</a:t>
            </a:r>
            <a:endParaRPr lang="en-US" sz="105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182880"/>
          </a:xfrm>
          <a:prstGeom prst="rect">
            <a:avLst/>
          </a:prstGeom>
          <a:noFill/>
          <a:ln/>
        </p:spPr>
        <p:txBody>
          <a:bodyPr wrap="square" lIns="0" tIns="0" rIns="0" bIns="0" rtlCol="0" anchor="ctr"/>
          <a:lstStyle/>
          <a:p>
            <a:pPr indent="0" marL="0">
              <a:buNone/>
            </a:pPr>
            <a:r>
              <a:rPr lang="en-US" sz="900" b="1" spc="300" kern="0" dirty="0">
                <a:solidFill>
                  <a:srgbClr val="1B4F72"/>
                </a:solidFill>
                <a:latin typeface="Calibri" pitchFamily="34" charset="0"/>
                <a:ea typeface="Calibri" pitchFamily="34" charset="-122"/>
                <a:cs typeface="Calibri" pitchFamily="34" charset="-120"/>
              </a:rPr>
              <a:t>PHILOSOPHY OF MIND</a:t>
            </a:r>
            <a:endParaRPr lang="en-US" sz="900" dirty="0"/>
          </a:p>
        </p:txBody>
      </p:sp>
      <p:sp>
        <p:nvSpPr>
          <p:cNvPr id="3" name="Text 1"/>
          <p:cNvSpPr/>
          <p:nvPr/>
        </p:nvSpPr>
        <p:spPr>
          <a:xfrm>
            <a:off x="548640" y="438912"/>
            <a:ext cx="8046720" cy="777240"/>
          </a:xfrm>
          <a:prstGeom prst="rect">
            <a:avLst/>
          </a:prstGeom>
          <a:noFill/>
          <a:ln/>
        </p:spPr>
        <p:txBody>
          <a:bodyPr wrap="square" lIns="0" tIns="0" rIns="0" bIns="0" rtlCol="0" anchor="ctr"/>
          <a:lstStyle/>
          <a:p>
            <a:pPr indent="0" marL="0">
              <a:lnSpc>
                <a:spcPct val="105000"/>
              </a:lnSpc>
              <a:buNone/>
            </a:pPr>
            <a:r>
              <a:rPr lang="en-US" sz="2400" b="1" dirty="0">
                <a:solidFill>
                  <a:srgbClr val="1A1A2E"/>
                </a:solidFill>
                <a:latin typeface="Georgia" pitchFamily="34" charset="0"/>
                <a:ea typeface="Georgia" pitchFamily="34" charset="-122"/>
                <a:cs typeface="Georgia" pitchFamily="34" charset="-120"/>
              </a:rPr>
              <a:t>Goldilocks as Cognitive Niche</a:t>
            </a:r>
            <a:endParaRPr lang="en-US" sz="2400" dirty="0"/>
          </a:p>
          <a:p>
            <a:pPr indent="0" marL="0">
              <a:lnSpc>
                <a:spcPct val="105000"/>
              </a:lnSpc>
              <a:buNone/>
            </a:pPr>
            <a:r>
              <a:rPr lang="en-US" sz="2400" b="1" dirty="0">
                <a:solidFill>
                  <a:srgbClr val="1A1A2E"/>
                </a:solidFill>
                <a:latin typeface="Georgia" pitchFamily="34" charset="0"/>
                <a:ea typeface="Georgia" pitchFamily="34" charset="-122"/>
                <a:cs typeface="Georgia" pitchFamily="34" charset="-120"/>
              </a:rPr>
              <a:t>Engineering: The Extended Mind Argument</a:t>
            </a:r>
            <a:endParaRPr lang="en-US" sz="2400" dirty="0"/>
          </a:p>
        </p:txBody>
      </p:sp>
      <p:sp>
        <p:nvSpPr>
          <p:cNvPr id="4" name="Text 2"/>
          <p:cNvSpPr/>
          <p:nvPr/>
        </p:nvSpPr>
        <p:spPr>
          <a:xfrm>
            <a:off x="548640" y="1143000"/>
            <a:ext cx="8046720" cy="27432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If cognitive processes extend into the environment (Clark &amp; Chalmers, 1998), design IS cognitive engineering</a:t>
            </a:r>
            <a:endParaRPr lang="en-US" sz="1300" dirty="0"/>
          </a:p>
        </p:txBody>
      </p:sp>
      <p:sp>
        <p:nvSpPr>
          <p:cNvPr id="5" name="Shape 3"/>
          <p:cNvSpPr/>
          <p:nvPr/>
        </p:nvSpPr>
        <p:spPr>
          <a:xfrm>
            <a:off x="548640" y="1417320"/>
            <a:ext cx="8412480" cy="914400"/>
          </a:xfrm>
          <a:prstGeom prst="rect">
            <a:avLst>
              <a:gd name="adj" fmla="val 5000"/>
            </a:avLst>
          </a:prstGeom>
          <a:solidFill>
            <a:srgbClr val="F8F9FA"/>
          </a:solidFill>
          <a:ln w="6350">
            <a:solidFill>
              <a:srgbClr val="E2E8F0"/>
            </a:solidFill>
            <a:prstDash val="solid"/>
          </a:ln>
        </p:spPr>
      </p:sp>
      <p:sp>
        <p:nvSpPr>
          <p:cNvPr id="6" name="Shape 4"/>
          <p:cNvSpPr/>
          <p:nvPr/>
        </p:nvSpPr>
        <p:spPr>
          <a:xfrm>
            <a:off x="548640" y="1463040"/>
            <a:ext cx="45720" cy="822960"/>
          </a:xfrm>
          <a:prstGeom prst="rect">
            <a:avLst/>
          </a:prstGeom>
          <a:solidFill>
            <a:srgbClr val="1B4F72"/>
          </a:solidFill>
          <a:ln w="12700">
            <a:solidFill>
              <a:srgbClr val="333333"/>
            </a:solidFill>
            <a:prstDash val="solid"/>
          </a:ln>
        </p:spPr>
      </p:sp>
      <p:sp>
        <p:nvSpPr>
          <p:cNvPr id="7" name="Shape 5"/>
          <p:cNvSpPr/>
          <p:nvPr/>
        </p:nvSpPr>
        <p:spPr>
          <a:xfrm>
            <a:off x="731520" y="1508760"/>
            <a:ext cx="320040" cy="320040"/>
          </a:xfrm>
          <a:prstGeom prst="ellipse">
            <a:avLst/>
          </a:prstGeom>
          <a:solidFill>
            <a:srgbClr val="1B4F72"/>
          </a:solidFill>
          <a:ln w="12700">
            <a:solidFill>
              <a:srgbClr val="333333"/>
            </a:solidFill>
            <a:prstDash val="solid"/>
          </a:ln>
        </p:spPr>
      </p:sp>
      <p:sp>
        <p:nvSpPr>
          <p:cNvPr id="8" name="Text 6"/>
          <p:cNvSpPr/>
          <p:nvPr/>
        </p:nvSpPr>
        <p:spPr>
          <a:xfrm>
            <a:off x="731520" y="1508760"/>
            <a:ext cx="320040" cy="32004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1188720" y="1490472"/>
            <a:ext cx="7589520" cy="228600"/>
          </a:xfrm>
          <a:prstGeom prst="rect">
            <a:avLst/>
          </a:prstGeom>
          <a:noFill/>
          <a:ln/>
        </p:spPr>
        <p:txBody>
          <a:bodyPr wrap="square" lIns="0" tIns="0" rIns="0" bIns="0" rtlCol="0" anchor="ctr"/>
          <a:lstStyle/>
          <a:p>
            <a:pPr indent="0" marL="0">
              <a:buNone/>
            </a:pPr>
            <a:r>
              <a:rPr lang="en-US" sz="1300" b="1" dirty="0">
                <a:solidFill>
                  <a:srgbClr val="1B4F72"/>
                </a:solidFill>
                <a:latin typeface="Georgia" pitchFamily="34" charset="0"/>
                <a:ea typeface="Georgia" pitchFamily="34" charset="-122"/>
                <a:cs typeface="Georgia" pitchFamily="34" charset="-120"/>
              </a:rPr>
              <a:t>The Extended Mind Thesis</a:t>
            </a:r>
            <a:endParaRPr lang="en-US" sz="1300" dirty="0"/>
          </a:p>
        </p:txBody>
      </p:sp>
      <p:sp>
        <p:nvSpPr>
          <p:cNvPr id="10" name="Text 8"/>
          <p:cNvSpPr/>
          <p:nvPr/>
        </p:nvSpPr>
        <p:spPr>
          <a:xfrm>
            <a:off x="1188720" y="1764792"/>
            <a:ext cx="7589520" cy="502920"/>
          </a:xfrm>
          <a:prstGeom prst="rect">
            <a:avLst/>
          </a:prstGeom>
          <a:noFill/>
          <a:ln/>
        </p:spPr>
        <p:txBody>
          <a:bodyPr wrap="square" lIns="0" tIns="0" rIns="0" bIns="0" rtlCol="0" anchor="ctr"/>
          <a:lstStyle/>
          <a:p>
            <a:pPr indent="0" marL="0">
              <a:lnSpc>
                <a:spcPct val="125000"/>
              </a:lnSpc>
              <a:buNone/>
            </a:pPr>
            <a:r>
              <a:rPr lang="en-US" sz="1000" dirty="0">
                <a:solidFill>
                  <a:srgbClr val="1A1A2E"/>
                </a:solidFill>
                <a:latin typeface="Calibri" pitchFamily="34" charset="0"/>
                <a:ea typeface="Calibri" pitchFamily="34" charset="-122"/>
                <a:cs typeface="Calibri" pitchFamily="34" charset="-120"/>
              </a:rPr>
              <a:t>Cognitive processes are not brain-bound. The notebook, the sketch, the arranged workspace — these are components of the extended cognitive system. The environment is not stimulus to the organism; it is part of the computational architecture.</a:t>
            </a:r>
            <a:endParaRPr lang="en-US" sz="1000" dirty="0"/>
          </a:p>
        </p:txBody>
      </p:sp>
      <p:sp>
        <p:nvSpPr>
          <p:cNvPr id="11" name="Shape 9"/>
          <p:cNvSpPr/>
          <p:nvPr/>
        </p:nvSpPr>
        <p:spPr>
          <a:xfrm>
            <a:off x="548640" y="2423160"/>
            <a:ext cx="8412480" cy="914400"/>
          </a:xfrm>
          <a:prstGeom prst="rect">
            <a:avLst>
              <a:gd name="adj" fmla="val 5000"/>
            </a:avLst>
          </a:prstGeom>
          <a:solidFill>
            <a:srgbClr val="F8F9FA"/>
          </a:solidFill>
          <a:ln w="6350">
            <a:solidFill>
              <a:srgbClr val="E2E8F0"/>
            </a:solidFill>
            <a:prstDash val="solid"/>
          </a:ln>
        </p:spPr>
      </p:sp>
      <p:sp>
        <p:nvSpPr>
          <p:cNvPr id="12" name="Shape 10"/>
          <p:cNvSpPr/>
          <p:nvPr/>
        </p:nvSpPr>
        <p:spPr>
          <a:xfrm>
            <a:off x="548640" y="2468880"/>
            <a:ext cx="45720" cy="822960"/>
          </a:xfrm>
          <a:prstGeom prst="rect">
            <a:avLst/>
          </a:prstGeom>
          <a:solidFill>
            <a:srgbClr val="5B2C6F"/>
          </a:solidFill>
          <a:ln w="12700">
            <a:solidFill>
              <a:srgbClr val="333333"/>
            </a:solidFill>
            <a:prstDash val="solid"/>
          </a:ln>
        </p:spPr>
      </p:sp>
      <p:sp>
        <p:nvSpPr>
          <p:cNvPr id="13" name="Shape 11"/>
          <p:cNvSpPr/>
          <p:nvPr/>
        </p:nvSpPr>
        <p:spPr>
          <a:xfrm>
            <a:off x="731520" y="2514600"/>
            <a:ext cx="320040" cy="320040"/>
          </a:xfrm>
          <a:prstGeom prst="ellipse">
            <a:avLst/>
          </a:prstGeom>
          <a:solidFill>
            <a:srgbClr val="5B2C6F"/>
          </a:solidFill>
          <a:ln w="12700">
            <a:solidFill>
              <a:srgbClr val="333333"/>
            </a:solidFill>
            <a:prstDash val="solid"/>
          </a:ln>
        </p:spPr>
      </p:sp>
      <p:sp>
        <p:nvSpPr>
          <p:cNvPr id="14" name="Text 12"/>
          <p:cNvSpPr/>
          <p:nvPr/>
        </p:nvSpPr>
        <p:spPr>
          <a:xfrm>
            <a:off x="731520" y="2514600"/>
            <a:ext cx="320040" cy="32004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5" name="Text 13"/>
          <p:cNvSpPr/>
          <p:nvPr/>
        </p:nvSpPr>
        <p:spPr>
          <a:xfrm>
            <a:off x="1188720" y="2496312"/>
            <a:ext cx="7589520" cy="228600"/>
          </a:xfrm>
          <a:prstGeom prst="rect">
            <a:avLst/>
          </a:prstGeom>
          <a:noFill/>
          <a:ln/>
        </p:spPr>
        <p:txBody>
          <a:bodyPr wrap="square" lIns="0" tIns="0" rIns="0" bIns="0" rtlCol="0" anchor="ctr"/>
          <a:lstStyle/>
          <a:p>
            <a:pPr indent="0" marL="0">
              <a:buNone/>
            </a:pPr>
            <a:r>
              <a:rPr lang="en-US" sz="1300" b="1" dirty="0">
                <a:solidFill>
                  <a:srgbClr val="5B2C6F"/>
                </a:solidFill>
                <a:latin typeface="Georgia" pitchFamily="34" charset="0"/>
                <a:ea typeface="Georgia" pitchFamily="34" charset="-122"/>
                <a:cs typeface="Georgia" pitchFamily="34" charset="-120"/>
              </a:rPr>
              <a:t>The Goldilocks Claim</a:t>
            </a:r>
            <a:endParaRPr lang="en-US" sz="1300" dirty="0"/>
          </a:p>
        </p:txBody>
      </p:sp>
      <p:sp>
        <p:nvSpPr>
          <p:cNvPr id="16" name="Text 14"/>
          <p:cNvSpPr/>
          <p:nvPr/>
        </p:nvSpPr>
        <p:spPr>
          <a:xfrm>
            <a:off x="1188720" y="2770632"/>
            <a:ext cx="7589520" cy="502920"/>
          </a:xfrm>
          <a:prstGeom prst="rect">
            <a:avLst/>
          </a:prstGeom>
          <a:noFill/>
          <a:ln/>
        </p:spPr>
        <p:txBody>
          <a:bodyPr wrap="square" lIns="0" tIns="0" rIns="0" bIns="0" rtlCol="0" anchor="ctr"/>
          <a:lstStyle/>
          <a:p>
            <a:pPr indent="0" marL="0">
              <a:lnSpc>
                <a:spcPct val="125000"/>
              </a:lnSpc>
              <a:buNone/>
            </a:pPr>
            <a:r>
              <a:rPr lang="en-US" sz="1000" dirty="0">
                <a:solidFill>
                  <a:srgbClr val="1A1A2E"/>
                </a:solidFill>
                <a:latin typeface="Calibri" pitchFamily="34" charset="0"/>
                <a:ea typeface="Calibri" pitchFamily="34" charset="-122"/>
                <a:cs typeface="Calibri" pitchFamily="34" charset="-120"/>
              </a:rPr>
              <a:t>The extended cognitive system has optimal operating parameters per channel of environment-brain coupling. There exists an optimum for visual PE, acoustic PE, thermal homeostatic deviation, olfactory congruence — and these optima are parameterized first by the activity the agent is engaged in, then by culture, individual difference, and circadian phase.</a:t>
            </a:r>
            <a:endParaRPr lang="en-US" sz="1000" dirty="0"/>
          </a:p>
        </p:txBody>
      </p:sp>
      <p:sp>
        <p:nvSpPr>
          <p:cNvPr id="17" name="Shape 15"/>
          <p:cNvSpPr/>
          <p:nvPr/>
        </p:nvSpPr>
        <p:spPr>
          <a:xfrm>
            <a:off x="548640" y="3429000"/>
            <a:ext cx="8412480" cy="914400"/>
          </a:xfrm>
          <a:prstGeom prst="rect">
            <a:avLst>
              <a:gd name="adj" fmla="val 5000"/>
            </a:avLst>
          </a:prstGeom>
          <a:solidFill>
            <a:srgbClr val="F8F9FA"/>
          </a:solidFill>
          <a:ln w="6350">
            <a:solidFill>
              <a:srgbClr val="E2E8F0"/>
            </a:solidFill>
            <a:prstDash val="solid"/>
          </a:ln>
        </p:spPr>
      </p:sp>
      <p:sp>
        <p:nvSpPr>
          <p:cNvPr id="18" name="Shape 16"/>
          <p:cNvSpPr/>
          <p:nvPr/>
        </p:nvSpPr>
        <p:spPr>
          <a:xfrm>
            <a:off x="548640" y="3474720"/>
            <a:ext cx="45720" cy="822960"/>
          </a:xfrm>
          <a:prstGeom prst="rect">
            <a:avLst/>
          </a:prstGeom>
          <a:solidFill>
            <a:srgbClr val="2E7D32"/>
          </a:solidFill>
          <a:ln w="12700">
            <a:solidFill>
              <a:srgbClr val="333333"/>
            </a:solidFill>
            <a:prstDash val="solid"/>
          </a:ln>
        </p:spPr>
      </p:sp>
      <p:sp>
        <p:nvSpPr>
          <p:cNvPr id="19" name="Shape 17"/>
          <p:cNvSpPr/>
          <p:nvPr/>
        </p:nvSpPr>
        <p:spPr>
          <a:xfrm>
            <a:off x="731520" y="3520440"/>
            <a:ext cx="320040" cy="320040"/>
          </a:xfrm>
          <a:prstGeom prst="ellipse">
            <a:avLst/>
          </a:prstGeom>
          <a:solidFill>
            <a:srgbClr val="2E7D32"/>
          </a:solidFill>
          <a:ln w="12700">
            <a:solidFill>
              <a:srgbClr val="333333"/>
            </a:solidFill>
            <a:prstDash val="solid"/>
          </a:ln>
        </p:spPr>
      </p:sp>
      <p:sp>
        <p:nvSpPr>
          <p:cNvPr id="20" name="Text 18"/>
          <p:cNvSpPr/>
          <p:nvPr/>
        </p:nvSpPr>
        <p:spPr>
          <a:xfrm>
            <a:off x="731520" y="3520440"/>
            <a:ext cx="320040" cy="32004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1" name="Text 19"/>
          <p:cNvSpPr/>
          <p:nvPr/>
        </p:nvSpPr>
        <p:spPr>
          <a:xfrm>
            <a:off x="1188720" y="3502152"/>
            <a:ext cx="7589520" cy="228600"/>
          </a:xfrm>
          <a:prstGeom prst="rect">
            <a:avLst/>
          </a:prstGeom>
          <a:noFill/>
          <a:ln/>
        </p:spPr>
        <p:txBody>
          <a:bodyPr wrap="square" lIns="0" tIns="0" rIns="0" bIns="0" rtlCol="0" anchor="ctr"/>
          <a:lstStyle/>
          <a:p>
            <a:pPr indent="0" marL="0">
              <a:buNone/>
            </a:pPr>
            <a:r>
              <a:rPr lang="en-US" sz="1300" b="1" dirty="0">
                <a:solidFill>
                  <a:srgbClr val="2E7D32"/>
                </a:solidFill>
                <a:latin typeface="Georgia" pitchFamily="34" charset="0"/>
                <a:ea typeface="Georgia" pitchFamily="34" charset="-122"/>
                <a:cs typeface="Georgia" pitchFamily="34" charset="-120"/>
              </a:rPr>
              <a:t>The Niche Engineering Conclusion</a:t>
            </a:r>
            <a:endParaRPr lang="en-US" sz="1300" dirty="0"/>
          </a:p>
        </p:txBody>
      </p:sp>
      <p:sp>
        <p:nvSpPr>
          <p:cNvPr id="22" name="Text 20"/>
          <p:cNvSpPr/>
          <p:nvPr/>
        </p:nvSpPr>
        <p:spPr>
          <a:xfrm>
            <a:off x="1188720" y="3776472"/>
            <a:ext cx="7589520" cy="502920"/>
          </a:xfrm>
          <a:prstGeom prst="rect">
            <a:avLst/>
          </a:prstGeom>
          <a:noFill/>
          <a:ln/>
        </p:spPr>
        <p:txBody>
          <a:bodyPr wrap="square" lIns="0" tIns="0" rIns="0" bIns="0" rtlCol="0" anchor="ctr"/>
          <a:lstStyle/>
          <a:p>
            <a:pPr indent="0" marL="0">
              <a:lnSpc>
                <a:spcPct val="125000"/>
              </a:lnSpc>
              <a:buNone/>
            </a:pPr>
            <a:r>
              <a:rPr lang="en-US" sz="1000" dirty="0">
                <a:solidFill>
                  <a:srgbClr val="1A1A2E"/>
                </a:solidFill>
                <a:latin typeface="Calibri" pitchFamily="34" charset="0"/>
                <a:ea typeface="Calibri" pitchFamily="34" charset="-122"/>
                <a:cs typeface="Calibri" pitchFamily="34" charset="-120"/>
              </a:rPr>
              <a:t>Architectural design is cognitive niche engineering: adjusting the parameters of the extended cognitive system to optimize its function for the activities occupants pursue (Kirsh, 2026). The optimal Goldilocks profile is not a property of the space alone but of the space-activity coupling. Different activities in the same space require different profiles; the niche must be tuned to the activity.</a:t>
            </a:r>
            <a:endParaRPr lang="en-US" sz="1000" dirty="0"/>
          </a:p>
        </p:txBody>
      </p:sp>
      <p:sp>
        <p:nvSpPr>
          <p:cNvPr id="23" name="Shape 21"/>
          <p:cNvSpPr/>
          <p:nvPr/>
        </p:nvSpPr>
        <p:spPr>
          <a:xfrm>
            <a:off x="548640" y="4480560"/>
            <a:ext cx="8412480" cy="457200"/>
          </a:xfrm>
          <a:prstGeom prst="rect">
            <a:avLst>
              <a:gd name="adj" fmla="val 10000"/>
            </a:avLst>
          </a:prstGeom>
          <a:solidFill>
            <a:srgbClr val="F8F9FA"/>
          </a:solidFill>
          <a:ln w="6350">
            <a:solidFill>
              <a:srgbClr val="E2E8F0"/>
            </a:solidFill>
            <a:prstDash val="solid"/>
          </a:ln>
        </p:spPr>
      </p:sp>
      <p:sp>
        <p:nvSpPr>
          <p:cNvPr id="24" name="Shape 22"/>
          <p:cNvSpPr/>
          <p:nvPr/>
        </p:nvSpPr>
        <p:spPr>
          <a:xfrm>
            <a:off x="548640" y="4526280"/>
            <a:ext cx="45720" cy="365760"/>
          </a:xfrm>
          <a:prstGeom prst="rect">
            <a:avLst/>
          </a:prstGeom>
          <a:solidFill>
            <a:srgbClr val="6B4226"/>
          </a:solidFill>
          <a:ln w="12700">
            <a:solidFill>
              <a:srgbClr val="333333"/>
            </a:solidFill>
            <a:prstDash val="solid"/>
          </a:ln>
        </p:spPr>
      </p:sp>
      <p:sp>
        <p:nvSpPr>
          <p:cNvPr id="25" name="Text 23"/>
          <p:cNvSpPr/>
          <p:nvPr/>
        </p:nvSpPr>
        <p:spPr>
          <a:xfrm>
            <a:off x="777240" y="4526280"/>
            <a:ext cx="7955280" cy="365760"/>
          </a:xfrm>
          <a:prstGeom prst="rect">
            <a:avLst/>
          </a:prstGeom>
          <a:noFill/>
          <a:ln/>
        </p:spPr>
        <p:txBody>
          <a:bodyPr wrap="square" lIns="0" tIns="0" rIns="0" bIns="0" rtlCol="0" anchor="ctr"/>
          <a:lstStyle/>
          <a:p>
            <a:pPr indent="0" marL="0">
              <a:lnSpc>
                <a:spcPct val="125000"/>
              </a:lnSpc>
              <a:buNone/>
            </a:pPr>
            <a:r>
              <a:rPr lang="en-US" sz="1000" b="1" dirty="0">
                <a:solidFill>
                  <a:srgbClr val="6B4226"/>
                </a:solidFill>
                <a:latin typeface="Calibri" pitchFamily="34" charset="0"/>
                <a:ea typeface="Calibri" pitchFamily="34" charset="-122"/>
                <a:cs typeface="Calibri" pitchFamily="34" charset="-120"/>
              </a:rPr>
              <a:t xml:space="preserve">The feedback loop: </a:t>
            </a:r>
            <a:pPr indent="0" marL="0">
              <a:lnSpc>
                <a:spcPct val="125000"/>
              </a:lnSpc>
              <a:buNone/>
            </a:pPr>
            <a:r>
              <a:rPr lang="en-US" sz="1000" dirty="0">
                <a:solidFill>
                  <a:srgbClr val="1A1A2E"/>
                </a:solidFill>
                <a:latin typeface="Calibri" pitchFamily="34" charset="0"/>
                <a:ea typeface="Calibri" pitchFamily="34" charset="-122"/>
                <a:cs typeface="Calibri" pitchFamily="34" charset="-120"/>
              </a:rPr>
              <a:t>Different cultures construct different cognitive niches with different Goldilocks profiles → those profiles shape the sensory and cognitive preferences of the people who develop within them → who then reconstruct the niche. Crucially, people always engage a space through an activity (Kirsh, 2026): the niche is optimized not for a space but for a space-activity system. Varanasi's elevated set-points are a cognitive niche in dynamic equilibrium, tuned to the activities its inhabitants pursue.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Goldilocks Principle in Environmental Design</dc:title>
  <dc:subject>PptxGenJS Presentation</dc:subject>
  <dc:creator>David Kirsh</dc:creator>
  <cp:lastModifiedBy>David Kirsh</cp:lastModifiedBy>
  <cp:revision>1</cp:revision>
  <dcterms:created xsi:type="dcterms:W3CDTF">2026-02-18T23:40:48Z</dcterms:created>
  <dcterms:modified xsi:type="dcterms:W3CDTF">2026-02-18T23:40:48Z</dcterms:modified>
</cp:coreProperties>
</file>