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68" r:id="rId3"/>
    <p:sldId id="292" r:id="rId4"/>
    <p:sldId id="293" r:id="rId5"/>
    <p:sldId id="304" r:id="rId6"/>
    <p:sldId id="294" r:id="rId7"/>
    <p:sldId id="296" r:id="rId8"/>
    <p:sldId id="297" r:id="rId9"/>
    <p:sldId id="298" r:id="rId10"/>
    <p:sldId id="299" r:id="rId11"/>
    <p:sldId id="262" r:id="rId12"/>
    <p:sldId id="300" r:id="rId13"/>
    <p:sldId id="295" r:id="rId14"/>
    <p:sldId id="258" r:id="rId15"/>
    <p:sldId id="269" r:id="rId16"/>
    <p:sldId id="259" r:id="rId17"/>
    <p:sldId id="260" r:id="rId18"/>
    <p:sldId id="261" r:id="rId19"/>
    <p:sldId id="270" r:id="rId20"/>
    <p:sldId id="273" r:id="rId21"/>
    <p:sldId id="266" r:id="rId22"/>
    <p:sldId id="274" r:id="rId23"/>
    <p:sldId id="267" r:id="rId24"/>
    <p:sldId id="280" r:id="rId25"/>
    <p:sldId id="282" r:id="rId26"/>
    <p:sldId id="283" r:id="rId27"/>
    <p:sldId id="278" r:id="rId28"/>
    <p:sldId id="279" r:id="rId29"/>
    <p:sldId id="277" r:id="rId30"/>
    <p:sldId id="276" r:id="rId31"/>
    <p:sldId id="284" r:id="rId32"/>
    <p:sldId id="301" r:id="rId33"/>
    <p:sldId id="302" r:id="rId34"/>
    <p:sldId id="303" r:id="rId35"/>
    <p:sldId id="257" r:id="rId36"/>
    <p:sldId id="272" r:id="rId37"/>
    <p:sldId id="286" r:id="rId38"/>
    <p:sldId id="287" r:id="rId39"/>
    <p:sldId id="288" r:id="rId40"/>
    <p:sldId id="289" r:id="rId41"/>
    <p:sldId id="291" r:id="rId42"/>
    <p:sldId id="290" r:id="rId43"/>
    <p:sldId id="285" r:id="rId44"/>
    <p:sldId id="271" r:id="rId45"/>
    <p:sldId id="263" r:id="rId46"/>
    <p:sldId id="264" r:id="rId47"/>
    <p:sldId id="26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84"/>
    <p:restoredTop sz="94658"/>
  </p:normalViewPr>
  <p:slideViewPr>
    <p:cSldViewPr snapToGrid="0">
      <p:cViewPr varScale="1">
        <p:scale>
          <a:sx n="76" d="100"/>
          <a:sy n="76" d="100"/>
        </p:scale>
        <p:origin x="200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D87CD-FABE-9C42-BD9F-8C98F2E52EE3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D4A7D0-C880-554C-9E5F-72DACB19A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4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D4A7D0-C880-554C-9E5F-72DACB19AC3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64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5D39C-0004-BE74-C514-9FD871463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4DA8-C763-E205-5D66-51EF8FCE6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08CA0-7692-4004-4823-0F1D80BC1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B1D9-6F8B-A00D-FA1D-48562670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FD581-7C4D-FF4D-333F-7F34CDBC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8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7E229-C0D7-D732-1149-82775F21C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0B5A0-2C30-3725-B3F4-B7035D2E4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67D05-CA25-85F3-B576-ECF35F5C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36A46-750E-59A2-CEC0-B05212497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E9D2A-7C32-28DA-661C-0505B5E9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25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F12F-FF1A-24F2-8ABE-E7F3E9A8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3777A-C04E-2FB4-1264-03A8ADAB6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AF45D-5640-8115-2A10-66976894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4BEA7-683F-B83A-3E6C-5AD4AA456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B6F18-2E1F-6971-CA85-BD69F9B0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4086-9F49-188E-1847-29B9B659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286B0-C0EA-FCF7-396A-42199D7446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E1756-F202-47F5-5476-45A7FA1D3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2F1FD-3F5B-0FDE-2A80-0E9D8503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10B23-C69F-4861-C7C2-A9B223B5E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D5FAF-C1D7-457D-48DD-232DCB39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3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8CC0-EDD5-FFBE-AF50-252581C87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BD2BB-91D3-9D4F-E770-A3E3C31B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447E9-22BB-737D-83D5-36725E750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6F9BF-4516-6BE2-A8CD-5158C4E5B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776C3-68D7-7BEB-E885-FC3884F93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A20026-AC34-1BAD-E0B8-7E9F053E3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4558D-31BB-8FC1-EA1E-FE82B998E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3AF4CA-BF87-3E99-F5D2-E4C3EE1A9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21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7237-D286-E2FF-808E-19C6A7BAC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E9125-E723-294F-6FB3-9C77BF4FF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76B591-7F6C-6E89-6B24-D894146A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CA02D-2786-3A49-0F49-A5A48DF9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4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6FD3A-B9B2-86FE-F114-50390186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2EFF9E-0ED1-71CC-C340-C6BDF2E6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4974F-B687-E833-B09D-39D8CB0C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20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AFE2-B266-BF57-8F0F-6D3D65925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03BB9-B2A4-E460-1D9A-E19130482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DEFDA-91C5-7FEA-4051-A6346AEE1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301A1-F86D-2F5D-19EB-D0527B10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E0C93-2B78-11B9-C4B9-F4B43E83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4E1B0-01A9-BF86-F3C3-2B618243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BC33-AC5A-6981-CD7E-B5A3B15B1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EF32D-2778-E58A-220E-4E25E87FD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812A9-6074-C3CA-4E19-686B96389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3A6EF-D729-9EA1-9CB5-6406367B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1E105-D501-F68C-5720-325B9FCA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30077-C1A2-34B0-741E-912EF750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8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B791-14E0-AEE9-E3C8-1C64279D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BBA5-17BE-52EF-CEFD-7AC3DE11B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C6D2D-9E08-7330-5E2E-A37366416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4FF6C-04D4-B3BC-D407-801B79483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0B00D-81C3-BD0B-5C19-6DAC7958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81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351BDD-13D9-CACF-7434-435CFF92C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5489E6-5BED-CEA1-F784-A6CDC9E40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14128-11E4-ABCB-2FB3-B4E489CB6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2047E-3EB8-5EA1-9E76-382AF08A7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83E09-9941-13D5-0674-186A48EB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0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DBDCEF-1CBC-FA7B-93C4-1EA18E56C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EA17B-09B3-529B-3AA8-4AE0BF6FB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AE963-3E19-74B1-F5C7-C46C9A420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89D2D-7ADD-2B46-A5FD-2B1905918447}" type="datetimeFigureOut">
              <a:rPr lang="en-US" smtClean="0"/>
              <a:t>2/19/26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78893-73E5-3D82-E42A-2CC8DEB90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147D-B2F7-D2C5-349F-BC6DCE811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2AE20-7E2E-D645-9158-FCE0889CA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8D20-DAA1-68D4-387B-661706AF0F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based Image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D214C-F2B1-7096-33EF-7C5E149FEA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487" y="4330701"/>
            <a:ext cx="9144000" cy="1655762"/>
          </a:xfrm>
        </p:spPr>
        <p:txBody>
          <a:bodyPr/>
          <a:lstStyle/>
          <a:p>
            <a:pPr algn="r"/>
            <a:r>
              <a:rPr lang="en-US" dirty="0"/>
              <a:t>David Kirsh</a:t>
            </a:r>
          </a:p>
          <a:p>
            <a:pPr algn="r"/>
            <a:r>
              <a:rPr lang="en-US" dirty="0"/>
              <a:t>Cognitive Science</a:t>
            </a:r>
          </a:p>
          <a:p>
            <a:pPr algn="r"/>
            <a:r>
              <a:rPr lang="en-US" dirty="0"/>
              <a:t>UCSD</a:t>
            </a:r>
          </a:p>
        </p:txBody>
      </p:sp>
    </p:spTree>
    <p:extLst>
      <p:ext uri="{BB962C8B-B14F-4D97-AF65-F5344CB8AC3E}">
        <p14:creationId xmlns:p14="http://schemas.microsoft.com/office/powerpoint/2010/main" val="16405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277F-FDD3-2212-F5FC-2FF1DC24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CE808-FBB6-4B2F-F861-93768DFA3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is changing how we research</a:t>
            </a:r>
          </a:p>
          <a:p>
            <a:r>
              <a:rPr lang="en-US" dirty="0"/>
              <a:t>What it does</a:t>
            </a:r>
          </a:p>
          <a:p>
            <a:r>
              <a:rPr lang="en-US" dirty="0"/>
              <a:t>Physical Tagging</a:t>
            </a:r>
          </a:p>
          <a:p>
            <a:r>
              <a:rPr lang="en-US" dirty="0"/>
              <a:t>Psych, Neuro, Social Tagging</a:t>
            </a:r>
          </a:p>
          <a:p>
            <a:r>
              <a:rPr lang="en-US" dirty="0"/>
              <a:t>Functionality </a:t>
            </a:r>
          </a:p>
          <a:p>
            <a:r>
              <a:rPr lang="en-US" dirty="0"/>
              <a:t>Multi-modal interactions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39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B2CFC-EB60-ACE4-5883-34D767649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is changing how we can do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AA9C9-4A23-CBF1-878A-F11664A6F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last 3.5 weeks, with the help of AI, I was able to design and mostly build an AI platform that can: </a:t>
            </a:r>
          </a:p>
          <a:p>
            <a:pPr lvl="1"/>
            <a:r>
              <a:rPr lang="en-US" dirty="0"/>
              <a:t>Automatically process thousands of images quickly, </a:t>
            </a:r>
          </a:p>
          <a:p>
            <a:pPr lvl="1"/>
            <a:r>
              <a:rPr lang="en-US" dirty="0"/>
              <a:t>Tag them with 1000’s of architecturally meaningful tags </a:t>
            </a:r>
          </a:p>
          <a:p>
            <a:pPr lvl="1"/>
            <a:r>
              <a:rPr lang="en-US" dirty="0"/>
              <a:t>Infer which are good or bad for a range of cognitive, emotional, neural states and for social interaction </a:t>
            </a:r>
          </a:p>
          <a:p>
            <a:pPr lvl="1"/>
            <a:r>
              <a:rPr lang="en-US" dirty="0"/>
              <a:t>Compare design alternatives we upload </a:t>
            </a:r>
            <a:r>
              <a:rPr lang="en-US" dirty="0" err="1"/>
              <a:t>wrt</a:t>
            </a:r>
            <a:r>
              <a:rPr lang="en-US" dirty="0"/>
              <a:t> specific objectives – good for iterative design</a:t>
            </a:r>
          </a:p>
          <a:p>
            <a:pPr lvl="1"/>
            <a:r>
              <a:rPr lang="en-US" dirty="0"/>
              <a:t>See how different spaces are likely to affect stress, attention, or creativity to name a few states we care about – learn how diverse ‘creative’ spaces might be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37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0DF33-FFA9-91DC-029F-1F4AFA19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 wanted this initially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54596-8432-9C4D-8674-2AE2550A1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Experiments works with specific – usually simplified – stimuli </a:t>
            </a:r>
          </a:p>
          <a:p>
            <a:pPr lvl="1"/>
            <a:r>
              <a:rPr lang="en-US" dirty="0"/>
              <a:t>Is X more restorative than Y  </a:t>
            </a:r>
          </a:p>
          <a:p>
            <a:pPr lvl="2"/>
            <a:r>
              <a:rPr lang="en-US" dirty="0"/>
              <a:t>Where X is a biophilic env – </a:t>
            </a:r>
            <a:r>
              <a:rPr lang="en-US" dirty="0" err="1"/>
              <a:t>ie</a:t>
            </a:r>
            <a:r>
              <a:rPr lang="en-US" dirty="0"/>
              <a:t> with plants (but rarely does it use a metric to measure ‘how biophilic’ and Env is</a:t>
            </a:r>
          </a:p>
          <a:p>
            <a:r>
              <a:rPr lang="en-US" dirty="0"/>
              <a:t>But I want to see 100’s or 1000’s of such environments (</a:t>
            </a:r>
            <a:r>
              <a:rPr lang="en-US" dirty="0" err="1"/>
              <a:t>eg</a:t>
            </a:r>
            <a:r>
              <a:rPr lang="en-US" dirty="0"/>
              <a:t> biophilic </a:t>
            </a:r>
            <a:r>
              <a:rPr lang="en-US" dirty="0" err="1"/>
              <a:t>envs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 want to understand the design space of biophilic additions</a:t>
            </a:r>
          </a:p>
          <a:p>
            <a:r>
              <a:rPr lang="en-US" dirty="0"/>
              <a:t>I want to develop intuitions maybe that architects already have</a:t>
            </a:r>
          </a:p>
          <a:p>
            <a:r>
              <a:rPr lang="en-US" dirty="0"/>
              <a:t>I want intuitions when things might interact or have to be within bounds</a:t>
            </a:r>
          </a:p>
          <a:p>
            <a:r>
              <a:rPr lang="en-US" dirty="0" err="1"/>
              <a:t>Eg.</a:t>
            </a:r>
            <a:r>
              <a:rPr lang="en-US" dirty="0"/>
              <a:t> Do people tend to prefer curvy spaces only for certain sorts of social interaction? Or do they like them more in general, almost all of the time?</a:t>
            </a:r>
          </a:p>
          <a:p>
            <a:r>
              <a:rPr lang="en-US" dirty="0"/>
              <a:t>OK. But what are the constraints on the radius of curvature</a:t>
            </a:r>
          </a:p>
          <a:p>
            <a:pPr lvl="1"/>
            <a:r>
              <a:rPr lang="en-US" dirty="0"/>
              <a:t>Do they like round rooms</a:t>
            </a:r>
          </a:p>
          <a:p>
            <a:pPr lvl="1"/>
            <a:r>
              <a:rPr lang="en-US" dirty="0"/>
              <a:t>Or rooms that snake around or curvy corridors? </a:t>
            </a:r>
          </a:p>
          <a:p>
            <a:r>
              <a:rPr lang="en-US" dirty="0"/>
              <a:t>This helps us find good ideas for experiments and to see possible stimuli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18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53963-1FC4-D8A8-7DF6-D6A04404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B4E818-14BA-E3E6-3B33-EDD0E57A4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148795"/>
              </p:ext>
            </p:extLst>
          </p:nvPr>
        </p:nvGraphicFramePr>
        <p:xfrm>
          <a:off x="838200" y="2316480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6022144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1091128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9544679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176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43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16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413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4566-CD8E-8452-D7B1-CF5903575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known already?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A07E6-90D9-FAE5-8579-8056EC555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can read 1000-2000 papers selected using AI for relevance to questions we have </a:t>
            </a:r>
          </a:p>
          <a:p>
            <a:r>
              <a:rPr lang="en-US" dirty="0"/>
              <a:t>Given an activity, and a target cog, emotional, or neural state what sort of architectural designs will have an effect and in what direction?</a:t>
            </a:r>
          </a:p>
          <a:p>
            <a:r>
              <a:rPr lang="en-US" dirty="0"/>
              <a:t>We can reverse the question: what is known about the effect of large leaved plants on people (e.g. fiddle leaf fig)</a:t>
            </a:r>
          </a:p>
          <a:p>
            <a:r>
              <a:rPr lang="en-US" dirty="0"/>
              <a:t>Then we can find gaps, look for methods &amp; experimental paradigms already in use</a:t>
            </a:r>
          </a:p>
        </p:txBody>
      </p:sp>
    </p:spTree>
    <p:extLst>
      <p:ext uri="{BB962C8B-B14F-4D97-AF65-F5344CB8AC3E}">
        <p14:creationId xmlns:p14="http://schemas.microsoft.com/office/powerpoint/2010/main" val="2424196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F95D-5EB8-4639-0170-9D7E20E1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we might talk to 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98645-650E-EA50-2D27-AD83C3523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Me:</a:t>
            </a:r>
            <a:r>
              <a:rPr lang="en-US" dirty="0"/>
              <a:t> “I need stimuli that are </a:t>
            </a:r>
            <a:r>
              <a:rPr lang="en-US" b="1" dirty="0"/>
              <a:t>high creativity</a:t>
            </a:r>
            <a:r>
              <a:rPr lang="en-US" dirty="0"/>
              <a:t> but </a:t>
            </a:r>
            <a:r>
              <a:rPr lang="en-US" b="1" dirty="0"/>
              <a:t>low crowding</a:t>
            </a:r>
            <a:r>
              <a:rPr lang="en-US" dirty="0"/>
              <a:t>, with </a:t>
            </a:r>
            <a:r>
              <a:rPr lang="en-US" b="1" dirty="0"/>
              <a:t>natural textures</a:t>
            </a:r>
            <a:r>
              <a:rPr lang="en-US" dirty="0"/>
              <a:t> and </a:t>
            </a:r>
            <a:r>
              <a:rPr lang="en-US" b="1" dirty="0"/>
              <a:t>moderate visual complexity</a:t>
            </a:r>
            <a:r>
              <a:rPr lang="en-US" dirty="0"/>
              <a:t>.”</a:t>
            </a:r>
          </a:p>
          <a:p>
            <a:r>
              <a:rPr lang="en-US" b="1" dirty="0"/>
              <a:t>IA </a:t>
            </a:r>
            <a:r>
              <a:rPr lang="en-US" dirty="0"/>
              <a:t>“Found 180 candidates; here are 60 most diverse by material palette. I also prepared two contrast sets: </a:t>
            </a:r>
          </a:p>
          <a:p>
            <a:pPr lvl="1"/>
            <a:r>
              <a:rPr lang="en-US" dirty="0"/>
              <a:t>high creativity + high complexity, </a:t>
            </a:r>
          </a:p>
          <a:p>
            <a:pPr lvl="1"/>
            <a:r>
              <a:rPr lang="en-US" dirty="0"/>
              <a:t>high creativity + low complexity. </a:t>
            </a:r>
          </a:p>
          <a:p>
            <a:pPr lvl="1"/>
            <a:r>
              <a:rPr lang="en-US" dirty="0"/>
              <a:t>Do you want to equalize daylight and ceiling height across sets?”</a:t>
            </a:r>
          </a:p>
          <a:p>
            <a:r>
              <a:rPr lang="en-US" b="1" dirty="0"/>
              <a:t>Me:</a:t>
            </a:r>
            <a:r>
              <a:rPr lang="en-US" dirty="0"/>
              <a:t> “Yes. Also add a control set with low creativity but </a:t>
            </a:r>
            <a:r>
              <a:rPr lang="en-US" b="1" dirty="0"/>
              <a:t>excellent daylight</a:t>
            </a:r>
            <a:r>
              <a:rPr lang="en-US" dirty="0"/>
              <a:t> to isolate complexity.”</a:t>
            </a:r>
          </a:p>
          <a:p>
            <a:r>
              <a:rPr lang="en-US" b="1" dirty="0"/>
              <a:t>IA:</a:t>
            </a:r>
            <a:r>
              <a:rPr lang="en-US" dirty="0"/>
              <a:t> “Done. Four balanced sets exported with thumbnails, metadata, and predicted scores.”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139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0CBEE-27E1-88C3-75F1-6F794CB01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 design on demand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08BCE-C6A1-9657-60AC-4E608E990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Query 100k+ interiors for </a:t>
            </a:r>
            <a:r>
              <a:rPr lang="en-US" i="1" dirty="0"/>
              <a:t>stimulus sets</a:t>
            </a:r>
            <a:r>
              <a:rPr lang="en-US" dirty="0"/>
              <a:t> that match psychological targets </a:t>
            </a:r>
          </a:p>
          <a:p>
            <a:r>
              <a:rPr lang="en-US" dirty="0"/>
              <a:t>To study creativity, </a:t>
            </a:r>
          </a:p>
          <a:p>
            <a:pPr lvl="1"/>
            <a:r>
              <a:rPr lang="en-US" dirty="0"/>
              <a:t>top 60 images predicted high-creativity; </a:t>
            </a:r>
          </a:p>
          <a:p>
            <a:pPr lvl="1"/>
            <a:r>
              <a:rPr lang="en-US" dirty="0"/>
              <a:t>30 mid; </a:t>
            </a:r>
          </a:p>
          <a:p>
            <a:pPr lvl="1"/>
            <a:r>
              <a:rPr lang="en-US" dirty="0"/>
              <a:t>30 low as controls, </a:t>
            </a:r>
          </a:p>
          <a:p>
            <a:pPr lvl="1"/>
            <a:r>
              <a:rPr lang="en-US" dirty="0"/>
              <a:t>All with controllable diversity and covariate balance so we could study the effect of adding or subtracting attributes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82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2588-9050-118F-EBE6-590EE23E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60CEE-3BD5-B381-34D0-62F83444C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Non-linear, interaction-aware reasoning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35E23-CF7C-ACC2-1B1C-DED7A9AED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Factors aren’t treated as linear sums; </a:t>
            </a:r>
          </a:p>
          <a:p>
            <a:r>
              <a:rPr lang="en-US" dirty="0"/>
              <a:t>Reasoning engine models synergies e.g., daylight × material warmth</a:t>
            </a:r>
          </a:p>
          <a:p>
            <a:r>
              <a:rPr lang="en-US" dirty="0"/>
              <a:t>Models antagonisms e.g., visual clutter undermining biophilia</a:t>
            </a:r>
          </a:p>
          <a:p>
            <a:r>
              <a:rPr lang="en-US" dirty="0"/>
              <a:t>Tries to predict complex interactions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525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2C518-E5EE-BC0D-A37B-9A928CB4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C510-94DC-2BC7-2546-C569F7F1E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Editable schema → evolving science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DB0AA-208B-1BB2-64E1-95589864E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new factors/tags </a:t>
            </a:r>
          </a:p>
          <a:p>
            <a:pPr lvl="1"/>
            <a:r>
              <a:rPr lang="en-US" dirty="0"/>
              <a:t>‘perceivable affordances for dyadic conversation’ from the GUI; </a:t>
            </a:r>
          </a:p>
          <a:p>
            <a:pPr lvl="1"/>
            <a:r>
              <a:rPr lang="en-US" dirty="0"/>
              <a:t>the whole pipeline (features → weights → predictions) updates without code.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19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806DC-9669-E626-6983-971B5E43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60D11-A1FF-E4EA-BA54-2494D17A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At-scale pattern discovery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114BF-F32B-36E7-B341-A33A110F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Mine &gt;100k images to map factor co-occurrences, segment typologies, and surface surprising precedents that challenge designer priors.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895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9B56-9EAF-59F4-36EB-59AFC066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3A3F1-AD3C-5136-42DE-CDBA6FDA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67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42AD-9761-5D32-BB84-236B059B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infer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4437B-7933-4676-8D20-C92B447D4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95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5558B8-6A3E-B7B7-1732-5655516A7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Wouldn’t it be nice if we had an AI image analyzer that could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BC2C6-A38F-DE6C-49FE-CFDFD2461E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Show me images of spaces that:</a:t>
            </a:r>
          </a:p>
          <a:p>
            <a:pPr lvl="1"/>
            <a:r>
              <a:rPr lang="en-US" dirty="0"/>
              <a:t>Facilitate creativity</a:t>
            </a:r>
          </a:p>
          <a:p>
            <a:pPr lvl="1"/>
            <a:r>
              <a:rPr lang="en-US" dirty="0"/>
              <a:t>Restorative – reduce stress</a:t>
            </a:r>
          </a:p>
          <a:p>
            <a:pPr lvl="1"/>
            <a:r>
              <a:rPr lang="en-US" dirty="0"/>
              <a:t>Conducive to well being</a:t>
            </a:r>
          </a:p>
          <a:p>
            <a:pPr lvl="1"/>
            <a:r>
              <a:rPr lang="en-US" dirty="0"/>
              <a:t>Helpful for concentration</a:t>
            </a:r>
          </a:p>
          <a:p>
            <a:pPr lvl="1"/>
            <a:r>
              <a:rPr lang="en-US" dirty="0"/>
              <a:t>Awe inducing</a:t>
            </a:r>
          </a:p>
          <a:p>
            <a:r>
              <a:rPr lang="en-US" dirty="0"/>
              <a:t>Show me images of a curvilinear dining room with a high ceiling and granite floor</a:t>
            </a:r>
          </a:p>
          <a:p>
            <a:r>
              <a:rPr lang="en-US" dirty="0"/>
              <a:t>What are the psych attributes of  this image 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7757B8-13B8-FA77-BF80-9391486F77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AI analyzes images of the built environment. </a:t>
            </a:r>
          </a:p>
          <a:p>
            <a:r>
              <a:rPr lang="en-US" dirty="0"/>
              <a:t>Physical Tags</a:t>
            </a:r>
          </a:p>
          <a:p>
            <a:pPr lvl="1"/>
            <a:r>
              <a:rPr lang="en-US" dirty="0"/>
              <a:t>You can ask it to show images of bathrooms or </a:t>
            </a:r>
            <a:r>
              <a:rPr lang="en-US" dirty="0" err="1"/>
              <a:t>curvey</a:t>
            </a:r>
            <a:r>
              <a:rPr lang="en-US" dirty="0"/>
              <a:t> walls, or wooden floors</a:t>
            </a:r>
          </a:p>
          <a:p>
            <a:r>
              <a:rPr lang="en-US" dirty="0"/>
              <a:t>Or psychological or neuro tags (labels) </a:t>
            </a:r>
          </a:p>
        </p:txBody>
      </p:sp>
    </p:spTree>
    <p:extLst>
      <p:ext uri="{BB962C8B-B14F-4D97-AF65-F5344CB8AC3E}">
        <p14:creationId xmlns:p14="http://schemas.microsoft.com/office/powerpoint/2010/main" val="3816458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624B79-12D2-3ABE-E91E-F3C612F3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ADDDC0-5D7B-07EF-EFD6-1E152985A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67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E76E30-C103-AFE1-CC19-3C5B5648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me spaces that are good for ….?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D2EB2-D575-ADA1-FBBA-C5328FFCA65B}"/>
              </a:ext>
            </a:extLst>
          </p:cNvPr>
          <p:cNvSpPr txBox="1"/>
          <p:nvPr/>
        </p:nvSpPr>
        <p:spPr>
          <a:xfrm>
            <a:off x="3912708" y="4669750"/>
            <a:ext cx="38669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1" dirty="0"/>
              <a:t>Show me 50 very different restorative spaces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1" dirty="0"/>
              <a:t>Show me bathrooms with floor to ceiling windows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1" dirty="0"/>
              <a:t>Show me rooms that are good for 3 person conversations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567BC6-9A31-56AA-2B8A-D12643CEB5F3}"/>
              </a:ext>
            </a:extLst>
          </p:cNvPr>
          <p:cNvGrpSpPr/>
          <p:nvPr/>
        </p:nvGrpSpPr>
        <p:grpSpPr>
          <a:xfrm>
            <a:off x="1284498" y="1952325"/>
            <a:ext cx="8645726" cy="2324560"/>
            <a:chOff x="1255923" y="3054559"/>
            <a:chExt cx="8645726" cy="23245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52933B4-6695-A045-3CFC-A9C52141162F}"/>
                </a:ext>
              </a:extLst>
            </p:cNvPr>
            <p:cNvSpPr/>
            <p:nvPr/>
          </p:nvSpPr>
          <p:spPr>
            <a:xfrm>
              <a:off x="3712684" y="3054559"/>
              <a:ext cx="3866921" cy="23245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AI Agent for Architecture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32E289-F240-7A05-E707-2ECD4193B3B6}"/>
                </a:ext>
              </a:extLst>
            </p:cNvPr>
            <p:cNvSpPr txBox="1"/>
            <p:nvPr/>
          </p:nvSpPr>
          <p:spPr>
            <a:xfrm>
              <a:off x="1255923" y="4032173"/>
              <a:ext cx="11445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Question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3F9A2D3-E292-FBB3-CE10-70AF70358F2C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2400467" y="4216839"/>
              <a:ext cx="13122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704ABA-A378-8C4E-A062-E006DAA0D424}"/>
                </a:ext>
              </a:extLst>
            </p:cNvPr>
            <p:cNvSpPr txBox="1"/>
            <p:nvPr/>
          </p:nvSpPr>
          <p:spPr>
            <a:xfrm>
              <a:off x="8939334" y="4010139"/>
              <a:ext cx="9623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Answer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0B14C4-E9F0-345C-AD40-858A0C1F2B96}"/>
                </a:ext>
              </a:extLst>
            </p:cNvPr>
            <p:cNvCxnSpPr>
              <a:cxnSpLocks/>
            </p:cNvCxnSpPr>
            <p:nvPr/>
          </p:nvCxnSpPr>
          <p:spPr>
            <a:xfrm>
              <a:off x="7579605" y="4216839"/>
              <a:ext cx="13597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411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839A-65AB-4FDF-63CA-E6BAB83AC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F9BBC7-56EC-1E31-F59F-6FB9776C0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614"/>
            <a:ext cx="10515600" cy="1325563"/>
          </a:xfrm>
        </p:spPr>
        <p:txBody>
          <a:bodyPr/>
          <a:lstStyle/>
          <a:p>
            <a:r>
              <a:rPr lang="en-US" dirty="0"/>
              <a:t>What do you think of this image?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40861-3C9D-FB89-014D-77ADD8DE0AA3}"/>
              </a:ext>
            </a:extLst>
          </p:cNvPr>
          <p:cNvSpPr txBox="1"/>
          <p:nvPr/>
        </p:nvSpPr>
        <p:spPr>
          <a:xfrm>
            <a:off x="691957" y="4119893"/>
            <a:ext cx="264404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What are the </a:t>
            </a:r>
            <a:r>
              <a:rPr lang="en-US" sz="1600" b="1" i="1" dirty="0"/>
              <a:t>psych attributes</a:t>
            </a:r>
            <a:r>
              <a:rPr lang="en-US" sz="1600" i="1" dirty="0"/>
              <a:t> of this space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Show me </a:t>
            </a:r>
            <a:r>
              <a:rPr lang="en-US" sz="1600" b="1" i="1" dirty="0"/>
              <a:t>images</a:t>
            </a:r>
            <a:r>
              <a:rPr lang="en-US" sz="1600" i="1" dirty="0"/>
              <a:t> of space similar to this but better for tranquility, creativity, discussion …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Show me physically similar </a:t>
            </a:r>
            <a:r>
              <a:rPr lang="en-US" sz="1600" b="1" i="1" dirty="0"/>
              <a:t>images</a:t>
            </a:r>
            <a:r>
              <a:rPr lang="en-US" sz="1600" i="1" dirty="0"/>
              <a:t> or psychologically similar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66551D-7575-B19F-EF99-DC792256E9BC}"/>
              </a:ext>
            </a:extLst>
          </p:cNvPr>
          <p:cNvGrpSpPr/>
          <p:nvPr/>
        </p:nvGrpSpPr>
        <p:grpSpPr>
          <a:xfrm>
            <a:off x="957263" y="1736843"/>
            <a:ext cx="11152035" cy="2324560"/>
            <a:chOff x="1255923" y="3054559"/>
            <a:chExt cx="10882602" cy="23245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D8405B-552C-137A-3D11-5CF291D19417}"/>
                </a:ext>
              </a:extLst>
            </p:cNvPr>
            <p:cNvSpPr/>
            <p:nvPr/>
          </p:nvSpPr>
          <p:spPr>
            <a:xfrm>
              <a:off x="3712684" y="3054559"/>
              <a:ext cx="3866921" cy="23245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AI Agent for Architecture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B60BDC-A063-74AF-B674-F7425858FD92}"/>
                </a:ext>
              </a:extLst>
            </p:cNvPr>
            <p:cNvSpPr txBox="1"/>
            <p:nvPr/>
          </p:nvSpPr>
          <p:spPr>
            <a:xfrm>
              <a:off x="1255923" y="4032173"/>
              <a:ext cx="17659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/>
                <a:t>Image + query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F5DFA9A-3A2A-EAF4-3345-C2EF6CBCB002}"/>
                </a:ext>
              </a:extLst>
            </p:cNvPr>
            <p:cNvCxnSpPr>
              <a:stCxn id="7" idx="3"/>
            </p:cNvCxnSpPr>
            <p:nvPr/>
          </p:nvCxnSpPr>
          <p:spPr>
            <a:xfrm flipV="1">
              <a:off x="3021865" y="4216839"/>
              <a:ext cx="690820" cy="153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FC744A-0497-B52F-EFEF-BDA54DBA08A2}"/>
                </a:ext>
              </a:extLst>
            </p:cNvPr>
            <p:cNvSpPr txBox="1"/>
            <p:nvPr/>
          </p:nvSpPr>
          <p:spPr>
            <a:xfrm>
              <a:off x="8939333" y="3393536"/>
              <a:ext cx="3199192" cy="13080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/>
                <a:t>Assessment</a:t>
              </a: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dirty="0"/>
                <a:t>Words (psych, neuro, social)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Images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Words + images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E90D1DF-56D1-9AFE-2434-7F96B25CEB22}"/>
                </a:ext>
              </a:extLst>
            </p:cNvPr>
            <p:cNvCxnSpPr>
              <a:cxnSpLocks/>
            </p:cNvCxnSpPr>
            <p:nvPr/>
          </p:nvCxnSpPr>
          <p:spPr>
            <a:xfrm>
              <a:off x="7579605" y="4216839"/>
              <a:ext cx="13597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1CAD72E-9C8E-EE6A-0551-3B5036124F8B}"/>
              </a:ext>
            </a:extLst>
          </p:cNvPr>
          <p:cNvSpPr txBox="1"/>
          <p:nvPr/>
        </p:nvSpPr>
        <p:spPr>
          <a:xfrm>
            <a:off x="3526365" y="4979487"/>
            <a:ext cx="24521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What sort of lighting might improve the tranquility, creativity, relaxation, discussion,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AC416-189F-B82D-BFFB-EC1FB04923EB}"/>
              </a:ext>
            </a:extLst>
          </p:cNvPr>
          <p:cNvSpPr txBox="1"/>
          <p:nvPr/>
        </p:nvSpPr>
        <p:spPr>
          <a:xfrm>
            <a:off x="5853816" y="4979487"/>
            <a:ext cx="28163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What sort of flooring, wall colors, wall materials might improve </a:t>
            </a:r>
            <a:r>
              <a:rPr lang="en-US" sz="1600" i="1"/>
              <a:t>the focus, </a:t>
            </a:r>
            <a:r>
              <a:rPr lang="en-US" sz="1600" i="1" dirty="0"/>
              <a:t>tranquility, creativity, discussion 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7B9FA1-0D6A-8179-8990-C4E2191187F4}"/>
              </a:ext>
            </a:extLst>
          </p:cNvPr>
          <p:cNvSpPr txBox="1"/>
          <p:nvPr/>
        </p:nvSpPr>
        <p:spPr>
          <a:xfrm>
            <a:off x="620588" y="375056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Queries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EBBA84-CB03-D4DA-B2B9-E737373D0E84}"/>
              </a:ext>
            </a:extLst>
          </p:cNvPr>
          <p:cNvSpPr txBox="1"/>
          <p:nvPr/>
        </p:nvSpPr>
        <p:spPr>
          <a:xfrm>
            <a:off x="3458890" y="4571202"/>
            <a:ext cx="1228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2192573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48BA1-4325-F4E9-A7DD-BAC56D20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1F6FA4-72EA-2035-5FA2-D7FB9F18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Multi-modal interaction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51E47F-12A9-391D-BCA5-0CC2E1A65446}"/>
              </a:ext>
            </a:extLst>
          </p:cNvPr>
          <p:cNvSpPr txBox="1"/>
          <p:nvPr/>
        </p:nvSpPr>
        <p:spPr>
          <a:xfrm>
            <a:off x="4006542" y="5211343"/>
            <a:ext cx="38669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1" dirty="0"/>
              <a:t>What acoustics would ruin the restorative properties of this space?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i="1" dirty="0"/>
              <a:t>What other properties must we avoid?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02F8DE-3C49-567C-CAD2-8C31F3F57B2B}"/>
              </a:ext>
            </a:extLst>
          </p:cNvPr>
          <p:cNvGrpSpPr/>
          <p:nvPr/>
        </p:nvGrpSpPr>
        <p:grpSpPr>
          <a:xfrm>
            <a:off x="1414430" y="2492426"/>
            <a:ext cx="9734614" cy="2324560"/>
            <a:chOff x="1255923" y="3054559"/>
            <a:chExt cx="9734614" cy="23245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E26D17-71F7-9B6E-C0CE-F346F4B1BDD4}"/>
                </a:ext>
              </a:extLst>
            </p:cNvPr>
            <p:cNvSpPr/>
            <p:nvPr/>
          </p:nvSpPr>
          <p:spPr>
            <a:xfrm>
              <a:off x="3712684" y="3054559"/>
              <a:ext cx="3866921" cy="23245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AI Agent for Architecture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50E137-E21D-28A8-29C0-7517E9E60F4E}"/>
                </a:ext>
              </a:extLst>
            </p:cNvPr>
            <p:cNvSpPr txBox="1"/>
            <p:nvPr/>
          </p:nvSpPr>
          <p:spPr>
            <a:xfrm>
              <a:off x="1255923" y="4032173"/>
              <a:ext cx="18096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/>
                <a:t>Image + query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B2E6A43-B715-332A-7AFD-0821DC41A3B8}"/>
                </a:ext>
              </a:extLst>
            </p:cNvPr>
            <p:cNvCxnSpPr>
              <a:stCxn id="7" idx="3"/>
            </p:cNvCxnSpPr>
            <p:nvPr/>
          </p:nvCxnSpPr>
          <p:spPr>
            <a:xfrm flipV="1">
              <a:off x="3065586" y="4216839"/>
              <a:ext cx="647098" cy="153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273A99-ECDF-BF9D-82B8-1E3FF10AB525}"/>
                </a:ext>
              </a:extLst>
            </p:cNvPr>
            <p:cNvSpPr txBox="1"/>
            <p:nvPr/>
          </p:nvSpPr>
          <p:spPr>
            <a:xfrm>
              <a:off x="8939334" y="3469223"/>
              <a:ext cx="2051203" cy="12311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/>
                <a:t>Answer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Words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Images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Words + images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1DCACA4-1F80-E2A7-3340-DA3A75A8E681}"/>
                </a:ext>
              </a:extLst>
            </p:cNvPr>
            <p:cNvCxnSpPr>
              <a:cxnSpLocks/>
            </p:cNvCxnSpPr>
            <p:nvPr/>
          </p:nvCxnSpPr>
          <p:spPr>
            <a:xfrm>
              <a:off x="7579605" y="4216839"/>
              <a:ext cx="13597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7F5B9BB-2E5F-3C1D-C67C-9D65C9DC3C6D}"/>
              </a:ext>
            </a:extLst>
          </p:cNvPr>
          <p:cNvSpPr txBox="1"/>
          <p:nvPr/>
        </p:nvSpPr>
        <p:spPr>
          <a:xfrm>
            <a:off x="2464018" y="1744811"/>
            <a:ext cx="6951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What might ruin the nice properties of this space</a:t>
            </a:r>
          </a:p>
        </p:txBody>
      </p:sp>
    </p:spTree>
    <p:extLst>
      <p:ext uri="{BB962C8B-B14F-4D97-AF65-F5344CB8AC3E}">
        <p14:creationId xmlns:p14="http://schemas.microsoft.com/office/powerpoint/2010/main" val="4126533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AB661-02CD-0FAB-81D5-40C494E2D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ABA7F2-F21A-C4FB-49FA-FD425753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 - Modules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9EF26B-48D2-B8B8-AE7C-B4798E051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82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76B9A-27EC-E46C-6790-CE448A90D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Tagging Physical Elements</a:t>
            </a:r>
          </a:p>
        </p:txBody>
      </p:sp>
    </p:spTree>
    <p:extLst>
      <p:ext uri="{BB962C8B-B14F-4D97-AF65-F5344CB8AC3E}">
        <p14:creationId xmlns:p14="http://schemas.microsoft.com/office/powerpoint/2010/main" val="3668788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0C68E142-8CF8-CA62-FA5A-086B16832A5F}"/>
              </a:ext>
            </a:extLst>
          </p:cNvPr>
          <p:cNvSpPr/>
          <p:nvPr/>
        </p:nvSpPr>
        <p:spPr>
          <a:xfrm>
            <a:off x="16092" y="1212570"/>
            <a:ext cx="12159815" cy="56454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A63D3-744F-AA4A-09F0-A14915D0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196" y="89030"/>
            <a:ext cx="10515600" cy="106018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Tagging Relevant Physical Elements of Spaces/Images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B6E53BB-02F4-D60F-C099-299EFD9C8982}"/>
              </a:ext>
            </a:extLst>
          </p:cNvPr>
          <p:cNvGrpSpPr/>
          <p:nvPr/>
        </p:nvGrpSpPr>
        <p:grpSpPr>
          <a:xfrm>
            <a:off x="292509" y="1625378"/>
            <a:ext cx="11630597" cy="4914780"/>
            <a:chOff x="304800" y="2100309"/>
            <a:chExt cx="11911385" cy="5393707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3BAE7B27-8BD6-A048-CA63-11D65C30D42D}"/>
                </a:ext>
              </a:extLst>
            </p:cNvPr>
            <p:cNvSpPr/>
            <p:nvPr/>
          </p:nvSpPr>
          <p:spPr>
            <a:xfrm>
              <a:off x="304800" y="3727709"/>
              <a:ext cx="2843212" cy="158699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100K image </a:t>
              </a:r>
              <a:r>
                <a:rPr lang="en-US" sz="2400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Dbase</a:t>
              </a:r>
              <a:endParaRPr lang="en-US" sz="24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Input source for the system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52E5D5E1-9BEC-9D83-044B-22217A8FDAA9}"/>
                </a:ext>
              </a:extLst>
            </p:cNvPr>
            <p:cNvSpPr/>
            <p:nvPr/>
          </p:nvSpPr>
          <p:spPr>
            <a:xfrm>
              <a:off x="4386263" y="3606804"/>
              <a:ext cx="3643312" cy="1828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VLM and LLM tagging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Applies vision and language models to tag images with their physical (objective visual) attributes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ACB3E98-0B60-950C-FAB3-5A6EEE0848F7}"/>
                </a:ext>
              </a:extLst>
            </p:cNvPr>
            <p:cNvSpPr/>
            <p:nvPr/>
          </p:nvSpPr>
          <p:spPr>
            <a:xfrm>
              <a:off x="8972550" y="4432344"/>
              <a:ext cx="3219450" cy="13255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Tags from Taxonomies 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of architectural visual properties and room types, materials, </a:t>
              </a:r>
              <a:r>
                <a:rPr lang="en-US" sz="1600" dirty="0" err="1">
                  <a:solidFill>
                    <a:schemeClr val="tx1"/>
                  </a:solidFill>
                </a:rPr>
                <a:t>etc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D1259C0-6803-85A1-4C1F-FBA29958248D}"/>
                </a:ext>
              </a:extLst>
            </p:cNvPr>
            <p:cNvSpPr/>
            <p:nvPr/>
          </p:nvSpPr>
          <p:spPr>
            <a:xfrm>
              <a:off x="8972550" y="2100309"/>
              <a:ext cx="3219450" cy="18288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Tags from Analysis of CNfA Literature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Experimental, theoretical literature on CNfA.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Physical elements of stimuli used in the literature 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7ED62B7-DC22-DE21-DD83-E87E1527B8F4}"/>
                </a:ext>
              </a:extLst>
            </p:cNvPr>
            <p:cNvCxnSpPr>
              <a:cxnSpLocks/>
              <a:stCxn id="6" idx="1"/>
              <a:endCxn id="4" idx="3"/>
            </p:cNvCxnSpPr>
            <p:nvPr/>
          </p:nvCxnSpPr>
          <p:spPr>
            <a:xfrm flipH="1">
              <a:off x="8029575" y="3014709"/>
              <a:ext cx="942975" cy="15064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D18E177-8DF8-1222-EE5D-8FE1317F0E93}"/>
                </a:ext>
              </a:extLst>
            </p:cNvPr>
            <p:cNvCxnSpPr>
              <a:stCxn id="5" idx="1"/>
              <a:endCxn id="4" idx="3"/>
            </p:cNvCxnSpPr>
            <p:nvPr/>
          </p:nvCxnSpPr>
          <p:spPr>
            <a:xfrm flipH="1" flipV="1">
              <a:off x="8029575" y="4521204"/>
              <a:ext cx="942975" cy="5739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BAB30B3-1774-B68D-8884-76F5BEAB3AAC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3148012" y="4521204"/>
              <a:ext cx="123825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6524334E-1FE8-8980-8901-97D38A00B4CF}"/>
                </a:ext>
              </a:extLst>
            </p:cNvPr>
            <p:cNvSpPr/>
            <p:nvPr/>
          </p:nvSpPr>
          <p:spPr>
            <a:xfrm>
              <a:off x="1727366" y="5848009"/>
              <a:ext cx="4231482" cy="8350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Compare images to identify physical differences = new tags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A7BEBBF-BD30-5111-6BE9-68C1B1F0E0EA}"/>
                </a:ext>
              </a:extLst>
            </p:cNvPr>
            <p:cNvCxnSpPr>
              <a:stCxn id="29" idx="0"/>
            </p:cNvCxnSpPr>
            <p:nvPr/>
          </p:nvCxnSpPr>
          <p:spPr>
            <a:xfrm flipH="1" flipV="1">
              <a:off x="1902542" y="5314699"/>
              <a:ext cx="1940565" cy="5333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1A1D55C-C153-6CB4-FF95-672BF320A0E3}"/>
                </a:ext>
              </a:extLst>
            </p:cNvPr>
            <p:cNvCxnSpPr>
              <a:stCxn id="29" idx="0"/>
              <a:endCxn id="4" idx="2"/>
            </p:cNvCxnSpPr>
            <p:nvPr/>
          </p:nvCxnSpPr>
          <p:spPr>
            <a:xfrm flipV="1">
              <a:off x="3843107" y="5435604"/>
              <a:ext cx="2364812" cy="4124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2FB6215-7B7B-CD00-85F1-333886BBFF11}"/>
                </a:ext>
              </a:extLst>
            </p:cNvPr>
            <p:cNvSpPr/>
            <p:nvPr/>
          </p:nvSpPr>
          <p:spPr>
            <a:xfrm>
              <a:off x="8996733" y="6168453"/>
              <a:ext cx="3219452" cy="13255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Tags from Architectural programs or Architects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Visible building elements, materials, </a:t>
              </a:r>
              <a:r>
                <a:rPr lang="en-US" sz="1600" dirty="0" err="1">
                  <a:solidFill>
                    <a:schemeClr val="tx1"/>
                  </a:solidFill>
                </a:rPr>
                <a:t>etc</a:t>
              </a:r>
              <a:r>
                <a:rPr lang="en-US" sz="1600" dirty="0">
                  <a:solidFill>
                    <a:schemeClr val="tx1"/>
                  </a:solidFill>
                </a:rPr>
                <a:t> 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F5D67A9-6506-F340-3E87-C9B963A2599A}"/>
              </a:ext>
            </a:extLst>
          </p:cNvPr>
          <p:cNvSpPr txBox="1"/>
          <p:nvPr/>
        </p:nvSpPr>
        <p:spPr>
          <a:xfrm>
            <a:off x="2037612" y="5960261"/>
            <a:ext cx="3504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</a:t>
            </a:r>
            <a:r>
              <a:rPr lang="en-US" i="1" dirty="0"/>
              <a:t>Theory of tag correlation needed</a:t>
            </a:r>
            <a:r>
              <a:rPr lang="en-US" dirty="0"/>
              <a:t>}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E9E5070-6630-99DD-95A9-810D2CFEC289}"/>
              </a:ext>
            </a:extLst>
          </p:cNvPr>
          <p:cNvCxnSpPr>
            <a:stCxn id="41" idx="1"/>
          </p:cNvCxnSpPr>
          <p:nvPr/>
        </p:nvCxnSpPr>
        <p:spPr>
          <a:xfrm flipH="1" flipV="1">
            <a:off x="7835187" y="3831312"/>
            <a:ext cx="944359" cy="2104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219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DFE11-4BBE-DEE3-961C-AAEF72CEC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AFE8C-6812-BF1D-1D28-AD93B81B8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1007224" cy="2879725"/>
          </a:xfrm>
        </p:spPr>
        <p:txBody>
          <a:bodyPr>
            <a:normAutofit/>
          </a:bodyPr>
          <a:lstStyle/>
          <a:p>
            <a:r>
              <a:rPr lang="en-US" sz="5400" dirty="0"/>
              <a:t>Tagging Psych, Neuro attributes</a:t>
            </a:r>
          </a:p>
        </p:txBody>
      </p:sp>
    </p:spTree>
    <p:extLst>
      <p:ext uri="{BB962C8B-B14F-4D97-AF65-F5344CB8AC3E}">
        <p14:creationId xmlns:p14="http://schemas.microsoft.com/office/powerpoint/2010/main" val="3827860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66E4-A5D4-9332-9D6F-1AF1AA6E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9C9BAB7A-D681-5978-11BB-F553766240E2}"/>
              </a:ext>
            </a:extLst>
          </p:cNvPr>
          <p:cNvSpPr/>
          <p:nvPr/>
        </p:nvSpPr>
        <p:spPr>
          <a:xfrm>
            <a:off x="85344" y="2621280"/>
            <a:ext cx="7945287" cy="38797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232DD7-609A-3EF6-9C80-E6E30C003EC8}"/>
              </a:ext>
            </a:extLst>
          </p:cNvPr>
          <p:cNvSpPr/>
          <p:nvPr/>
        </p:nvSpPr>
        <p:spPr>
          <a:xfrm>
            <a:off x="8325055" y="1649558"/>
            <a:ext cx="3927271" cy="52334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6DA87-BE50-A4A4-17B3-0B73D02C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7819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Tagging Images by their Psych and Neuro properties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3CD14B8-6666-B9B5-6B25-DD2D408F11DC}"/>
              </a:ext>
            </a:extLst>
          </p:cNvPr>
          <p:cNvGrpSpPr/>
          <p:nvPr/>
        </p:nvGrpSpPr>
        <p:grpSpPr>
          <a:xfrm>
            <a:off x="223144" y="3216768"/>
            <a:ext cx="7796906" cy="1831972"/>
            <a:chOff x="232669" y="3603632"/>
            <a:chExt cx="7796906" cy="1831972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E93A590-C800-C534-0DB9-8381ED539963}"/>
                </a:ext>
              </a:extLst>
            </p:cNvPr>
            <p:cNvSpPr/>
            <p:nvPr/>
          </p:nvSpPr>
          <p:spPr>
            <a:xfrm>
              <a:off x="232669" y="3603632"/>
              <a:ext cx="3643312" cy="18288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Physically Tagged Images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AA6A9BA-0792-6867-1137-4530C56CEB9A}"/>
                </a:ext>
              </a:extLst>
            </p:cNvPr>
            <p:cNvSpPr/>
            <p:nvPr/>
          </p:nvSpPr>
          <p:spPr>
            <a:xfrm>
              <a:off x="4386263" y="3606804"/>
              <a:ext cx="3643312" cy="18288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Knowledge Base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Physical Tags </a:t>
              </a:r>
              <a:r>
                <a:rPr lang="en-US" sz="1600" dirty="0">
                  <a:solidFill>
                    <a:schemeClr val="tx1"/>
                  </a:solidFill>
                  <a:sym typeface="Wingdings" pitchFamily="2" charset="2"/>
                </a:rPr>
                <a:t> </a:t>
              </a:r>
              <a:r>
                <a:rPr lang="en-US" sz="1600" dirty="0">
                  <a:solidFill>
                    <a:schemeClr val="tx1"/>
                  </a:solidFill>
                </a:rPr>
                <a:t>Psych / Neuro</a:t>
              </a:r>
            </a:p>
            <a:p>
              <a:pPr algn="ctr"/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How restorative/stressful, creative, awe-inducing, easy to </a:t>
              </a:r>
              <a:r>
                <a:rPr lang="en-US" sz="1600" dirty="0" err="1">
                  <a:solidFill>
                    <a:schemeClr val="tx1"/>
                  </a:solidFill>
                </a:rPr>
                <a:t>wayfind</a:t>
              </a:r>
              <a:r>
                <a:rPr lang="en-US" sz="1600" dirty="0">
                  <a:solidFill>
                    <a:schemeClr val="tx1"/>
                  </a:solidFill>
                </a:rPr>
                <a:t>, visual noise/complexity, emotion type …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7A7758B-843D-3073-8EEC-28B23AE9BEC3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3875981" y="4518032"/>
              <a:ext cx="510282" cy="3172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F3EDFE5-9F65-0A8B-6186-8DC3227D0E85}"/>
              </a:ext>
            </a:extLst>
          </p:cNvPr>
          <p:cNvSpPr txBox="1"/>
          <p:nvPr/>
        </p:nvSpPr>
        <p:spPr>
          <a:xfrm>
            <a:off x="8911866" y="1721409"/>
            <a:ext cx="2960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Generating Knowledge Base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667C05-753A-97EA-B246-2CBC74E13441}"/>
              </a:ext>
            </a:extLst>
          </p:cNvPr>
          <p:cNvSpPr txBox="1"/>
          <p:nvPr/>
        </p:nvSpPr>
        <p:spPr>
          <a:xfrm>
            <a:off x="4445000" y="2832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C94C532-8377-986D-888B-4D9787FA07BD}"/>
              </a:ext>
            </a:extLst>
          </p:cNvPr>
          <p:cNvGrpSpPr/>
          <p:nvPr/>
        </p:nvGrpSpPr>
        <p:grpSpPr>
          <a:xfrm>
            <a:off x="8021176" y="2165876"/>
            <a:ext cx="4265301" cy="4704517"/>
            <a:chOff x="8020050" y="2319615"/>
            <a:chExt cx="4265301" cy="4704517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97FBEE7-694F-936C-D5B7-F58B5359B3EA}"/>
                </a:ext>
              </a:extLst>
            </p:cNvPr>
            <p:cNvSpPr/>
            <p:nvPr/>
          </p:nvSpPr>
          <p:spPr>
            <a:xfrm>
              <a:off x="8939212" y="4953412"/>
              <a:ext cx="3052763" cy="163788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Propose ‘validation’ Experiments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Subjective preference tests of </a:t>
              </a:r>
              <a:r>
                <a:rPr lang="en-US" sz="1600" dirty="0" err="1">
                  <a:solidFill>
                    <a:schemeClr val="tx1"/>
                  </a:solidFill>
                </a:rPr>
                <a:t>envs</a:t>
              </a:r>
              <a:r>
                <a:rPr lang="en-US" sz="1600" dirty="0">
                  <a:solidFill>
                    <a:schemeClr val="tx1"/>
                  </a:solidFill>
                </a:rPr>
                <a:t> according to team of experts, </a:t>
              </a:r>
              <a:r>
                <a:rPr lang="en-US" sz="1600" b="1" i="1" dirty="0">
                  <a:solidFill>
                    <a:schemeClr val="tx1"/>
                  </a:solidFill>
                </a:rPr>
                <a:t>Human Evaluations 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337C57D-BDCD-9987-DC64-9D8F3CE57051}"/>
                </a:ext>
              </a:extLst>
            </p:cNvPr>
            <p:cNvSpPr/>
            <p:nvPr/>
          </p:nvSpPr>
          <p:spPr>
            <a:xfrm>
              <a:off x="8962507" y="2319615"/>
              <a:ext cx="3052762" cy="13255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AI Analysis of Technical Literature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Experimental, theoretical literature on CNfA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E48382C-E26C-B227-5851-AB6F4A0EDEBE}"/>
                </a:ext>
              </a:extLst>
            </p:cNvPr>
            <p:cNvCxnSpPr>
              <a:cxnSpLocks/>
              <a:stCxn id="6" idx="1"/>
              <a:endCxn id="11" idx="1"/>
            </p:cNvCxnSpPr>
            <p:nvPr/>
          </p:nvCxnSpPr>
          <p:spPr>
            <a:xfrm flipH="1">
              <a:off x="8583263" y="2982397"/>
              <a:ext cx="379244" cy="9441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59C03D4-EDB9-176A-A88B-3A265629FA0E}"/>
                </a:ext>
              </a:extLst>
            </p:cNvPr>
            <p:cNvCxnSpPr>
              <a:cxnSpLocks/>
              <a:stCxn id="5" idx="1"/>
              <a:endCxn id="11" idx="3"/>
            </p:cNvCxnSpPr>
            <p:nvPr/>
          </p:nvCxnSpPr>
          <p:spPr>
            <a:xfrm flipH="1" flipV="1">
              <a:off x="8583263" y="4672019"/>
              <a:ext cx="355949" cy="11003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64DE06A-3C6E-47DF-1995-DDA57A750857}"/>
                </a:ext>
              </a:extLst>
            </p:cNvPr>
            <p:cNvGrpSpPr/>
            <p:nvPr/>
          </p:nvGrpSpPr>
          <p:grpSpPr>
            <a:xfrm>
              <a:off x="8326437" y="3772186"/>
              <a:ext cx="1753715" cy="1054220"/>
              <a:chOff x="8389145" y="4112807"/>
              <a:chExt cx="1457325" cy="798512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97A8A94-F6F5-3AC8-9006-559E8795164C}"/>
                  </a:ext>
                </a:extLst>
              </p:cNvPr>
              <p:cNvSpPr/>
              <p:nvPr/>
            </p:nvSpPr>
            <p:spPr>
              <a:xfrm>
                <a:off x="8389145" y="4112807"/>
                <a:ext cx="1457325" cy="798512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9B786E-A743-215F-6A78-13D5DD871AEF}"/>
                  </a:ext>
                </a:extLst>
              </p:cNvPr>
              <p:cNvSpPr txBox="1"/>
              <p:nvPr/>
            </p:nvSpPr>
            <p:spPr>
              <a:xfrm>
                <a:off x="8609472" y="4253016"/>
                <a:ext cx="1037377" cy="48955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Integrate results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389493-232A-7161-2E22-8FC418C5E925}"/>
                </a:ext>
              </a:extLst>
            </p:cNvPr>
            <p:cNvSpPr txBox="1"/>
            <p:nvPr/>
          </p:nvSpPr>
          <p:spPr>
            <a:xfrm>
              <a:off x="8496300" y="6654800"/>
              <a:ext cx="37890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Sort ABC according to stressfulness 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D0DFD6A-C66D-2C3E-D6DB-8B0B6EC49F71}"/>
                </a:ext>
              </a:extLst>
            </p:cNvPr>
            <p:cNvCxnSpPr>
              <a:cxnSpLocks/>
              <a:stCxn id="11" idx="2"/>
              <a:endCxn id="4" idx="3"/>
            </p:cNvCxnSpPr>
            <p:nvPr/>
          </p:nvCxnSpPr>
          <p:spPr>
            <a:xfrm flipH="1">
              <a:off x="8020050" y="4299296"/>
              <a:ext cx="306387" cy="15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DCCD779-DF54-0808-9581-4333CB969AA1}"/>
              </a:ext>
            </a:extLst>
          </p:cNvPr>
          <p:cNvGrpSpPr/>
          <p:nvPr/>
        </p:nvGrpSpPr>
        <p:grpSpPr>
          <a:xfrm>
            <a:off x="4376738" y="5435875"/>
            <a:ext cx="3817071" cy="1001685"/>
            <a:chOff x="2431026" y="5387783"/>
            <a:chExt cx="3817071" cy="100168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D7B5691-0B97-F5A6-D780-93AF39A1B589}"/>
                </a:ext>
              </a:extLst>
            </p:cNvPr>
            <p:cNvGrpSpPr/>
            <p:nvPr/>
          </p:nvGrpSpPr>
          <p:grpSpPr>
            <a:xfrm>
              <a:off x="2438283" y="5387783"/>
              <a:ext cx="3366627" cy="461665"/>
              <a:chOff x="2044800" y="5618616"/>
              <a:chExt cx="3366627" cy="461665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E9B415B-F3C8-AF44-B543-CD12F8682441}"/>
                  </a:ext>
                </a:extLst>
              </p:cNvPr>
              <p:cNvSpPr txBox="1"/>
              <p:nvPr/>
            </p:nvSpPr>
            <p:spPr>
              <a:xfrm>
                <a:off x="2044800" y="5618616"/>
                <a:ext cx="33666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</a:t>
                </a:r>
                <a:r>
                  <a:rPr lang="en-US" sz="2400" i="1" dirty="0"/>
                  <a:t>P</a:t>
                </a:r>
                <a:r>
                  <a:rPr lang="en-US" sz="2400" i="1" baseline="-25000" dirty="0"/>
                  <a:t>1</a:t>
                </a:r>
                <a:r>
                  <a:rPr lang="en-US" sz="2400" i="1" dirty="0"/>
                  <a:t>, P</a:t>
                </a:r>
                <a:r>
                  <a:rPr lang="en-US" sz="2400" i="1" baseline="-25000" dirty="0"/>
                  <a:t>2</a:t>
                </a:r>
                <a:r>
                  <a:rPr lang="en-US" sz="2400" i="1" dirty="0"/>
                  <a:t> … </a:t>
                </a:r>
                <a:r>
                  <a:rPr lang="en-US" sz="2400" i="1" dirty="0" err="1"/>
                  <a:t>P</a:t>
                </a:r>
                <a:r>
                  <a:rPr lang="en-US" sz="2400" i="1" baseline="-25000" dirty="0" err="1"/>
                  <a:t>n</a:t>
                </a:r>
                <a:r>
                  <a:rPr lang="en-US" i="1" dirty="0"/>
                  <a:t> </a:t>
                </a:r>
                <a:r>
                  <a:rPr lang="en-US" dirty="0">
                    <a:sym typeface="Wingdings" pitchFamily="2" charset="2"/>
                  </a:rPr>
                  <a:t>       </a:t>
                </a:r>
                <a:r>
                  <a:rPr lang="en-US" baseline="-25000" dirty="0">
                    <a:sym typeface="Wingdings" pitchFamily="2" charset="2"/>
                  </a:rPr>
                  <a:t>1,       </a:t>
                </a:r>
                <a:r>
                  <a:rPr lang="en-US" dirty="0">
                    <a:sym typeface="Wingdings" pitchFamily="2" charset="2"/>
                  </a:rPr>
                  <a:t> </a:t>
                </a:r>
                <a:r>
                  <a:rPr lang="en-US" baseline="-25000" dirty="0">
                    <a:sym typeface="Wingdings" pitchFamily="2" charset="2"/>
                  </a:rPr>
                  <a:t>2 </a:t>
                </a:r>
                <a:r>
                  <a:rPr lang="en-US" dirty="0">
                    <a:sym typeface="Wingdings" pitchFamily="2" charset="2"/>
                  </a:rPr>
                  <a:t>….  </a:t>
                </a:r>
                <a:r>
                  <a:rPr lang="en-US" baseline="-25000" dirty="0">
                    <a:sym typeface="Wingdings" pitchFamily="2" charset="2"/>
                  </a:rPr>
                  <a:t>n</a:t>
                </a:r>
                <a:r>
                  <a:rPr lang="en-US" dirty="0"/>
                  <a:t> </a:t>
                </a:r>
                <a:r>
                  <a:rPr lang="en-US" sz="2400" dirty="0"/>
                  <a:t>)</a:t>
                </a:r>
                <a:endParaRPr lang="en-US" baseline="-25000" dirty="0"/>
              </a:p>
            </p:txBody>
          </p:sp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75C26E87-DFF2-6A55-EC32-F6BA71022D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79331" y="5703960"/>
                <a:ext cx="369332" cy="3693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" name="Picture 2">
                <a:extLst>
                  <a:ext uri="{FF2B5EF4-FFF2-40B4-BE49-F238E27FC236}">
                    <a16:creationId xmlns:a16="http://schemas.microsoft.com/office/drawing/2014/main" id="{CD7D8CC5-51EB-1562-C537-31B832BDB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28648" y="5703960"/>
                <a:ext cx="369332" cy="3693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CCB3CC4E-A4C8-79E5-2890-0D966620F5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29226" y="5707634"/>
                <a:ext cx="368300" cy="368300"/>
              </a:xfrm>
              <a:prstGeom prst="rect">
                <a:avLst/>
              </a:prstGeom>
            </p:spPr>
          </p:pic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95695C9-E01E-8EFE-2D86-6776095EB381}"/>
                </a:ext>
              </a:extLst>
            </p:cNvPr>
            <p:cNvSpPr txBox="1"/>
            <p:nvPr/>
          </p:nvSpPr>
          <p:spPr>
            <a:xfrm>
              <a:off x="2431026" y="5927803"/>
              <a:ext cx="38170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  <a:r>
                <a:rPr lang="en-US" sz="2400" i="1" dirty="0"/>
                <a:t>P</a:t>
              </a:r>
              <a:r>
                <a:rPr lang="en-US" sz="2400" i="1" baseline="-25000" dirty="0"/>
                <a:t>1</a:t>
              </a:r>
              <a:r>
                <a:rPr lang="en-US" sz="2400" i="1" dirty="0"/>
                <a:t>, P</a:t>
              </a:r>
              <a:r>
                <a:rPr lang="en-US" sz="2400" i="1" baseline="-25000" dirty="0"/>
                <a:t>2</a:t>
              </a:r>
              <a:r>
                <a:rPr lang="en-US" sz="2400" i="1" dirty="0"/>
                <a:t> … </a:t>
              </a:r>
              <a:r>
                <a:rPr lang="en-US" sz="2400" i="1" dirty="0" err="1"/>
                <a:t>P</a:t>
              </a:r>
              <a:r>
                <a:rPr lang="en-US" sz="2400" i="1" baseline="-25000" dirty="0" err="1"/>
                <a:t>n</a:t>
              </a:r>
              <a:r>
                <a:rPr lang="en-US" i="1" dirty="0"/>
                <a:t> </a:t>
              </a:r>
              <a:r>
                <a:rPr lang="en-US" dirty="0">
                  <a:sym typeface="Wingdings" pitchFamily="2" charset="2"/>
                </a:rPr>
                <a:t> </a:t>
              </a:r>
              <a:r>
                <a:rPr lang="en-US" sz="2400" i="1" dirty="0">
                  <a:sym typeface="Wingdings" pitchFamily="2" charset="2"/>
                </a:rPr>
                <a:t>N</a:t>
              </a:r>
              <a:r>
                <a:rPr lang="en-US" sz="2400" i="1" baseline="-25000" dirty="0">
                  <a:sym typeface="Wingdings" pitchFamily="2" charset="2"/>
                </a:rPr>
                <a:t>1 </a:t>
              </a:r>
              <a:r>
                <a:rPr lang="en-US" sz="2400" i="1" dirty="0">
                  <a:sym typeface="Wingdings" pitchFamily="2" charset="2"/>
                </a:rPr>
                <a:t>, N</a:t>
              </a:r>
              <a:r>
                <a:rPr lang="en-US" sz="2400" i="1" baseline="-25000" dirty="0">
                  <a:sym typeface="Wingdings" pitchFamily="2" charset="2"/>
                </a:rPr>
                <a:t>2 </a:t>
              </a:r>
              <a:r>
                <a:rPr lang="en-US" sz="2400" i="1" dirty="0">
                  <a:sym typeface="Wingdings" pitchFamily="2" charset="2"/>
                </a:rPr>
                <a:t>, … </a:t>
              </a:r>
              <a:r>
                <a:rPr lang="en-US" sz="2400" i="1" dirty="0" err="1">
                  <a:sym typeface="Wingdings" pitchFamily="2" charset="2"/>
                </a:rPr>
                <a:t>N</a:t>
              </a:r>
              <a:r>
                <a:rPr lang="en-US" sz="2400" i="1" baseline="-25000" dirty="0" err="1">
                  <a:sym typeface="Wingdings" pitchFamily="2" charset="2"/>
                </a:rPr>
                <a:t>n</a:t>
              </a:r>
              <a:r>
                <a:rPr lang="en-US" sz="2400" i="1" baseline="-25000" dirty="0">
                  <a:sym typeface="Wingdings" pitchFamily="2" charset="2"/>
                </a:rPr>
                <a:t> </a:t>
              </a:r>
              <a:r>
                <a:rPr lang="en-US" sz="2400" dirty="0"/>
                <a:t>)</a:t>
              </a:r>
              <a:endParaRPr lang="en-US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77107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76CDF-6148-F37A-6A09-B187A18E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1BE7-1A62-E6AE-5C62-F3D0C8BB9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1007224" cy="2879725"/>
          </a:xfrm>
        </p:spPr>
        <p:txBody>
          <a:bodyPr>
            <a:normAutofit/>
          </a:bodyPr>
          <a:lstStyle/>
          <a:p>
            <a:r>
              <a:rPr lang="en-US" sz="5400" dirty="0"/>
              <a:t>Tagging Social Attributes</a:t>
            </a:r>
          </a:p>
        </p:txBody>
      </p:sp>
    </p:spTree>
    <p:extLst>
      <p:ext uri="{BB962C8B-B14F-4D97-AF65-F5344CB8AC3E}">
        <p14:creationId xmlns:p14="http://schemas.microsoft.com/office/powerpoint/2010/main" val="482994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68E76-690F-1B3E-A3EF-55DA798F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Question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9D86B9-99BA-6871-03F2-0A8C29E8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6823"/>
          </a:xfrm>
        </p:spPr>
        <p:txBody>
          <a:bodyPr>
            <a:normAutofit/>
          </a:bodyPr>
          <a:lstStyle/>
          <a:p>
            <a:r>
              <a:rPr lang="en-US" dirty="0"/>
              <a:t>How do architectural elements (tags) like: </a:t>
            </a:r>
          </a:p>
          <a:p>
            <a:pPr lvl="1"/>
            <a:r>
              <a:rPr lang="en-US" dirty="0"/>
              <a:t>spatial layout, </a:t>
            </a:r>
          </a:p>
          <a:p>
            <a:pPr lvl="1"/>
            <a:r>
              <a:rPr lang="en-US" dirty="0"/>
              <a:t>corridors, stairwells, entryways ... transitional space</a:t>
            </a:r>
          </a:p>
          <a:p>
            <a:pPr lvl="1"/>
            <a:r>
              <a:rPr lang="en-US" dirty="0"/>
              <a:t>circulation patterns, </a:t>
            </a:r>
          </a:p>
          <a:p>
            <a:pPr lvl="1"/>
            <a:r>
              <a:rPr lang="en-US" dirty="0"/>
              <a:t>lighting, </a:t>
            </a:r>
          </a:p>
          <a:p>
            <a:pPr lvl="1"/>
            <a:r>
              <a:rPr lang="en-US" dirty="0"/>
              <a:t>acoustics, </a:t>
            </a:r>
          </a:p>
          <a:p>
            <a:pPr lvl="1"/>
            <a:r>
              <a:rPr lang="en-US" dirty="0"/>
              <a:t>furniture arrangement, circular seating, row seating</a:t>
            </a:r>
          </a:p>
          <a:p>
            <a:pPr lvl="1"/>
            <a:r>
              <a:rPr lang="en-US" dirty="0"/>
              <a:t>public lobby, …</a:t>
            </a:r>
          </a:p>
          <a:p>
            <a:pPr lvl="1"/>
            <a:r>
              <a:rPr lang="en-US" dirty="0"/>
              <a:t>View (complicated), visual openness, partitioned spaces</a:t>
            </a:r>
          </a:p>
          <a:p>
            <a:pPr lvl="1"/>
            <a:r>
              <a:rPr lang="en-US" dirty="0"/>
              <a:t>Typology: retail, hospital, school …  </a:t>
            </a:r>
          </a:p>
          <a:p>
            <a:r>
              <a:rPr lang="en-US" dirty="0"/>
              <a:t>influence the diverse forms of social interaction </a:t>
            </a:r>
          </a:p>
        </p:txBody>
      </p:sp>
    </p:spTree>
    <p:extLst>
      <p:ext uri="{BB962C8B-B14F-4D97-AF65-F5344CB8AC3E}">
        <p14:creationId xmlns:p14="http://schemas.microsoft.com/office/powerpoint/2010/main" val="40574151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1C34-C297-5B35-C842-4C6FE8E5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</a:t>
            </a:r>
            <a:r>
              <a:rPr lang="en-US" dirty="0">
                <a:sym typeface="Wingdings" pitchFamily="2" charset="2"/>
              </a:rPr>
              <a:t> Social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FEA078-16AB-E002-A3F3-B1C3129AA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355888"/>
              </p:ext>
            </p:extLst>
          </p:nvPr>
        </p:nvGraphicFramePr>
        <p:xfrm>
          <a:off x="1001690" y="1519707"/>
          <a:ext cx="8670344" cy="4677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5172">
                  <a:extLst>
                    <a:ext uri="{9D8B030D-6E8A-4147-A177-3AD203B41FA5}">
                      <a16:colId xmlns:a16="http://schemas.microsoft.com/office/drawing/2014/main" val="2375786781"/>
                    </a:ext>
                  </a:extLst>
                </a:gridCol>
                <a:gridCol w="4335172">
                  <a:extLst>
                    <a:ext uri="{9D8B030D-6E8A-4147-A177-3AD203B41FA5}">
                      <a16:colId xmlns:a16="http://schemas.microsoft.com/office/drawing/2014/main" val="882592222"/>
                    </a:ext>
                  </a:extLst>
                </a:gridCol>
              </a:tblGrid>
              <a:tr h="6265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Physical Tags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Social Interaction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068909"/>
                  </a:ext>
                </a:extLst>
              </a:tr>
              <a:tr h="6265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open, lounge-like areas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more likely short, casual chats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805569"/>
                  </a:ext>
                </a:extLst>
              </a:tr>
              <a:tr h="6265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654413"/>
                  </a:ext>
                </a:extLst>
              </a:tr>
              <a:tr h="1544992">
                <a:tc>
                  <a:txBody>
                    <a:bodyPr/>
                    <a:lstStyle/>
                    <a:p>
                      <a:r>
                        <a:rPr lang="en-US" dirty="0"/>
                        <a:t>private or semi-private conference areas, perhaps with appropriate soundproofing and ergonomic furniture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formal, long, cognitively intense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060174"/>
                  </a:ext>
                </a:extLst>
              </a:tr>
              <a:tr h="6265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146560"/>
                  </a:ext>
                </a:extLst>
              </a:tr>
              <a:tr h="626580">
                <a:tc>
                  <a:txBody>
                    <a:bodyPr/>
                    <a:lstStyle/>
                    <a:p>
                      <a:r>
                        <a:rPr lang="en-US" dirty="0"/>
                        <a:t>Corridors, stairwells, entryways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short but frequent interactions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480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733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0F841-07BD-06C2-13C3-5636B136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Key Dimensions of Social Interaction to be predicted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B8AA04-15D6-3713-A6FE-C311C1701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943" y="500835"/>
            <a:ext cx="6555347" cy="6198382"/>
          </a:xfrm>
        </p:spPr>
        <p:txBody>
          <a:bodyPr anchor="ctr">
            <a:normAutofit/>
          </a:bodyPr>
          <a:lstStyle/>
          <a:p>
            <a:pPr lvl="0"/>
            <a:r>
              <a:rPr lang="en-US" sz="1700" b="1" dirty="0"/>
              <a:t>Duration</a:t>
            </a:r>
            <a:endParaRPr lang="en-US" sz="1700" dirty="0"/>
          </a:p>
          <a:p>
            <a:pPr lvl="1"/>
            <a:r>
              <a:rPr lang="en-US" sz="1700" b="1" dirty="0"/>
              <a:t>Brief or Ephemeral Interactions:</a:t>
            </a:r>
            <a:r>
              <a:rPr lang="en-US" sz="1700" dirty="0"/>
              <a:t> Quick exchanges such as greeting or asking for directions.</a:t>
            </a:r>
          </a:p>
          <a:p>
            <a:pPr lvl="1"/>
            <a:r>
              <a:rPr lang="en-US" sz="1700" b="1" dirty="0"/>
              <a:t>Extended or Ongoing Interactions:</a:t>
            </a:r>
            <a:r>
              <a:rPr lang="en-US" sz="1700" dirty="0"/>
              <a:t> Conversations, collaborative tasks, meetings.</a:t>
            </a:r>
            <a:br>
              <a:rPr lang="en-US" sz="1700" dirty="0"/>
            </a:br>
            <a:endParaRPr lang="en-US" sz="1700" dirty="0"/>
          </a:p>
          <a:p>
            <a:pPr lvl="0"/>
            <a:r>
              <a:rPr lang="en-US" sz="1700" b="1" dirty="0"/>
              <a:t>Participant Count</a:t>
            </a:r>
            <a:endParaRPr lang="en-US" sz="1700" dirty="0"/>
          </a:p>
          <a:p>
            <a:pPr lvl="1"/>
            <a:r>
              <a:rPr lang="en-US" sz="1700" b="1" dirty="0"/>
              <a:t>Dyadic (2-Person) Interactions:</a:t>
            </a:r>
            <a:r>
              <a:rPr lang="en-US" sz="1700" dirty="0"/>
              <a:t> Pairs talking or working together.</a:t>
            </a:r>
          </a:p>
          <a:p>
            <a:pPr lvl="1"/>
            <a:r>
              <a:rPr lang="en-US" sz="1700" b="1" dirty="0"/>
              <a:t>Small Groups (3–6 People):</a:t>
            </a:r>
            <a:r>
              <a:rPr lang="en-US" sz="1700" dirty="0"/>
              <a:t> Informal gatherings, brainstorming sessions, casual meet-ups.</a:t>
            </a:r>
          </a:p>
          <a:p>
            <a:pPr lvl="1"/>
            <a:r>
              <a:rPr lang="en-US" sz="1700" b="1" dirty="0"/>
              <a:t>Large Groups (7+ People):</a:t>
            </a:r>
            <a:r>
              <a:rPr lang="en-US" sz="1700" dirty="0"/>
              <a:t> Presentations, lectures, social events.</a:t>
            </a:r>
            <a:br>
              <a:rPr lang="en-US" sz="1700" dirty="0"/>
            </a:br>
            <a:endParaRPr lang="en-US" sz="1700" dirty="0"/>
          </a:p>
          <a:p>
            <a:pPr lvl="0"/>
            <a:r>
              <a:rPr lang="en-US" sz="1700" b="1" dirty="0"/>
              <a:t>Nature or Purpose of Interaction</a:t>
            </a:r>
            <a:endParaRPr lang="en-US" sz="1700" dirty="0"/>
          </a:p>
          <a:p>
            <a:pPr lvl="1"/>
            <a:r>
              <a:rPr lang="en-US" sz="1700" b="1" dirty="0"/>
              <a:t>Task-Oriented:</a:t>
            </a:r>
            <a:r>
              <a:rPr lang="en-US" sz="1700" dirty="0"/>
              <a:t> Goal-driven conversations, collaborative work, problem-solving.</a:t>
            </a:r>
          </a:p>
          <a:p>
            <a:pPr lvl="1"/>
            <a:r>
              <a:rPr lang="en-US" sz="1700" b="1" dirty="0"/>
              <a:t>Social-Emotional:</a:t>
            </a:r>
            <a:r>
              <a:rPr lang="en-US" sz="1700" dirty="0"/>
              <a:t> Friendly chats, bonding moments, emotional support.</a:t>
            </a:r>
          </a:p>
          <a:p>
            <a:pPr lvl="1"/>
            <a:r>
              <a:rPr lang="en-US" sz="1700" b="1" dirty="0"/>
              <a:t>Observational/Peripheral:</a:t>
            </a:r>
            <a:r>
              <a:rPr lang="en-US" sz="1700" dirty="0"/>
              <a:t> People watching, eavesdropping, incidental interactions while passing by.</a:t>
            </a:r>
          </a:p>
        </p:txBody>
      </p:sp>
    </p:spTree>
    <p:extLst>
      <p:ext uri="{BB962C8B-B14F-4D97-AF65-F5344CB8AC3E}">
        <p14:creationId xmlns:p14="http://schemas.microsoft.com/office/powerpoint/2010/main" val="1945600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7F8A5F-C46B-1055-6D0D-39EB68A2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Key Dimensions of Social Interaction to be predicted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25EC0F-39C3-2BF7-DA38-E6F812B98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219456"/>
            <a:ext cx="6555347" cy="6534912"/>
          </a:xfrm>
        </p:spPr>
        <p:txBody>
          <a:bodyPr anchor="ctr">
            <a:normAutofit/>
          </a:bodyPr>
          <a:lstStyle/>
          <a:p>
            <a:pPr lvl="0"/>
            <a:r>
              <a:rPr lang="en-US" sz="1700" b="1" dirty="0"/>
              <a:t>Level of Formality</a:t>
            </a:r>
            <a:endParaRPr lang="en-US" sz="1700" dirty="0"/>
          </a:p>
          <a:p>
            <a:pPr lvl="1"/>
            <a:r>
              <a:rPr lang="en-US" sz="1700" b="1" dirty="0"/>
              <a:t>Formal:</a:t>
            </a:r>
            <a:r>
              <a:rPr lang="en-US" sz="1700" dirty="0"/>
              <a:t> Structured settings (classrooms, conference rooms, offices), official events.</a:t>
            </a:r>
          </a:p>
          <a:p>
            <a:pPr lvl="1"/>
            <a:r>
              <a:rPr lang="en-US" sz="1700" b="1" dirty="0"/>
              <a:t>Informal:</a:t>
            </a:r>
            <a:r>
              <a:rPr lang="en-US" sz="1700" dirty="0"/>
              <a:t> Hallway chats, cafe conversations, recreational or leisure spaces.</a:t>
            </a:r>
            <a:br>
              <a:rPr lang="en-US" sz="1700" dirty="0"/>
            </a:br>
            <a:endParaRPr lang="en-US" sz="1700" dirty="0"/>
          </a:p>
          <a:p>
            <a:pPr lvl="0"/>
            <a:r>
              <a:rPr lang="en-US" sz="1700" b="1" dirty="0"/>
              <a:t>Spatial Context</a:t>
            </a:r>
            <a:endParaRPr lang="en-US" sz="1700" dirty="0"/>
          </a:p>
          <a:p>
            <a:pPr lvl="1">
              <a:spcAft>
                <a:spcPts val="600"/>
              </a:spcAft>
            </a:pPr>
            <a:r>
              <a:rPr lang="en-US" sz="1700" b="1" dirty="0"/>
              <a:t>Public vs. Private:</a:t>
            </a:r>
            <a:r>
              <a:rPr lang="en-US" sz="1700" dirty="0"/>
              <a:t> Public lobbies vs. secluded office corners.</a:t>
            </a:r>
          </a:p>
          <a:p>
            <a:pPr lvl="1"/>
            <a:r>
              <a:rPr lang="en-US" sz="1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Physical: </a:t>
            </a:r>
            <a:r>
              <a:rPr lang="en-US" sz="1700" b="1" dirty="0"/>
              <a:t>Transition Spaces:</a:t>
            </a:r>
            <a:r>
              <a:rPr lang="en-US" sz="1700" dirty="0"/>
              <a:t> Corridors, stairwells, entryways </a:t>
            </a:r>
          </a:p>
          <a:p>
            <a:pPr lvl="1">
              <a:spcAft>
                <a:spcPts val="600"/>
              </a:spcAft>
            </a:pPr>
            <a:r>
              <a:rPr lang="en-US" sz="1700" b="1" dirty="0">
                <a:solidFill>
                  <a:srgbClr val="FF0000"/>
                </a:solidFill>
              </a:rPr>
              <a:t>Prediction:</a:t>
            </a:r>
            <a:r>
              <a:rPr lang="en-US" sz="1700" dirty="0">
                <a:solidFill>
                  <a:srgbClr val="FF0000"/>
                </a:solidFill>
              </a:rPr>
              <a:t> </a:t>
            </a:r>
            <a:r>
              <a:rPr lang="en-US" sz="1700" dirty="0"/>
              <a:t>encourage short but frequent interactions.</a:t>
            </a:r>
          </a:p>
          <a:p>
            <a:pPr lvl="1"/>
            <a:r>
              <a:rPr lang="en-US" sz="17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Physical:  </a:t>
            </a:r>
            <a:r>
              <a:rPr lang="en-US" sz="1700" i="1" dirty="0"/>
              <a:t>Dedicated Interaction Zones: </a:t>
            </a:r>
            <a:r>
              <a:rPr lang="en-US" sz="1700" dirty="0"/>
              <a:t>Lounges, meeting rooms, dining areas </a:t>
            </a:r>
          </a:p>
          <a:p>
            <a:pPr lvl="1"/>
            <a:r>
              <a:rPr lang="en-US" sz="1700" b="1" dirty="0">
                <a:solidFill>
                  <a:srgbClr val="FF0000"/>
                </a:solidFill>
              </a:rPr>
              <a:t>Prediction</a:t>
            </a:r>
            <a:r>
              <a:rPr lang="en-US" sz="1700" dirty="0">
                <a:solidFill>
                  <a:srgbClr val="FF0000"/>
                </a:solidFill>
              </a:rPr>
              <a:t>: </a:t>
            </a:r>
            <a:r>
              <a:rPr lang="en-US" sz="1700" dirty="0"/>
              <a:t>encourage longer, more focused engagement.</a:t>
            </a:r>
            <a:br>
              <a:rPr lang="en-US" sz="1700" dirty="0"/>
            </a:br>
            <a:endParaRPr lang="en-US" sz="1700" dirty="0"/>
          </a:p>
          <a:p>
            <a:pPr lvl="0"/>
            <a:r>
              <a:rPr lang="en-US" sz="1700" b="1" dirty="0"/>
              <a:t>Physical Arrangement &amp; Proximity</a:t>
            </a:r>
            <a:endParaRPr lang="en-US" sz="1700" dirty="0"/>
          </a:p>
          <a:p>
            <a:pPr lvl="1"/>
            <a:r>
              <a:rPr lang="en-US" sz="1700" b="1" dirty="0"/>
              <a:t>Seating Layout:</a:t>
            </a:r>
            <a:r>
              <a:rPr lang="en-US" sz="1700" dirty="0"/>
              <a:t> Circular seating encourages inclusivity; rows encourage more formal, one-way communication.</a:t>
            </a:r>
          </a:p>
          <a:p>
            <a:pPr lvl="1"/>
            <a:r>
              <a:rPr lang="en-US" sz="1700" b="1" dirty="0"/>
              <a:t>Density/Crowding:</a:t>
            </a:r>
            <a:r>
              <a:rPr lang="en-US" sz="1700" dirty="0"/>
              <a:t> High-density areas can amplify or inhibit social interaction.</a:t>
            </a:r>
          </a:p>
          <a:p>
            <a:pPr lvl="1"/>
            <a:r>
              <a:rPr lang="en-US" sz="1700" b="1" dirty="0"/>
              <a:t>Access &amp; Visibility:</a:t>
            </a:r>
            <a:r>
              <a:rPr lang="en-US" sz="1700" dirty="0"/>
              <a:t> Visual openness can facilitate chance encounters; partitioned spaces can foster privacy or limit visibility.</a:t>
            </a:r>
          </a:p>
        </p:txBody>
      </p:sp>
    </p:spTree>
    <p:extLst>
      <p:ext uri="{BB962C8B-B14F-4D97-AF65-F5344CB8AC3E}">
        <p14:creationId xmlns:p14="http://schemas.microsoft.com/office/powerpoint/2010/main" val="3490491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37C3-F4B3-440B-048B-33D54B10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974A6005-FFF7-E8B5-26FD-CFA0B13FDDBB}"/>
              </a:ext>
            </a:extLst>
          </p:cNvPr>
          <p:cNvSpPr/>
          <p:nvPr/>
        </p:nvSpPr>
        <p:spPr>
          <a:xfrm>
            <a:off x="85344" y="2621280"/>
            <a:ext cx="7945287" cy="299733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252172-8C4B-5F17-391B-3F3C8B0FE180}"/>
              </a:ext>
            </a:extLst>
          </p:cNvPr>
          <p:cNvSpPr/>
          <p:nvPr/>
        </p:nvSpPr>
        <p:spPr>
          <a:xfrm>
            <a:off x="8325055" y="1649558"/>
            <a:ext cx="3927271" cy="52334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622BE-9651-889C-1A50-042FAD27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78195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*** Tagging Images by their Social Properties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51CC346-90F4-C737-DE6C-50A3D9A22804}"/>
              </a:ext>
            </a:extLst>
          </p:cNvPr>
          <p:cNvGrpSpPr/>
          <p:nvPr/>
        </p:nvGrpSpPr>
        <p:grpSpPr>
          <a:xfrm>
            <a:off x="223144" y="3216768"/>
            <a:ext cx="7796906" cy="1831972"/>
            <a:chOff x="232669" y="3603632"/>
            <a:chExt cx="7796906" cy="1831972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44AF5AC-C007-2E85-0340-C8D5B3E2E441}"/>
                </a:ext>
              </a:extLst>
            </p:cNvPr>
            <p:cNvSpPr/>
            <p:nvPr/>
          </p:nvSpPr>
          <p:spPr>
            <a:xfrm>
              <a:off x="232669" y="3603632"/>
              <a:ext cx="3643312" cy="18288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Physically Tagged Images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39E87F7-6BD9-E94C-162C-D9086A8E17EE}"/>
                </a:ext>
              </a:extLst>
            </p:cNvPr>
            <p:cNvSpPr/>
            <p:nvPr/>
          </p:nvSpPr>
          <p:spPr>
            <a:xfrm>
              <a:off x="4386263" y="3606804"/>
              <a:ext cx="3643312" cy="18288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Knowledge Base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Physical Tags </a:t>
              </a:r>
              <a:r>
                <a:rPr lang="en-US" sz="1600" dirty="0">
                  <a:solidFill>
                    <a:schemeClr val="tx1"/>
                  </a:solidFill>
                  <a:sym typeface="Wingdings" pitchFamily="2" charset="2"/>
                </a:rPr>
                <a:t> </a:t>
              </a:r>
              <a:r>
                <a:rPr lang="en-US" sz="1600" dirty="0">
                  <a:solidFill>
                    <a:schemeClr val="tx1"/>
                  </a:solidFill>
                </a:rPr>
                <a:t>Social parameters (given a set of social dimensions)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B52EE23-154E-E965-BC95-0A9C05BDB058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3875981" y="4518032"/>
              <a:ext cx="510282" cy="3172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08F2E87-0FDE-69E0-A860-DB55919ECA14}"/>
              </a:ext>
            </a:extLst>
          </p:cNvPr>
          <p:cNvSpPr txBox="1"/>
          <p:nvPr/>
        </p:nvSpPr>
        <p:spPr>
          <a:xfrm>
            <a:off x="8911866" y="1721409"/>
            <a:ext cx="2960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Generating Knowledge Base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488075-8043-BA52-3476-C3C5A406959E}"/>
              </a:ext>
            </a:extLst>
          </p:cNvPr>
          <p:cNvSpPr txBox="1"/>
          <p:nvPr/>
        </p:nvSpPr>
        <p:spPr>
          <a:xfrm>
            <a:off x="4445000" y="2832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1718D0F-1F41-2B87-A112-F50D39FBC51E}"/>
              </a:ext>
            </a:extLst>
          </p:cNvPr>
          <p:cNvGrpSpPr/>
          <p:nvPr/>
        </p:nvGrpSpPr>
        <p:grpSpPr>
          <a:xfrm>
            <a:off x="8021176" y="2165876"/>
            <a:ext cx="4361255" cy="4732116"/>
            <a:chOff x="8020050" y="2319615"/>
            <a:chExt cx="4361255" cy="473211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7A0D05D-5EFA-3046-48EF-D3B911510A8C}"/>
                </a:ext>
              </a:extLst>
            </p:cNvPr>
            <p:cNvSpPr/>
            <p:nvPr/>
          </p:nvSpPr>
          <p:spPr>
            <a:xfrm>
              <a:off x="8939212" y="4953412"/>
              <a:ext cx="3052763" cy="163788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Propose ‘validation’ Experiments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Subjective preference tests of </a:t>
              </a:r>
              <a:r>
                <a:rPr lang="en-US" sz="1600" dirty="0" err="1">
                  <a:solidFill>
                    <a:schemeClr val="tx1"/>
                  </a:solidFill>
                </a:rPr>
                <a:t>envs</a:t>
              </a:r>
              <a:r>
                <a:rPr lang="en-US" sz="1600" dirty="0">
                  <a:solidFill>
                    <a:schemeClr val="tx1"/>
                  </a:solidFill>
                </a:rPr>
                <a:t> according to team of experts – </a:t>
              </a:r>
              <a:r>
                <a:rPr lang="en-US" sz="1600" b="1" i="1" dirty="0">
                  <a:solidFill>
                    <a:schemeClr val="tx1"/>
                  </a:solidFill>
                </a:rPr>
                <a:t>Human Evaluations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BD5DF6F-F062-5AA2-AADA-307E2D656AC4}"/>
                </a:ext>
              </a:extLst>
            </p:cNvPr>
            <p:cNvSpPr/>
            <p:nvPr/>
          </p:nvSpPr>
          <p:spPr>
            <a:xfrm>
              <a:off x="8962507" y="2319615"/>
              <a:ext cx="3052762" cy="13255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AI Analysis of Technical Literature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Experimental, theoretical literature on CNfA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662ABCF-EF6A-9B4C-55DB-9CD0D49A2825}"/>
                </a:ext>
              </a:extLst>
            </p:cNvPr>
            <p:cNvCxnSpPr>
              <a:cxnSpLocks/>
              <a:stCxn id="6" idx="1"/>
              <a:endCxn id="11" idx="1"/>
            </p:cNvCxnSpPr>
            <p:nvPr/>
          </p:nvCxnSpPr>
          <p:spPr>
            <a:xfrm flipH="1">
              <a:off x="8583263" y="2982397"/>
              <a:ext cx="379244" cy="9441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36ED220-1ED4-8ABB-8A8D-3EBDA2099EE6}"/>
                </a:ext>
              </a:extLst>
            </p:cNvPr>
            <p:cNvCxnSpPr>
              <a:cxnSpLocks/>
              <a:stCxn id="5" idx="1"/>
              <a:endCxn id="11" idx="3"/>
            </p:cNvCxnSpPr>
            <p:nvPr/>
          </p:nvCxnSpPr>
          <p:spPr>
            <a:xfrm flipH="1" flipV="1">
              <a:off x="8583263" y="4672019"/>
              <a:ext cx="355949" cy="11003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5E15600-2F10-CCD3-3B4F-019B0B5F4E29}"/>
                </a:ext>
              </a:extLst>
            </p:cNvPr>
            <p:cNvGrpSpPr/>
            <p:nvPr/>
          </p:nvGrpSpPr>
          <p:grpSpPr>
            <a:xfrm>
              <a:off x="8326437" y="3772186"/>
              <a:ext cx="1753715" cy="1054220"/>
              <a:chOff x="8389145" y="4112807"/>
              <a:chExt cx="1457325" cy="798512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63285A6-4B2F-1688-4C5F-09236EBD630B}"/>
                  </a:ext>
                </a:extLst>
              </p:cNvPr>
              <p:cNvSpPr/>
              <p:nvPr/>
            </p:nvSpPr>
            <p:spPr>
              <a:xfrm>
                <a:off x="8389145" y="4112807"/>
                <a:ext cx="1457325" cy="798512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E7D41A-CA76-2C64-50ED-A00CD48A46AA}"/>
                  </a:ext>
                </a:extLst>
              </p:cNvPr>
              <p:cNvSpPr txBox="1"/>
              <p:nvPr/>
            </p:nvSpPr>
            <p:spPr>
              <a:xfrm>
                <a:off x="8609472" y="4253016"/>
                <a:ext cx="1037377" cy="48955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Integrate results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3F1B5E-EF5F-D116-ECB4-C1140956BA3E}"/>
                </a:ext>
              </a:extLst>
            </p:cNvPr>
            <p:cNvSpPr txBox="1"/>
            <p:nvPr/>
          </p:nvSpPr>
          <p:spPr>
            <a:xfrm>
              <a:off x="8296854" y="6682399"/>
              <a:ext cx="4084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Sort ABC according to ‘typical duration’ 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4C0F64D-6307-B76B-1E5F-F46F3354A8F2}"/>
                </a:ext>
              </a:extLst>
            </p:cNvPr>
            <p:cNvCxnSpPr>
              <a:cxnSpLocks/>
              <a:stCxn id="11" idx="2"/>
              <a:endCxn id="4" idx="3"/>
            </p:cNvCxnSpPr>
            <p:nvPr/>
          </p:nvCxnSpPr>
          <p:spPr>
            <a:xfrm flipH="1">
              <a:off x="8020050" y="4299296"/>
              <a:ext cx="306387" cy="158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5339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5217-4BFC-F75C-90AB-4613D80F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EB5F-D0CA-F56A-1A0D-D720F0EA4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Inferring (&amp; Tagging) a Space’s Functionality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815F4-4706-04DB-9A4A-CF3F7E8AE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Tagging the activities it supports and how well</a:t>
            </a:r>
          </a:p>
        </p:txBody>
      </p:sp>
    </p:spTree>
    <p:extLst>
      <p:ext uri="{BB962C8B-B14F-4D97-AF65-F5344CB8AC3E}">
        <p14:creationId xmlns:p14="http://schemas.microsoft.com/office/powerpoint/2010/main" val="2282725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615755-46AF-0B97-D091-9BB65A85126C}"/>
              </a:ext>
            </a:extLst>
          </p:cNvPr>
          <p:cNvSpPr/>
          <p:nvPr/>
        </p:nvSpPr>
        <p:spPr>
          <a:xfrm>
            <a:off x="180305" y="2833352"/>
            <a:ext cx="7381874" cy="40246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54CE61-3D2F-6B17-8587-16093E2CE886}"/>
              </a:ext>
            </a:extLst>
          </p:cNvPr>
          <p:cNvSpPr/>
          <p:nvPr/>
        </p:nvSpPr>
        <p:spPr>
          <a:xfrm>
            <a:off x="358671" y="4033925"/>
            <a:ext cx="2515157" cy="110950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</a:rPr>
              <a:t>Bldg</a:t>
            </a:r>
            <a:r>
              <a:rPr lang="en-US" sz="2800" dirty="0">
                <a:solidFill>
                  <a:schemeClr val="tx1"/>
                </a:solidFill>
              </a:rPr>
              <a:t>/ Room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Typologies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CF3D0FA-3376-4740-C223-399624040984}"/>
              </a:ext>
            </a:extLst>
          </p:cNvPr>
          <p:cNvSpPr/>
          <p:nvPr/>
        </p:nvSpPr>
        <p:spPr>
          <a:xfrm>
            <a:off x="3141610" y="5485850"/>
            <a:ext cx="1918952" cy="9968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Typical Activities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C2D1A0-1335-1A68-EF84-D16D0FC55B79}"/>
              </a:ext>
            </a:extLst>
          </p:cNvPr>
          <p:cNvSpPr/>
          <p:nvPr/>
        </p:nvSpPr>
        <p:spPr>
          <a:xfrm>
            <a:off x="4698576" y="3440333"/>
            <a:ext cx="2794848" cy="15593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Activity Space Analysis of each Activity in that room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4291D-77C4-6237-F4FD-4D32DDCF2AE0}"/>
              </a:ext>
            </a:extLst>
          </p:cNvPr>
          <p:cNvSpPr txBox="1"/>
          <p:nvPr/>
        </p:nvSpPr>
        <p:spPr>
          <a:xfrm>
            <a:off x="399246" y="2907715"/>
            <a:ext cx="33843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Functional Analysis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2F18CF1-B065-B983-35BB-B8EDF4C55ADE}"/>
              </a:ext>
            </a:extLst>
          </p:cNvPr>
          <p:cNvSpPr/>
          <p:nvPr/>
        </p:nvSpPr>
        <p:spPr>
          <a:xfrm>
            <a:off x="7962229" y="1467227"/>
            <a:ext cx="3039415" cy="14166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7D31B-6831-2F64-6564-07AC1FE59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 driven analysis of the potential activity spaces in a physical space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297EC1-5D27-11EB-3581-83BD55371C22}"/>
              </a:ext>
            </a:extLst>
          </p:cNvPr>
          <p:cNvSpPr/>
          <p:nvPr/>
        </p:nvSpPr>
        <p:spPr>
          <a:xfrm>
            <a:off x="8542988" y="4116973"/>
            <a:ext cx="3333011" cy="18694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How good is this space for supporting Activity A</a:t>
            </a:r>
            <a:r>
              <a:rPr lang="en-US" sz="2800" baseline="-25000" dirty="0">
                <a:solidFill>
                  <a:schemeClr val="tx1"/>
                </a:solidFill>
              </a:rPr>
              <a:t>1</a:t>
            </a:r>
            <a:r>
              <a:rPr lang="en-US" sz="2800" dirty="0">
                <a:solidFill>
                  <a:schemeClr val="tx1"/>
                </a:solidFill>
              </a:rPr>
              <a:t>, A</a:t>
            </a:r>
            <a:r>
              <a:rPr lang="en-US" sz="2800" baseline="-25000" dirty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 … A</a:t>
            </a:r>
            <a:r>
              <a:rPr lang="en-US" sz="2800" baseline="-250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E1805491-4B15-846B-1DC2-981BEAD18C72}"/>
              </a:ext>
            </a:extLst>
          </p:cNvPr>
          <p:cNvSpPr/>
          <p:nvPr/>
        </p:nvSpPr>
        <p:spPr>
          <a:xfrm>
            <a:off x="7579816" y="5143431"/>
            <a:ext cx="980809" cy="1667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1919FC11-15D0-C3A7-A079-737DF0C631EA}"/>
              </a:ext>
            </a:extLst>
          </p:cNvPr>
          <p:cNvCxnSpPr>
            <a:stCxn id="11" idx="1"/>
            <a:endCxn id="8" idx="0"/>
          </p:cNvCxnSpPr>
          <p:nvPr/>
        </p:nvCxnSpPr>
        <p:spPr>
          <a:xfrm rot="10800000" flipV="1">
            <a:off x="3871243" y="2175564"/>
            <a:ext cx="4090987" cy="65778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517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8550-F5AC-B66B-51D7-DDD06489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Tagging complexities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F504-F5AC-B4BC-CDDF-C043D3112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Get Chat to create a physical and functional collection of tags – possible with:</a:t>
            </a:r>
          </a:p>
          <a:p>
            <a:r>
              <a:rPr lang="en-US" dirty="0"/>
              <a:t>Shapes, regions, structural properties, materials on walls, materials on floors, lighting, windows, view through the window, time of day,  - ask it to think of all the identifiable tags in a room that might possibly be factors in the psych and activity related implications of a room/space. </a:t>
            </a:r>
          </a:p>
          <a:p>
            <a:r>
              <a:rPr lang="en-US" dirty="0"/>
              <a:t>Have it develop a similarity function that compares two or more images according to their relevant similarity where </a:t>
            </a:r>
            <a:r>
              <a:rPr lang="en-US" dirty="0" err="1"/>
              <a:t>similiarity</a:t>
            </a:r>
            <a:r>
              <a:rPr lang="en-US" dirty="0"/>
              <a:t> metric is sensitive to what the user wants – similar in function, similar in restorativeness – with a slider that shows these examples either maximally diverse first or maximally similar.  Or perhaps have that slider on the results page of thumbnails. </a:t>
            </a:r>
          </a:p>
        </p:txBody>
      </p:sp>
    </p:spTree>
    <p:extLst>
      <p:ext uri="{BB962C8B-B14F-4D97-AF65-F5344CB8AC3E}">
        <p14:creationId xmlns:p14="http://schemas.microsoft.com/office/powerpoint/2010/main" val="1821735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A17F-6F52-77D4-0E82-AED2916A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15211-0C39-3C03-6791-5E4B0C14F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to compute thumbnails for all images in advance</a:t>
            </a:r>
          </a:p>
          <a:p>
            <a:r>
              <a:rPr lang="en-US" dirty="0"/>
              <a:t>Discuss dbase design</a:t>
            </a:r>
          </a:p>
          <a:p>
            <a:pPr lvl="1"/>
            <a:r>
              <a:rPr lang="en-US" dirty="0"/>
              <a:t>Make sure that as much is being precomputed as possible, maybe some of the precomputed values can be done by distributed the task to different LLMs, VLM’s to minimize cost</a:t>
            </a:r>
          </a:p>
        </p:txBody>
      </p:sp>
    </p:spTree>
    <p:extLst>
      <p:ext uri="{BB962C8B-B14F-4D97-AF65-F5344CB8AC3E}">
        <p14:creationId xmlns:p14="http://schemas.microsoft.com/office/powerpoint/2010/main" val="77131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ECA8-4C78-2B68-53C7-20FC20FF6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minimization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68A19-4305-8342-7111-D2BE770DE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Whole topic of how to divide the tagging and inference to </a:t>
            </a:r>
            <a:r>
              <a:rPr lang="en-US"/>
              <a:t>different models to min cost</a:t>
            </a:r>
          </a:p>
        </p:txBody>
      </p:sp>
    </p:spTree>
    <p:extLst>
      <p:ext uri="{BB962C8B-B14F-4D97-AF65-F5344CB8AC3E}">
        <p14:creationId xmlns:p14="http://schemas.microsoft.com/office/powerpoint/2010/main" val="2322978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B2E21F6-DAFE-F06A-57FA-537546874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285" y="-1"/>
            <a:ext cx="11843071" cy="656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07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E59F-C197-B1A1-B433-C103050A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B5E4BF-2271-4582-A81E-7AF3147F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functional needs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C66D37-CA13-6FD0-2053-97C3D5984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63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5312F-0DF0-7D4C-EED8-48A8E7FF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DD126E-743D-6BD9-7F43-62879AE70221}"/>
              </a:ext>
            </a:extLst>
          </p:cNvPr>
          <p:cNvSpPr/>
          <p:nvPr/>
        </p:nvSpPr>
        <p:spPr>
          <a:xfrm>
            <a:off x="9652870" y="1340596"/>
            <a:ext cx="2539130" cy="52950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39E5A9-50F7-9281-D11E-6F8E65F66B33}"/>
              </a:ext>
            </a:extLst>
          </p:cNvPr>
          <p:cNvSpPr txBox="1"/>
          <p:nvPr/>
        </p:nvSpPr>
        <p:spPr>
          <a:xfrm>
            <a:off x="787506" y="168437"/>
            <a:ext cx="1135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Image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4DF5C9BB-1F8A-9F0F-7D06-36C29B12DE13}"/>
              </a:ext>
            </a:extLst>
          </p:cNvPr>
          <p:cNvSpPr/>
          <p:nvPr/>
        </p:nvSpPr>
        <p:spPr>
          <a:xfrm>
            <a:off x="9744" y="2116718"/>
            <a:ext cx="2308276" cy="452503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Plants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 to Ceiling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windows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Curvilinear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Shapes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Ceiling Height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Furniture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Visible acoustic treatments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Color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Materials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Texture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Flooring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165E1A-9D3C-86F9-F1F2-30209B1FDDFE}"/>
              </a:ext>
            </a:extLst>
          </p:cNvPr>
          <p:cNvGrpSpPr/>
          <p:nvPr/>
        </p:nvGrpSpPr>
        <p:grpSpPr>
          <a:xfrm>
            <a:off x="3901612" y="567061"/>
            <a:ext cx="3698536" cy="6068613"/>
            <a:chOff x="3901612" y="567061"/>
            <a:chExt cx="3698536" cy="606861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0A5A220-3F2D-3F5D-CF81-565C379286AE}"/>
                </a:ext>
              </a:extLst>
            </p:cNvPr>
            <p:cNvGrpSpPr/>
            <p:nvPr/>
          </p:nvGrpSpPr>
          <p:grpSpPr>
            <a:xfrm>
              <a:off x="4114975" y="1340597"/>
              <a:ext cx="3485173" cy="5295077"/>
              <a:chOff x="1705883" y="1163756"/>
              <a:chExt cx="3600876" cy="546796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9D0F80A-90CE-E0A2-8E54-FC78936F4E2B}"/>
                  </a:ext>
                </a:extLst>
              </p:cNvPr>
              <p:cNvSpPr/>
              <p:nvPr/>
            </p:nvSpPr>
            <p:spPr>
              <a:xfrm>
                <a:off x="1705883" y="1163756"/>
                <a:ext cx="2623426" cy="5467969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4F78516-2149-D1E8-22F9-C20B87B48EC3}"/>
                  </a:ext>
                </a:extLst>
              </p:cNvPr>
              <p:cNvGrpSpPr/>
              <p:nvPr/>
            </p:nvGrpSpPr>
            <p:grpSpPr>
              <a:xfrm>
                <a:off x="4155190" y="1887287"/>
                <a:ext cx="1151569" cy="3956034"/>
                <a:chOff x="4155190" y="1887287"/>
                <a:chExt cx="1151569" cy="3956034"/>
              </a:xfrm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53349743-8564-76FE-DE57-8D1204E532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9657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0B741FC5-E590-5128-9877-5B149550D0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20245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0B31FC6F-1C99-EDA3-42F4-4B6C067A32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6" y="3818744"/>
                  <a:ext cx="1151563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C4152671-B4CE-B16A-6500-CE9C0DC168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5190" y="1887287"/>
                  <a:ext cx="1151569" cy="19314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EF04AEA4-28BC-D432-F776-DE59A4DD674F}"/>
                  </a:ext>
                </a:extLst>
              </p:cNvPr>
              <p:cNvSpPr/>
              <p:nvPr/>
            </p:nvSpPr>
            <p:spPr>
              <a:xfrm>
                <a:off x="1880006" y="1440604"/>
                <a:ext cx="2275180" cy="799901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Cognitive Effects</a:t>
                </a: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019C7747-0FE3-F8D1-5678-EFEEA90E9381}"/>
                  </a:ext>
                </a:extLst>
              </p:cNvPr>
              <p:cNvSpPr/>
              <p:nvPr/>
            </p:nvSpPr>
            <p:spPr>
              <a:xfrm>
                <a:off x="1910488" y="2429310"/>
                <a:ext cx="2230328" cy="789119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Emotional Effects</a:t>
                </a:r>
              </a:p>
            </p:txBody>
          </p:sp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24190C74-CF96-1D75-1A7A-D0FA6B3BE8FC}"/>
                  </a:ext>
                </a:extLst>
              </p:cNvPr>
              <p:cNvSpPr/>
              <p:nvPr/>
            </p:nvSpPr>
            <p:spPr>
              <a:xfrm>
                <a:off x="1880003" y="3372064"/>
                <a:ext cx="2246441" cy="77948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Neuro Effects</a:t>
                </a:r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BCB909A2-CD5B-65A9-2260-7C8D5FCBDBF8}"/>
                  </a:ext>
                </a:extLst>
              </p:cNvPr>
              <p:cNvSpPr/>
              <p:nvPr/>
            </p:nvSpPr>
            <p:spPr>
              <a:xfrm>
                <a:off x="1880003" y="4493992"/>
                <a:ext cx="2246441" cy="732044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Social Interaction</a:t>
                </a:r>
              </a:p>
            </p:txBody>
          </p: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9DA7F1A7-2803-B862-0D32-C4E63A5517F6}"/>
                  </a:ext>
                </a:extLst>
              </p:cNvPr>
              <p:cNvSpPr/>
              <p:nvPr/>
            </p:nvSpPr>
            <p:spPr>
              <a:xfrm>
                <a:off x="1880006" y="5531893"/>
                <a:ext cx="2246441" cy="768627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Well designed for following Activities</a:t>
                </a: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9FD2AF7-3C13-A017-2B19-A00E8C6C5DB0}"/>
                  </a:ext>
                </a:extLst>
              </p:cNvPr>
              <p:cNvCxnSpPr>
                <a:stCxn id="41" idx="3"/>
              </p:cNvCxnSpPr>
              <p:nvPr/>
            </p:nvCxnSpPr>
            <p:spPr>
              <a:xfrm>
                <a:off x="4140816" y="2823870"/>
                <a:ext cx="1165943" cy="10041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6A9AE96-D519-4664-7EC1-46CF2CA6FA78}"/>
                </a:ext>
              </a:extLst>
            </p:cNvPr>
            <p:cNvSpPr txBox="1"/>
            <p:nvPr/>
          </p:nvSpPr>
          <p:spPr>
            <a:xfrm>
              <a:off x="3901612" y="567061"/>
              <a:ext cx="30428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i="1" dirty="0"/>
                <a:t> Visual Based Inferences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5F8F5ACC-AC74-3373-6F41-E39AE0EABFDB}"/>
              </a:ext>
            </a:extLst>
          </p:cNvPr>
          <p:cNvSpPr txBox="1"/>
          <p:nvPr/>
        </p:nvSpPr>
        <p:spPr>
          <a:xfrm>
            <a:off x="398746" y="870000"/>
            <a:ext cx="1672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AI: generated</a:t>
            </a:r>
          </a:p>
          <a:p>
            <a:pPr algn="ctr"/>
            <a:r>
              <a:rPr lang="en-US" b="1" dirty="0"/>
              <a:t>1000’s of</a:t>
            </a:r>
          </a:p>
          <a:p>
            <a:pPr algn="ctr"/>
            <a:r>
              <a:rPr lang="en-US" b="1" dirty="0"/>
              <a:t>Physical </a:t>
            </a:r>
          </a:p>
          <a:p>
            <a:pPr algn="ctr"/>
            <a:r>
              <a:rPr lang="en-US" b="1" dirty="0"/>
              <a:t>Tags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8551494-6F76-A0A9-FA8B-FFC4999E6E6B}"/>
              </a:ext>
            </a:extLst>
          </p:cNvPr>
          <p:cNvGrpSpPr/>
          <p:nvPr/>
        </p:nvGrpSpPr>
        <p:grpSpPr>
          <a:xfrm>
            <a:off x="8812768" y="632711"/>
            <a:ext cx="3365436" cy="5647472"/>
            <a:chOff x="8812768" y="632711"/>
            <a:chExt cx="3365436" cy="564747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FAA78DB-D97B-FE0D-D93E-793CFEF7FA44}"/>
                </a:ext>
              </a:extLst>
            </p:cNvPr>
            <p:cNvGrpSpPr/>
            <p:nvPr/>
          </p:nvGrpSpPr>
          <p:grpSpPr>
            <a:xfrm>
              <a:off x="8812768" y="1674296"/>
              <a:ext cx="3103390" cy="4605887"/>
              <a:chOff x="7240109" y="1449918"/>
              <a:chExt cx="3206418" cy="475627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425E5BC6-6933-C9ED-A63C-72A6385024D7}"/>
                  </a:ext>
                </a:extLst>
              </p:cNvPr>
              <p:cNvGrpSpPr/>
              <p:nvPr/>
            </p:nvGrpSpPr>
            <p:grpSpPr>
              <a:xfrm rot="10800000">
                <a:off x="7240109" y="1771086"/>
                <a:ext cx="1151569" cy="3956034"/>
                <a:chOff x="4155190" y="1887287"/>
                <a:chExt cx="1151569" cy="3956034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81EA392D-31F8-5DB3-658A-763E9FC40832}"/>
                    </a:ext>
                  </a:extLst>
                </p:cNvPr>
                <p:cNvCxnSpPr/>
                <p:nvPr/>
              </p:nvCxnSpPr>
              <p:spPr>
                <a:xfrm>
                  <a:off x="4155190" y="1887287"/>
                  <a:ext cx="1151569" cy="19314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AD924658-3149-346B-A898-9B043600D2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4155193" y="2853016"/>
                  <a:ext cx="1151566" cy="9657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6B2E6D06-2C70-4009-836B-5E007DBE64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6" y="3818744"/>
                  <a:ext cx="1151563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6F89B09B-21A9-7141-CA9B-84157C5759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9657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9E4676B2-79B0-B167-E233-7FADE4E5B0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20245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E7E0B069-B92A-1D66-BB01-EF1119EEB093}"/>
                  </a:ext>
                </a:extLst>
              </p:cNvPr>
              <p:cNvGrpSpPr/>
              <p:nvPr/>
            </p:nvGrpSpPr>
            <p:grpSpPr>
              <a:xfrm>
                <a:off x="8391669" y="1449918"/>
                <a:ext cx="2054858" cy="4756276"/>
                <a:chOff x="2100335" y="1497542"/>
                <a:chExt cx="2054858" cy="4756276"/>
              </a:xfrm>
              <a:solidFill>
                <a:schemeClr val="accent6">
                  <a:lumMod val="75000"/>
                </a:schemeClr>
              </a:solidFill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88C3C414-5E72-05F3-4840-4DB6A39BABC4}"/>
                    </a:ext>
                  </a:extLst>
                </p:cNvPr>
                <p:cNvSpPr/>
                <p:nvPr/>
              </p:nvSpPr>
              <p:spPr>
                <a:xfrm>
                  <a:off x="2100337" y="1497542"/>
                  <a:ext cx="2054853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Cog Effects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48497CF-B94A-9DC2-3064-07C0886979C7}"/>
                    </a:ext>
                  </a:extLst>
                </p:cNvPr>
                <p:cNvSpPr/>
                <p:nvPr/>
              </p:nvSpPr>
              <p:spPr>
                <a:xfrm>
                  <a:off x="2100339" y="3429000"/>
                  <a:ext cx="2054854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Neuro Effects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B597948-5C21-089C-B316-0BD686281C77}"/>
                    </a:ext>
                  </a:extLst>
                </p:cNvPr>
                <p:cNvSpPr/>
                <p:nvPr/>
              </p:nvSpPr>
              <p:spPr>
                <a:xfrm>
                  <a:off x="2100336" y="4394729"/>
                  <a:ext cx="2054854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Social Interaction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32D579E1-225C-B88E-3906-34DBE70123A0}"/>
                    </a:ext>
                  </a:extLst>
                </p:cNvPr>
                <p:cNvSpPr/>
                <p:nvPr/>
              </p:nvSpPr>
              <p:spPr>
                <a:xfrm>
                  <a:off x="2100335" y="5360458"/>
                  <a:ext cx="2054855" cy="89336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Well designed for following Activities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CEF2B02-DFB0-45DD-C14E-84E7A43A0C83}"/>
                    </a:ext>
                  </a:extLst>
                </p:cNvPr>
                <p:cNvSpPr/>
                <p:nvPr/>
              </p:nvSpPr>
              <p:spPr>
                <a:xfrm>
                  <a:off x="2100337" y="2463271"/>
                  <a:ext cx="2054856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Emotional Effects</a:t>
                  </a:r>
                </a:p>
              </p:txBody>
            </p:sp>
          </p:grp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3BFBA0E-797F-4446-AFD8-58017AE67ADB}"/>
                </a:ext>
              </a:extLst>
            </p:cNvPr>
            <p:cNvSpPr txBox="1"/>
            <p:nvPr/>
          </p:nvSpPr>
          <p:spPr>
            <a:xfrm>
              <a:off x="9370047" y="632711"/>
              <a:ext cx="28081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/>
                <a:t>All things considered Inferences</a:t>
              </a:r>
            </a:p>
          </p:txBody>
        </p:sp>
      </p:grp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90EBBE71-E859-A2F1-CBAD-FF02730AFFB5}"/>
              </a:ext>
            </a:extLst>
          </p:cNvPr>
          <p:cNvCxnSpPr>
            <a:cxnSpLocks/>
          </p:cNvCxnSpPr>
          <p:nvPr/>
        </p:nvCxnSpPr>
        <p:spPr>
          <a:xfrm rot="5400000">
            <a:off x="-378123" y="1079330"/>
            <a:ext cx="1773077" cy="405476"/>
          </a:xfrm>
          <a:prstGeom prst="bentConnector3">
            <a:avLst>
              <a:gd name="adj1" fmla="val 317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30CC741-44C3-CD33-02DF-AE30CCC77EC2}"/>
              </a:ext>
            </a:extLst>
          </p:cNvPr>
          <p:cNvSpPr/>
          <p:nvPr/>
        </p:nvSpPr>
        <p:spPr>
          <a:xfrm>
            <a:off x="7362056" y="3564107"/>
            <a:ext cx="1857318" cy="77703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Multimodal Interaction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3169D3-9B12-42C6-B6DB-05E541E0D89C}"/>
              </a:ext>
            </a:extLst>
          </p:cNvPr>
          <p:cNvGrpSpPr/>
          <p:nvPr/>
        </p:nvGrpSpPr>
        <p:grpSpPr>
          <a:xfrm>
            <a:off x="2181158" y="807669"/>
            <a:ext cx="1933817" cy="5174540"/>
            <a:chOff x="2181158" y="807669"/>
            <a:chExt cx="1933817" cy="5174540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E9E7D9A-1457-C57F-86E6-A8966527D582}"/>
                </a:ext>
              </a:extLst>
            </p:cNvPr>
            <p:cNvCxnSpPr>
              <a:cxnSpLocks/>
            </p:cNvCxnSpPr>
            <p:nvPr/>
          </p:nvCxnSpPr>
          <p:spPr>
            <a:xfrm>
              <a:off x="3177176" y="4009335"/>
              <a:ext cx="9377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55A48FD-9CCD-435F-F78C-179E4F4E7A5F}"/>
                </a:ext>
              </a:extLst>
            </p:cNvPr>
            <p:cNvSpPr/>
            <p:nvPr/>
          </p:nvSpPr>
          <p:spPr>
            <a:xfrm>
              <a:off x="2294674" y="4267560"/>
              <a:ext cx="1734698" cy="171464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dirty="0"/>
                <a:t>Complex</a:t>
              </a:r>
            </a:p>
            <a:p>
              <a:pPr algn="ctr"/>
              <a:r>
                <a:rPr lang="en-US" sz="2400" dirty="0"/>
                <a:t> Statistical</a:t>
              </a:r>
            </a:p>
            <a:p>
              <a:pPr algn="ctr"/>
              <a:r>
                <a:rPr lang="en-US" sz="2400" dirty="0"/>
                <a:t>Analysis</a:t>
              </a:r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650B2F2-3BC5-72C0-D077-5BE105F34302}"/>
                </a:ext>
              </a:extLst>
            </p:cNvPr>
            <p:cNvSpPr txBox="1"/>
            <p:nvPr/>
          </p:nvSpPr>
          <p:spPr>
            <a:xfrm>
              <a:off x="2181158" y="807669"/>
              <a:ext cx="18482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/>
                <a:t>AI analyzed</a:t>
              </a:r>
            </a:p>
            <a:p>
              <a:pPr algn="ctr"/>
              <a:r>
                <a:rPr lang="en-US" sz="2000" b="1" i="1" dirty="0"/>
                <a:t>Science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57EC7BF-CD9F-C5DA-AEEE-DAACFC2ED306}"/>
                </a:ext>
              </a:extLst>
            </p:cNvPr>
            <p:cNvSpPr/>
            <p:nvPr/>
          </p:nvSpPr>
          <p:spPr>
            <a:xfrm>
              <a:off x="2324980" y="1830034"/>
              <a:ext cx="1704392" cy="1889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What </a:t>
              </a:r>
            </a:p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Experimental </a:t>
              </a:r>
            </a:p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Science</a:t>
              </a:r>
            </a:p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Tells Us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76FF0B8-0945-E081-AF50-0FDD2231295C}"/>
                </a:ext>
              </a:extLst>
            </p:cNvPr>
            <p:cNvCxnSpPr>
              <a:stCxn id="67" idx="4"/>
              <a:endCxn id="61" idx="0"/>
            </p:cNvCxnSpPr>
            <p:nvPr/>
          </p:nvCxnSpPr>
          <p:spPr>
            <a:xfrm flipH="1">
              <a:off x="3162023" y="3719674"/>
              <a:ext cx="15153" cy="547886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1109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71406-A974-F7EC-1657-889A34FD9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783391E8-940E-CABB-0710-56D3F94EE38A}"/>
              </a:ext>
            </a:extLst>
          </p:cNvPr>
          <p:cNvSpPr txBox="1"/>
          <p:nvPr/>
        </p:nvSpPr>
        <p:spPr>
          <a:xfrm>
            <a:off x="787506" y="168437"/>
            <a:ext cx="1135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Image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D4B24391-7B03-204D-4A33-8D75C6526446}"/>
              </a:ext>
            </a:extLst>
          </p:cNvPr>
          <p:cNvSpPr/>
          <p:nvPr/>
        </p:nvSpPr>
        <p:spPr>
          <a:xfrm>
            <a:off x="9744" y="2116718"/>
            <a:ext cx="2308276" cy="452503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Plants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 to Ceiling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windows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Curvilinear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Shapes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Ceiling Height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Furniture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Visible acoustic treatments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Color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Materials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Texture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Flooring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… 100’s more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609E57-E05F-0F2C-1362-2F3F0EBFA2BF}"/>
              </a:ext>
            </a:extLst>
          </p:cNvPr>
          <p:cNvSpPr txBox="1"/>
          <p:nvPr/>
        </p:nvSpPr>
        <p:spPr>
          <a:xfrm>
            <a:off x="398746" y="870000"/>
            <a:ext cx="1672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AI: generated</a:t>
            </a:r>
          </a:p>
          <a:p>
            <a:pPr algn="ctr"/>
            <a:r>
              <a:rPr lang="en-US" b="1" dirty="0"/>
              <a:t>1000’s of</a:t>
            </a:r>
          </a:p>
          <a:p>
            <a:pPr algn="ctr"/>
            <a:r>
              <a:rPr lang="en-US" b="1" dirty="0"/>
              <a:t>Physical </a:t>
            </a:r>
          </a:p>
          <a:p>
            <a:pPr algn="ctr"/>
            <a:r>
              <a:rPr lang="en-US" b="1" dirty="0"/>
              <a:t>Tags </a:t>
            </a:r>
          </a:p>
        </p:txBody>
      </p: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51DB0D40-F0EE-67A3-AD6E-0E51D5E9B537}"/>
              </a:ext>
            </a:extLst>
          </p:cNvPr>
          <p:cNvCxnSpPr>
            <a:cxnSpLocks/>
          </p:cNvCxnSpPr>
          <p:nvPr/>
        </p:nvCxnSpPr>
        <p:spPr>
          <a:xfrm rot="5400000">
            <a:off x="-378123" y="1079330"/>
            <a:ext cx="1773077" cy="405476"/>
          </a:xfrm>
          <a:prstGeom prst="bentConnector3">
            <a:avLst>
              <a:gd name="adj1" fmla="val 317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7663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AA17-51BD-2955-0A8F-EAE3893F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88AC30A5-7642-A451-ED55-44A4586FDB8A}"/>
              </a:ext>
            </a:extLst>
          </p:cNvPr>
          <p:cNvSpPr txBox="1"/>
          <p:nvPr/>
        </p:nvSpPr>
        <p:spPr>
          <a:xfrm>
            <a:off x="787506" y="168437"/>
            <a:ext cx="1135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Image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2B3A2B88-D99D-5A7B-A605-3C17EC5D738C}"/>
              </a:ext>
            </a:extLst>
          </p:cNvPr>
          <p:cNvSpPr/>
          <p:nvPr/>
        </p:nvSpPr>
        <p:spPr>
          <a:xfrm>
            <a:off x="9744" y="2116718"/>
            <a:ext cx="2308276" cy="452503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Plants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 to Ceiling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windows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Curvilinear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Shapes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Ceiling Height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Furniture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Visible acoustic treatments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Color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Materials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Texture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Flooring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0D00A2-A526-1813-116A-6DAEE1CE95AC}"/>
              </a:ext>
            </a:extLst>
          </p:cNvPr>
          <p:cNvGrpSpPr/>
          <p:nvPr/>
        </p:nvGrpSpPr>
        <p:grpSpPr>
          <a:xfrm>
            <a:off x="3901612" y="567061"/>
            <a:ext cx="3698536" cy="6068613"/>
            <a:chOff x="3901612" y="567061"/>
            <a:chExt cx="3698536" cy="606861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44ECB5F-533C-53B7-34CC-F9DFC43AEA69}"/>
                </a:ext>
              </a:extLst>
            </p:cNvPr>
            <p:cNvGrpSpPr/>
            <p:nvPr/>
          </p:nvGrpSpPr>
          <p:grpSpPr>
            <a:xfrm>
              <a:off x="4114975" y="1340597"/>
              <a:ext cx="3485173" cy="5295077"/>
              <a:chOff x="1705883" y="1163756"/>
              <a:chExt cx="3600876" cy="546796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16F36D4-08E4-94FF-205F-3ED44077D67B}"/>
                  </a:ext>
                </a:extLst>
              </p:cNvPr>
              <p:cNvSpPr/>
              <p:nvPr/>
            </p:nvSpPr>
            <p:spPr>
              <a:xfrm>
                <a:off x="1705883" y="1163756"/>
                <a:ext cx="2623426" cy="5467969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59056CE-D09C-A79C-4DA9-6F427A650C86}"/>
                  </a:ext>
                </a:extLst>
              </p:cNvPr>
              <p:cNvGrpSpPr/>
              <p:nvPr/>
            </p:nvGrpSpPr>
            <p:grpSpPr>
              <a:xfrm>
                <a:off x="4155190" y="1887287"/>
                <a:ext cx="1151569" cy="3956034"/>
                <a:chOff x="4155190" y="1887287"/>
                <a:chExt cx="1151569" cy="3956034"/>
              </a:xfrm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4FB7E16-3DB7-FDEC-7F8E-5AD72B073C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9657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65800791-F018-3541-8FDD-672A9CE036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20245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E6908005-AC7A-AC19-BDB6-15CCCA36A8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6" y="3818744"/>
                  <a:ext cx="1151563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D8BD4452-A39D-7FA6-2FD9-498A94FAD1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5190" y="1887287"/>
                  <a:ext cx="1151569" cy="19314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B6B92761-0FE8-2DF3-5A69-895ABDAF7A52}"/>
                  </a:ext>
                </a:extLst>
              </p:cNvPr>
              <p:cNvSpPr/>
              <p:nvPr/>
            </p:nvSpPr>
            <p:spPr>
              <a:xfrm>
                <a:off x="1880006" y="1440604"/>
                <a:ext cx="2275180" cy="799901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Cognitive Effects</a:t>
                </a: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0F1A9131-89FC-D483-091A-93F965CBB4F4}"/>
                  </a:ext>
                </a:extLst>
              </p:cNvPr>
              <p:cNvSpPr/>
              <p:nvPr/>
            </p:nvSpPr>
            <p:spPr>
              <a:xfrm>
                <a:off x="1910488" y="2429310"/>
                <a:ext cx="2230328" cy="789119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Emotional Effects</a:t>
                </a:r>
              </a:p>
            </p:txBody>
          </p:sp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4D0B11E1-C8A3-969D-BD1C-9B2599797900}"/>
                  </a:ext>
                </a:extLst>
              </p:cNvPr>
              <p:cNvSpPr/>
              <p:nvPr/>
            </p:nvSpPr>
            <p:spPr>
              <a:xfrm>
                <a:off x="1880003" y="3372064"/>
                <a:ext cx="2246441" cy="77948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Neuro Effects</a:t>
                </a:r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86A1FDEA-054E-3B6B-C1D8-3CB4CEC4F7B5}"/>
                  </a:ext>
                </a:extLst>
              </p:cNvPr>
              <p:cNvSpPr/>
              <p:nvPr/>
            </p:nvSpPr>
            <p:spPr>
              <a:xfrm>
                <a:off x="1880003" y="4493992"/>
                <a:ext cx="2246441" cy="732044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Social Interaction</a:t>
                </a:r>
              </a:p>
            </p:txBody>
          </p: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8C3E284B-2B3F-521C-FF43-C112C9E50ED9}"/>
                  </a:ext>
                </a:extLst>
              </p:cNvPr>
              <p:cNvSpPr/>
              <p:nvPr/>
            </p:nvSpPr>
            <p:spPr>
              <a:xfrm>
                <a:off x="1880006" y="5531893"/>
                <a:ext cx="2246441" cy="768627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Well designed for following Activities</a:t>
                </a: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9089422A-9790-1735-D7BE-07008E29580A}"/>
                  </a:ext>
                </a:extLst>
              </p:cNvPr>
              <p:cNvCxnSpPr>
                <a:cxnSpLocks/>
                <a:stCxn id="41" idx="3"/>
              </p:cNvCxnSpPr>
              <p:nvPr/>
            </p:nvCxnSpPr>
            <p:spPr>
              <a:xfrm>
                <a:off x="4140816" y="2823870"/>
                <a:ext cx="1165943" cy="10041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16B444A-C4FD-128F-AF85-F88143D7EC85}"/>
                </a:ext>
              </a:extLst>
            </p:cNvPr>
            <p:cNvSpPr txBox="1"/>
            <p:nvPr/>
          </p:nvSpPr>
          <p:spPr>
            <a:xfrm>
              <a:off x="3901612" y="567061"/>
              <a:ext cx="30428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i="1" dirty="0"/>
                <a:t> Visual Based Inferences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9FF832A-9125-30E9-7246-71A3B8B7D079}"/>
              </a:ext>
            </a:extLst>
          </p:cNvPr>
          <p:cNvSpPr txBox="1"/>
          <p:nvPr/>
        </p:nvSpPr>
        <p:spPr>
          <a:xfrm>
            <a:off x="398746" y="870000"/>
            <a:ext cx="1672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AI: generated</a:t>
            </a:r>
          </a:p>
          <a:p>
            <a:pPr algn="ctr"/>
            <a:r>
              <a:rPr lang="en-US" b="1" dirty="0"/>
              <a:t>1000’s of</a:t>
            </a:r>
          </a:p>
          <a:p>
            <a:pPr algn="ctr"/>
            <a:r>
              <a:rPr lang="en-US" b="1" dirty="0"/>
              <a:t>Physical </a:t>
            </a:r>
          </a:p>
          <a:p>
            <a:pPr algn="ctr"/>
            <a:r>
              <a:rPr lang="en-US" b="1" dirty="0"/>
              <a:t>Tags </a:t>
            </a:r>
          </a:p>
        </p:txBody>
      </p: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3F33CC48-AB0F-4B33-D0AC-13D47B5B156B}"/>
              </a:ext>
            </a:extLst>
          </p:cNvPr>
          <p:cNvCxnSpPr>
            <a:cxnSpLocks/>
          </p:cNvCxnSpPr>
          <p:nvPr/>
        </p:nvCxnSpPr>
        <p:spPr>
          <a:xfrm rot="5400000">
            <a:off x="-378123" y="1079330"/>
            <a:ext cx="1773077" cy="405476"/>
          </a:xfrm>
          <a:prstGeom prst="bentConnector3">
            <a:avLst>
              <a:gd name="adj1" fmla="val 317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F15D059-70A4-3D66-EE1E-B20024476263}"/>
              </a:ext>
            </a:extLst>
          </p:cNvPr>
          <p:cNvGrpSpPr/>
          <p:nvPr/>
        </p:nvGrpSpPr>
        <p:grpSpPr>
          <a:xfrm>
            <a:off x="2181158" y="807669"/>
            <a:ext cx="1933817" cy="5174540"/>
            <a:chOff x="2181158" y="807669"/>
            <a:chExt cx="1933817" cy="5174540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4653048-2C38-7C26-F031-72A2B81E5838}"/>
                </a:ext>
              </a:extLst>
            </p:cNvPr>
            <p:cNvCxnSpPr>
              <a:cxnSpLocks/>
            </p:cNvCxnSpPr>
            <p:nvPr/>
          </p:nvCxnSpPr>
          <p:spPr>
            <a:xfrm>
              <a:off x="3177176" y="4009335"/>
              <a:ext cx="9377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CCFE8D9-AC23-B992-4356-9BA2A4584265}"/>
                </a:ext>
              </a:extLst>
            </p:cNvPr>
            <p:cNvSpPr/>
            <p:nvPr/>
          </p:nvSpPr>
          <p:spPr>
            <a:xfrm>
              <a:off x="2294674" y="4267560"/>
              <a:ext cx="1734698" cy="171464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dirty="0"/>
                <a:t>Complex</a:t>
              </a:r>
            </a:p>
            <a:p>
              <a:pPr algn="ctr"/>
              <a:r>
                <a:rPr lang="en-US" sz="2400" dirty="0"/>
                <a:t> Statistical</a:t>
              </a:r>
            </a:p>
            <a:p>
              <a:pPr algn="ctr"/>
              <a:r>
                <a:rPr lang="en-US" sz="2400" dirty="0"/>
                <a:t>Analysis</a:t>
              </a:r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C6E81A5-4848-CD28-E260-A623E557DF94}"/>
                </a:ext>
              </a:extLst>
            </p:cNvPr>
            <p:cNvSpPr txBox="1"/>
            <p:nvPr/>
          </p:nvSpPr>
          <p:spPr>
            <a:xfrm>
              <a:off x="2181158" y="807669"/>
              <a:ext cx="18482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/>
                <a:t>AI analyzed</a:t>
              </a:r>
            </a:p>
            <a:p>
              <a:pPr algn="ctr"/>
              <a:r>
                <a:rPr lang="en-US" sz="2000" b="1" i="1" dirty="0"/>
                <a:t>Science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B1097CA-7C0F-7048-C199-B6BBBD6B4FE9}"/>
                </a:ext>
              </a:extLst>
            </p:cNvPr>
            <p:cNvSpPr/>
            <p:nvPr/>
          </p:nvSpPr>
          <p:spPr>
            <a:xfrm>
              <a:off x="2324980" y="1830034"/>
              <a:ext cx="1704392" cy="1889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What </a:t>
              </a:r>
            </a:p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Experimental </a:t>
              </a:r>
            </a:p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Science</a:t>
              </a:r>
            </a:p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Tells Us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54F177D9-44F9-076A-468B-5607930338FA}"/>
                </a:ext>
              </a:extLst>
            </p:cNvPr>
            <p:cNvCxnSpPr>
              <a:stCxn id="67" idx="4"/>
              <a:endCxn id="61" idx="0"/>
            </p:cNvCxnSpPr>
            <p:nvPr/>
          </p:nvCxnSpPr>
          <p:spPr>
            <a:xfrm flipH="1">
              <a:off x="3162023" y="3719674"/>
              <a:ext cx="15153" cy="547886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4131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4DE39-87D8-77FC-D375-4F9A7E99E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E0DA01-2DCB-550A-B053-B740AE063F51}"/>
              </a:ext>
            </a:extLst>
          </p:cNvPr>
          <p:cNvSpPr/>
          <p:nvPr/>
        </p:nvSpPr>
        <p:spPr>
          <a:xfrm>
            <a:off x="9652870" y="1340596"/>
            <a:ext cx="2539130" cy="52950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57EC57-FCF1-D424-88DE-C40C93109DBF}"/>
              </a:ext>
            </a:extLst>
          </p:cNvPr>
          <p:cNvGrpSpPr/>
          <p:nvPr/>
        </p:nvGrpSpPr>
        <p:grpSpPr>
          <a:xfrm>
            <a:off x="3901612" y="567061"/>
            <a:ext cx="3698536" cy="6068613"/>
            <a:chOff x="3901612" y="567061"/>
            <a:chExt cx="3698536" cy="606861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7A48AAB-E757-3717-C381-75FB7FA67B02}"/>
                </a:ext>
              </a:extLst>
            </p:cNvPr>
            <p:cNvGrpSpPr/>
            <p:nvPr/>
          </p:nvGrpSpPr>
          <p:grpSpPr>
            <a:xfrm>
              <a:off x="4114975" y="1340597"/>
              <a:ext cx="3485173" cy="5295077"/>
              <a:chOff x="1705883" y="1163756"/>
              <a:chExt cx="3600876" cy="546796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8D0533F-14C8-8FD2-89DB-A55B37590027}"/>
                  </a:ext>
                </a:extLst>
              </p:cNvPr>
              <p:cNvSpPr/>
              <p:nvPr/>
            </p:nvSpPr>
            <p:spPr>
              <a:xfrm>
                <a:off x="1705883" y="1163756"/>
                <a:ext cx="2623426" cy="5467969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C95EA096-55EA-7654-03B5-ED8C25BC94FB}"/>
                  </a:ext>
                </a:extLst>
              </p:cNvPr>
              <p:cNvGrpSpPr/>
              <p:nvPr/>
            </p:nvGrpSpPr>
            <p:grpSpPr>
              <a:xfrm>
                <a:off x="4155190" y="1887287"/>
                <a:ext cx="1151569" cy="3956034"/>
                <a:chOff x="4155190" y="1887287"/>
                <a:chExt cx="1151569" cy="3956034"/>
              </a:xfrm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D6A2541E-E145-5946-5352-C1ADFD8CB7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9657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21C7E480-520B-4651-80BE-2BD13FE503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20245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87BEF117-F08E-DE82-8654-57936C4FA1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6" y="3818744"/>
                  <a:ext cx="1151563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5AF77768-FC32-6102-CCE9-3AEFA972C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5190" y="1887287"/>
                  <a:ext cx="1151569" cy="19314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DEC5D137-9C53-14A5-BDCF-DA2F4ED8601D}"/>
                  </a:ext>
                </a:extLst>
              </p:cNvPr>
              <p:cNvSpPr/>
              <p:nvPr/>
            </p:nvSpPr>
            <p:spPr>
              <a:xfrm>
                <a:off x="1880006" y="1440604"/>
                <a:ext cx="2275180" cy="799901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Cognitive Effects</a:t>
                </a: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0A73082E-8907-8BEC-ACA6-8062DB5803D8}"/>
                  </a:ext>
                </a:extLst>
              </p:cNvPr>
              <p:cNvSpPr/>
              <p:nvPr/>
            </p:nvSpPr>
            <p:spPr>
              <a:xfrm>
                <a:off x="1910488" y="2429310"/>
                <a:ext cx="2230328" cy="789119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Emotional Effects</a:t>
                </a:r>
              </a:p>
            </p:txBody>
          </p:sp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8454C7BF-034A-C05E-E24B-1FB09B4059B3}"/>
                  </a:ext>
                </a:extLst>
              </p:cNvPr>
              <p:cNvSpPr/>
              <p:nvPr/>
            </p:nvSpPr>
            <p:spPr>
              <a:xfrm>
                <a:off x="1880003" y="3372064"/>
                <a:ext cx="2246441" cy="77948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Neuro Effects</a:t>
                </a:r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25237FC1-E2F5-39E0-36A1-29F90AC1AC95}"/>
                  </a:ext>
                </a:extLst>
              </p:cNvPr>
              <p:cNvSpPr/>
              <p:nvPr/>
            </p:nvSpPr>
            <p:spPr>
              <a:xfrm>
                <a:off x="1880003" y="4493992"/>
                <a:ext cx="2246441" cy="732044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Social Interaction</a:t>
                </a:r>
              </a:p>
            </p:txBody>
          </p: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92771FAC-7743-0588-9BE6-11D03FDC905A}"/>
                  </a:ext>
                </a:extLst>
              </p:cNvPr>
              <p:cNvSpPr/>
              <p:nvPr/>
            </p:nvSpPr>
            <p:spPr>
              <a:xfrm>
                <a:off x="1880006" y="5531893"/>
                <a:ext cx="2246441" cy="768627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Well designed for following Activities</a:t>
                </a: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622310E0-BF6F-E36D-F84A-7D1C8B37542A}"/>
                  </a:ext>
                </a:extLst>
              </p:cNvPr>
              <p:cNvCxnSpPr>
                <a:stCxn id="41" idx="3"/>
              </p:cNvCxnSpPr>
              <p:nvPr/>
            </p:nvCxnSpPr>
            <p:spPr>
              <a:xfrm>
                <a:off x="4140816" y="2823870"/>
                <a:ext cx="1165943" cy="10041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618B81D-B1A1-A5CD-0A62-949584C75713}"/>
                </a:ext>
              </a:extLst>
            </p:cNvPr>
            <p:cNvSpPr txBox="1"/>
            <p:nvPr/>
          </p:nvSpPr>
          <p:spPr>
            <a:xfrm>
              <a:off x="3901612" y="567061"/>
              <a:ext cx="30428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i="1" dirty="0"/>
                <a:t> Visual Based Inferences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D9038EC-B891-0FBE-0AD7-7E95A6B06202}"/>
              </a:ext>
            </a:extLst>
          </p:cNvPr>
          <p:cNvGrpSpPr/>
          <p:nvPr/>
        </p:nvGrpSpPr>
        <p:grpSpPr>
          <a:xfrm>
            <a:off x="8812768" y="632711"/>
            <a:ext cx="3365436" cy="5647472"/>
            <a:chOff x="8812768" y="632711"/>
            <a:chExt cx="3365436" cy="564747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285D602-652B-987E-282D-FC80F0BA6C8E}"/>
                </a:ext>
              </a:extLst>
            </p:cNvPr>
            <p:cNvGrpSpPr/>
            <p:nvPr/>
          </p:nvGrpSpPr>
          <p:grpSpPr>
            <a:xfrm>
              <a:off x="8812768" y="1674296"/>
              <a:ext cx="3103390" cy="4605887"/>
              <a:chOff x="7240109" y="1449918"/>
              <a:chExt cx="3206418" cy="475627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19E9D272-D0A0-A675-0604-FC1F9C1EC5D2}"/>
                  </a:ext>
                </a:extLst>
              </p:cNvPr>
              <p:cNvGrpSpPr/>
              <p:nvPr/>
            </p:nvGrpSpPr>
            <p:grpSpPr>
              <a:xfrm rot="10800000">
                <a:off x="7240109" y="1771086"/>
                <a:ext cx="1151569" cy="3956034"/>
                <a:chOff x="4155190" y="1887287"/>
                <a:chExt cx="1151569" cy="3956034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572B8593-D465-8C42-7ED1-07AAB190833A}"/>
                    </a:ext>
                  </a:extLst>
                </p:cNvPr>
                <p:cNvCxnSpPr/>
                <p:nvPr/>
              </p:nvCxnSpPr>
              <p:spPr>
                <a:xfrm>
                  <a:off x="4155190" y="1887287"/>
                  <a:ext cx="1151569" cy="19314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F478CA44-B286-176B-901A-C6CF69F053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4155193" y="2853016"/>
                  <a:ext cx="1151566" cy="9657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5C3B5B00-46E8-0336-CE3B-554EF0155A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6" y="3818744"/>
                  <a:ext cx="1151563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FCA22157-D7C5-C3AE-1E56-9FA8AD0F41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9657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77C65AE5-E275-93B1-CD32-0FF0E13F2C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20245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4A47B5C2-7627-3A14-9D97-3A6B9DD77DDB}"/>
                  </a:ext>
                </a:extLst>
              </p:cNvPr>
              <p:cNvGrpSpPr/>
              <p:nvPr/>
            </p:nvGrpSpPr>
            <p:grpSpPr>
              <a:xfrm>
                <a:off x="8391669" y="1449918"/>
                <a:ext cx="2054858" cy="4756276"/>
                <a:chOff x="2100335" y="1497542"/>
                <a:chExt cx="2054858" cy="4756276"/>
              </a:xfrm>
              <a:solidFill>
                <a:schemeClr val="accent6">
                  <a:lumMod val="75000"/>
                </a:schemeClr>
              </a:solidFill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9846D53-FF34-A806-F2A8-57D49FCD6952}"/>
                    </a:ext>
                  </a:extLst>
                </p:cNvPr>
                <p:cNvSpPr/>
                <p:nvPr/>
              </p:nvSpPr>
              <p:spPr>
                <a:xfrm>
                  <a:off x="2100337" y="1497542"/>
                  <a:ext cx="2054853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Cog Effects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D8495EA2-96C5-1EAB-3A77-04CF1B47A1F5}"/>
                    </a:ext>
                  </a:extLst>
                </p:cNvPr>
                <p:cNvSpPr/>
                <p:nvPr/>
              </p:nvSpPr>
              <p:spPr>
                <a:xfrm>
                  <a:off x="2100339" y="3429000"/>
                  <a:ext cx="2054854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Neuro Effects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9D6E0F94-D54F-99C9-C700-FDA68FD2DF6C}"/>
                    </a:ext>
                  </a:extLst>
                </p:cNvPr>
                <p:cNvSpPr/>
                <p:nvPr/>
              </p:nvSpPr>
              <p:spPr>
                <a:xfrm>
                  <a:off x="2100336" y="4394729"/>
                  <a:ext cx="2054854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Social Interaction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2A4F5548-9C88-7096-FEEA-270338C2FD3D}"/>
                    </a:ext>
                  </a:extLst>
                </p:cNvPr>
                <p:cNvSpPr/>
                <p:nvPr/>
              </p:nvSpPr>
              <p:spPr>
                <a:xfrm>
                  <a:off x="2100335" y="5360458"/>
                  <a:ext cx="2054855" cy="89336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Well designed for following Activities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B7B03A7-4DAA-7507-9418-93ABC2CCDA11}"/>
                    </a:ext>
                  </a:extLst>
                </p:cNvPr>
                <p:cNvSpPr/>
                <p:nvPr/>
              </p:nvSpPr>
              <p:spPr>
                <a:xfrm>
                  <a:off x="2100337" y="2463271"/>
                  <a:ext cx="2054856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Emotional Effects</a:t>
                  </a:r>
                </a:p>
              </p:txBody>
            </p:sp>
          </p:grp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56FAF0B-C78B-B973-07C9-EB2AC395E68C}"/>
                </a:ext>
              </a:extLst>
            </p:cNvPr>
            <p:cNvSpPr txBox="1"/>
            <p:nvPr/>
          </p:nvSpPr>
          <p:spPr>
            <a:xfrm>
              <a:off x="9370047" y="632711"/>
              <a:ext cx="28081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/>
                <a:t>All things considered Inferences</a:t>
              </a:r>
            </a:p>
          </p:txBody>
        </p:sp>
      </p:grp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9E226D5-34BE-4E5B-A8ED-BF5428FF3F76}"/>
              </a:ext>
            </a:extLst>
          </p:cNvPr>
          <p:cNvSpPr/>
          <p:nvPr/>
        </p:nvSpPr>
        <p:spPr>
          <a:xfrm>
            <a:off x="7362056" y="3564107"/>
            <a:ext cx="1857318" cy="77703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Multimodal Interaction </a:t>
            </a:r>
          </a:p>
        </p:txBody>
      </p:sp>
    </p:spTree>
    <p:extLst>
      <p:ext uri="{BB962C8B-B14F-4D97-AF65-F5344CB8AC3E}">
        <p14:creationId xmlns:p14="http://schemas.microsoft.com/office/powerpoint/2010/main" val="3310192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3E55-8E1F-3A64-50DE-5381877E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 </a:t>
            </a:r>
          </a:p>
        </p:txBody>
      </p:sp>
    </p:spTree>
    <p:extLst>
      <p:ext uri="{BB962C8B-B14F-4D97-AF65-F5344CB8AC3E}">
        <p14:creationId xmlns:p14="http://schemas.microsoft.com/office/powerpoint/2010/main" val="24908497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B6B9B-D007-A5C0-43BA-B2B74E1C1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9C4BD2-6250-0EF7-FFB8-8FFB4B9EB9C7}"/>
              </a:ext>
            </a:extLst>
          </p:cNvPr>
          <p:cNvSpPr/>
          <p:nvPr/>
        </p:nvSpPr>
        <p:spPr>
          <a:xfrm>
            <a:off x="9652870" y="1340596"/>
            <a:ext cx="2539130" cy="529507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9F859B-108F-BFBF-BD2F-F8A480BB79E6}"/>
              </a:ext>
            </a:extLst>
          </p:cNvPr>
          <p:cNvSpPr txBox="1"/>
          <p:nvPr/>
        </p:nvSpPr>
        <p:spPr>
          <a:xfrm>
            <a:off x="787506" y="168437"/>
            <a:ext cx="1135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Image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169AC4A9-C639-883C-EA7E-9214ED81727C}"/>
              </a:ext>
            </a:extLst>
          </p:cNvPr>
          <p:cNvSpPr/>
          <p:nvPr/>
        </p:nvSpPr>
        <p:spPr>
          <a:xfrm>
            <a:off x="9744" y="2116718"/>
            <a:ext cx="2308276" cy="452503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Plants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 to Ceiling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windows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Curvilinear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Shapes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Ceiling Height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Furniture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Visible acoustic treatments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Color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Materials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Texture</a:t>
            </a:r>
          </a:p>
          <a:p>
            <a:pPr marL="176213" indent="-161925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Flooring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A41762C-70E4-025A-41E6-94FFC3558B9A}"/>
              </a:ext>
            </a:extLst>
          </p:cNvPr>
          <p:cNvGrpSpPr/>
          <p:nvPr/>
        </p:nvGrpSpPr>
        <p:grpSpPr>
          <a:xfrm>
            <a:off x="3901612" y="567061"/>
            <a:ext cx="3698536" cy="6068613"/>
            <a:chOff x="3901612" y="567061"/>
            <a:chExt cx="3698536" cy="6068613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2636322-8DAD-1B83-79AE-8F947386129A}"/>
                </a:ext>
              </a:extLst>
            </p:cNvPr>
            <p:cNvGrpSpPr/>
            <p:nvPr/>
          </p:nvGrpSpPr>
          <p:grpSpPr>
            <a:xfrm>
              <a:off x="4114975" y="1340597"/>
              <a:ext cx="3485173" cy="5295077"/>
              <a:chOff x="1705883" y="1163756"/>
              <a:chExt cx="3600876" cy="5467969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CC697A6-EE87-A5FC-F67F-94AB08E5E9A3}"/>
                  </a:ext>
                </a:extLst>
              </p:cNvPr>
              <p:cNvSpPr/>
              <p:nvPr/>
            </p:nvSpPr>
            <p:spPr>
              <a:xfrm>
                <a:off x="1705883" y="1163756"/>
                <a:ext cx="2623426" cy="5467969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C58D4D95-9B8D-1B4A-782E-9DF44D4F6F41}"/>
                  </a:ext>
                </a:extLst>
              </p:cNvPr>
              <p:cNvGrpSpPr/>
              <p:nvPr/>
            </p:nvGrpSpPr>
            <p:grpSpPr>
              <a:xfrm>
                <a:off x="4155190" y="1887287"/>
                <a:ext cx="1151569" cy="3956034"/>
                <a:chOff x="4155190" y="1887287"/>
                <a:chExt cx="1151569" cy="3956034"/>
              </a:xfrm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DE7CF6B9-6386-F629-7D13-EE8D8989A6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9657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775E158E-7852-BF3B-6F24-8150B582C6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20245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9D3D2ED6-50DA-A1D3-A1A2-D806E78D15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6" y="3818744"/>
                  <a:ext cx="1151563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7044847B-29BB-21AA-97FB-2A30A719FB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5190" y="1887287"/>
                  <a:ext cx="1151569" cy="19314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40E55689-F99F-59F5-E98E-273BD90F80D7}"/>
                  </a:ext>
                </a:extLst>
              </p:cNvPr>
              <p:cNvSpPr/>
              <p:nvPr/>
            </p:nvSpPr>
            <p:spPr>
              <a:xfrm>
                <a:off x="1880006" y="1440604"/>
                <a:ext cx="2275180" cy="799901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Cognitive Effects</a:t>
                </a: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188614E0-F892-25C8-16A4-6B261CDE8486}"/>
                  </a:ext>
                </a:extLst>
              </p:cNvPr>
              <p:cNvSpPr/>
              <p:nvPr/>
            </p:nvSpPr>
            <p:spPr>
              <a:xfrm>
                <a:off x="1910488" y="2429310"/>
                <a:ext cx="2230328" cy="789119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Emotional Effects</a:t>
                </a:r>
              </a:p>
            </p:txBody>
          </p:sp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7B4A139C-8B88-D929-39BC-F7DC63DFC1D4}"/>
                  </a:ext>
                </a:extLst>
              </p:cNvPr>
              <p:cNvSpPr/>
              <p:nvPr/>
            </p:nvSpPr>
            <p:spPr>
              <a:xfrm>
                <a:off x="1880003" y="3372064"/>
                <a:ext cx="2246441" cy="779488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Neuro Effects</a:t>
                </a:r>
              </a:p>
            </p:txBody>
          </p:sp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B48DABC2-7DA5-F1C4-065A-68AE4C69EE29}"/>
                  </a:ext>
                </a:extLst>
              </p:cNvPr>
              <p:cNvSpPr/>
              <p:nvPr/>
            </p:nvSpPr>
            <p:spPr>
              <a:xfrm>
                <a:off x="1880003" y="4493992"/>
                <a:ext cx="2246441" cy="732044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Probable</a:t>
                </a:r>
              </a:p>
              <a:p>
                <a:pPr algn="ctr"/>
                <a:r>
                  <a:rPr lang="en-US" dirty="0"/>
                  <a:t>Social Interaction</a:t>
                </a:r>
              </a:p>
            </p:txBody>
          </p: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74C6D5F7-88E6-B7B3-E1FF-E17F7B5F0784}"/>
                  </a:ext>
                </a:extLst>
              </p:cNvPr>
              <p:cNvSpPr/>
              <p:nvPr/>
            </p:nvSpPr>
            <p:spPr>
              <a:xfrm>
                <a:off x="1880006" y="5531893"/>
                <a:ext cx="2246441" cy="768627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Well designed for following Activities</a:t>
                </a: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C2397AE5-8955-B0E3-654A-95EC63408D0D}"/>
                  </a:ext>
                </a:extLst>
              </p:cNvPr>
              <p:cNvCxnSpPr>
                <a:stCxn id="41" idx="3"/>
              </p:cNvCxnSpPr>
              <p:nvPr/>
            </p:nvCxnSpPr>
            <p:spPr>
              <a:xfrm>
                <a:off x="4140816" y="2823870"/>
                <a:ext cx="1165943" cy="10041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86A696C-035E-C31C-FAAB-8F81613D6504}"/>
                </a:ext>
              </a:extLst>
            </p:cNvPr>
            <p:cNvSpPr txBox="1"/>
            <p:nvPr/>
          </p:nvSpPr>
          <p:spPr>
            <a:xfrm>
              <a:off x="3901612" y="567061"/>
              <a:ext cx="30428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i="1" dirty="0"/>
                <a:t> Visual Based Inferences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232D278-8F05-0059-E285-2EAE32FD0B7F}"/>
              </a:ext>
            </a:extLst>
          </p:cNvPr>
          <p:cNvSpPr txBox="1"/>
          <p:nvPr/>
        </p:nvSpPr>
        <p:spPr>
          <a:xfrm>
            <a:off x="398746" y="870000"/>
            <a:ext cx="1672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AI: generated</a:t>
            </a:r>
          </a:p>
          <a:p>
            <a:pPr algn="ctr"/>
            <a:r>
              <a:rPr lang="en-US" b="1" dirty="0"/>
              <a:t>1000’s of</a:t>
            </a:r>
          </a:p>
          <a:p>
            <a:pPr algn="ctr"/>
            <a:r>
              <a:rPr lang="en-US" b="1" dirty="0"/>
              <a:t>Physical </a:t>
            </a:r>
          </a:p>
          <a:p>
            <a:pPr algn="ctr"/>
            <a:r>
              <a:rPr lang="en-US" b="1" dirty="0"/>
              <a:t>Tags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EDDD03-AA85-776F-72B6-CF76BD4C2AF5}"/>
              </a:ext>
            </a:extLst>
          </p:cNvPr>
          <p:cNvGrpSpPr/>
          <p:nvPr/>
        </p:nvGrpSpPr>
        <p:grpSpPr>
          <a:xfrm>
            <a:off x="8812768" y="632711"/>
            <a:ext cx="3365436" cy="5647472"/>
            <a:chOff x="8812768" y="632711"/>
            <a:chExt cx="3365436" cy="564747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EE36A53-F615-EC74-CA4E-F2B52E89358A}"/>
                </a:ext>
              </a:extLst>
            </p:cNvPr>
            <p:cNvGrpSpPr/>
            <p:nvPr/>
          </p:nvGrpSpPr>
          <p:grpSpPr>
            <a:xfrm>
              <a:off x="8812768" y="1674296"/>
              <a:ext cx="3103390" cy="4605887"/>
              <a:chOff x="7240109" y="1449918"/>
              <a:chExt cx="3206418" cy="475627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29B3BC2-392D-1069-18E8-5AA6618E5201}"/>
                  </a:ext>
                </a:extLst>
              </p:cNvPr>
              <p:cNvGrpSpPr/>
              <p:nvPr/>
            </p:nvGrpSpPr>
            <p:grpSpPr>
              <a:xfrm rot="10800000">
                <a:off x="7240109" y="1771086"/>
                <a:ext cx="1151569" cy="3956034"/>
                <a:chOff x="4155190" y="1887287"/>
                <a:chExt cx="1151569" cy="3956034"/>
              </a:xfrm>
            </p:grpSpPr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1685B79C-8EC6-6FCB-166A-D1BF60FFD3A8}"/>
                    </a:ext>
                  </a:extLst>
                </p:cNvPr>
                <p:cNvCxnSpPr/>
                <p:nvPr/>
              </p:nvCxnSpPr>
              <p:spPr>
                <a:xfrm>
                  <a:off x="4155190" y="1887287"/>
                  <a:ext cx="1151569" cy="19314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D1937D35-E400-E74C-DC45-57A5E61177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 flipV="1">
                  <a:off x="4155193" y="2853016"/>
                  <a:ext cx="1151566" cy="9657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AEDC49CD-1695-6D45-80F2-3CC3AC5CC3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6" y="3818744"/>
                  <a:ext cx="1151563" cy="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37347C77-36FA-FE55-C9ED-A1A0956199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96572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0CAEC16B-4913-42D8-BBE3-CA553F0DFD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55199" y="3818744"/>
                  <a:ext cx="1151560" cy="202457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7577F44-3A01-13D2-D853-FF90EA78F17C}"/>
                  </a:ext>
                </a:extLst>
              </p:cNvPr>
              <p:cNvGrpSpPr/>
              <p:nvPr/>
            </p:nvGrpSpPr>
            <p:grpSpPr>
              <a:xfrm>
                <a:off x="8391669" y="1449918"/>
                <a:ext cx="2054858" cy="4756276"/>
                <a:chOff x="2100335" y="1497542"/>
                <a:chExt cx="2054858" cy="4756276"/>
              </a:xfrm>
              <a:solidFill>
                <a:schemeClr val="accent6">
                  <a:lumMod val="75000"/>
                </a:schemeClr>
              </a:solidFill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33E0B74-9D3E-C42E-15B4-3641C4EC2572}"/>
                    </a:ext>
                  </a:extLst>
                </p:cNvPr>
                <p:cNvSpPr/>
                <p:nvPr/>
              </p:nvSpPr>
              <p:spPr>
                <a:xfrm>
                  <a:off x="2100337" y="1497542"/>
                  <a:ext cx="2054853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Cog Effects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71A6729B-8670-1DA4-83B9-3078C7D5AE2E}"/>
                    </a:ext>
                  </a:extLst>
                </p:cNvPr>
                <p:cNvSpPr/>
                <p:nvPr/>
              </p:nvSpPr>
              <p:spPr>
                <a:xfrm>
                  <a:off x="2100339" y="3429000"/>
                  <a:ext cx="2054854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Neuro Effects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170822E-B29B-25E7-058E-EF2BD72EB08C}"/>
                    </a:ext>
                  </a:extLst>
                </p:cNvPr>
                <p:cNvSpPr/>
                <p:nvPr/>
              </p:nvSpPr>
              <p:spPr>
                <a:xfrm>
                  <a:off x="2100336" y="4394729"/>
                  <a:ext cx="2054854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Social Interaction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06368C2A-18E1-A3FE-2ACE-3B8F8A910030}"/>
                    </a:ext>
                  </a:extLst>
                </p:cNvPr>
                <p:cNvSpPr/>
                <p:nvPr/>
              </p:nvSpPr>
              <p:spPr>
                <a:xfrm>
                  <a:off x="2100335" y="5360458"/>
                  <a:ext cx="2054855" cy="89336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Well designed for following Activities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EA1036F-0D87-BDBB-A32B-D6271B0E6B27}"/>
                    </a:ext>
                  </a:extLst>
                </p:cNvPr>
                <p:cNvSpPr/>
                <p:nvPr/>
              </p:nvSpPr>
              <p:spPr>
                <a:xfrm>
                  <a:off x="2100337" y="2463271"/>
                  <a:ext cx="2054856" cy="779489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Probable</a:t>
                  </a:r>
                </a:p>
                <a:p>
                  <a:pPr algn="ctr"/>
                  <a:r>
                    <a:rPr lang="en-US" dirty="0"/>
                    <a:t>Emotional Effects</a:t>
                  </a:r>
                </a:p>
              </p:txBody>
            </p:sp>
          </p:grp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3C35D07-B192-8BB9-990F-C764D2E1BD4D}"/>
                </a:ext>
              </a:extLst>
            </p:cNvPr>
            <p:cNvSpPr txBox="1"/>
            <p:nvPr/>
          </p:nvSpPr>
          <p:spPr>
            <a:xfrm>
              <a:off x="9370047" y="632711"/>
              <a:ext cx="28081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/>
                <a:t>All things considered Inferences</a:t>
              </a:r>
            </a:p>
          </p:txBody>
        </p:sp>
      </p:grp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FAE2E04C-D14F-8545-7A7F-1C75EB6EB7D1}"/>
              </a:ext>
            </a:extLst>
          </p:cNvPr>
          <p:cNvCxnSpPr>
            <a:cxnSpLocks/>
          </p:cNvCxnSpPr>
          <p:nvPr/>
        </p:nvCxnSpPr>
        <p:spPr>
          <a:xfrm rot="5400000">
            <a:off x="-378123" y="1079330"/>
            <a:ext cx="1773077" cy="405476"/>
          </a:xfrm>
          <a:prstGeom prst="bentConnector3">
            <a:avLst>
              <a:gd name="adj1" fmla="val 317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33FD00B-DC67-B649-4434-87481A221929}"/>
              </a:ext>
            </a:extLst>
          </p:cNvPr>
          <p:cNvSpPr/>
          <p:nvPr/>
        </p:nvSpPr>
        <p:spPr>
          <a:xfrm>
            <a:off x="7362056" y="3564107"/>
            <a:ext cx="1857318" cy="77703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Multimodal Interaction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16D3FB0-529F-1896-4F9C-C24234BBD828}"/>
              </a:ext>
            </a:extLst>
          </p:cNvPr>
          <p:cNvGrpSpPr/>
          <p:nvPr/>
        </p:nvGrpSpPr>
        <p:grpSpPr>
          <a:xfrm>
            <a:off x="2181158" y="807669"/>
            <a:ext cx="1933817" cy="5174540"/>
            <a:chOff x="2181158" y="807669"/>
            <a:chExt cx="1933817" cy="5174540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C59D486-39E2-C96B-0FA3-5E7DFDDEAC70}"/>
                </a:ext>
              </a:extLst>
            </p:cNvPr>
            <p:cNvCxnSpPr>
              <a:cxnSpLocks/>
            </p:cNvCxnSpPr>
            <p:nvPr/>
          </p:nvCxnSpPr>
          <p:spPr>
            <a:xfrm>
              <a:off x="3177176" y="4009335"/>
              <a:ext cx="93779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6ABC39B-F5A3-BC2F-217D-EB7D59C32A63}"/>
                </a:ext>
              </a:extLst>
            </p:cNvPr>
            <p:cNvSpPr/>
            <p:nvPr/>
          </p:nvSpPr>
          <p:spPr>
            <a:xfrm>
              <a:off x="2294674" y="4267560"/>
              <a:ext cx="1734698" cy="171464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400" dirty="0"/>
                <a:t>Complex</a:t>
              </a:r>
            </a:p>
            <a:p>
              <a:pPr algn="ctr"/>
              <a:r>
                <a:rPr lang="en-US" sz="2400" dirty="0"/>
                <a:t> Statistical</a:t>
              </a:r>
            </a:p>
            <a:p>
              <a:pPr algn="ctr"/>
              <a:r>
                <a:rPr lang="en-US" sz="2400" dirty="0"/>
                <a:t>Analysis</a:t>
              </a:r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2EBA74-8CAB-A3DC-6A5C-DE9C6FD26C1B}"/>
                </a:ext>
              </a:extLst>
            </p:cNvPr>
            <p:cNvSpPr txBox="1"/>
            <p:nvPr/>
          </p:nvSpPr>
          <p:spPr>
            <a:xfrm>
              <a:off x="2181158" y="807669"/>
              <a:ext cx="18482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i="1" dirty="0"/>
                <a:t>AI analyzed</a:t>
              </a:r>
            </a:p>
            <a:p>
              <a:pPr algn="ctr"/>
              <a:r>
                <a:rPr lang="en-US" sz="2000" b="1" i="1" dirty="0"/>
                <a:t>Science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B1962CE-AB5D-BF10-C8ED-C3385A2FB62E}"/>
                </a:ext>
              </a:extLst>
            </p:cNvPr>
            <p:cNvSpPr/>
            <p:nvPr/>
          </p:nvSpPr>
          <p:spPr>
            <a:xfrm>
              <a:off x="2324980" y="1830034"/>
              <a:ext cx="1704392" cy="1889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What </a:t>
              </a:r>
            </a:p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Experimental </a:t>
              </a:r>
            </a:p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Science</a:t>
              </a:r>
            </a:p>
            <a:p>
              <a:pPr algn="ctr"/>
              <a:r>
                <a:rPr lang="en-US" sz="2000" b="1" i="1" dirty="0">
                  <a:solidFill>
                    <a:schemeClr val="bg1"/>
                  </a:solidFill>
                </a:rPr>
                <a:t>Tells Us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F5404621-5E3D-D161-7AE2-1042E840E5D5}"/>
                </a:ext>
              </a:extLst>
            </p:cNvPr>
            <p:cNvCxnSpPr>
              <a:stCxn id="67" idx="4"/>
              <a:endCxn id="61" idx="0"/>
            </p:cNvCxnSpPr>
            <p:nvPr/>
          </p:nvCxnSpPr>
          <p:spPr>
            <a:xfrm flipH="1">
              <a:off x="3162023" y="3719674"/>
              <a:ext cx="15153" cy="547886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7942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36EDF-D087-ABD0-F148-0BA7A07F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5EC3A4-BD02-35F1-D9BA-D8B302F426B0}"/>
              </a:ext>
            </a:extLst>
          </p:cNvPr>
          <p:cNvSpPr/>
          <p:nvPr/>
        </p:nvSpPr>
        <p:spPr>
          <a:xfrm>
            <a:off x="3249077" y="3859046"/>
            <a:ext cx="1546434" cy="17146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b="1" i="1" dirty="0">
                <a:solidFill>
                  <a:schemeClr val="bg1"/>
                </a:solidFill>
              </a:rPr>
              <a:t>What </a:t>
            </a:r>
          </a:p>
          <a:p>
            <a:pPr algn="ctr"/>
            <a:r>
              <a:rPr lang="en-US" b="1" i="1" dirty="0">
                <a:solidFill>
                  <a:schemeClr val="bg1"/>
                </a:solidFill>
              </a:rPr>
              <a:t>Experimental </a:t>
            </a:r>
          </a:p>
          <a:p>
            <a:pPr algn="ctr"/>
            <a:r>
              <a:rPr lang="en-US" b="1" i="1" dirty="0">
                <a:solidFill>
                  <a:schemeClr val="bg1"/>
                </a:solidFill>
              </a:rPr>
              <a:t>Science</a:t>
            </a:r>
          </a:p>
          <a:p>
            <a:pPr algn="ctr"/>
            <a:r>
              <a:rPr lang="en-US" b="1" i="1" dirty="0">
                <a:solidFill>
                  <a:schemeClr val="bg1"/>
                </a:solidFill>
              </a:rPr>
              <a:t>Tells Us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9645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3FF37-7FD3-C5AC-8FBF-B20AE64EF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B3677D-98FE-B95D-B650-EEA8CC46B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User Interface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DC8ED8-975C-108C-FE06-A229C83CC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836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D1C4-E0AA-5532-BFB6-D37AF581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3C192-244D-931A-7ECC-AA7C20166429}"/>
              </a:ext>
            </a:extLst>
          </p:cNvPr>
          <p:cNvSpPr txBox="1"/>
          <p:nvPr/>
        </p:nvSpPr>
        <p:spPr>
          <a:xfrm>
            <a:off x="578498" y="2421294"/>
            <a:ext cx="106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could apply a generative AI system that takes the output of the image </a:t>
            </a:r>
            <a:r>
              <a:rPr lang="en-US" dirty="0" err="1"/>
              <a:t>anallyzer</a:t>
            </a:r>
            <a:r>
              <a:rPr lang="en-US" dirty="0"/>
              <a:t> as a goodness evaluator </a:t>
            </a:r>
          </a:p>
        </p:txBody>
      </p:sp>
    </p:spTree>
    <p:extLst>
      <p:ext uri="{BB962C8B-B14F-4D97-AF65-F5344CB8AC3E}">
        <p14:creationId xmlns:p14="http://schemas.microsoft.com/office/powerpoint/2010/main" val="10791065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5EF4A-B3E5-3C11-99ED-5DDF80407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Susan : </a:t>
            </a:r>
            <a:r>
              <a:rPr lang="en-US" dirty="0" err="1"/>
              <a:t>neuroarts</a:t>
            </a:r>
            <a:r>
              <a:rPr lang="en-US" dirty="0"/>
              <a:t> resource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F2277-9674-1961-5F9A-A34BB5382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 people – need stims, need collaborators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1386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E31F47F-CB88-A180-454F-A3DDCD4B42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0" r="8596" b="8751"/>
          <a:stretch>
            <a:fillRect/>
          </a:stretch>
        </p:blipFill>
        <p:spPr bwMode="auto">
          <a:xfrm>
            <a:off x="2109682" y="0"/>
            <a:ext cx="7053368" cy="686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042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26756</TotalTime>
  <Words>2211</Words>
  <Application>Microsoft Macintosh PowerPoint</Application>
  <PresentationFormat>Widescreen</PresentationFormat>
  <Paragraphs>395</Paragraphs>
  <Slides>47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Wingdings</vt:lpstr>
      <vt:lpstr>Office Theme</vt:lpstr>
      <vt:lpstr>AI based Image Analyzer</vt:lpstr>
      <vt:lpstr>Topics</vt:lpstr>
      <vt:lpstr>Technology is changing how we can do research</vt:lpstr>
      <vt:lpstr>Why I wanted this initially</vt:lpstr>
      <vt:lpstr>Example </vt:lpstr>
      <vt:lpstr>What is known already?</vt:lpstr>
      <vt:lpstr>How we might talk to it</vt:lpstr>
      <vt:lpstr>Experiment design on demand</vt:lpstr>
      <vt:lpstr>Non-linear, interaction-aware reasoning</vt:lpstr>
      <vt:lpstr>Editable schema → evolving science</vt:lpstr>
      <vt:lpstr>At-scale pattern discovery</vt:lpstr>
      <vt:lpstr>PowerPoint Presentation</vt:lpstr>
      <vt:lpstr>Can we infer interactions</vt:lpstr>
      <vt:lpstr>Wouldn’t it be nice if we had an AI image analyzer that could </vt:lpstr>
      <vt:lpstr>Specification</vt:lpstr>
      <vt:lpstr>Show me spaces that are good for ….? </vt:lpstr>
      <vt:lpstr>What do you think of this image?</vt:lpstr>
      <vt:lpstr>Multi-modal interaction</vt:lpstr>
      <vt:lpstr>How does it work - Modules</vt:lpstr>
      <vt:lpstr>Tagging Physical Elements</vt:lpstr>
      <vt:lpstr>Tagging Relevant Physical Elements of Spaces/Images</vt:lpstr>
      <vt:lpstr>Tagging Psych, Neuro attributes</vt:lpstr>
      <vt:lpstr>Tagging Images by their Psych and Neuro properties</vt:lpstr>
      <vt:lpstr>Tagging Social Attributes</vt:lpstr>
      <vt:lpstr>Basic Question</vt:lpstr>
      <vt:lpstr>Physical  Social</vt:lpstr>
      <vt:lpstr>Key Dimensions of Social Interaction to be predicted</vt:lpstr>
      <vt:lpstr>Key Dimensions of Social Interaction to be predicted</vt:lpstr>
      <vt:lpstr>*** Tagging Images by their Social Properties</vt:lpstr>
      <vt:lpstr>Inferring (&amp; Tagging) a Space’s Functionality</vt:lpstr>
      <vt:lpstr>Theory driven analysis of the potential activity spaces in a physical space</vt:lpstr>
      <vt:lpstr>Tagging complexities</vt:lpstr>
      <vt:lpstr>PowerPoint Presentation</vt:lpstr>
      <vt:lpstr>Cost minimization</vt:lpstr>
      <vt:lpstr>PowerPoint Presentation</vt:lpstr>
      <vt:lpstr>Meeting functional needs</vt:lpstr>
      <vt:lpstr>PowerPoint Presentation</vt:lpstr>
      <vt:lpstr>PowerPoint Presentation</vt:lpstr>
      <vt:lpstr>PowerPoint Presentation</vt:lpstr>
      <vt:lpstr>PowerPoint Presentation</vt:lpstr>
      <vt:lpstr>So </vt:lpstr>
      <vt:lpstr>PowerPoint Presentation</vt:lpstr>
      <vt:lpstr>PowerPoint Presentation</vt:lpstr>
      <vt:lpstr>Graphical User Interface</vt:lpstr>
      <vt:lpstr>PowerPoint Presentation</vt:lpstr>
      <vt:lpstr>Susan : neuroarts resource center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Kirsh</dc:creator>
  <cp:lastModifiedBy>David Kirsh</cp:lastModifiedBy>
  <cp:revision>18</cp:revision>
  <dcterms:created xsi:type="dcterms:W3CDTF">2025-09-17T19:06:27Z</dcterms:created>
  <dcterms:modified xsi:type="dcterms:W3CDTF">2026-02-26T14:11:40Z</dcterms:modified>
</cp:coreProperties>
</file>